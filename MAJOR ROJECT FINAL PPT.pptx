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300" r:id="rId17"/>
    <p:sldId id="301"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302" r:id="rId38"/>
    <p:sldId id="304" r:id="rId39"/>
    <p:sldId id="303" r:id="rId40"/>
    <p:sldId id="305" r:id="rId41"/>
    <p:sldId id="306" r:id="rId42"/>
    <p:sldId id="307" r:id="rId43"/>
    <p:sldId id="308" r:id="rId44"/>
    <p:sldId id="309" r:id="rId45"/>
    <p:sldId id="310" r:id="rId46"/>
    <p:sldId id="311" r:id="rId47"/>
    <p:sldId id="312" r:id="rId48"/>
    <p:sldId id="292" r:id="rId49"/>
  </p:sldIdLst>
  <p:sldSz cx="9144000" cy="6858000" type="screen4x3"/>
  <p:notesSz cx="9144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2E28C07-9112-40D4-94E6-EEEB4D44D048}" v="73" dt="2026-01-11T09:59:20.473"/>
    <p1510:client id="{DE88B75E-A201-451E-8E1C-0AFA884058D2}" v="32" dt="2026-01-11T09:21:58.519"/>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4" d="100"/>
          <a:sy n="64" d="100"/>
        </p:scale>
        <p:origin x="1566"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sz="3300" b="1"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1200" b="1" i="0">
                <a:solidFill>
                  <a:schemeClr val="tx1"/>
                </a:solidFill>
                <a:latin typeface="Times New Roman"/>
                <a:cs typeface="Times New Roman"/>
              </a:defRPr>
            </a:lvl1pPr>
          </a:lstStyle>
          <a:p>
            <a:pPr marL="12700">
              <a:lnSpc>
                <a:spcPts val="1425"/>
              </a:lnSpc>
            </a:pPr>
            <a:r>
              <a:rPr b="0" dirty="0">
                <a:latin typeface="Arial MT"/>
                <a:cs typeface="Arial MT"/>
              </a:rPr>
              <a:t>Dept.</a:t>
            </a:r>
            <a:r>
              <a:rPr b="0" spc="-30" dirty="0">
                <a:latin typeface="Arial MT"/>
                <a:cs typeface="Arial MT"/>
              </a:rPr>
              <a:t> </a:t>
            </a:r>
            <a:r>
              <a:rPr b="0" dirty="0">
                <a:latin typeface="Arial MT"/>
                <a:cs typeface="Arial MT"/>
              </a:rPr>
              <a:t>of</a:t>
            </a:r>
            <a:r>
              <a:rPr b="0" spc="-10" dirty="0">
                <a:latin typeface="Arial MT"/>
                <a:cs typeface="Arial MT"/>
              </a:rPr>
              <a:t> </a:t>
            </a:r>
            <a:r>
              <a:rPr b="0" dirty="0">
                <a:latin typeface="Arial MT"/>
                <a:cs typeface="Arial MT"/>
              </a:rPr>
              <a:t>ECE</a:t>
            </a:r>
            <a:r>
              <a:rPr b="0" spc="10" dirty="0">
                <a:latin typeface="Arial MT"/>
                <a:cs typeface="Arial MT"/>
              </a:rPr>
              <a:t> </a:t>
            </a:r>
            <a:r>
              <a:rPr b="0" dirty="0">
                <a:latin typeface="Arial MT"/>
                <a:cs typeface="Arial MT"/>
              </a:rPr>
              <a:t>2025-</a:t>
            </a:r>
            <a:r>
              <a:rPr b="0" spc="-25" dirty="0">
                <a:latin typeface="Arial MT"/>
                <a:cs typeface="Arial MT"/>
              </a:rPr>
              <a:t>26</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1/12/2026</a:t>
            </a:fld>
            <a:endParaRPr lang="en-US"/>
          </a:p>
        </p:txBody>
      </p:sp>
      <p:sp>
        <p:nvSpPr>
          <p:cNvPr id="6" name="Holder 6"/>
          <p:cNvSpPr>
            <a:spLocks noGrp="1"/>
          </p:cNvSpPr>
          <p:nvPr>
            <p:ph type="sldNum" sz="quarter" idx="7"/>
          </p:nvPr>
        </p:nvSpPr>
        <p:spPr/>
        <p:txBody>
          <a:bodyPr lIns="0" tIns="0" rIns="0" bIns="0"/>
          <a:lstStyle>
            <a:lvl1pPr>
              <a:defRPr sz="1200" b="1" i="0">
                <a:solidFill>
                  <a:schemeClr val="tx1"/>
                </a:solidFill>
                <a:latin typeface="Times New Roman"/>
                <a:cs typeface="Times New Roman"/>
              </a:defRPr>
            </a:lvl1pPr>
          </a:lstStyle>
          <a:p>
            <a:pPr marL="104775">
              <a:lnSpc>
                <a:spcPts val="1425"/>
              </a:lnSpc>
            </a:pPr>
            <a:fld id="{81D60167-4931-47E6-BA6A-407CBD079E47}" type="slidenum">
              <a:rPr b="0" spc="-50" dirty="0">
                <a:latin typeface="Arial MT"/>
                <a:cs typeface="Arial MT"/>
              </a:rPr>
              <a:t>‹#›</a:t>
            </a:fld>
            <a:endParaRPr b="0" spc="-50" dirty="0">
              <a:latin typeface="Arial MT"/>
              <a:cs typeface="Arial MT"/>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00" b="1"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1200" b="1" i="0">
                <a:solidFill>
                  <a:schemeClr val="tx1"/>
                </a:solidFill>
                <a:latin typeface="Times New Roman"/>
                <a:cs typeface="Times New Roman"/>
              </a:defRPr>
            </a:lvl1pPr>
          </a:lstStyle>
          <a:p>
            <a:pPr marL="12700">
              <a:lnSpc>
                <a:spcPts val="1425"/>
              </a:lnSpc>
            </a:pPr>
            <a:r>
              <a:rPr b="0" dirty="0">
                <a:latin typeface="Arial MT"/>
                <a:cs typeface="Arial MT"/>
              </a:rPr>
              <a:t>Dept.</a:t>
            </a:r>
            <a:r>
              <a:rPr b="0" spc="-30" dirty="0">
                <a:latin typeface="Arial MT"/>
                <a:cs typeface="Arial MT"/>
              </a:rPr>
              <a:t> </a:t>
            </a:r>
            <a:r>
              <a:rPr b="0" dirty="0">
                <a:latin typeface="Arial MT"/>
                <a:cs typeface="Arial MT"/>
              </a:rPr>
              <a:t>of</a:t>
            </a:r>
            <a:r>
              <a:rPr b="0" spc="-10" dirty="0">
                <a:latin typeface="Arial MT"/>
                <a:cs typeface="Arial MT"/>
              </a:rPr>
              <a:t> </a:t>
            </a:r>
            <a:r>
              <a:rPr b="0" dirty="0">
                <a:latin typeface="Arial MT"/>
                <a:cs typeface="Arial MT"/>
              </a:rPr>
              <a:t>ECE</a:t>
            </a:r>
            <a:r>
              <a:rPr b="0" spc="10" dirty="0">
                <a:latin typeface="Arial MT"/>
                <a:cs typeface="Arial MT"/>
              </a:rPr>
              <a:t> </a:t>
            </a:r>
            <a:r>
              <a:rPr b="0" dirty="0">
                <a:latin typeface="Arial MT"/>
                <a:cs typeface="Arial MT"/>
              </a:rPr>
              <a:t>2025-</a:t>
            </a:r>
            <a:r>
              <a:rPr b="0" spc="-25" dirty="0">
                <a:latin typeface="Arial MT"/>
                <a:cs typeface="Arial MT"/>
              </a:rPr>
              <a:t>26</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1/12/2026</a:t>
            </a:fld>
            <a:endParaRPr lang="en-US"/>
          </a:p>
        </p:txBody>
      </p:sp>
      <p:sp>
        <p:nvSpPr>
          <p:cNvPr id="6" name="Holder 6"/>
          <p:cNvSpPr>
            <a:spLocks noGrp="1"/>
          </p:cNvSpPr>
          <p:nvPr>
            <p:ph type="sldNum" sz="quarter" idx="7"/>
          </p:nvPr>
        </p:nvSpPr>
        <p:spPr/>
        <p:txBody>
          <a:bodyPr lIns="0" tIns="0" rIns="0" bIns="0"/>
          <a:lstStyle>
            <a:lvl1pPr>
              <a:defRPr sz="1200" b="1" i="0">
                <a:solidFill>
                  <a:schemeClr val="tx1"/>
                </a:solidFill>
                <a:latin typeface="Times New Roman"/>
                <a:cs typeface="Times New Roman"/>
              </a:defRPr>
            </a:lvl1pPr>
          </a:lstStyle>
          <a:p>
            <a:pPr marL="104775">
              <a:lnSpc>
                <a:spcPts val="1425"/>
              </a:lnSpc>
            </a:pPr>
            <a:fld id="{81D60167-4931-47E6-BA6A-407CBD079E47}" type="slidenum">
              <a:rPr b="0" spc="-50" dirty="0">
                <a:latin typeface="Arial MT"/>
                <a:cs typeface="Arial MT"/>
              </a:rPr>
              <a:t>‹#›</a:t>
            </a:fld>
            <a:endParaRPr b="0" spc="-50" dirty="0">
              <a:latin typeface="Arial MT"/>
              <a:cs typeface="Arial MT"/>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00" b="1"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1" i="0">
                <a:solidFill>
                  <a:schemeClr val="tx1"/>
                </a:solidFill>
                <a:latin typeface="Times New Roman"/>
                <a:cs typeface="Times New Roman"/>
              </a:defRPr>
            </a:lvl1pPr>
          </a:lstStyle>
          <a:p>
            <a:pPr marL="12700">
              <a:lnSpc>
                <a:spcPts val="1425"/>
              </a:lnSpc>
            </a:pPr>
            <a:r>
              <a:rPr b="0" dirty="0">
                <a:latin typeface="Arial MT"/>
                <a:cs typeface="Arial MT"/>
              </a:rPr>
              <a:t>Dept.</a:t>
            </a:r>
            <a:r>
              <a:rPr b="0" spc="-30" dirty="0">
                <a:latin typeface="Arial MT"/>
                <a:cs typeface="Arial MT"/>
              </a:rPr>
              <a:t> </a:t>
            </a:r>
            <a:r>
              <a:rPr b="0" dirty="0">
                <a:latin typeface="Arial MT"/>
                <a:cs typeface="Arial MT"/>
              </a:rPr>
              <a:t>of</a:t>
            </a:r>
            <a:r>
              <a:rPr b="0" spc="-10" dirty="0">
                <a:latin typeface="Arial MT"/>
                <a:cs typeface="Arial MT"/>
              </a:rPr>
              <a:t> </a:t>
            </a:r>
            <a:r>
              <a:rPr b="0" dirty="0">
                <a:latin typeface="Arial MT"/>
                <a:cs typeface="Arial MT"/>
              </a:rPr>
              <a:t>ECE</a:t>
            </a:r>
            <a:r>
              <a:rPr b="0" spc="10" dirty="0">
                <a:latin typeface="Arial MT"/>
                <a:cs typeface="Arial MT"/>
              </a:rPr>
              <a:t> </a:t>
            </a:r>
            <a:r>
              <a:rPr b="0" dirty="0">
                <a:latin typeface="Arial MT"/>
                <a:cs typeface="Arial MT"/>
              </a:rPr>
              <a:t>2025-</a:t>
            </a:r>
            <a:r>
              <a:rPr b="0" spc="-25" dirty="0">
                <a:latin typeface="Arial MT"/>
                <a:cs typeface="Arial MT"/>
              </a:rPr>
              <a:t>26</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1/12/2026</a:t>
            </a:fld>
            <a:endParaRPr lang="en-US"/>
          </a:p>
        </p:txBody>
      </p:sp>
      <p:sp>
        <p:nvSpPr>
          <p:cNvPr id="7" name="Holder 7"/>
          <p:cNvSpPr>
            <a:spLocks noGrp="1"/>
          </p:cNvSpPr>
          <p:nvPr>
            <p:ph type="sldNum" sz="quarter" idx="7"/>
          </p:nvPr>
        </p:nvSpPr>
        <p:spPr/>
        <p:txBody>
          <a:bodyPr lIns="0" tIns="0" rIns="0" bIns="0"/>
          <a:lstStyle>
            <a:lvl1pPr>
              <a:defRPr sz="1200" b="1" i="0">
                <a:solidFill>
                  <a:schemeClr val="tx1"/>
                </a:solidFill>
                <a:latin typeface="Times New Roman"/>
                <a:cs typeface="Times New Roman"/>
              </a:defRPr>
            </a:lvl1pPr>
          </a:lstStyle>
          <a:p>
            <a:pPr marL="104775">
              <a:lnSpc>
                <a:spcPts val="1425"/>
              </a:lnSpc>
            </a:pPr>
            <a:fld id="{81D60167-4931-47E6-BA6A-407CBD079E47}" type="slidenum">
              <a:rPr b="0" spc="-50" dirty="0">
                <a:latin typeface="Arial MT"/>
                <a:cs typeface="Arial MT"/>
              </a:rPr>
              <a:t>‹#›</a:t>
            </a:fld>
            <a:endParaRPr b="0" spc="-50" dirty="0">
              <a:latin typeface="Arial MT"/>
              <a:cs typeface="Arial M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00" b="1"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200" b="1" i="0">
                <a:solidFill>
                  <a:schemeClr val="tx1"/>
                </a:solidFill>
                <a:latin typeface="Times New Roman"/>
                <a:cs typeface="Times New Roman"/>
              </a:defRPr>
            </a:lvl1pPr>
          </a:lstStyle>
          <a:p>
            <a:pPr marL="12700">
              <a:lnSpc>
                <a:spcPts val="1425"/>
              </a:lnSpc>
            </a:pPr>
            <a:r>
              <a:rPr b="0" dirty="0">
                <a:latin typeface="Arial MT"/>
                <a:cs typeface="Arial MT"/>
              </a:rPr>
              <a:t>Dept.</a:t>
            </a:r>
            <a:r>
              <a:rPr b="0" spc="-30" dirty="0">
                <a:latin typeface="Arial MT"/>
                <a:cs typeface="Arial MT"/>
              </a:rPr>
              <a:t> </a:t>
            </a:r>
            <a:r>
              <a:rPr b="0" dirty="0">
                <a:latin typeface="Arial MT"/>
                <a:cs typeface="Arial MT"/>
              </a:rPr>
              <a:t>of</a:t>
            </a:r>
            <a:r>
              <a:rPr b="0" spc="-10" dirty="0">
                <a:latin typeface="Arial MT"/>
                <a:cs typeface="Arial MT"/>
              </a:rPr>
              <a:t> </a:t>
            </a:r>
            <a:r>
              <a:rPr b="0" dirty="0">
                <a:latin typeface="Arial MT"/>
                <a:cs typeface="Arial MT"/>
              </a:rPr>
              <a:t>ECE</a:t>
            </a:r>
            <a:r>
              <a:rPr b="0" spc="10" dirty="0">
                <a:latin typeface="Arial MT"/>
                <a:cs typeface="Arial MT"/>
              </a:rPr>
              <a:t> </a:t>
            </a:r>
            <a:r>
              <a:rPr b="0" dirty="0">
                <a:latin typeface="Arial MT"/>
                <a:cs typeface="Arial MT"/>
              </a:rPr>
              <a:t>2025-</a:t>
            </a:r>
            <a:r>
              <a:rPr b="0" spc="-25" dirty="0">
                <a:latin typeface="Arial MT"/>
                <a:cs typeface="Arial MT"/>
              </a:rPr>
              <a:t>26</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1/12/2026</a:t>
            </a:fld>
            <a:endParaRPr lang="en-US"/>
          </a:p>
        </p:txBody>
      </p:sp>
      <p:sp>
        <p:nvSpPr>
          <p:cNvPr id="5" name="Holder 5"/>
          <p:cNvSpPr>
            <a:spLocks noGrp="1"/>
          </p:cNvSpPr>
          <p:nvPr>
            <p:ph type="sldNum" sz="quarter" idx="7"/>
          </p:nvPr>
        </p:nvSpPr>
        <p:spPr/>
        <p:txBody>
          <a:bodyPr lIns="0" tIns="0" rIns="0" bIns="0"/>
          <a:lstStyle>
            <a:lvl1pPr>
              <a:defRPr sz="1200" b="1" i="0">
                <a:solidFill>
                  <a:schemeClr val="tx1"/>
                </a:solidFill>
                <a:latin typeface="Times New Roman"/>
                <a:cs typeface="Times New Roman"/>
              </a:defRPr>
            </a:lvl1pPr>
          </a:lstStyle>
          <a:p>
            <a:pPr marL="104775">
              <a:lnSpc>
                <a:spcPts val="1425"/>
              </a:lnSpc>
            </a:pPr>
            <a:fld id="{81D60167-4931-47E6-BA6A-407CBD079E47}" type="slidenum">
              <a:rPr b="0" spc="-50" dirty="0">
                <a:latin typeface="Arial MT"/>
                <a:cs typeface="Arial MT"/>
              </a:rPr>
              <a:t>‹#›</a:t>
            </a:fld>
            <a:endParaRPr b="0" spc="-50" dirty="0">
              <a:latin typeface="Arial MT"/>
              <a:cs typeface="Arial MT"/>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1" i="0">
                <a:solidFill>
                  <a:schemeClr val="tx1"/>
                </a:solidFill>
                <a:latin typeface="Times New Roman"/>
                <a:cs typeface="Times New Roman"/>
              </a:defRPr>
            </a:lvl1pPr>
          </a:lstStyle>
          <a:p>
            <a:pPr marL="12700">
              <a:lnSpc>
                <a:spcPts val="1425"/>
              </a:lnSpc>
            </a:pPr>
            <a:r>
              <a:rPr b="0" dirty="0">
                <a:latin typeface="Arial MT"/>
                <a:cs typeface="Arial MT"/>
              </a:rPr>
              <a:t>Dept.</a:t>
            </a:r>
            <a:r>
              <a:rPr b="0" spc="-30" dirty="0">
                <a:latin typeface="Arial MT"/>
                <a:cs typeface="Arial MT"/>
              </a:rPr>
              <a:t> </a:t>
            </a:r>
            <a:r>
              <a:rPr b="0" dirty="0">
                <a:latin typeface="Arial MT"/>
                <a:cs typeface="Arial MT"/>
              </a:rPr>
              <a:t>of</a:t>
            </a:r>
            <a:r>
              <a:rPr b="0" spc="-10" dirty="0">
                <a:latin typeface="Arial MT"/>
                <a:cs typeface="Arial MT"/>
              </a:rPr>
              <a:t> </a:t>
            </a:r>
            <a:r>
              <a:rPr b="0" dirty="0">
                <a:latin typeface="Arial MT"/>
                <a:cs typeface="Arial MT"/>
              </a:rPr>
              <a:t>ECE</a:t>
            </a:r>
            <a:r>
              <a:rPr b="0" spc="10" dirty="0">
                <a:latin typeface="Arial MT"/>
                <a:cs typeface="Arial MT"/>
              </a:rPr>
              <a:t> </a:t>
            </a:r>
            <a:r>
              <a:rPr b="0" dirty="0">
                <a:latin typeface="Arial MT"/>
                <a:cs typeface="Arial MT"/>
              </a:rPr>
              <a:t>2025-</a:t>
            </a:r>
            <a:r>
              <a:rPr b="0" spc="-25" dirty="0">
                <a:latin typeface="Arial MT"/>
                <a:cs typeface="Arial MT"/>
              </a:rPr>
              <a:t>26</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1/12/2026</a:t>
            </a:fld>
            <a:endParaRPr lang="en-US"/>
          </a:p>
        </p:txBody>
      </p:sp>
      <p:sp>
        <p:nvSpPr>
          <p:cNvPr id="4" name="Holder 4"/>
          <p:cNvSpPr>
            <a:spLocks noGrp="1"/>
          </p:cNvSpPr>
          <p:nvPr>
            <p:ph type="sldNum" sz="quarter" idx="7"/>
          </p:nvPr>
        </p:nvSpPr>
        <p:spPr/>
        <p:txBody>
          <a:bodyPr lIns="0" tIns="0" rIns="0" bIns="0"/>
          <a:lstStyle>
            <a:lvl1pPr>
              <a:defRPr sz="1200" b="1" i="0">
                <a:solidFill>
                  <a:schemeClr val="tx1"/>
                </a:solidFill>
                <a:latin typeface="Times New Roman"/>
                <a:cs typeface="Times New Roman"/>
              </a:defRPr>
            </a:lvl1pPr>
          </a:lstStyle>
          <a:p>
            <a:pPr marL="104775">
              <a:lnSpc>
                <a:spcPts val="1425"/>
              </a:lnSpc>
            </a:pPr>
            <a:fld id="{81D60167-4931-47E6-BA6A-407CBD079E47}" type="slidenum">
              <a:rPr b="0" spc="-50" dirty="0">
                <a:latin typeface="Arial MT"/>
                <a:cs typeface="Arial MT"/>
              </a:rPr>
              <a:t>‹#›</a:t>
            </a:fld>
            <a:endParaRPr b="0" spc="-50" dirty="0">
              <a:latin typeface="Arial MT"/>
              <a:cs typeface="Arial MT"/>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350644" y="275920"/>
            <a:ext cx="6000623" cy="1184910"/>
          </a:xfrm>
          <a:prstGeom prst="rect">
            <a:avLst/>
          </a:prstGeom>
        </p:spPr>
        <p:txBody>
          <a:bodyPr wrap="square" lIns="0" tIns="0" rIns="0" bIns="0">
            <a:spAutoFit/>
          </a:bodyPr>
          <a:lstStyle>
            <a:lvl1pPr>
              <a:defRPr sz="3300" b="1"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1041400" y="1946910"/>
            <a:ext cx="5910580" cy="430466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3810761" y="6449170"/>
            <a:ext cx="1522729" cy="196215"/>
          </a:xfrm>
          <a:prstGeom prst="rect">
            <a:avLst/>
          </a:prstGeom>
        </p:spPr>
        <p:txBody>
          <a:bodyPr wrap="square" lIns="0" tIns="0" rIns="0" bIns="0">
            <a:spAutoFit/>
          </a:bodyPr>
          <a:lstStyle>
            <a:lvl1pPr>
              <a:defRPr sz="1200" b="1" i="0">
                <a:solidFill>
                  <a:schemeClr val="tx1"/>
                </a:solidFill>
                <a:latin typeface="Times New Roman"/>
                <a:cs typeface="Times New Roman"/>
              </a:defRPr>
            </a:lvl1pPr>
          </a:lstStyle>
          <a:p>
            <a:pPr marL="12700">
              <a:lnSpc>
                <a:spcPts val="1425"/>
              </a:lnSpc>
            </a:pPr>
            <a:r>
              <a:rPr b="0" dirty="0">
                <a:latin typeface="Arial MT"/>
                <a:cs typeface="Arial MT"/>
              </a:rPr>
              <a:t>Dept.</a:t>
            </a:r>
            <a:r>
              <a:rPr b="0" spc="-30" dirty="0">
                <a:latin typeface="Arial MT"/>
                <a:cs typeface="Arial MT"/>
              </a:rPr>
              <a:t> </a:t>
            </a:r>
            <a:r>
              <a:rPr b="0" dirty="0">
                <a:latin typeface="Arial MT"/>
                <a:cs typeface="Arial MT"/>
              </a:rPr>
              <a:t>of</a:t>
            </a:r>
            <a:r>
              <a:rPr b="0" spc="-10" dirty="0">
                <a:latin typeface="Arial MT"/>
                <a:cs typeface="Arial MT"/>
              </a:rPr>
              <a:t> </a:t>
            </a:r>
            <a:r>
              <a:rPr b="0" dirty="0">
                <a:latin typeface="Arial MT"/>
                <a:cs typeface="Arial MT"/>
              </a:rPr>
              <a:t>ECE</a:t>
            </a:r>
            <a:r>
              <a:rPr b="0" spc="10" dirty="0">
                <a:latin typeface="Arial MT"/>
                <a:cs typeface="Arial MT"/>
              </a:rPr>
              <a:t> </a:t>
            </a:r>
            <a:r>
              <a:rPr b="0" dirty="0">
                <a:latin typeface="Arial MT"/>
                <a:cs typeface="Arial MT"/>
              </a:rPr>
              <a:t>2025-</a:t>
            </a:r>
            <a:r>
              <a:rPr b="0" spc="-25" dirty="0">
                <a:latin typeface="Arial MT"/>
                <a:cs typeface="Arial MT"/>
              </a:rPr>
              <a:t>26</a:t>
            </a: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1/12/2026</a:t>
            </a:fld>
            <a:endParaRPr lang="en-US"/>
          </a:p>
        </p:txBody>
      </p:sp>
      <p:sp>
        <p:nvSpPr>
          <p:cNvPr id="6" name="Holder 6"/>
          <p:cNvSpPr>
            <a:spLocks noGrp="1"/>
          </p:cNvSpPr>
          <p:nvPr>
            <p:ph type="sldNum" sz="quarter" idx="7"/>
          </p:nvPr>
        </p:nvSpPr>
        <p:spPr>
          <a:xfrm>
            <a:off x="8236331" y="6448280"/>
            <a:ext cx="241300" cy="194309"/>
          </a:xfrm>
          <a:prstGeom prst="rect">
            <a:avLst/>
          </a:prstGeom>
        </p:spPr>
        <p:txBody>
          <a:bodyPr wrap="square" lIns="0" tIns="0" rIns="0" bIns="0">
            <a:spAutoFit/>
          </a:bodyPr>
          <a:lstStyle>
            <a:lvl1pPr>
              <a:defRPr sz="1200" b="1" i="0">
                <a:solidFill>
                  <a:schemeClr val="tx1"/>
                </a:solidFill>
                <a:latin typeface="Times New Roman"/>
                <a:cs typeface="Times New Roman"/>
              </a:defRPr>
            </a:lvl1pPr>
          </a:lstStyle>
          <a:p>
            <a:pPr marL="104775">
              <a:lnSpc>
                <a:spcPts val="1425"/>
              </a:lnSpc>
            </a:pPr>
            <a:fld id="{81D60167-4931-47E6-BA6A-407CBD079E47}" type="slidenum">
              <a:rPr b="0" spc="-50" dirty="0">
                <a:latin typeface="Arial MT"/>
                <a:cs typeface="Arial MT"/>
              </a:rPr>
              <a:t>‹#›</a:t>
            </a:fld>
            <a:endParaRPr b="0" spc="-50" dirty="0">
              <a:latin typeface="Arial MT"/>
              <a:cs typeface="Arial MT"/>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jpg"/><Relationship Id="rId1" Type="http://schemas.openxmlformats.org/officeDocument/2006/relationships/slideLayout" Target="../slideLayouts/slideLayout4.xml"/><Relationship Id="rId4" Type="http://schemas.openxmlformats.org/officeDocument/2006/relationships/image" Target="../media/image2.jpg"/></Relationships>
</file>

<file path=ppt/slides/_rels/slide2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jpg"/><Relationship Id="rId1" Type="http://schemas.openxmlformats.org/officeDocument/2006/relationships/slideLayout" Target="../slideLayouts/slideLayout5.xml"/><Relationship Id="rId5" Type="http://schemas.openxmlformats.org/officeDocument/2006/relationships/image" Target="../media/image12.jpg"/><Relationship Id="rId4" Type="http://schemas.openxmlformats.org/officeDocument/2006/relationships/image" Target="../media/image2.jpg"/></Relationships>
</file>

<file path=ppt/slides/_rels/slide2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5.xml"/><Relationship Id="rId4" Type="http://schemas.openxmlformats.org/officeDocument/2006/relationships/image" Target="../media/image13.jpg"/></Relationships>
</file>

<file path=ppt/slides/_rels/slide2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5.xml"/><Relationship Id="rId4" Type="http://schemas.openxmlformats.org/officeDocument/2006/relationships/image" Target="../media/image14.jp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5.jpg"/><Relationship Id="rId1" Type="http://schemas.openxmlformats.org/officeDocument/2006/relationships/slideLayout" Target="../slideLayouts/slideLayout5.xml"/><Relationship Id="rId4" Type="http://schemas.openxmlformats.org/officeDocument/2006/relationships/image" Target="../media/image2.jp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4.xml"/><Relationship Id="rId4" Type="http://schemas.openxmlformats.org/officeDocument/2006/relationships/image" Target="../media/image2.jp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7.jpg"/><Relationship Id="rId1" Type="http://schemas.openxmlformats.org/officeDocument/2006/relationships/slideLayout" Target="../slideLayouts/slideLayout5.xml"/><Relationship Id="rId4" Type="http://schemas.openxmlformats.org/officeDocument/2006/relationships/image" Target="../media/image2.jp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 Id="rId4" Type="http://schemas.openxmlformats.org/officeDocument/2006/relationships/image" Target="../media/image2.jpg"/></Relationships>
</file>

<file path=ppt/slides/_rels/slide2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8.jpg"/><Relationship Id="rId1" Type="http://schemas.openxmlformats.org/officeDocument/2006/relationships/slideLayout" Target="../slideLayouts/slideLayout2.xml"/><Relationship Id="rId5" Type="http://schemas.openxmlformats.org/officeDocument/2006/relationships/image" Target="../media/image2.jpg"/><Relationship Id="rId4" Type="http://schemas.openxmlformats.org/officeDocument/2006/relationships/image" Target="../media/image1.png"/></Relationships>
</file>

<file path=ppt/slides/_rels/slide3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1.png"/><Relationship Id="rId1" Type="http://schemas.openxmlformats.org/officeDocument/2006/relationships/slideLayout" Target="../slideLayouts/slideLayout5.xml"/><Relationship Id="rId4" Type="http://schemas.openxmlformats.org/officeDocument/2006/relationships/image" Target="../media/image2.jpg"/></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2.jpeg"/><Relationship Id="rId1" Type="http://schemas.openxmlformats.org/officeDocument/2006/relationships/slideLayout" Target="../slideLayouts/slideLayout5.xml"/><Relationship Id="rId4" Type="http://schemas.openxmlformats.org/officeDocument/2006/relationships/image" Target="../media/image2.jp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3.jpeg"/><Relationship Id="rId1" Type="http://schemas.openxmlformats.org/officeDocument/2006/relationships/slideLayout" Target="../slideLayouts/slideLayout5.xml"/><Relationship Id="rId4" Type="http://schemas.openxmlformats.org/officeDocument/2006/relationships/image" Target="../media/image2.jpg"/></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4.jpeg"/><Relationship Id="rId1" Type="http://schemas.openxmlformats.org/officeDocument/2006/relationships/slideLayout" Target="../slideLayouts/slideLayout5.xml"/><Relationship Id="rId4" Type="http://schemas.openxmlformats.org/officeDocument/2006/relationships/image" Target="../media/image2.jpg"/></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5.jpeg"/><Relationship Id="rId1" Type="http://schemas.openxmlformats.org/officeDocument/2006/relationships/slideLayout" Target="../slideLayouts/slideLayout5.xml"/><Relationship Id="rId4" Type="http://schemas.openxmlformats.org/officeDocument/2006/relationships/image" Target="../media/image2.jpg"/></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6.jpeg"/><Relationship Id="rId1" Type="http://schemas.openxmlformats.org/officeDocument/2006/relationships/slideLayout" Target="../slideLayouts/slideLayout5.xml"/><Relationship Id="rId4" Type="http://schemas.openxmlformats.org/officeDocument/2006/relationships/image" Target="../media/image2.jpg"/></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7.jpeg"/><Relationship Id="rId1" Type="http://schemas.openxmlformats.org/officeDocument/2006/relationships/slideLayout" Target="../slideLayouts/slideLayout5.xml"/><Relationship Id="rId4" Type="http://schemas.openxmlformats.org/officeDocument/2006/relationships/image" Target="../media/image2.jpg"/></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8.jpeg"/><Relationship Id="rId1" Type="http://schemas.openxmlformats.org/officeDocument/2006/relationships/slideLayout" Target="../slideLayouts/slideLayout5.xml"/><Relationship Id="rId4" Type="http://schemas.openxmlformats.org/officeDocument/2006/relationships/image" Target="../media/image2.jpg"/></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9.jpeg"/><Relationship Id="rId1" Type="http://schemas.openxmlformats.org/officeDocument/2006/relationships/slideLayout" Target="../slideLayouts/slideLayout5.xml"/><Relationship Id="rId4" Type="http://schemas.openxmlformats.org/officeDocument/2006/relationships/image" Target="../media/image2.jpg"/></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0.jpeg"/><Relationship Id="rId1" Type="http://schemas.openxmlformats.org/officeDocument/2006/relationships/slideLayout" Target="../slideLayouts/slideLayout5.xml"/><Relationship Id="rId4" Type="http://schemas.openxmlformats.org/officeDocument/2006/relationships/image" Target="../media/image2.jpg"/></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1.jpeg"/><Relationship Id="rId1" Type="http://schemas.openxmlformats.org/officeDocument/2006/relationships/slideLayout" Target="../slideLayouts/slideLayout5.xml"/><Relationship Id="rId4" Type="http://schemas.openxmlformats.org/officeDocument/2006/relationships/image" Target="../media/image2.jpg"/></Relationships>
</file>

<file path=ppt/slides/_rels/slide4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525650" y="380745"/>
            <a:ext cx="6055360" cy="3212465"/>
          </a:xfrm>
          <a:prstGeom prst="rect">
            <a:avLst/>
          </a:prstGeom>
        </p:spPr>
        <p:txBody>
          <a:bodyPr vert="horz" wrap="square" lIns="0" tIns="11430" rIns="0" bIns="0" rtlCol="0">
            <a:spAutoFit/>
          </a:bodyPr>
          <a:lstStyle/>
          <a:p>
            <a:pPr marR="88265" algn="ctr">
              <a:lnSpc>
                <a:spcPts val="2295"/>
              </a:lnSpc>
              <a:spcBef>
                <a:spcPts val="90"/>
              </a:spcBef>
            </a:pPr>
            <a:r>
              <a:rPr sz="2000" b="1" dirty="0">
                <a:latin typeface="Times New Roman"/>
                <a:cs typeface="Times New Roman"/>
              </a:rPr>
              <a:t>AMC</a:t>
            </a:r>
            <a:r>
              <a:rPr sz="2000" b="1" spc="-55" dirty="0">
                <a:latin typeface="Times New Roman"/>
                <a:cs typeface="Times New Roman"/>
              </a:rPr>
              <a:t> </a:t>
            </a:r>
            <a:r>
              <a:rPr sz="2000" b="1" dirty="0">
                <a:latin typeface="Times New Roman"/>
                <a:cs typeface="Times New Roman"/>
              </a:rPr>
              <a:t>ENGINEERING</a:t>
            </a:r>
            <a:r>
              <a:rPr sz="2000" b="1" spc="65" dirty="0">
                <a:latin typeface="Times New Roman"/>
                <a:cs typeface="Times New Roman"/>
              </a:rPr>
              <a:t> </a:t>
            </a:r>
            <a:r>
              <a:rPr sz="2000" b="1" spc="-20" dirty="0">
                <a:latin typeface="Times New Roman"/>
                <a:cs typeface="Times New Roman"/>
              </a:rPr>
              <a:t>COLLEGE,BENGALURU-</a:t>
            </a:r>
            <a:r>
              <a:rPr sz="2000" b="1" spc="-25" dirty="0">
                <a:latin typeface="Times New Roman"/>
                <a:cs typeface="Times New Roman"/>
              </a:rPr>
              <a:t>83</a:t>
            </a:r>
            <a:endParaRPr sz="2000">
              <a:latin typeface="Times New Roman"/>
              <a:cs typeface="Times New Roman"/>
            </a:endParaRPr>
          </a:p>
          <a:p>
            <a:pPr marR="97790" algn="ctr">
              <a:lnSpc>
                <a:spcPts val="1950"/>
              </a:lnSpc>
            </a:pPr>
            <a:r>
              <a:rPr sz="1800" dirty="0">
                <a:latin typeface="Times New Roman"/>
                <a:cs typeface="Times New Roman"/>
              </a:rPr>
              <a:t>(Approved</a:t>
            </a:r>
            <a:r>
              <a:rPr sz="1800" spc="-35" dirty="0">
                <a:latin typeface="Times New Roman"/>
                <a:cs typeface="Times New Roman"/>
              </a:rPr>
              <a:t> </a:t>
            </a:r>
            <a:r>
              <a:rPr sz="1800" dirty="0">
                <a:latin typeface="Times New Roman"/>
                <a:cs typeface="Times New Roman"/>
              </a:rPr>
              <a:t>by</a:t>
            </a:r>
            <a:r>
              <a:rPr sz="1800" spc="-35" dirty="0">
                <a:latin typeface="Times New Roman"/>
                <a:cs typeface="Times New Roman"/>
              </a:rPr>
              <a:t> </a:t>
            </a:r>
            <a:r>
              <a:rPr sz="1800" dirty="0">
                <a:latin typeface="Times New Roman"/>
                <a:cs typeface="Times New Roman"/>
              </a:rPr>
              <a:t>,</a:t>
            </a:r>
            <a:r>
              <a:rPr sz="1800" spc="-35" dirty="0">
                <a:latin typeface="Times New Roman"/>
                <a:cs typeface="Times New Roman"/>
              </a:rPr>
              <a:t> </a:t>
            </a:r>
            <a:r>
              <a:rPr sz="1800" spc="-10" dirty="0">
                <a:latin typeface="Times New Roman"/>
                <a:cs typeface="Times New Roman"/>
              </a:rPr>
              <a:t>Permanently</a:t>
            </a:r>
            <a:r>
              <a:rPr sz="1800" spc="-105" dirty="0">
                <a:latin typeface="Times New Roman"/>
                <a:cs typeface="Times New Roman"/>
              </a:rPr>
              <a:t> </a:t>
            </a:r>
            <a:r>
              <a:rPr sz="1800" dirty="0">
                <a:latin typeface="Times New Roman"/>
                <a:cs typeface="Times New Roman"/>
              </a:rPr>
              <a:t>Affiliated</a:t>
            </a:r>
            <a:r>
              <a:rPr sz="1800" spc="35" dirty="0">
                <a:latin typeface="Times New Roman"/>
                <a:cs typeface="Times New Roman"/>
              </a:rPr>
              <a:t> </a:t>
            </a:r>
            <a:r>
              <a:rPr sz="1800" spc="-25" dirty="0">
                <a:latin typeface="Times New Roman"/>
                <a:cs typeface="Times New Roman"/>
              </a:rPr>
              <a:t>to</a:t>
            </a:r>
            <a:endParaRPr sz="1800">
              <a:latin typeface="Times New Roman"/>
              <a:cs typeface="Times New Roman"/>
            </a:endParaRPr>
          </a:p>
          <a:p>
            <a:pPr marR="92710" algn="ctr">
              <a:lnSpc>
                <a:spcPts val="2055"/>
              </a:lnSpc>
            </a:pPr>
            <a:r>
              <a:rPr sz="1800" dirty="0">
                <a:latin typeface="Times New Roman"/>
                <a:cs typeface="Times New Roman"/>
              </a:rPr>
              <a:t>VTU,</a:t>
            </a:r>
            <a:r>
              <a:rPr sz="1800" spc="-35" dirty="0">
                <a:latin typeface="Times New Roman"/>
                <a:cs typeface="Times New Roman"/>
              </a:rPr>
              <a:t> </a:t>
            </a:r>
            <a:r>
              <a:rPr sz="1800" spc="-10" dirty="0">
                <a:latin typeface="Times New Roman"/>
                <a:cs typeface="Times New Roman"/>
              </a:rPr>
              <a:t>Belagavi,</a:t>
            </a:r>
            <a:r>
              <a:rPr sz="1800" spc="-90" dirty="0">
                <a:latin typeface="Times New Roman"/>
                <a:cs typeface="Times New Roman"/>
              </a:rPr>
              <a:t> </a:t>
            </a:r>
            <a:r>
              <a:rPr sz="1800" dirty="0">
                <a:latin typeface="Times New Roman"/>
                <a:cs typeface="Times New Roman"/>
              </a:rPr>
              <a:t>Accredited</a:t>
            </a:r>
            <a:r>
              <a:rPr sz="1800" spc="-5" dirty="0">
                <a:latin typeface="Times New Roman"/>
                <a:cs typeface="Times New Roman"/>
              </a:rPr>
              <a:t> </a:t>
            </a:r>
            <a:r>
              <a:rPr sz="1800" dirty="0">
                <a:latin typeface="Times New Roman"/>
                <a:cs typeface="Times New Roman"/>
              </a:rPr>
              <a:t>by</a:t>
            </a:r>
            <a:r>
              <a:rPr sz="1800" spc="-65" dirty="0">
                <a:latin typeface="Times New Roman"/>
                <a:cs typeface="Times New Roman"/>
              </a:rPr>
              <a:t> </a:t>
            </a:r>
            <a:r>
              <a:rPr sz="1800" dirty="0">
                <a:latin typeface="Times New Roman"/>
                <a:cs typeface="Times New Roman"/>
              </a:rPr>
              <a:t>NAAC</a:t>
            </a:r>
            <a:r>
              <a:rPr sz="1800" spc="35" dirty="0">
                <a:latin typeface="Times New Roman"/>
                <a:cs typeface="Times New Roman"/>
              </a:rPr>
              <a:t> </a:t>
            </a:r>
            <a:r>
              <a:rPr sz="1800" dirty="0">
                <a:latin typeface="Times New Roman"/>
                <a:cs typeface="Times New Roman"/>
              </a:rPr>
              <a:t>&amp;</a:t>
            </a:r>
            <a:r>
              <a:rPr sz="1800" spc="-45" dirty="0">
                <a:latin typeface="Times New Roman"/>
                <a:cs typeface="Times New Roman"/>
              </a:rPr>
              <a:t> </a:t>
            </a:r>
            <a:r>
              <a:rPr sz="1800" spc="-20" dirty="0">
                <a:latin typeface="Times New Roman"/>
                <a:cs typeface="Times New Roman"/>
              </a:rPr>
              <a:t>NBA)</a:t>
            </a:r>
            <a:endParaRPr sz="1800">
              <a:latin typeface="Times New Roman"/>
              <a:cs typeface="Times New Roman"/>
            </a:endParaRPr>
          </a:p>
          <a:p>
            <a:pPr marL="121920" marR="208279" algn="ctr">
              <a:lnSpc>
                <a:spcPts val="1939"/>
              </a:lnSpc>
              <a:spcBef>
                <a:spcPts val="1980"/>
              </a:spcBef>
            </a:pPr>
            <a:r>
              <a:rPr sz="1800" spc="-35" dirty="0">
                <a:latin typeface="Times New Roman"/>
                <a:cs typeface="Times New Roman"/>
              </a:rPr>
              <a:t>DEPARTMENT</a:t>
            </a:r>
            <a:r>
              <a:rPr sz="1800" spc="-40" dirty="0">
                <a:latin typeface="Times New Roman"/>
                <a:cs typeface="Times New Roman"/>
              </a:rPr>
              <a:t> </a:t>
            </a:r>
            <a:r>
              <a:rPr sz="1800" dirty="0">
                <a:latin typeface="Times New Roman"/>
                <a:cs typeface="Times New Roman"/>
              </a:rPr>
              <a:t>OF</a:t>
            </a:r>
            <a:r>
              <a:rPr sz="1800" spc="-10" dirty="0">
                <a:latin typeface="Times New Roman"/>
                <a:cs typeface="Times New Roman"/>
              </a:rPr>
              <a:t> </a:t>
            </a:r>
            <a:r>
              <a:rPr sz="1800" dirty="0">
                <a:latin typeface="Times New Roman"/>
                <a:cs typeface="Times New Roman"/>
              </a:rPr>
              <a:t>ELECTRONICS</a:t>
            </a:r>
            <a:r>
              <a:rPr sz="1800" spc="10" dirty="0">
                <a:latin typeface="Times New Roman"/>
                <a:cs typeface="Times New Roman"/>
              </a:rPr>
              <a:t> </a:t>
            </a:r>
            <a:r>
              <a:rPr sz="1800" dirty="0">
                <a:latin typeface="Times New Roman"/>
                <a:cs typeface="Times New Roman"/>
              </a:rPr>
              <a:t>&amp;</a:t>
            </a:r>
            <a:r>
              <a:rPr sz="1800" spc="-30" dirty="0">
                <a:latin typeface="Times New Roman"/>
                <a:cs typeface="Times New Roman"/>
              </a:rPr>
              <a:t> </a:t>
            </a:r>
            <a:r>
              <a:rPr sz="1800" spc="-10" dirty="0">
                <a:latin typeface="Times New Roman"/>
                <a:cs typeface="Times New Roman"/>
              </a:rPr>
              <a:t>COMMUNICATION ENGINEERING</a:t>
            </a:r>
            <a:endParaRPr sz="1800">
              <a:latin typeface="Times New Roman"/>
              <a:cs typeface="Times New Roman"/>
            </a:endParaRPr>
          </a:p>
          <a:p>
            <a:pPr>
              <a:lnSpc>
                <a:spcPct val="100000"/>
              </a:lnSpc>
              <a:spcBef>
                <a:spcPts val="1580"/>
              </a:spcBef>
            </a:pPr>
            <a:endParaRPr sz="1800">
              <a:latin typeface="Times New Roman"/>
              <a:cs typeface="Times New Roman"/>
            </a:endParaRPr>
          </a:p>
          <a:p>
            <a:pPr marR="88265" algn="ctr">
              <a:lnSpc>
                <a:spcPct val="100000"/>
              </a:lnSpc>
            </a:pPr>
            <a:r>
              <a:rPr sz="1800" dirty="0">
                <a:latin typeface="Times New Roman"/>
                <a:cs typeface="Times New Roman"/>
              </a:rPr>
              <a:t>PROJECT</a:t>
            </a:r>
            <a:r>
              <a:rPr sz="1800" spc="-80" dirty="0">
                <a:latin typeface="Times New Roman"/>
                <a:cs typeface="Times New Roman"/>
              </a:rPr>
              <a:t> </a:t>
            </a:r>
            <a:r>
              <a:rPr sz="1800" spc="-25" dirty="0">
                <a:latin typeface="Times New Roman"/>
                <a:cs typeface="Times New Roman"/>
              </a:rPr>
              <a:t>ON</a:t>
            </a:r>
            <a:endParaRPr sz="1800">
              <a:latin typeface="Times New Roman"/>
              <a:cs typeface="Times New Roman"/>
            </a:endParaRPr>
          </a:p>
          <a:p>
            <a:pPr marL="1491615" marR="5080" indent="-1478915">
              <a:lnSpc>
                <a:spcPts val="2590"/>
              </a:lnSpc>
              <a:spcBef>
                <a:spcPts val="1985"/>
              </a:spcBef>
            </a:pPr>
            <a:r>
              <a:rPr sz="2400" b="1" dirty="0">
                <a:latin typeface="Times New Roman"/>
                <a:cs typeface="Times New Roman"/>
              </a:rPr>
              <a:t>CRACK</a:t>
            </a:r>
            <a:r>
              <a:rPr sz="2400" b="1" spc="-45" dirty="0">
                <a:latin typeface="Times New Roman"/>
                <a:cs typeface="Times New Roman"/>
              </a:rPr>
              <a:t> </a:t>
            </a:r>
            <a:r>
              <a:rPr sz="2400" b="1" spc="-10" dirty="0">
                <a:latin typeface="Times New Roman"/>
                <a:cs typeface="Times New Roman"/>
              </a:rPr>
              <a:t>DETECTION</a:t>
            </a:r>
            <a:r>
              <a:rPr sz="2400" b="1" spc="-150" dirty="0">
                <a:latin typeface="Times New Roman"/>
                <a:cs typeface="Times New Roman"/>
              </a:rPr>
              <a:t> </a:t>
            </a:r>
            <a:r>
              <a:rPr sz="2400" b="1" dirty="0">
                <a:latin typeface="Times New Roman"/>
                <a:cs typeface="Times New Roman"/>
              </a:rPr>
              <a:t>AND</a:t>
            </a:r>
            <a:r>
              <a:rPr sz="2400" b="1" spc="-35" dirty="0">
                <a:latin typeface="Times New Roman"/>
                <a:cs typeface="Times New Roman"/>
              </a:rPr>
              <a:t> </a:t>
            </a:r>
            <a:r>
              <a:rPr sz="2400" b="1" spc="-90" dirty="0">
                <a:latin typeface="Times New Roman"/>
                <a:cs typeface="Times New Roman"/>
              </a:rPr>
              <a:t>WATER</a:t>
            </a:r>
            <a:r>
              <a:rPr sz="2400" b="1" spc="-60" dirty="0">
                <a:latin typeface="Times New Roman"/>
                <a:cs typeface="Times New Roman"/>
              </a:rPr>
              <a:t> </a:t>
            </a:r>
            <a:r>
              <a:rPr sz="2400" b="1" spc="-10" dirty="0">
                <a:latin typeface="Times New Roman"/>
                <a:cs typeface="Times New Roman"/>
              </a:rPr>
              <a:t>LEVEL </a:t>
            </a:r>
            <a:r>
              <a:rPr sz="2400" b="1" spc="-25" dirty="0">
                <a:latin typeface="Times New Roman"/>
                <a:cs typeface="Times New Roman"/>
              </a:rPr>
              <a:t>INDICATOR</a:t>
            </a:r>
            <a:r>
              <a:rPr sz="2400" b="1" spc="-55" dirty="0">
                <a:latin typeface="Times New Roman"/>
                <a:cs typeface="Times New Roman"/>
              </a:rPr>
              <a:t> </a:t>
            </a:r>
            <a:r>
              <a:rPr sz="2400" b="1" dirty="0">
                <a:latin typeface="Times New Roman"/>
                <a:cs typeface="Times New Roman"/>
              </a:rPr>
              <a:t>IN</a:t>
            </a:r>
            <a:r>
              <a:rPr sz="2400" b="1" spc="-50" dirty="0">
                <a:latin typeface="Times New Roman"/>
                <a:cs typeface="Times New Roman"/>
              </a:rPr>
              <a:t> </a:t>
            </a:r>
            <a:r>
              <a:rPr sz="2400" b="1" spc="-25" dirty="0">
                <a:latin typeface="Times New Roman"/>
                <a:cs typeface="Times New Roman"/>
              </a:rPr>
              <a:t>DAM</a:t>
            </a:r>
            <a:endParaRPr sz="2400">
              <a:latin typeface="Times New Roman"/>
              <a:cs typeface="Times New Roman"/>
            </a:endParaRPr>
          </a:p>
        </p:txBody>
      </p:sp>
      <p:sp>
        <p:nvSpPr>
          <p:cNvPr id="3" name="object 3"/>
          <p:cNvSpPr txBox="1"/>
          <p:nvPr/>
        </p:nvSpPr>
        <p:spPr>
          <a:xfrm>
            <a:off x="391769" y="4442917"/>
            <a:ext cx="1174750" cy="271145"/>
          </a:xfrm>
          <a:prstGeom prst="rect">
            <a:avLst/>
          </a:prstGeom>
        </p:spPr>
        <p:txBody>
          <a:bodyPr vert="horz" wrap="square" lIns="0" tIns="13970" rIns="0" bIns="0" rtlCol="0">
            <a:spAutoFit/>
          </a:bodyPr>
          <a:lstStyle/>
          <a:p>
            <a:pPr marL="12700">
              <a:lnSpc>
                <a:spcPct val="100000"/>
              </a:lnSpc>
              <a:spcBef>
                <a:spcPts val="110"/>
              </a:spcBef>
            </a:pPr>
            <a:r>
              <a:rPr sz="1600" dirty="0">
                <a:latin typeface="Times New Roman"/>
                <a:cs typeface="Times New Roman"/>
              </a:rPr>
              <a:t>GUIDED</a:t>
            </a:r>
            <a:r>
              <a:rPr sz="1600" spc="-20" dirty="0">
                <a:latin typeface="Times New Roman"/>
                <a:cs typeface="Times New Roman"/>
              </a:rPr>
              <a:t> </a:t>
            </a:r>
            <a:r>
              <a:rPr sz="1600" spc="-25" dirty="0">
                <a:latin typeface="Times New Roman"/>
                <a:cs typeface="Times New Roman"/>
              </a:rPr>
              <a:t>BY:</a:t>
            </a:r>
            <a:endParaRPr sz="1600">
              <a:latin typeface="Times New Roman"/>
              <a:cs typeface="Times New Roman"/>
            </a:endParaRPr>
          </a:p>
        </p:txBody>
      </p:sp>
      <p:sp>
        <p:nvSpPr>
          <p:cNvPr id="4" name="object 4"/>
          <p:cNvSpPr txBox="1"/>
          <p:nvPr/>
        </p:nvSpPr>
        <p:spPr>
          <a:xfrm>
            <a:off x="391769" y="4970475"/>
            <a:ext cx="3113431" cy="958596"/>
          </a:xfrm>
          <a:prstGeom prst="rect">
            <a:avLst/>
          </a:prstGeom>
        </p:spPr>
        <p:txBody>
          <a:bodyPr vert="horz" wrap="square" lIns="0" tIns="12065" rIns="0" bIns="0" rtlCol="0">
            <a:spAutoFit/>
          </a:bodyPr>
          <a:lstStyle/>
          <a:p>
            <a:pPr marL="12700">
              <a:lnSpc>
                <a:spcPct val="100000"/>
              </a:lnSpc>
              <a:spcBef>
                <a:spcPts val="95"/>
              </a:spcBef>
            </a:pPr>
            <a:r>
              <a:rPr sz="2000" b="1" dirty="0">
                <a:latin typeface="Times New Roman"/>
                <a:cs typeface="Times New Roman"/>
              </a:rPr>
              <a:t>Dr</a:t>
            </a:r>
            <a:r>
              <a:rPr sz="2000" b="1" spc="-45" dirty="0">
                <a:latin typeface="Times New Roman"/>
                <a:cs typeface="Times New Roman"/>
              </a:rPr>
              <a:t> </a:t>
            </a:r>
            <a:r>
              <a:rPr sz="2000" b="1" spc="-10" dirty="0">
                <a:latin typeface="Times New Roman"/>
                <a:cs typeface="Times New Roman"/>
              </a:rPr>
              <a:t>.R.ARUNA</a:t>
            </a:r>
            <a:endParaRPr sz="2000" dirty="0">
              <a:latin typeface="Times New Roman"/>
              <a:cs typeface="Times New Roman"/>
            </a:endParaRPr>
          </a:p>
          <a:p>
            <a:pPr marL="12700" marR="65405">
              <a:lnSpc>
                <a:spcPct val="70000"/>
              </a:lnSpc>
              <a:spcBef>
                <a:spcPts val="815"/>
              </a:spcBef>
            </a:pPr>
            <a:r>
              <a:rPr sz="2000" b="1" spc="-10" dirty="0">
                <a:latin typeface="Times New Roman"/>
                <a:cs typeface="Times New Roman"/>
              </a:rPr>
              <a:t>ASSOCIATE PROFESSOR</a:t>
            </a:r>
            <a:endParaRPr sz="2000" dirty="0">
              <a:latin typeface="Times New Roman"/>
              <a:cs typeface="Times New Roman"/>
            </a:endParaRPr>
          </a:p>
          <a:p>
            <a:pPr marL="12700">
              <a:lnSpc>
                <a:spcPct val="100000"/>
              </a:lnSpc>
              <a:spcBef>
                <a:spcPts val="75"/>
              </a:spcBef>
            </a:pPr>
            <a:r>
              <a:rPr sz="2000" b="1" dirty="0">
                <a:latin typeface="Times New Roman"/>
                <a:cs typeface="Times New Roman"/>
              </a:rPr>
              <a:t>Dept</a:t>
            </a:r>
            <a:r>
              <a:rPr sz="2000" b="1" spc="-20" dirty="0">
                <a:latin typeface="Times New Roman"/>
                <a:cs typeface="Times New Roman"/>
              </a:rPr>
              <a:t> </a:t>
            </a:r>
            <a:r>
              <a:rPr sz="2000" b="1" dirty="0">
                <a:latin typeface="Times New Roman"/>
                <a:cs typeface="Times New Roman"/>
              </a:rPr>
              <a:t>of</a:t>
            </a:r>
            <a:r>
              <a:rPr sz="2000" b="1" spc="-35" dirty="0">
                <a:latin typeface="Times New Roman"/>
                <a:cs typeface="Times New Roman"/>
              </a:rPr>
              <a:t> </a:t>
            </a:r>
            <a:r>
              <a:rPr sz="2000" b="1" spc="-25" dirty="0">
                <a:latin typeface="Times New Roman"/>
                <a:cs typeface="Times New Roman"/>
              </a:rPr>
              <a:t>ECE</a:t>
            </a:r>
            <a:endParaRPr sz="2000" dirty="0">
              <a:latin typeface="Times New Roman"/>
              <a:cs typeface="Times New Roman"/>
            </a:endParaRPr>
          </a:p>
        </p:txBody>
      </p:sp>
      <p:pic>
        <p:nvPicPr>
          <p:cNvPr id="5" name="object 5"/>
          <p:cNvPicPr/>
          <p:nvPr/>
        </p:nvPicPr>
        <p:blipFill>
          <a:blip r:embed="rId2" cstate="print"/>
          <a:stretch>
            <a:fillRect/>
          </a:stretch>
        </p:blipFill>
        <p:spPr>
          <a:xfrm>
            <a:off x="179831" y="423672"/>
            <a:ext cx="981455" cy="1100328"/>
          </a:xfrm>
          <a:prstGeom prst="rect">
            <a:avLst/>
          </a:prstGeom>
        </p:spPr>
      </p:pic>
      <p:pic>
        <p:nvPicPr>
          <p:cNvPr id="6" name="object 6"/>
          <p:cNvPicPr/>
          <p:nvPr/>
        </p:nvPicPr>
        <p:blipFill>
          <a:blip r:embed="rId3" cstate="print"/>
          <a:stretch>
            <a:fillRect/>
          </a:stretch>
        </p:blipFill>
        <p:spPr>
          <a:xfrm>
            <a:off x="7924800" y="423672"/>
            <a:ext cx="1051560" cy="1100328"/>
          </a:xfrm>
          <a:prstGeom prst="rect">
            <a:avLst/>
          </a:prstGeom>
        </p:spPr>
      </p:pic>
      <p:sp>
        <p:nvSpPr>
          <p:cNvPr id="7" name="object 7"/>
          <p:cNvSpPr txBox="1"/>
          <p:nvPr/>
        </p:nvSpPr>
        <p:spPr>
          <a:xfrm>
            <a:off x="6637781" y="4361129"/>
            <a:ext cx="2262505" cy="329565"/>
          </a:xfrm>
          <a:prstGeom prst="rect">
            <a:avLst/>
          </a:prstGeom>
        </p:spPr>
        <p:txBody>
          <a:bodyPr vert="horz" wrap="square" lIns="0" tIns="12065" rIns="0" bIns="0" rtlCol="0">
            <a:spAutoFit/>
          </a:bodyPr>
          <a:lstStyle/>
          <a:p>
            <a:pPr marL="12700">
              <a:lnSpc>
                <a:spcPct val="100000"/>
              </a:lnSpc>
              <a:spcBef>
                <a:spcPts val="95"/>
              </a:spcBef>
            </a:pPr>
            <a:r>
              <a:rPr sz="2000" dirty="0">
                <a:latin typeface="Times New Roman"/>
                <a:cs typeface="Times New Roman"/>
              </a:rPr>
              <a:t>GROUP</a:t>
            </a:r>
            <a:r>
              <a:rPr sz="2000" spc="-40" dirty="0">
                <a:latin typeface="Times New Roman"/>
                <a:cs typeface="Times New Roman"/>
              </a:rPr>
              <a:t> </a:t>
            </a:r>
            <a:r>
              <a:rPr sz="2000" spc="-10" dirty="0">
                <a:latin typeface="Times New Roman"/>
                <a:cs typeface="Times New Roman"/>
              </a:rPr>
              <a:t>MEMBERS:</a:t>
            </a:r>
            <a:endParaRPr sz="2000">
              <a:latin typeface="Times New Roman"/>
              <a:cs typeface="Times New Roman"/>
            </a:endParaRPr>
          </a:p>
        </p:txBody>
      </p:sp>
      <p:sp>
        <p:nvSpPr>
          <p:cNvPr id="9" name="object 9"/>
          <p:cNvSpPr txBox="1">
            <a:spLocks noGrp="1"/>
          </p:cNvSpPr>
          <p:nvPr>
            <p:ph type="ftr" sz="quarter" idx="5"/>
          </p:nvPr>
        </p:nvSpPr>
        <p:spPr>
          <a:prstGeom prst="rect">
            <a:avLst/>
          </a:prstGeom>
        </p:spPr>
        <p:txBody>
          <a:bodyPr vert="horz" wrap="square" lIns="0" tIns="0" rIns="0" bIns="0" rtlCol="0">
            <a:spAutoFit/>
          </a:bodyPr>
          <a:lstStyle/>
          <a:p>
            <a:pPr marL="12700">
              <a:lnSpc>
                <a:spcPts val="1425"/>
              </a:lnSpc>
            </a:pPr>
            <a:r>
              <a:rPr b="0" dirty="0">
                <a:latin typeface="Arial MT"/>
                <a:cs typeface="Arial MT"/>
              </a:rPr>
              <a:t>Dept.</a:t>
            </a:r>
            <a:r>
              <a:rPr b="0" spc="-30" dirty="0">
                <a:latin typeface="Arial MT"/>
                <a:cs typeface="Arial MT"/>
              </a:rPr>
              <a:t> </a:t>
            </a:r>
            <a:r>
              <a:rPr b="0" dirty="0">
                <a:latin typeface="Arial MT"/>
                <a:cs typeface="Arial MT"/>
              </a:rPr>
              <a:t>of</a:t>
            </a:r>
            <a:r>
              <a:rPr b="0" spc="-10" dirty="0">
                <a:latin typeface="Arial MT"/>
                <a:cs typeface="Arial MT"/>
              </a:rPr>
              <a:t> </a:t>
            </a:r>
            <a:r>
              <a:rPr b="0" dirty="0">
                <a:latin typeface="Arial MT"/>
                <a:cs typeface="Arial MT"/>
              </a:rPr>
              <a:t>ECE</a:t>
            </a:r>
            <a:r>
              <a:rPr b="0" spc="10" dirty="0">
                <a:latin typeface="Arial MT"/>
                <a:cs typeface="Arial MT"/>
              </a:rPr>
              <a:t> </a:t>
            </a:r>
            <a:r>
              <a:rPr b="0" dirty="0">
                <a:latin typeface="Arial MT"/>
                <a:cs typeface="Arial MT"/>
              </a:rPr>
              <a:t>2025-</a:t>
            </a:r>
            <a:r>
              <a:rPr b="0" spc="-25" dirty="0">
                <a:latin typeface="Arial MT"/>
                <a:cs typeface="Arial MT"/>
              </a:rPr>
              <a:t>26</a:t>
            </a:r>
          </a:p>
        </p:txBody>
      </p:sp>
      <p:sp>
        <p:nvSpPr>
          <p:cNvPr id="10" name="object 10"/>
          <p:cNvSpPr txBox="1"/>
          <p:nvPr/>
        </p:nvSpPr>
        <p:spPr>
          <a:xfrm>
            <a:off x="8328786" y="6449170"/>
            <a:ext cx="110489" cy="196215"/>
          </a:xfrm>
          <a:prstGeom prst="rect">
            <a:avLst/>
          </a:prstGeom>
        </p:spPr>
        <p:txBody>
          <a:bodyPr vert="horz" wrap="square" lIns="0" tIns="0" rIns="0" bIns="0" rtlCol="0">
            <a:spAutoFit/>
          </a:bodyPr>
          <a:lstStyle/>
          <a:p>
            <a:pPr marL="12700">
              <a:lnSpc>
                <a:spcPts val="1425"/>
              </a:lnSpc>
            </a:pPr>
            <a:r>
              <a:rPr sz="1200" spc="-50" dirty="0">
                <a:latin typeface="Arial MT"/>
                <a:cs typeface="Arial MT"/>
              </a:rPr>
              <a:t>1</a:t>
            </a:r>
            <a:endParaRPr sz="1200">
              <a:latin typeface="Arial MT"/>
              <a:cs typeface="Arial MT"/>
            </a:endParaRPr>
          </a:p>
        </p:txBody>
      </p:sp>
      <p:sp>
        <p:nvSpPr>
          <p:cNvPr id="8" name="object 8"/>
          <p:cNvSpPr txBox="1"/>
          <p:nvPr/>
        </p:nvSpPr>
        <p:spPr>
          <a:xfrm>
            <a:off x="5317363" y="4968062"/>
            <a:ext cx="3581400" cy="1244600"/>
          </a:xfrm>
          <a:prstGeom prst="rect">
            <a:avLst/>
          </a:prstGeom>
        </p:spPr>
        <p:txBody>
          <a:bodyPr vert="horz" wrap="square" lIns="0" tIns="12065" rIns="0" bIns="0" rtlCol="0">
            <a:spAutoFit/>
          </a:bodyPr>
          <a:lstStyle/>
          <a:p>
            <a:pPr marL="12700" marR="5080" indent="490855" algn="r">
              <a:lnSpc>
                <a:spcPct val="100000"/>
              </a:lnSpc>
              <a:spcBef>
                <a:spcPts val="95"/>
              </a:spcBef>
            </a:pPr>
            <a:r>
              <a:rPr sz="2000" b="1" dirty="0">
                <a:latin typeface="Times New Roman"/>
                <a:cs typeface="Times New Roman"/>
              </a:rPr>
              <a:t>NAVEEN</a:t>
            </a:r>
            <a:r>
              <a:rPr sz="2000" b="1" spc="25" dirty="0">
                <a:latin typeface="Times New Roman"/>
                <a:cs typeface="Times New Roman"/>
              </a:rPr>
              <a:t> </a:t>
            </a:r>
            <a:r>
              <a:rPr sz="2000" b="1" dirty="0">
                <a:latin typeface="Times New Roman"/>
                <a:cs typeface="Times New Roman"/>
              </a:rPr>
              <a:t>B</a:t>
            </a:r>
            <a:r>
              <a:rPr sz="2000" b="1" spc="-20" dirty="0">
                <a:latin typeface="Times New Roman"/>
                <a:cs typeface="Times New Roman"/>
              </a:rPr>
              <a:t> </a:t>
            </a:r>
            <a:r>
              <a:rPr sz="2000" b="1" dirty="0">
                <a:latin typeface="Times New Roman"/>
                <a:cs typeface="Times New Roman"/>
              </a:rPr>
              <a:t>-</a:t>
            </a:r>
            <a:r>
              <a:rPr sz="2000" b="1" spc="-50" dirty="0">
                <a:latin typeface="Times New Roman"/>
                <a:cs typeface="Times New Roman"/>
              </a:rPr>
              <a:t> </a:t>
            </a:r>
            <a:r>
              <a:rPr sz="2000" b="1" spc="-10" dirty="0">
                <a:latin typeface="Times New Roman"/>
                <a:cs typeface="Times New Roman"/>
              </a:rPr>
              <a:t>1AM22EC072 </a:t>
            </a:r>
            <a:r>
              <a:rPr sz="2000" b="1" dirty="0">
                <a:latin typeface="Times New Roman"/>
                <a:cs typeface="Times New Roman"/>
              </a:rPr>
              <a:t>PALLAVI</a:t>
            </a:r>
            <a:r>
              <a:rPr sz="2000" b="1" spc="20" dirty="0">
                <a:latin typeface="Times New Roman"/>
                <a:cs typeface="Times New Roman"/>
              </a:rPr>
              <a:t> </a:t>
            </a:r>
            <a:r>
              <a:rPr sz="2000" b="1" dirty="0">
                <a:latin typeface="Times New Roman"/>
                <a:cs typeface="Times New Roman"/>
              </a:rPr>
              <a:t>S</a:t>
            </a:r>
            <a:r>
              <a:rPr sz="2000" b="1" spc="-35" dirty="0">
                <a:latin typeface="Times New Roman"/>
                <a:cs typeface="Times New Roman"/>
              </a:rPr>
              <a:t> </a:t>
            </a:r>
            <a:r>
              <a:rPr sz="2000" b="1" dirty="0">
                <a:latin typeface="Times New Roman"/>
                <a:cs typeface="Times New Roman"/>
              </a:rPr>
              <a:t>-</a:t>
            </a:r>
            <a:r>
              <a:rPr sz="2000" b="1" spc="-30" dirty="0">
                <a:latin typeface="Times New Roman"/>
                <a:cs typeface="Times New Roman"/>
              </a:rPr>
              <a:t> </a:t>
            </a:r>
            <a:r>
              <a:rPr sz="2000" b="1" spc="-10" dirty="0">
                <a:latin typeface="Times New Roman"/>
                <a:cs typeface="Times New Roman"/>
              </a:rPr>
              <a:t>1AM22EC084 </a:t>
            </a:r>
            <a:r>
              <a:rPr sz="2000" b="1" dirty="0">
                <a:latin typeface="Times New Roman"/>
                <a:cs typeface="Times New Roman"/>
              </a:rPr>
              <a:t>PRADEEP</a:t>
            </a:r>
            <a:r>
              <a:rPr sz="2000" b="1" spc="30" dirty="0">
                <a:latin typeface="Times New Roman"/>
                <a:cs typeface="Times New Roman"/>
              </a:rPr>
              <a:t> </a:t>
            </a:r>
            <a:r>
              <a:rPr sz="2000" b="1" dirty="0">
                <a:latin typeface="Times New Roman"/>
                <a:cs typeface="Times New Roman"/>
              </a:rPr>
              <a:t>S</a:t>
            </a:r>
            <a:r>
              <a:rPr sz="2000" b="1" spc="-50" dirty="0">
                <a:latin typeface="Times New Roman"/>
                <a:cs typeface="Times New Roman"/>
              </a:rPr>
              <a:t> </a:t>
            </a:r>
            <a:r>
              <a:rPr sz="2000" b="1" dirty="0">
                <a:latin typeface="Times New Roman"/>
                <a:cs typeface="Times New Roman"/>
              </a:rPr>
              <a:t>N-</a:t>
            </a:r>
            <a:r>
              <a:rPr sz="2000" b="1" spc="-35" dirty="0">
                <a:latin typeface="Times New Roman"/>
                <a:cs typeface="Times New Roman"/>
              </a:rPr>
              <a:t> </a:t>
            </a:r>
            <a:r>
              <a:rPr sz="2000" b="1" spc="-10" dirty="0">
                <a:latin typeface="Times New Roman"/>
                <a:cs typeface="Times New Roman"/>
              </a:rPr>
              <a:t>1AM22EC086 </a:t>
            </a:r>
            <a:r>
              <a:rPr sz="2000" b="1" dirty="0">
                <a:latin typeface="Times New Roman"/>
                <a:cs typeface="Times New Roman"/>
              </a:rPr>
              <a:t>PRATHIBHA</a:t>
            </a:r>
            <a:r>
              <a:rPr sz="2000" b="1" spc="-20" dirty="0">
                <a:latin typeface="Times New Roman"/>
                <a:cs typeface="Times New Roman"/>
              </a:rPr>
              <a:t> </a:t>
            </a:r>
            <a:r>
              <a:rPr sz="2000" b="1" dirty="0">
                <a:latin typeface="Times New Roman"/>
                <a:cs typeface="Times New Roman"/>
              </a:rPr>
              <a:t>H</a:t>
            </a:r>
            <a:r>
              <a:rPr sz="2000" b="1" spc="-40" dirty="0">
                <a:latin typeface="Times New Roman"/>
                <a:cs typeface="Times New Roman"/>
              </a:rPr>
              <a:t> </a:t>
            </a:r>
            <a:r>
              <a:rPr sz="2000" b="1" dirty="0">
                <a:latin typeface="Times New Roman"/>
                <a:cs typeface="Times New Roman"/>
              </a:rPr>
              <a:t>-</a:t>
            </a:r>
            <a:r>
              <a:rPr sz="2000" b="1" spc="-30" dirty="0">
                <a:latin typeface="Times New Roman"/>
                <a:cs typeface="Times New Roman"/>
              </a:rPr>
              <a:t> </a:t>
            </a:r>
            <a:r>
              <a:rPr sz="2000" b="1" spc="-10" dirty="0">
                <a:latin typeface="Times New Roman"/>
                <a:cs typeface="Times New Roman"/>
              </a:rPr>
              <a:t>1AM22EC089</a:t>
            </a:r>
            <a:endParaRPr sz="2000">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44976" y="275920"/>
            <a:ext cx="2284730" cy="574675"/>
          </a:xfrm>
          <a:prstGeom prst="rect">
            <a:avLst/>
          </a:prstGeom>
        </p:spPr>
        <p:txBody>
          <a:bodyPr vert="horz" wrap="square" lIns="0" tIns="12700" rIns="0" bIns="0" rtlCol="0">
            <a:spAutoFit/>
          </a:bodyPr>
          <a:lstStyle/>
          <a:p>
            <a:pPr marL="12700">
              <a:lnSpc>
                <a:spcPct val="100000"/>
              </a:lnSpc>
              <a:spcBef>
                <a:spcPts val="100"/>
              </a:spcBef>
            </a:pPr>
            <a:r>
              <a:rPr sz="3600" spc="-10" dirty="0"/>
              <a:t>CONTENT</a:t>
            </a:r>
            <a:endParaRPr sz="3600"/>
          </a:p>
        </p:txBody>
      </p:sp>
      <p:sp>
        <p:nvSpPr>
          <p:cNvPr id="3" name="object 3"/>
          <p:cNvSpPr txBox="1"/>
          <p:nvPr/>
        </p:nvSpPr>
        <p:spPr>
          <a:xfrm>
            <a:off x="363118" y="1431798"/>
            <a:ext cx="3208020" cy="3986989"/>
          </a:xfrm>
          <a:prstGeom prst="rect">
            <a:avLst/>
          </a:prstGeom>
        </p:spPr>
        <p:txBody>
          <a:bodyPr vert="horz" wrap="square" lIns="0" tIns="11430" rIns="0" bIns="0" rtlCol="0" anchor="t">
            <a:spAutoFit/>
          </a:bodyPr>
          <a:lstStyle/>
          <a:p>
            <a:pPr marL="469900" indent="-457200">
              <a:lnSpc>
                <a:spcPts val="2280"/>
              </a:lnSpc>
              <a:spcBef>
                <a:spcPts val="90"/>
              </a:spcBef>
              <a:buAutoNum type="arabicPeriod"/>
              <a:tabLst>
                <a:tab pos="469900" algn="l"/>
              </a:tabLst>
            </a:pPr>
            <a:r>
              <a:rPr sz="2000" spc="-10" dirty="0">
                <a:latin typeface="Times New Roman"/>
                <a:cs typeface="Times New Roman"/>
              </a:rPr>
              <a:t>ABSTRACT</a:t>
            </a:r>
            <a:endParaRPr sz="2000" dirty="0">
              <a:latin typeface="Times New Roman"/>
              <a:cs typeface="Times New Roman"/>
            </a:endParaRPr>
          </a:p>
          <a:p>
            <a:pPr marL="469900" indent="-457200">
              <a:lnSpc>
                <a:spcPts val="2160"/>
              </a:lnSpc>
              <a:buAutoNum type="arabicPeriod"/>
              <a:tabLst>
                <a:tab pos="469900" algn="l"/>
              </a:tabLst>
            </a:pPr>
            <a:r>
              <a:rPr sz="2000" spc="-10" dirty="0">
                <a:latin typeface="Times New Roman"/>
                <a:cs typeface="Times New Roman"/>
              </a:rPr>
              <a:t>OBJECTIVE</a:t>
            </a:r>
            <a:endParaRPr sz="2000" dirty="0">
              <a:latin typeface="Times New Roman"/>
              <a:cs typeface="Times New Roman"/>
            </a:endParaRPr>
          </a:p>
          <a:p>
            <a:pPr marL="469900" indent="-457200">
              <a:lnSpc>
                <a:spcPts val="2160"/>
              </a:lnSpc>
              <a:buAutoNum type="arabicPeriod"/>
              <a:tabLst>
                <a:tab pos="469900" algn="l"/>
              </a:tabLst>
            </a:pPr>
            <a:r>
              <a:rPr sz="2000" dirty="0">
                <a:latin typeface="Times New Roman"/>
                <a:cs typeface="Times New Roman"/>
              </a:rPr>
              <a:t>PROBLEM</a:t>
            </a:r>
            <a:r>
              <a:rPr sz="2000" spc="-65" dirty="0">
                <a:latin typeface="Times New Roman"/>
                <a:cs typeface="Times New Roman"/>
              </a:rPr>
              <a:t> </a:t>
            </a:r>
            <a:r>
              <a:rPr sz="2000" spc="-40" dirty="0">
                <a:latin typeface="Times New Roman"/>
                <a:cs typeface="Times New Roman"/>
              </a:rPr>
              <a:t>STATEMENT</a:t>
            </a:r>
            <a:endParaRPr sz="2000" dirty="0">
              <a:latin typeface="Times New Roman"/>
              <a:cs typeface="Times New Roman"/>
            </a:endParaRPr>
          </a:p>
          <a:p>
            <a:pPr marL="469900" indent="-457200">
              <a:lnSpc>
                <a:spcPts val="2160"/>
              </a:lnSpc>
              <a:buAutoNum type="arabicPeriod"/>
              <a:tabLst>
                <a:tab pos="469900" algn="l"/>
              </a:tabLst>
            </a:pPr>
            <a:r>
              <a:rPr sz="2000" spc="-10" dirty="0">
                <a:latin typeface="Times New Roman"/>
                <a:cs typeface="Times New Roman"/>
              </a:rPr>
              <a:t>INTRODUCTION</a:t>
            </a:r>
            <a:endParaRPr sz="2000" dirty="0">
              <a:latin typeface="Times New Roman"/>
              <a:cs typeface="Times New Roman"/>
            </a:endParaRPr>
          </a:p>
          <a:p>
            <a:pPr marL="469900" indent="-457200">
              <a:lnSpc>
                <a:spcPts val="2160"/>
              </a:lnSpc>
              <a:buAutoNum type="arabicPeriod"/>
              <a:tabLst>
                <a:tab pos="469900" algn="l"/>
                <a:tab pos="2138045" algn="l"/>
              </a:tabLst>
            </a:pPr>
            <a:r>
              <a:rPr sz="2000" spc="-10" dirty="0">
                <a:latin typeface="Times New Roman"/>
                <a:cs typeface="Times New Roman"/>
              </a:rPr>
              <a:t>LITERATURE</a:t>
            </a:r>
            <a:r>
              <a:rPr sz="2000" dirty="0">
                <a:latin typeface="Times New Roman"/>
                <a:cs typeface="Times New Roman"/>
              </a:rPr>
              <a:t>	</a:t>
            </a:r>
            <a:r>
              <a:rPr sz="2000" spc="-10" dirty="0">
                <a:latin typeface="Times New Roman"/>
                <a:cs typeface="Times New Roman"/>
              </a:rPr>
              <a:t>SURVEY</a:t>
            </a:r>
            <a:endParaRPr sz="2000" dirty="0">
              <a:latin typeface="Times New Roman"/>
              <a:cs typeface="Times New Roman"/>
            </a:endParaRPr>
          </a:p>
          <a:p>
            <a:pPr marL="469900" indent="-457200">
              <a:lnSpc>
                <a:spcPts val="2160"/>
              </a:lnSpc>
              <a:buAutoNum type="arabicPeriod"/>
              <a:tabLst>
                <a:tab pos="469900" algn="l"/>
              </a:tabLst>
            </a:pPr>
            <a:r>
              <a:rPr sz="2000" dirty="0">
                <a:latin typeface="Times New Roman"/>
                <a:cs typeface="Times New Roman"/>
              </a:rPr>
              <a:t>BLOCK</a:t>
            </a:r>
            <a:r>
              <a:rPr sz="2000" spc="-40" dirty="0">
                <a:latin typeface="Times New Roman"/>
                <a:cs typeface="Times New Roman"/>
              </a:rPr>
              <a:t> </a:t>
            </a:r>
            <a:r>
              <a:rPr sz="2000" spc="-10" dirty="0">
                <a:latin typeface="Times New Roman"/>
                <a:cs typeface="Times New Roman"/>
              </a:rPr>
              <a:t>DIAGRAM</a:t>
            </a:r>
            <a:endParaRPr sz="2000" dirty="0">
              <a:latin typeface="Times New Roman"/>
              <a:cs typeface="Times New Roman"/>
            </a:endParaRPr>
          </a:p>
          <a:p>
            <a:pPr marL="469900" indent="-457200">
              <a:lnSpc>
                <a:spcPts val="2160"/>
              </a:lnSpc>
              <a:buAutoNum type="arabicPeriod"/>
              <a:tabLst>
                <a:tab pos="469900" algn="l"/>
              </a:tabLst>
            </a:pPr>
            <a:r>
              <a:rPr sz="2000" spc="-10" dirty="0">
                <a:latin typeface="Times New Roman"/>
                <a:cs typeface="Times New Roman"/>
              </a:rPr>
              <a:t>IMLEMENTATION</a:t>
            </a:r>
            <a:endParaRPr sz="2000" dirty="0">
              <a:latin typeface="Times New Roman"/>
              <a:cs typeface="Times New Roman"/>
            </a:endParaRPr>
          </a:p>
          <a:p>
            <a:pPr marL="469900" indent="-457200">
              <a:lnSpc>
                <a:spcPts val="2160"/>
              </a:lnSpc>
              <a:buAutoNum type="arabicPeriod"/>
              <a:tabLst>
                <a:tab pos="469900" algn="l"/>
              </a:tabLst>
            </a:pPr>
            <a:r>
              <a:rPr sz="2000" spc="-10" dirty="0">
                <a:latin typeface="Times New Roman"/>
                <a:cs typeface="Times New Roman"/>
              </a:rPr>
              <a:t>RESULTS</a:t>
            </a:r>
            <a:endParaRPr sz="2000" dirty="0">
              <a:latin typeface="Times New Roman"/>
              <a:cs typeface="Times New Roman"/>
            </a:endParaRPr>
          </a:p>
          <a:p>
            <a:pPr marL="469900" indent="-457200">
              <a:lnSpc>
                <a:spcPts val="2160"/>
              </a:lnSpc>
              <a:buAutoNum type="arabicPeriod"/>
              <a:tabLst>
                <a:tab pos="469900" algn="l"/>
              </a:tabLst>
            </a:pPr>
            <a:r>
              <a:rPr lang="en-US" sz="2000" spc="-10" dirty="0">
                <a:latin typeface="Times New Roman"/>
                <a:cs typeface="Times New Roman"/>
              </a:rPr>
              <a:t>CONCLUSION</a:t>
            </a:r>
          </a:p>
          <a:p>
            <a:pPr marL="469900" indent="-457200">
              <a:lnSpc>
                <a:spcPts val="2160"/>
              </a:lnSpc>
              <a:buAutoNum type="arabicPeriod"/>
              <a:tabLst>
                <a:tab pos="469900" algn="l"/>
              </a:tabLst>
            </a:pPr>
            <a:r>
              <a:rPr sz="2000" spc="-10" dirty="0">
                <a:latin typeface="Times New Roman"/>
                <a:cs typeface="Times New Roman"/>
              </a:rPr>
              <a:t>REFERENCE</a:t>
            </a:r>
            <a:endParaRPr sz="2000" dirty="0">
              <a:latin typeface="Times New Roman"/>
              <a:cs typeface="Times New Roman"/>
            </a:endParaRPr>
          </a:p>
          <a:p>
            <a:pPr marL="469900" indent="-457200">
              <a:lnSpc>
                <a:spcPts val="2160"/>
              </a:lnSpc>
              <a:buAutoNum type="arabicPeriod"/>
              <a:tabLst>
                <a:tab pos="469900" algn="l"/>
              </a:tabLst>
            </a:pPr>
            <a:r>
              <a:rPr sz="2000" dirty="0">
                <a:latin typeface="Times New Roman"/>
                <a:cs typeface="Times New Roman"/>
              </a:rPr>
              <a:t>GANTT</a:t>
            </a:r>
            <a:r>
              <a:rPr sz="2000" spc="-60" dirty="0">
                <a:latin typeface="Times New Roman"/>
                <a:cs typeface="Times New Roman"/>
              </a:rPr>
              <a:t> </a:t>
            </a:r>
            <a:r>
              <a:rPr sz="2000" spc="-10" dirty="0">
                <a:latin typeface="Times New Roman"/>
                <a:cs typeface="Times New Roman"/>
              </a:rPr>
              <a:t>CHART</a:t>
            </a:r>
            <a:endParaRPr sz="2000" dirty="0">
              <a:latin typeface="Times New Roman"/>
              <a:cs typeface="Times New Roman"/>
            </a:endParaRPr>
          </a:p>
          <a:p>
            <a:pPr marL="469900" indent="-457200">
              <a:lnSpc>
                <a:spcPts val="2160"/>
              </a:lnSpc>
              <a:buAutoNum type="arabicPeriod"/>
              <a:tabLst>
                <a:tab pos="469900" algn="l"/>
              </a:tabLst>
            </a:pPr>
            <a:r>
              <a:rPr lang="en-US" sz="2000" spc="-10" dirty="0">
                <a:latin typeface="Times New Roman"/>
                <a:cs typeface="Times New Roman"/>
              </a:rPr>
              <a:t>PUBLISHED PAPERS</a:t>
            </a:r>
          </a:p>
          <a:p>
            <a:pPr marL="469900" indent="-457200">
              <a:lnSpc>
                <a:spcPts val="2160"/>
              </a:lnSpc>
              <a:buAutoNum type="arabicPeriod"/>
              <a:tabLst>
                <a:tab pos="469900" algn="l"/>
              </a:tabLst>
            </a:pPr>
            <a:r>
              <a:rPr lang="en-US" sz="2000" spc="-10" dirty="0">
                <a:latin typeface="Times New Roman"/>
                <a:cs typeface="Times New Roman"/>
              </a:rPr>
              <a:t>CERTIFICATES</a:t>
            </a:r>
          </a:p>
          <a:p>
            <a:pPr marL="469900" indent="-457200">
              <a:lnSpc>
                <a:spcPts val="2280"/>
              </a:lnSpc>
              <a:buAutoNum type="arabicPeriod"/>
              <a:tabLst>
                <a:tab pos="469900" algn="l"/>
              </a:tabLst>
            </a:pPr>
            <a:r>
              <a:rPr sz="2000" spc="-10" dirty="0">
                <a:latin typeface="Times New Roman"/>
                <a:cs typeface="Times New Roman"/>
              </a:rPr>
              <a:t>SDG’s</a:t>
            </a:r>
            <a:endParaRPr sz="2000" dirty="0">
              <a:latin typeface="Times New Roman"/>
              <a:cs typeface="Times New Roman"/>
            </a:endParaRPr>
          </a:p>
        </p:txBody>
      </p:sp>
      <p:pic>
        <p:nvPicPr>
          <p:cNvPr id="4" name="object 4"/>
          <p:cNvPicPr/>
          <p:nvPr/>
        </p:nvPicPr>
        <p:blipFill>
          <a:blip r:embed="rId2" cstate="print"/>
          <a:stretch>
            <a:fillRect/>
          </a:stretch>
        </p:blipFill>
        <p:spPr>
          <a:xfrm>
            <a:off x="7720583" y="188976"/>
            <a:ext cx="1051559" cy="1097279"/>
          </a:xfrm>
          <a:prstGeom prst="rect">
            <a:avLst/>
          </a:prstGeom>
        </p:spPr>
      </p:pic>
      <p:pic>
        <p:nvPicPr>
          <p:cNvPr id="5" name="object 5"/>
          <p:cNvPicPr/>
          <p:nvPr/>
        </p:nvPicPr>
        <p:blipFill>
          <a:blip r:embed="rId3" cstate="print"/>
          <a:stretch>
            <a:fillRect/>
          </a:stretch>
        </p:blipFill>
        <p:spPr>
          <a:xfrm>
            <a:off x="283463" y="188976"/>
            <a:ext cx="981456" cy="1097279"/>
          </a:xfrm>
          <a:prstGeom prst="rect">
            <a:avLst/>
          </a:prstGeom>
        </p:spPr>
      </p:pic>
      <p:sp>
        <p:nvSpPr>
          <p:cNvPr id="6" name="object 6"/>
          <p:cNvSpPr txBox="1"/>
          <p:nvPr/>
        </p:nvSpPr>
        <p:spPr>
          <a:xfrm>
            <a:off x="8586596" y="6466239"/>
            <a:ext cx="110489" cy="196215"/>
          </a:xfrm>
          <a:prstGeom prst="rect">
            <a:avLst/>
          </a:prstGeom>
        </p:spPr>
        <p:txBody>
          <a:bodyPr vert="horz" wrap="square" lIns="0" tIns="0" rIns="0" bIns="0" rtlCol="0">
            <a:spAutoFit/>
          </a:bodyPr>
          <a:lstStyle/>
          <a:p>
            <a:pPr marL="12700">
              <a:lnSpc>
                <a:spcPts val="1425"/>
              </a:lnSpc>
            </a:pPr>
            <a:r>
              <a:rPr sz="1200" spc="-50" dirty="0">
                <a:latin typeface="Arial MT"/>
                <a:cs typeface="Arial MT"/>
              </a:rPr>
              <a:t>2</a:t>
            </a:r>
            <a:endParaRPr sz="1200">
              <a:latin typeface="Arial MT"/>
              <a:cs typeface="Arial MT"/>
            </a:endParaRP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25"/>
              </a:lnSpc>
            </a:pPr>
            <a:r>
              <a:rPr b="0" dirty="0">
                <a:latin typeface="Arial MT"/>
                <a:cs typeface="Arial MT"/>
              </a:rPr>
              <a:t>Dept.</a:t>
            </a:r>
            <a:r>
              <a:rPr b="0" spc="-25" dirty="0">
                <a:latin typeface="Arial MT"/>
                <a:cs typeface="Arial MT"/>
              </a:rPr>
              <a:t> </a:t>
            </a:r>
            <a:r>
              <a:rPr b="0" dirty="0">
                <a:latin typeface="Arial MT"/>
                <a:cs typeface="Arial MT"/>
              </a:rPr>
              <a:t>of</a:t>
            </a:r>
            <a:r>
              <a:rPr b="0" spc="-5" dirty="0">
                <a:latin typeface="Arial MT"/>
                <a:cs typeface="Arial MT"/>
              </a:rPr>
              <a:t> </a:t>
            </a:r>
            <a:r>
              <a:rPr b="0" dirty="0">
                <a:latin typeface="Arial MT"/>
                <a:cs typeface="Arial MT"/>
              </a:rPr>
              <a:t>ECE</a:t>
            </a:r>
            <a:r>
              <a:rPr b="0" spc="5" dirty="0">
                <a:latin typeface="Arial MT"/>
                <a:cs typeface="Arial MT"/>
              </a:rPr>
              <a:t> </a:t>
            </a:r>
            <a:r>
              <a:rPr b="0" dirty="0">
                <a:latin typeface="Arial MT"/>
                <a:cs typeface="Arial MT"/>
              </a:rPr>
              <a:t>2025-</a:t>
            </a:r>
            <a:r>
              <a:rPr b="0" spc="-25" dirty="0">
                <a:latin typeface="Arial MT"/>
                <a:cs typeface="Arial MT"/>
              </a:rPr>
              <a:t>26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6877" rIns="0" bIns="0" rtlCol="0">
            <a:spAutoFit/>
          </a:bodyPr>
          <a:lstStyle/>
          <a:p>
            <a:pPr marL="1738630">
              <a:lnSpc>
                <a:spcPct val="100000"/>
              </a:lnSpc>
              <a:spcBef>
                <a:spcPts val="100"/>
              </a:spcBef>
            </a:pPr>
            <a:r>
              <a:rPr sz="3600" spc="-10" dirty="0"/>
              <a:t>ABSTRACT</a:t>
            </a:r>
            <a:endParaRPr sz="3600" dirty="0"/>
          </a:p>
        </p:txBody>
      </p:sp>
      <p:pic>
        <p:nvPicPr>
          <p:cNvPr id="3" name="object 3"/>
          <p:cNvPicPr/>
          <p:nvPr/>
        </p:nvPicPr>
        <p:blipFill>
          <a:blip r:embed="rId2" cstate="print"/>
          <a:stretch>
            <a:fillRect/>
          </a:stretch>
        </p:blipFill>
        <p:spPr>
          <a:xfrm>
            <a:off x="7720583" y="283463"/>
            <a:ext cx="1051559" cy="670559"/>
          </a:xfrm>
          <a:prstGeom prst="rect">
            <a:avLst/>
          </a:prstGeom>
        </p:spPr>
      </p:pic>
      <p:pic>
        <p:nvPicPr>
          <p:cNvPr id="4" name="object 4"/>
          <p:cNvPicPr/>
          <p:nvPr/>
        </p:nvPicPr>
        <p:blipFill>
          <a:blip r:embed="rId3" cstate="print"/>
          <a:stretch>
            <a:fillRect/>
          </a:stretch>
        </p:blipFill>
        <p:spPr>
          <a:xfrm>
            <a:off x="283463" y="283463"/>
            <a:ext cx="981456" cy="670559"/>
          </a:xfrm>
          <a:prstGeom prst="rect">
            <a:avLst/>
          </a:prstGeom>
        </p:spPr>
      </p:pic>
      <p:sp>
        <p:nvSpPr>
          <p:cNvPr id="5" name="object 5"/>
          <p:cNvSpPr txBox="1"/>
          <p:nvPr/>
        </p:nvSpPr>
        <p:spPr>
          <a:xfrm>
            <a:off x="731316" y="1640205"/>
            <a:ext cx="7779384" cy="3089307"/>
          </a:xfrm>
          <a:prstGeom prst="rect">
            <a:avLst/>
          </a:prstGeom>
        </p:spPr>
        <p:txBody>
          <a:bodyPr vert="horz" wrap="square" lIns="0" tIns="11430" rIns="0" bIns="0" rtlCol="0">
            <a:spAutoFit/>
          </a:bodyPr>
          <a:lstStyle/>
          <a:p>
            <a:pPr marL="12700" marR="5080" algn="just">
              <a:spcBef>
                <a:spcPts val="90"/>
              </a:spcBef>
            </a:pPr>
            <a:r>
              <a:rPr sz="2000" dirty="0">
                <a:latin typeface="Times New Roman"/>
                <a:cs typeface="Times New Roman"/>
              </a:rPr>
              <a:t>Dams</a:t>
            </a:r>
            <a:r>
              <a:rPr sz="2000" spc="220" dirty="0">
                <a:latin typeface="Times New Roman"/>
                <a:cs typeface="Times New Roman"/>
              </a:rPr>
              <a:t> </a:t>
            </a:r>
            <a:r>
              <a:rPr sz="2000" dirty="0">
                <a:latin typeface="Times New Roman"/>
                <a:cs typeface="Times New Roman"/>
              </a:rPr>
              <a:t>are</a:t>
            </a:r>
            <a:r>
              <a:rPr sz="2000" spc="204" dirty="0">
                <a:latin typeface="Times New Roman"/>
                <a:cs typeface="Times New Roman"/>
              </a:rPr>
              <a:t> </a:t>
            </a:r>
            <a:r>
              <a:rPr sz="2000" dirty="0">
                <a:latin typeface="Times New Roman"/>
                <a:cs typeface="Times New Roman"/>
              </a:rPr>
              <a:t>critical</a:t>
            </a:r>
            <a:r>
              <a:rPr sz="2000" spc="210" dirty="0">
                <a:latin typeface="Times New Roman"/>
                <a:cs typeface="Times New Roman"/>
              </a:rPr>
              <a:t> </a:t>
            </a:r>
            <a:r>
              <a:rPr sz="2000" dirty="0">
                <a:latin typeface="Times New Roman"/>
                <a:cs typeface="Times New Roman"/>
              </a:rPr>
              <a:t>infrastructures</a:t>
            </a:r>
            <a:r>
              <a:rPr sz="2000" spc="215" dirty="0">
                <a:latin typeface="Times New Roman"/>
                <a:cs typeface="Times New Roman"/>
              </a:rPr>
              <a:t> </a:t>
            </a:r>
            <a:r>
              <a:rPr sz="2000" dirty="0">
                <a:latin typeface="Times New Roman"/>
                <a:cs typeface="Times New Roman"/>
              </a:rPr>
              <a:t>that</a:t>
            </a:r>
            <a:r>
              <a:rPr sz="2000" spc="204" dirty="0">
                <a:latin typeface="Times New Roman"/>
                <a:cs typeface="Times New Roman"/>
              </a:rPr>
              <a:t> </a:t>
            </a:r>
            <a:r>
              <a:rPr sz="2000" dirty="0">
                <a:latin typeface="Times New Roman"/>
                <a:cs typeface="Times New Roman"/>
              </a:rPr>
              <a:t>support</a:t>
            </a:r>
            <a:r>
              <a:rPr sz="2000" spc="235" dirty="0">
                <a:latin typeface="Times New Roman"/>
                <a:cs typeface="Times New Roman"/>
              </a:rPr>
              <a:t> </a:t>
            </a:r>
            <a:r>
              <a:rPr sz="2000" dirty="0">
                <a:latin typeface="Times New Roman"/>
                <a:cs typeface="Times New Roman"/>
              </a:rPr>
              <a:t>water</a:t>
            </a:r>
            <a:r>
              <a:rPr sz="2000" spc="220" dirty="0">
                <a:latin typeface="Times New Roman"/>
                <a:cs typeface="Times New Roman"/>
              </a:rPr>
              <a:t> </a:t>
            </a:r>
            <a:r>
              <a:rPr sz="2000" dirty="0">
                <a:latin typeface="Times New Roman"/>
                <a:cs typeface="Times New Roman"/>
              </a:rPr>
              <a:t>resource</a:t>
            </a:r>
            <a:r>
              <a:rPr sz="2000" spc="245" dirty="0">
                <a:latin typeface="Times New Roman"/>
                <a:cs typeface="Times New Roman"/>
              </a:rPr>
              <a:t> </a:t>
            </a:r>
            <a:r>
              <a:rPr sz="2000" spc="-10" dirty="0">
                <a:latin typeface="Times New Roman"/>
                <a:cs typeface="Times New Roman"/>
              </a:rPr>
              <a:t>management, </a:t>
            </a:r>
            <a:r>
              <a:rPr sz="2000" dirty="0">
                <a:latin typeface="Times New Roman"/>
                <a:cs typeface="Times New Roman"/>
              </a:rPr>
              <a:t>energy</a:t>
            </a:r>
            <a:r>
              <a:rPr sz="2000" spc="195" dirty="0">
                <a:latin typeface="Times New Roman"/>
                <a:cs typeface="Times New Roman"/>
              </a:rPr>
              <a:t> </a:t>
            </a:r>
            <a:r>
              <a:rPr sz="2000" dirty="0">
                <a:latin typeface="Times New Roman"/>
                <a:cs typeface="Times New Roman"/>
              </a:rPr>
              <a:t>production,</a:t>
            </a:r>
            <a:r>
              <a:rPr sz="2000" spc="225" dirty="0">
                <a:latin typeface="Times New Roman"/>
                <a:cs typeface="Times New Roman"/>
              </a:rPr>
              <a:t> </a:t>
            </a:r>
            <a:r>
              <a:rPr sz="2000" dirty="0">
                <a:latin typeface="Times New Roman"/>
                <a:cs typeface="Times New Roman"/>
              </a:rPr>
              <a:t>and</a:t>
            </a:r>
            <a:r>
              <a:rPr sz="2000" spc="215" dirty="0">
                <a:latin typeface="Times New Roman"/>
                <a:cs typeface="Times New Roman"/>
              </a:rPr>
              <a:t> </a:t>
            </a:r>
            <a:r>
              <a:rPr sz="2000" dirty="0">
                <a:latin typeface="Times New Roman"/>
                <a:cs typeface="Times New Roman"/>
              </a:rPr>
              <a:t>flood</a:t>
            </a:r>
            <a:r>
              <a:rPr sz="2000" spc="220" dirty="0">
                <a:latin typeface="Times New Roman"/>
                <a:cs typeface="Times New Roman"/>
              </a:rPr>
              <a:t> </a:t>
            </a:r>
            <a:r>
              <a:rPr sz="2000" dirty="0">
                <a:latin typeface="Times New Roman"/>
                <a:cs typeface="Times New Roman"/>
              </a:rPr>
              <a:t>control.</a:t>
            </a:r>
            <a:r>
              <a:rPr sz="2000" spc="204" dirty="0">
                <a:latin typeface="Times New Roman"/>
                <a:cs typeface="Times New Roman"/>
              </a:rPr>
              <a:t> </a:t>
            </a:r>
            <a:r>
              <a:rPr sz="2000" dirty="0">
                <a:latin typeface="Times New Roman"/>
                <a:cs typeface="Times New Roman"/>
              </a:rPr>
              <a:t>Ensuring</a:t>
            </a:r>
            <a:r>
              <a:rPr sz="2000" spc="195" dirty="0">
                <a:latin typeface="Times New Roman"/>
                <a:cs typeface="Times New Roman"/>
              </a:rPr>
              <a:t> </a:t>
            </a:r>
            <a:r>
              <a:rPr sz="2000" dirty="0">
                <a:latin typeface="Times New Roman"/>
                <a:cs typeface="Times New Roman"/>
              </a:rPr>
              <a:t>their</a:t>
            </a:r>
            <a:r>
              <a:rPr sz="2000" spc="210" dirty="0">
                <a:latin typeface="Times New Roman"/>
                <a:cs typeface="Times New Roman"/>
              </a:rPr>
              <a:t> </a:t>
            </a:r>
            <a:r>
              <a:rPr sz="2000" dirty="0">
                <a:latin typeface="Times New Roman"/>
                <a:cs typeface="Times New Roman"/>
              </a:rPr>
              <a:t>structural</a:t>
            </a:r>
            <a:r>
              <a:rPr sz="2000" spc="210" dirty="0">
                <a:latin typeface="Times New Roman"/>
                <a:cs typeface="Times New Roman"/>
              </a:rPr>
              <a:t> </a:t>
            </a:r>
            <a:r>
              <a:rPr sz="2000" dirty="0">
                <a:latin typeface="Times New Roman"/>
                <a:cs typeface="Times New Roman"/>
              </a:rPr>
              <a:t>integrity</a:t>
            </a:r>
            <a:r>
              <a:rPr sz="2000" spc="200" dirty="0">
                <a:latin typeface="Times New Roman"/>
                <a:cs typeface="Times New Roman"/>
              </a:rPr>
              <a:t> </a:t>
            </a:r>
            <a:r>
              <a:rPr sz="2000" spc="-25" dirty="0">
                <a:latin typeface="Times New Roman"/>
                <a:cs typeface="Times New Roman"/>
              </a:rPr>
              <a:t>is </a:t>
            </a:r>
            <a:r>
              <a:rPr sz="2000" dirty="0">
                <a:latin typeface="Times New Roman"/>
                <a:cs typeface="Times New Roman"/>
              </a:rPr>
              <a:t>essential</a:t>
            </a:r>
            <a:r>
              <a:rPr sz="2000" spc="145" dirty="0">
                <a:latin typeface="Times New Roman"/>
                <a:cs typeface="Times New Roman"/>
              </a:rPr>
              <a:t> </a:t>
            </a:r>
            <a:r>
              <a:rPr sz="2000" dirty="0">
                <a:latin typeface="Times New Roman"/>
                <a:cs typeface="Times New Roman"/>
              </a:rPr>
              <a:t>for</a:t>
            </a:r>
            <a:r>
              <a:rPr sz="2000" spc="155" dirty="0">
                <a:latin typeface="Times New Roman"/>
                <a:cs typeface="Times New Roman"/>
              </a:rPr>
              <a:t> </a:t>
            </a:r>
            <a:r>
              <a:rPr sz="2000" dirty="0">
                <a:latin typeface="Times New Roman"/>
                <a:cs typeface="Times New Roman"/>
              </a:rPr>
              <a:t>public</a:t>
            </a:r>
            <a:r>
              <a:rPr sz="2000" spc="150" dirty="0">
                <a:latin typeface="Times New Roman"/>
                <a:cs typeface="Times New Roman"/>
              </a:rPr>
              <a:t> </a:t>
            </a:r>
            <a:r>
              <a:rPr sz="2000" dirty="0">
                <a:latin typeface="Times New Roman"/>
                <a:cs typeface="Times New Roman"/>
              </a:rPr>
              <a:t>safety</a:t>
            </a:r>
            <a:r>
              <a:rPr sz="2000" spc="114" dirty="0">
                <a:latin typeface="Times New Roman"/>
                <a:cs typeface="Times New Roman"/>
              </a:rPr>
              <a:t> </a:t>
            </a:r>
            <a:r>
              <a:rPr sz="2000" dirty="0">
                <a:latin typeface="Times New Roman"/>
                <a:cs typeface="Times New Roman"/>
              </a:rPr>
              <a:t>and</a:t>
            </a:r>
            <a:r>
              <a:rPr sz="2000" spc="175" dirty="0">
                <a:latin typeface="Times New Roman"/>
                <a:cs typeface="Times New Roman"/>
              </a:rPr>
              <a:t> </a:t>
            </a:r>
            <a:r>
              <a:rPr sz="2000" dirty="0">
                <a:latin typeface="Times New Roman"/>
                <a:cs typeface="Times New Roman"/>
              </a:rPr>
              <a:t>operational</a:t>
            </a:r>
            <a:r>
              <a:rPr sz="2000" spc="160" dirty="0">
                <a:latin typeface="Times New Roman"/>
                <a:cs typeface="Times New Roman"/>
              </a:rPr>
              <a:t> </a:t>
            </a:r>
            <a:r>
              <a:rPr sz="2000" dirty="0">
                <a:latin typeface="Times New Roman"/>
                <a:cs typeface="Times New Roman"/>
              </a:rPr>
              <a:t>efficiency.</a:t>
            </a:r>
            <a:r>
              <a:rPr sz="2000" spc="155" dirty="0">
                <a:latin typeface="Times New Roman"/>
                <a:cs typeface="Times New Roman"/>
              </a:rPr>
              <a:t> </a:t>
            </a:r>
            <a:r>
              <a:rPr sz="2000" dirty="0">
                <a:latin typeface="Times New Roman"/>
                <a:cs typeface="Times New Roman"/>
              </a:rPr>
              <a:t>This</a:t>
            </a:r>
            <a:r>
              <a:rPr sz="2000" spc="114" dirty="0">
                <a:latin typeface="Times New Roman"/>
                <a:cs typeface="Times New Roman"/>
              </a:rPr>
              <a:t> </a:t>
            </a:r>
            <a:r>
              <a:rPr sz="2000" dirty="0">
                <a:latin typeface="Times New Roman"/>
                <a:cs typeface="Times New Roman"/>
              </a:rPr>
              <a:t>project</a:t>
            </a:r>
            <a:r>
              <a:rPr sz="2000" spc="135" dirty="0">
                <a:latin typeface="Times New Roman"/>
                <a:cs typeface="Times New Roman"/>
              </a:rPr>
              <a:t> </a:t>
            </a:r>
            <a:r>
              <a:rPr sz="2000" spc="-10" dirty="0">
                <a:latin typeface="Times New Roman"/>
                <a:cs typeface="Times New Roman"/>
              </a:rPr>
              <a:t>presents </a:t>
            </a:r>
            <a:r>
              <a:rPr sz="2000" dirty="0">
                <a:latin typeface="Times New Roman"/>
                <a:cs typeface="Times New Roman"/>
              </a:rPr>
              <a:t>an</a:t>
            </a:r>
            <a:r>
              <a:rPr sz="2000" spc="-25" dirty="0">
                <a:latin typeface="Times New Roman"/>
                <a:cs typeface="Times New Roman"/>
              </a:rPr>
              <a:t> </a:t>
            </a:r>
            <a:r>
              <a:rPr sz="2000" dirty="0">
                <a:latin typeface="Times New Roman"/>
                <a:cs typeface="Times New Roman"/>
              </a:rPr>
              <a:t>integrated</a:t>
            </a:r>
            <a:r>
              <a:rPr sz="2000" spc="5" dirty="0">
                <a:latin typeface="Times New Roman"/>
                <a:cs typeface="Times New Roman"/>
              </a:rPr>
              <a:t> </a:t>
            </a:r>
            <a:r>
              <a:rPr sz="2000" dirty="0">
                <a:latin typeface="Times New Roman"/>
                <a:cs typeface="Times New Roman"/>
              </a:rPr>
              <a:t>system</a:t>
            </a:r>
            <a:r>
              <a:rPr sz="2000" spc="-45" dirty="0">
                <a:latin typeface="Times New Roman"/>
                <a:cs typeface="Times New Roman"/>
              </a:rPr>
              <a:t> </a:t>
            </a:r>
            <a:r>
              <a:rPr sz="2000" dirty="0">
                <a:latin typeface="Times New Roman"/>
                <a:cs typeface="Times New Roman"/>
              </a:rPr>
              <a:t>combining</a:t>
            </a:r>
            <a:r>
              <a:rPr sz="2000" spc="-15" dirty="0">
                <a:latin typeface="Times New Roman"/>
                <a:cs typeface="Times New Roman"/>
              </a:rPr>
              <a:t> </a:t>
            </a:r>
            <a:r>
              <a:rPr sz="2000" dirty="0">
                <a:latin typeface="Times New Roman"/>
                <a:cs typeface="Times New Roman"/>
              </a:rPr>
              <a:t>crack</a:t>
            </a:r>
            <a:r>
              <a:rPr sz="2000" spc="-30" dirty="0">
                <a:latin typeface="Times New Roman"/>
                <a:cs typeface="Times New Roman"/>
              </a:rPr>
              <a:t> </a:t>
            </a:r>
            <a:r>
              <a:rPr sz="2000" dirty="0">
                <a:latin typeface="Times New Roman"/>
                <a:cs typeface="Times New Roman"/>
              </a:rPr>
              <a:t>detection</a:t>
            </a:r>
            <a:r>
              <a:rPr sz="2000" spc="5" dirty="0">
                <a:latin typeface="Times New Roman"/>
                <a:cs typeface="Times New Roman"/>
              </a:rPr>
              <a:t> </a:t>
            </a:r>
            <a:r>
              <a:rPr sz="2000" dirty="0">
                <a:latin typeface="Times New Roman"/>
                <a:cs typeface="Times New Roman"/>
              </a:rPr>
              <a:t>with</a:t>
            </a:r>
            <a:r>
              <a:rPr sz="2000" spc="-5" dirty="0">
                <a:latin typeface="Times New Roman"/>
                <a:cs typeface="Times New Roman"/>
              </a:rPr>
              <a:t> </a:t>
            </a:r>
            <a:r>
              <a:rPr sz="2000" dirty="0">
                <a:latin typeface="Times New Roman"/>
                <a:cs typeface="Times New Roman"/>
              </a:rPr>
              <a:t>water level</a:t>
            </a:r>
            <a:r>
              <a:rPr sz="2000" spc="10" dirty="0">
                <a:latin typeface="Times New Roman"/>
                <a:cs typeface="Times New Roman"/>
              </a:rPr>
              <a:t> </a:t>
            </a:r>
            <a:r>
              <a:rPr sz="2000" spc="-10" dirty="0">
                <a:latin typeface="Times New Roman"/>
                <a:cs typeface="Times New Roman"/>
              </a:rPr>
              <a:t>monitoring </a:t>
            </a:r>
            <a:r>
              <a:rPr sz="2000" dirty="0">
                <a:latin typeface="Times New Roman"/>
                <a:cs typeface="Times New Roman"/>
              </a:rPr>
              <a:t>to</a:t>
            </a:r>
            <a:r>
              <a:rPr sz="2000" spc="155" dirty="0">
                <a:latin typeface="Times New Roman"/>
                <a:cs typeface="Times New Roman"/>
              </a:rPr>
              <a:t>  </a:t>
            </a:r>
            <a:r>
              <a:rPr sz="2000" dirty="0">
                <a:latin typeface="Times New Roman"/>
                <a:cs typeface="Times New Roman"/>
              </a:rPr>
              <a:t>provide</a:t>
            </a:r>
            <a:r>
              <a:rPr sz="2000" spc="155" dirty="0">
                <a:latin typeface="Times New Roman"/>
                <a:cs typeface="Times New Roman"/>
              </a:rPr>
              <a:t>  </a:t>
            </a:r>
            <a:r>
              <a:rPr sz="2000" dirty="0">
                <a:latin typeface="Times New Roman"/>
                <a:cs typeface="Times New Roman"/>
              </a:rPr>
              <a:t>a</a:t>
            </a:r>
            <a:r>
              <a:rPr sz="2000" spc="155" dirty="0">
                <a:latin typeface="Times New Roman"/>
                <a:cs typeface="Times New Roman"/>
              </a:rPr>
              <a:t>  </a:t>
            </a:r>
            <a:r>
              <a:rPr sz="2000" dirty="0">
                <a:latin typeface="Times New Roman"/>
                <a:cs typeface="Times New Roman"/>
              </a:rPr>
              <a:t>comprehensive</a:t>
            </a:r>
            <a:r>
              <a:rPr sz="2000" spc="160" dirty="0">
                <a:latin typeface="Times New Roman"/>
                <a:cs typeface="Times New Roman"/>
              </a:rPr>
              <a:t>  </a:t>
            </a:r>
            <a:r>
              <a:rPr sz="2000" spc="-10" dirty="0">
                <a:latin typeface="Times New Roman"/>
                <a:cs typeface="Times New Roman"/>
              </a:rPr>
              <a:t>real-</a:t>
            </a:r>
            <a:r>
              <a:rPr sz="2000" dirty="0">
                <a:latin typeface="Times New Roman"/>
                <a:cs typeface="Times New Roman"/>
              </a:rPr>
              <a:t>time</a:t>
            </a:r>
            <a:r>
              <a:rPr sz="2000" spc="150" dirty="0">
                <a:latin typeface="Times New Roman"/>
                <a:cs typeface="Times New Roman"/>
              </a:rPr>
              <a:t>  </a:t>
            </a:r>
            <a:r>
              <a:rPr sz="2000" dirty="0">
                <a:latin typeface="Times New Roman"/>
                <a:cs typeface="Times New Roman"/>
              </a:rPr>
              <a:t>assessment</a:t>
            </a:r>
            <a:r>
              <a:rPr sz="2000" spc="155" dirty="0">
                <a:latin typeface="Times New Roman"/>
                <a:cs typeface="Times New Roman"/>
              </a:rPr>
              <a:t>  </a:t>
            </a:r>
            <a:r>
              <a:rPr sz="2000" dirty="0">
                <a:latin typeface="Times New Roman"/>
                <a:cs typeface="Times New Roman"/>
              </a:rPr>
              <a:t>of</a:t>
            </a:r>
            <a:r>
              <a:rPr sz="2000" spc="155" dirty="0">
                <a:latin typeface="Times New Roman"/>
                <a:cs typeface="Times New Roman"/>
              </a:rPr>
              <a:t>  </a:t>
            </a:r>
            <a:r>
              <a:rPr sz="2000" dirty="0">
                <a:latin typeface="Times New Roman"/>
                <a:cs typeface="Times New Roman"/>
              </a:rPr>
              <a:t>dam</a:t>
            </a:r>
            <a:r>
              <a:rPr sz="2000" spc="150" dirty="0">
                <a:latin typeface="Times New Roman"/>
                <a:cs typeface="Times New Roman"/>
              </a:rPr>
              <a:t>  </a:t>
            </a:r>
            <a:r>
              <a:rPr sz="2000" spc="-10" dirty="0">
                <a:latin typeface="Times New Roman"/>
                <a:cs typeface="Times New Roman"/>
              </a:rPr>
              <a:t>health.The </a:t>
            </a:r>
            <a:r>
              <a:rPr sz="2000" dirty="0">
                <a:latin typeface="Times New Roman"/>
                <a:cs typeface="Times New Roman"/>
              </a:rPr>
              <a:t>proposed</a:t>
            </a:r>
            <a:r>
              <a:rPr sz="2000" spc="465" dirty="0">
                <a:latin typeface="Times New Roman"/>
                <a:cs typeface="Times New Roman"/>
              </a:rPr>
              <a:t> </a:t>
            </a:r>
            <a:r>
              <a:rPr sz="2000" dirty="0">
                <a:latin typeface="Times New Roman"/>
                <a:cs typeface="Times New Roman"/>
              </a:rPr>
              <a:t>approach</a:t>
            </a:r>
            <a:r>
              <a:rPr sz="2000" spc="450" dirty="0">
                <a:latin typeface="Times New Roman"/>
                <a:cs typeface="Times New Roman"/>
              </a:rPr>
              <a:t> </a:t>
            </a:r>
            <a:r>
              <a:rPr sz="2000" dirty="0">
                <a:latin typeface="Times New Roman"/>
                <a:cs typeface="Times New Roman"/>
              </a:rPr>
              <a:t>employs</a:t>
            </a:r>
            <a:r>
              <a:rPr sz="2000" spc="465" dirty="0">
                <a:latin typeface="Times New Roman"/>
                <a:cs typeface="Times New Roman"/>
              </a:rPr>
              <a:t> </a:t>
            </a:r>
            <a:r>
              <a:rPr sz="2000" spc="-20" dirty="0">
                <a:latin typeface="Times New Roman"/>
                <a:cs typeface="Times New Roman"/>
              </a:rPr>
              <a:t>high-</a:t>
            </a:r>
            <a:r>
              <a:rPr sz="2000" dirty="0">
                <a:latin typeface="Times New Roman"/>
                <a:cs typeface="Times New Roman"/>
              </a:rPr>
              <a:t>resolution</a:t>
            </a:r>
            <a:r>
              <a:rPr sz="2000" spc="450" dirty="0">
                <a:latin typeface="Times New Roman"/>
                <a:cs typeface="Times New Roman"/>
              </a:rPr>
              <a:t> </a:t>
            </a:r>
            <a:r>
              <a:rPr sz="2000" dirty="0">
                <a:latin typeface="Times New Roman"/>
                <a:cs typeface="Times New Roman"/>
              </a:rPr>
              <a:t>imaging</a:t>
            </a:r>
            <a:r>
              <a:rPr sz="2000" spc="445" dirty="0">
                <a:latin typeface="Times New Roman"/>
                <a:cs typeface="Times New Roman"/>
              </a:rPr>
              <a:t> </a:t>
            </a:r>
            <a:r>
              <a:rPr sz="2000" dirty="0">
                <a:latin typeface="Times New Roman"/>
                <a:cs typeface="Times New Roman"/>
              </a:rPr>
              <a:t>techniques</a:t>
            </a:r>
            <a:r>
              <a:rPr sz="2000" spc="450" dirty="0">
                <a:latin typeface="Times New Roman"/>
                <a:cs typeface="Times New Roman"/>
              </a:rPr>
              <a:t> </a:t>
            </a:r>
            <a:r>
              <a:rPr sz="2000" spc="-10" dirty="0">
                <a:latin typeface="Times New Roman"/>
                <a:cs typeface="Times New Roman"/>
              </a:rPr>
              <a:t>coupled </a:t>
            </a:r>
            <a:r>
              <a:rPr sz="2000" dirty="0">
                <a:latin typeface="Times New Roman"/>
                <a:cs typeface="Times New Roman"/>
              </a:rPr>
              <a:t>with</a:t>
            </a:r>
            <a:r>
              <a:rPr sz="2000" spc="285" dirty="0">
                <a:latin typeface="Times New Roman"/>
                <a:cs typeface="Times New Roman"/>
              </a:rPr>
              <a:t> </a:t>
            </a:r>
            <a:r>
              <a:rPr sz="2000" dirty="0">
                <a:latin typeface="Times New Roman"/>
                <a:cs typeface="Times New Roman"/>
              </a:rPr>
              <a:t>advanced</a:t>
            </a:r>
            <a:r>
              <a:rPr sz="2000" spc="325" dirty="0">
                <a:latin typeface="Times New Roman"/>
                <a:cs typeface="Times New Roman"/>
              </a:rPr>
              <a:t> </a:t>
            </a:r>
            <a:r>
              <a:rPr sz="2000" dirty="0">
                <a:latin typeface="Times New Roman"/>
                <a:cs typeface="Times New Roman"/>
              </a:rPr>
              <a:t>digital</a:t>
            </a:r>
            <a:r>
              <a:rPr sz="2000" spc="300" dirty="0">
                <a:latin typeface="Times New Roman"/>
                <a:cs typeface="Times New Roman"/>
              </a:rPr>
              <a:t> </a:t>
            </a:r>
            <a:r>
              <a:rPr sz="2000" dirty="0">
                <a:latin typeface="Times New Roman"/>
                <a:cs typeface="Times New Roman"/>
              </a:rPr>
              <a:t>image</a:t>
            </a:r>
            <a:r>
              <a:rPr sz="2000" spc="320" dirty="0">
                <a:latin typeface="Times New Roman"/>
                <a:cs typeface="Times New Roman"/>
              </a:rPr>
              <a:t> </a:t>
            </a:r>
            <a:r>
              <a:rPr sz="2000" dirty="0">
                <a:latin typeface="Times New Roman"/>
                <a:cs typeface="Times New Roman"/>
              </a:rPr>
              <a:t>processing</a:t>
            </a:r>
            <a:r>
              <a:rPr sz="2000" spc="295" dirty="0">
                <a:latin typeface="Times New Roman"/>
                <a:cs typeface="Times New Roman"/>
              </a:rPr>
              <a:t> </a:t>
            </a:r>
            <a:r>
              <a:rPr sz="2000" dirty="0">
                <a:latin typeface="Times New Roman"/>
                <a:cs typeface="Times New Roman"/>
              </a:rPr>
              <a:t>algorithms</a:t>
            </a:r>
            <a:r>
              <a:rPr sz="2000" spc="305" dirty="0">
                <a:latin typeface="Times New Roman"/>
                <a:cs typeface="Times New Roman"/>
              </a:rPr>
              <a:t> </a:t>
            </a:r>
            <a:r>
              <a:rPr sz="2000" dirty="0">
                <a:latin typeface="Times New Roman"/>
                <a:cs typeface="Times New Roman"/>
              </a:rPr>
              <a:t>to</a:t>
            </a:r>
            <a:r>
              <a:rPr sz="2000" spc="310" dirty="0">
                <a:latin typeface="Times New Roman"/>
                <a:cs typeface="Times New Roman"/>
              </a:rPr>
              <a:t> </a:t>
            </a:r>
            <a:r>
              <a:rPr sz="2000" dirty="0">
                <a:latin typeface="Times New Roman"/>
                <a:cs typeface="Times New Roman"/>
              </a:rPr>
              <a:t>detect</a:t>
            </a:r>
            <a:r>
              <a:rPr sz="2000" spc="310" dirty="0">
                <a:latin typeface="Times New Roman"/>
                <a:cs typeface="Times New Roman"/>
              </a:rPr>
              <a:t> </a:t>
            </a:r>
            <a:r>
              <a:rPr sz="2000" dirty="0">
                <a:latin typeface="Times New Roman"/>
                <a:cs typeface="Times New Roman"/>
              </a:rPr>
              <a:t>and</a:t>
            </a:r>
            <a:r>
              <a:rPr sz="2000" spc="310" dirty="0">
                <a:latin typeface="Times New Roman"/>
                <a:cs typeface="Times New Roman"/>
              </a:rPr>
              <a:t> </a:t>
            </a:r>
            <a:r>
              <a:rPr sz="2000" spc="-10" dirty="0">
                <a:latin typeface="Times New Roman"/>
                <a:cs typeface="Times New Roman"/>
              </a:rPr>
              <a:t>analyze micro-</a:t>
            </a:r>
            <a:r>
              <a:rPr sz="2000" dirty="0">
                <a:latin typeface="Times New Roman"/>
                <a:cs typeface="Times New Roman"/>
              </a:rPr>
              <a:t>cracks</a:t>
            </a:r>
            <a:r>
              <a:rPr sz="2000" spc="125" dirty="0">
                <a:latin typeface="Times New Roman"/>
                <a:cs typeface="Times New Roman"/>
              </a:rPr>
              <a:t> </a:t>
            </a:r>
            <a:r>
              <a:rPr sz="2000" dirty="0">
                <a:latin typeface="Times New Roman"/>
                <a:cs typeface="Times New Roman"/>
              </a:rPr>
              <a:t>and</a:t>
            </a:r>
            <a:r>
              <a:rPr sz="2000" spc="150" dirty="0">
                <a:latin typeface="Times New Roman"/>
                <a:cs typeface="Times New Roman"/>
              </a:rPr>
              <a:t> </a:t>
            </a:r>
            <a:r>
              <a:rPr sz="2000" dirty="0">
                <a:latin typeface="Times New Roman"/>
                <a:cs typeface="Times New Roman"/>
              </a:rPr>
              <a:t>other</a:t>
            </a:r>
            <a:r>
              <a:rPr sz="2000" spc="160" dirty="0">
                <a:latin typeface="Times New Roman"/>
                <a:cs typeface="Times New Roman"/>
              </a:rPr>
              <a:t> </a:t>
            </a:r>
            <a:r>
              <a:rPr sz="2000" dirty="0">
                <a:latin typeface="Times New Roman"/>
                <a:cs typeface="Times New Roman"/>
              </a:rPr>
              <a:t>structural</a:t>
            </a:r>
            <a:r>
              <a:rPr sz="2000" spc="150" dirty="0">
                <a:latin typeface="Times New Roman"/>
                <a:cs typeface="Times New Roman"/>
              </a:rPr>
              <a:t> </a:t>
            </a:r>
            <a:r>
              <a:rPr sz="2000" dirty="0">
                <a:latin typeface="Times New Roman"/>
                <a:cs typeface="Times New Roman"/>
              </a:rPr>
              <a:t>anomalies.</a:t>
            </a:r>
            <a:r>
              <a:rPr sz="2000" spc="145" dirty="0">
                <a:latin typeface="Times New Roman"/>
                <a:cs typeface="Times New Roman"/>
              </a:rPr>
              <a:t> </a:t>
            </a:r>
            <a:r>
              <a:rPr sz="2000" dirty="0">
                <a:latin typeface="Times New Roman"/>
                <a:cs typeface="Times New Roman"/>
              </a:rPr>
              <a:t>Simultaneously,</a:t>
            </a:r>
            <a:r>
              <a:rPr sz="2000" spc="155" dirty="0">
                <a:latin typeface="Times New Roman"/>
                <a:cs typeface="Times New Roman"/>
              </a:rPr>
              <a:t> </a:t>
            </a:r>
            <a:r>
              <a:rPr sz="2000" dirty="0">
                <a:latin typeface="Times New Roman"/>
                <a:cs typeface="Times New Roman"/>
              </a:rPr>
              <a:t>a</a:t>
            </a:r>
            <a:r>
              <a:rPr sz="2000" spc="145" dirty="0">
                <a:latin typeface="Times New Roman"/>
                <a:cs typeface="Times New Roman"/>
              </a:rPr>
              <a:t> </a:t>
            </a:r>
            <a:r>
              <a:rPr sz="2000" dirty="0">
                <a:latin typeface="Times New Roman"/>
                <a:cs typeface="Times New Roman"/>
              </a:rPr>
              <a:t>network</a:t>
            </a:r>
            <a:r>
              <a:rPr sz="2000" spc="135" dirty="0">
                <a:latin typeface="Times New Roman"/>
                <a:cs typeface="Times New Roman"/>
              </a:rPr>
              <a:t> </a:t>
            </a:r>
            <a:r>
              <a:rPr sz="2000" spc="-25" dirty="0">
                <a:latin typeface="Times New Roman"/>
                <a:cs typeface="Times New Roman"/>
              </a:rPr>
              <a:t>of </a:t>
            </a:r>
            <a:r>
              <a:rPr sz="2000" dirty="0">
                <a:latin typeface="Times New Roman"/>
                <a:cs typeface="Times New Roman"/>
              </a:rPr>
              <a:t>robust</a:t>
            </a:r>
            <a:r>
              <a:rPr sz="2000" spc="35" dirty="0">
                <a:latin typeface="Times New Roman"/>
                <a:cs typeface="Times New Roman"/>
              </a:rPr>
              <a:t> </a:t>
            </a:r>
            <a:r>
              <a:rPr sz="2000" dirty="0">
                <a:latin typeface="Times New Roman"/>
                <a:cs typeface="Times New Roman"/>
              </a:rPr>
              <a:t>water</a:t>
            </a:r>
            <a:r>
              <a:rPr sz="2000" spc="20" dirty="0">
                <a:latin typeface="Times New Roman"/>
                <a:cs typeface="Times New Roman"/>
              </a:rPr>
              <a:t> </a:t>
            </a:r>
            <a:r>
              <a:rPr sz="2000" dirty="0">
                <a:latin typeface="Times New Roman"/>
                <a:cs typeface="Times New Roman"/>
              </a:rPr>
              <a:t>level</a:t>
            </a:r>
            <a:r>
              <a:rPr sz="2000" spc="15" dirty="0">
                <a:latin typeface="Times New Roman"/>
                <a:cs typeface="Times New Roman"/>
              </a:rPr>
              <a:t> </a:t>
            </a:r>
            <a:r>
              <a:rPr sz="2000" dirty="0">
                <a:latin typeface="Times New Roman"/>
                <a:cs typeface="Times New Roman"/>
              </a:rPr>
              <a:t>sensors</a:t>
            </a:r>
            <a:r>
              <a:rPr sz="2000" spc="10" dirty="0">
                <a:latin typeface="Times New Roman"/>
                <a:cs typeface="Times New Roman"/>
              </a:rPr>
              <a:t> </a:t>
            </a:r>
            <a:r>
              <a:rPr sz="2000" dirty="0">
                <a:latin typeface="Times New Roman"/>
                <a:cs typeface="Times New Roman"/>
              </a:rPr>
              <a:t>continuously</a:t>
            </a:r>
            <a:r>
              <a:rPr sz="2000" spc="10" dirty="0">
                <a:latin typeface="Times New Roman"/>
                <a:cs typeface="Times New Roman"/>
              </a:rPr>
              <a:t> </a:t>
            </a:r>
            <a:r>
              <a:rPr sz="2000" dirty="0">
                <a:latin typeface="Times New Roman"/>
                <a:cs typeface="Times New Roman"/>
              </a:rPr>
              <a:t>monitors</a:t>
            </a:r>
            <a:r>
              <a:rPr sz="2000" spc="10" dirty="0">
                <a:latin typeface="Times New Roman"/>
                <a:cs typeface="Times New Roman"/>
              </a:rPr>
              <a:t> </a:t>
            </a:r>
            <a:r>
              <a:rPr sz="2000" dirty="0">
                <a:latin typeface="Times New Roman"/>
                <a:cs typeface="Times New Roman"/>
              </a:rPr>
              <a:t>reservoir</a:t>
            </a:r>
            <a:r>
              <a:rPr sz="2000" spc="10" dirty="0">
                <a:latin typeface="Times New Roman"/>
                <a:cs typeface="Times New Roman"/>
              </a:rPr>
              <a:t> </a:t>
            </a:r>
            <a:r>
              <a:rPr sz="2000" dirty="0">
                <a:latin typeface="Times New Roman"/>
                <a:cs typeface="Times New Roman"/>
              </a:rPr>
              <a:t>levels</a:t>
            </a:r>
            <a:r>
              <a:rPr sz="2000" spc="5" dirty="0">
                <a:latin typeface="Times New Roman"/>
                <a:cs typeface="Times New Roman"/>
              </a:rPr>
              <a:t> </a:t>
            </a:r>
            <a:r>
              <a:rPr sz="2000" dirty="0">
                <a:latin typeface="Times New Roman"/>
                <a:cs typeface="Times New Roman"/>
              </a:rPr>
              <a:t>to</a:t>
            </a:r>
            <a:r>
              <a:rPr sz="2000" spc="25" dirty="0">
                <a:latin typeface="Times New Roman"/>
                <a:cs typeface="Times New Roman"/>
              </a:rPr>
              <a:t> </a:t>
            </a:r>
            <a:r>
              <a:rPr sz="2000" spc="-10" dirty="0">
                <a:latin typeface="Times New Roman"/>
                <a:cs typeface="Times New Roman"/>
              </a:rPr>
              <a:t>identify </a:t>
            </a:r>
            <a:r>
              <a:rPr sz="2000" dirty="0">
                <a:latin typeface="Times New Roman"/>
                <a:cs typeface="Times New Roman"/>
              </a:rPr>
              <a:t>unusual</a:t>
            </a:r>
            <a:r>
              <a:rPr sz="2000" spc="-10" dirty="0">
                <a:latin typeface="Times New Roman"/>
                <a:cs typeface="Times New Roman"/>
              </a:rPr>
              <a:t> </a:t>
            </a:r>
            <a:r>
              <a:rPr sz="2000" dirty="0">
                <a:latin typeface="Times New Roman"/>
                <a:cs typeface="Times New Roman"/>
              </a:rPr>
              <a:t>fluctuations</a:t>
            </a:r>
            <a:r>
              <a:rPr sz="2000" spc="-30" dirty="0">
                <a:latin typeface="Times New Roman"/>
                <a:cs typeface="Times New Roman"/>
              </a:rPr>
              <a:t> </a:t>
            </a:r>
            <a:r>
              <a:rPr sz="2000" dirty="0">
                <a:latin typeface="Times New Roman"/>
                <a:cs typeface="Times New Roman"/>
              </a:rPr>
              <a:t>that</a:t>
            </a:r>
            <a:r>
              <a:rPr sz="2000" spc="-70" dirty="0">
                <a:latin typeface="Times New Roman"/>
                <a:cs typeface="Times New Roman"/>
              </a:rPr>
              <a:t> </a:t>
            </a:r>
            <a:r>
              <a:rPr sz="2000" dirty="0">
                <a:latin typeface="Times New Roman"/>
                <a:cs typeface="Times New Roman"/>
              </a:rPr>
              <a:t>may</a:t>
            </a:r>
            <a:r>
              <a:rPr sz="2000" spc="-40" dirty="0">
                <a:latin typeface="Times New Roman"/>
                <a:cs typeface="Times New Roman"/>
              </a:rPr>
              <a:t> </a:t>
            </a:r>
            <a:r>
              <a:rPr sz="2000" dirty="0">
                <a:latin typeface="Times New Roman"/>
                <a:cs typeface="Times New Roman"/>
              </a:rPr>
              <a:t>indicate</a:t>
            </a:r>
            <a:r>
              <a:rPr sz="2000" spc="-60" dirty="0">
                <a:latin typeface="Times New Roman"/>
                <a:cs typeface="Times New Roman"/>
              </a:rPr>
              <a:t> </a:t>
            </a:r>
            <a:r>
              <a:rPr sz="2000" dirty="0">
                <a:latin typeface="Times New Roman"/>
                <a:cs typeface="Times New Roman"/>
              </a:rPr>
              <a:t>operational</a:t>
            </a:r>
            <a:r>
              <a:rPr sz="2000" spc="-75" dirty="0">
                <a:latin typeface="Times New Roman"/>
                <a:cs typeface="Times New Roman"/>
              </a:rPr>
              <a:t> </a:t>
            </a:r>
            <a:r>
              <a:rPr sz="2000" spc="-10" dirty="0">
                <a:latin typeface="Times New Roman"/>
                <a:cs typeface="Times New Roman"/>
              </a:rPr>
              <a:t>risks.</a:t>
            </a:r>
            <a:endParaRPr sz="2000" dirty="0">
              <a:latin typeface="Times New Roman"/>
              <a:cs typeface="Times New Roman"/>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25"/>
              </a:lnSpc>
            </a:pPr>
            <a:r>
              <a:rPr b="0" dirty="0">
                <a:latin typeface="Arial MT"/>
                <a:cs typeface="Arial MT"/>
              </a:rPr>
              <a:t>Dept.</a:t>
            </a:r>
            <a:r>
              <a:rPr b="0" spc="-25" dirty="0">
                <a:latin typeface="Arial MT"/>
                <a:cs typeface="Arial MT"/>
              </a:rPr>
              <a:t> </a:t>
            </a:r>
            <a:r>
              <a:rPr b="0" dirty="0">
                <a:latin typeface="Arial MT"/>
                <a:cs typeface="Arial MT"/>
              </a:rPr>
              <a:t>of</a:t>
            </a:r>
            <a:r>
              <a:rPr b="0" spc="-5" dirty="0">
                <a:latin typeface="Arial MT"/>
                <a:cs typeface="Arial MT"/>
              </a:rPr>
              <a:t> </a:t>
            </a:r>
            <a:r>
              <a:rPr b="0" dirty="0">
                <a:latin typeface="Arial MT"/>
                <a:cs typeface="Arial MT"/>
              </a:rPr>
              <a:t>ECE</a:t>
            </a:r>
            <a:r>
              <a:rPr b="0" spc="5" dirty="0">
                <a:latin typeface="Arial MT"/>
                <a:cs typeface="Arial MT"/>
              </a:rPr>
              <a:t> </a:t>
            </a:r>
            <a:r>
              <a:rPr b="0" dirty="0">
                <a:latin typeface="Arial MT"/>
                <a:cs typeface="Arial MT"/>
              </a:rPr>
              <a:t>2025-</a:t>
            </a:r>
            <a:r>
              <a:rPr b="0" spc="-25" dirty="0">
                <a:latin typeface="Arial MT"/>
                <a:cs typeface="Arial MT"/>
              </a:rPr>
              <a:t>26</a:t>
            </a: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104775">
              <a:lnSpc>
                <a:spcPts val="1425"/>
              </a:lnSpc>
            </a:pPr>
            <a:fld id="{81D60167-4931-47E6-BA6A-407CBD079E47}" type="slidenum">
              <a:rPr b="0" spc="-50" dirty="0">
                <a:latin typeface="Arial MT"/>
                <a:cs typeface="Arial MT"/>
              </a:rPr>
              <a:t>3</a:t>
            </a:fld>
            <a:endParaRPr b="0" spc="-50" dirty="0">
              <a:latin typeface="Arial MT"/>
              <a:cs typeface="Arial M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02259" rIns="0" bIns="0" rtlCol="0">
            <a:spAutoFit/>
          </a:bodyPr>
          <a:lstStyle/>
          <a:p>
            <a:pPr marL="1600835">
              <a:lnSpc>
                <a:spcPct val="100000"/>
              </a:lnSpc>
              <a:spcBef>
                <a:spcPts val="100"/>
              </a:spcBef>
            </a:pPr>
            <a:r>
              <a:rPr sz="3600" spc="-10" dirty="0"/>
              <a:t>OBJECTIVE</a:t>
            </a:r>
            <a:endParaRPr sz="3600"/>
          </a:p>
        </p:txBody>
      </p:sp>
      <p:pic>
        <p:nvPicPr>
          <p:cNvPr id="3" name="object 3"/>
          <p:cNvPicPr/>
          <p:nvPr/>
        </p:nvPicPr>
        <p:blipFill>
          <a:blip r:embed="rId2" cstate="print"/>
          <a:stretch>
            <a:fillRect/>
          </a:stretch>
        </p:blipFill>
        <p:spPr>
          <a:xfrm>
            <a:off x="7711440" y="182879"/>
            <a:ext cx="1051559" cy="1100328"/>
          </a:xfrm>
          <a:prstGeom prst="rect">
            <a:avLst/>
          </a:prstGeom>
        </p:spPr>
      </p:pic>
      <p:pic>
        <p:nvPicPr>
          <p:cNvPr id="4" name="object 4"/>
          <p:cNvPicPr/>
          <p:nvPr/>
        </p:nvPicPr>
        <p:blipFill>
          <a:blip r:embed="rId3" cstate="print"/>
          <a:stretch>
            <a:fillRect/>
          </a:stretch>
        </p:blipFill>
        <p:spPr>
          <a:xfrm>
            <a:off x="188976" y="179831"/>
            <a:ext cx="981456" cy="1100328"/>
          </a:xfrm>
          <a:prstGeom prst="rect">
            <a:avLst/>
          </a:prstGeom>
        </p:spPr>
      </p:pic>
      <p:sp>
        <p:nvSpPr>
          <p:cNvPr id="5" name="object 5"/>
          <p:cNvSpPr txBox="1"/>
          <p:nvPr/>
        </p:nvSpPr>
        <p:spPr>
          <a:xfrm>
            <a:off x="475589" y="1656664"/>
            <a:ext cx="8194040" cy="3378835"/>
          </a:xfrm>
          <a:prstGeom prst="rect">
            <a:avLst/>
          </a:prstGeom>
        </p:spPr>
        <p:txBody>
          <a:bodyPr vert="horz" wrap="square" lIns="0" tIns="12065" rIns="0" bIns="0" rtlCol="0">
            <a:spAutoFit/>
          </a:bodyPr>
          <a:lstStyle/>
          <a:p>
            <a:pPr marL="100330" indent="-96520">
              <a:lnSpc>
                <a:spcPct val="100000"/>
              </a:lnSpc>
              <a:spcBef>
                <a:spcPts val="95"/>
              </a:spcBef>
              <a:buSzPct val="95000"/>
              <a:buFont typeface="Times New Roman"/>
              <a:buChar char="•"/>
              <a:tabLst>
                <a:tab pos="100330" algn="l"/>
              </a:tabLst>
            </a:pPr>
            <a:r>
              <a:rPr sz="2000" b="1" dirty="0">
                <a:latin typeface="Times New Roman"/>
                <a:cs typeface="Times New Roman"/>
              </a:rPr>
              <a:t>Ensure</a:t>
            </a:r>
            <a:r>
              <a:rPr sz="2000" b="1" spc="210" dirty="0">
                <a:latin typeface="Times New Roman"/>
                <a:cs typeface="Times New Roman"/>
              </a:rPr>
              <a:t> </a:t>
            </a:r>
            <a:r>
              <a:rPr sz="2000" b="1" dirty="0">
                <a:latin typeface="Times New Roman"/>
                <a:cs typeface="Times New Roman"/>
              </a:rPr>
              <a:t>Dam</a:t>
            </a:r>
            <a:r>
              <a:rPr sz="2000" b="1" spc="160" dirty="0">
                <a:latin typeface="Times New Roman"/>
                <a:cs typeface="Times New Roman"/>
              </a:rPr>
              <a:t> </a:t>
            </a:r>
            <a:r>
              <a:rPr sz="2000" b="1" dirty="0">
                <a:latin typeface="Times New Roman"/>
                <a:cs typeface="Times New Roman"/>
              </a:rPr>
              <a:t>Safety</a:t>
            </a:r>
            <a:r>
              <a:rPr sz="2000" b="1" spc="220" dirty="0">
                <a:latin typeface="Times New Roman"/>
                <a:cs typeface="Times New Roman"/>
              </a:rPr>
              <a:t> </a:t>
            </a:r>
            <a:r>
              <a:rPr sz="2000" dirty="0">
                <a:latin typeface="Times New Roman"/>
                <a:cs typeface="Times New Roman"/>
              </a:rPr>
              <a:t>–</a:t>
            </a:r>
            <a:r>
              <a:rPr sz="2000" spc="200" dirty="0">
                <a:latin typeface="Times New Roman"/>
                <a:cs typeface="Times New Roman"/>
              </a:rPr>
              <a:t> </a:t>
            </a:r>
            <a:r>
              <a:rPr sz="2000" dirty="0">
                <a:latin typeface="Times New Roman"/>
                <a:cs typeface="Times New Roman"/>
              </a:rPr>
              <a:t>To</a:t>
            </a:r>
            <a:r>
              <a:rPr sz="2000" spc="195" dirty="0">
                <a:latin typeface="Times New Roman"/>
                <a:cs typeface="Times New Roman"/>
              </a:rPr>
              <a:t> </a:t>
            </a:r>
            <a:r>
              <a:rPr sz="2000" dirty="0">
                <a:latin typeface="Times New Roman"/>
                <a:cs typeface="Times New Roman"/>
              </a:rPr>
              <a:t>prevent</a:t>
            </a:r>
            <a:r>
              <a:rPr sz="2000" spc="210" dirty="0">
                <a:latin typeface="Times New Roman"/>
                <a:cs typeface="Times New Roman"/>
              </a:rPr>
              <a:t> </a:t>
            </a:r>
            <a:r>
              <a:rPr sz="2000" dirty="0">
                <a:latin typeface="Times New Roman"/>
                <a:cs typeface="Times New Roman"/>
              </a:rPr>
              <a:t>structural</a:t>
            </a:r>
            <a:r>
              <a:rPr sz="2000" spc="220" dirty="0">
                <a:latin typeface="Times New Roman"/>
                <a:cs typeface="Times New Roman"/>
              </a:rPr>
              <a:t> </a:t>
            </a:r>
            <a:r>
              <a:rPr sz="2000" dirty="0">
                <a:latin typeface="Times New Roman"/>
                <a:cs typeface="Times New Roman"/>
              </a:rPr>
              <a:t>failures</a:t>
            </a:r>
            <a:r>
              <a:rPr sz="2000" spc="204" dirty="0">
                <a:latin typeface="Times New Roman"/>
                <a:cs typeface="Times New Roman"/>
              </a:rPr>
              <a:t> </a:t>
            </a:r>
            <a:r>
              <a:rPr sz="2000" dirty="0">
                <a:latin typeface="Times New Roman"/>
                <a:cs typeface="Times New Roman"/>
              </a:rPr>
              <a:t>by</a:t>
            </a:r>
            <a:r>
              <a:rPr sz="2000" spc="175" dirty="0">
                <a:latin typeface="Times New Roman"/>
                <a:cs typeface="Times New Roman"/>
              </a:rPr>
              <a:t> </a:t>
            </a:r>
            <a:r>
              <a:rPr sz="2000" dirty="0">
                <a:latin typeface="Times New Roman"/>
                <a:cs typeface="Times New Roman"/>
              </a:rPr>
              <a:t>detecting</a:t>
            </a:r>
            <a:r>
              <a:rPr sz="2000" spc="204" dirty="0">
                <a:latin typeface="Times New Roman"/>
                <a:cs typeface="Times New Roman"/>
              </a:rPr>
              <a:t> </a:t>
            </a:r>
            <a:r>
              <a:rPr sz="2000" dirty="0">
                <a:latin typeface="Times New Roman"/>
                <a:cs typeface="Times New Roman"/>
              </a:rPr>
              <a:t>cracks</a:t>
            </a:r>
            <a:r>
              <a:rPr sz="2000" spc="210" dirty="0">
                <a:latin typeface="Times New Roman"/>
                <a:cs typeface="Times New Roman"/>
              </a:rPr>
              <a:t> </a:t>
            </a:r>
            <a:r>
              <a:rPr sz="2000" spc="-25" dirty="0">
                <a:latin typeface="Times New Roman"/>
                <a:cs typeface="Times New Roman"/>
              </a:rPr>
              <a:t>and</a:t>
            </a:r>
            <a:endParaRPr sz="2000" dirty="0">
              <a:latin typeface="Times New Roman"/>
              <a:cs typeface="Times New Roman"/>
            </a:endParaRPr>
          </a:p>
          <a:p>
            <a:pPr marL="12700">
              <a:lnSpc>
                <a:spcPct val="100000"/>
              </a:lnSpc>
            </a:pPr>
            <a:r>
              <a:rPr sz="2000" dirty="0">
                <a:latin typeface="Times New Roman"/>
                <a:cs typeface="Times New Roman"/>
              </a:rPr>
              <a:t>monitoring</a:t>
            </a:r>
            <a:r>
              <a:rPr sz="2000" spc="-55" dirty="0">
                <a:latin typeface="Times New Roman"/>
                <a:cs typeface="Times New Roman"/>
              </a:rPr>
              <a:t> </a:t>
            </a:r>
            <a:r>
              <a:rPr sz="2000" dirty="0">
                <a:latin typeface="Times New Roman"/>
                <a:cs typeface="Times New Roman"/>
              </a:rPr>
              <a:t>water</a:t>
            </a:r>
            <a:r>
              <a:rPr sz="2000" spc="-40" dirty="0">
                <a:latin typeface="Times New Roman"/>
                <a:cs typeface="Times New Roman"/>
              </a:rPr>
              <a:t> </a:t>
            </a:r>
            <a:r>
              <a:rPr sz="2000" spc="-10" dirty="0">
                <a:latin typeface="Times New Roman"/>
                <a:cs typeface="Times New Roman"/>
              </a:rPr>
              <a:t>levels.</a:t>
            </a:r>
            <a:endParaRPr sz="2000" dirty="0">
              <a:latin typeface="Times New Roman"/>
              <a:cs typeface="Times New Roman"/>
            </a:endParaRPr>
          </a:p>
          <a:p>
            <a:pPr>
              <a:lnSpc>
                <a:spcPct val="100000"/>
              </a:lnSpc>
              <a:spcBef>
                <a:spcPts val="100"/>
              </a:spcBef>
            </a:pPr>
            <a:endParaRPr sz="2000" dirty="0">
              <a:latin typeface="Times New Roman"/>
              <a:cs typeface="Times New Roman"/>
            </a:endParaRPr>
          </a:p>
          <a:p>
            <a:pPr marL="100330" indent="-97155">
              <a:lnSpc>
                <a:spcPct val="100000"/>
              </a:lnSpc>
              <a:spcBef>
                <a:spcPts val="5"/>
              </a:spcBef>
              <a:buSzPct val="95000"/>
              <a:buFont typeface="Times New Roman"/>
              <a:buChar char="•"/>
              <a:tabLst>
                <a:tab pos="100330" algn="l"/>
              </a:tabLst>
            </a:pPr>
            <a:r>
              <a:rPr sz="2000" b="1" dirty="0">
                <a:latin typeface="Times New Roman"/>
                <a:cs typeface="Times New Roman"/>
              </a:rPr>
              <a:t>Early</a:t>
            </a:r>
            <a:r>
              <a:rPr sz="2000" b="1" spc="25" dirty="0">
                <a:latin typeface="Times New Roman"/>
                <a:cs typeface="Times New Roman"/>
              </a:rPr>
              <a:t> </a:t>
            </a:r>
            <a:r>
              <a:rPr sz="2000" b="1" dirty="0">
                <a:latin typeface="Times New Roman"/>
                <a:cs typeface="Times New Roman"/>
              </a:rPr>
              <a:t>Fault</a:t>
            </a:r>
            <a:r>
              <a:rPr sz="2000" b="1" spc="20" dirty="0">
                <a:latin typeface="Times New Roman"/>
                <a:cs typeface="Times New Roman"/>
              </a:rPr>
              <a:t> </a:t>
            </a:r>
            <a:r>
              <a:rPr sz="2000" b="1" dirty="0">
                <a:latin typeface="Times New Roman"/>
                <a:cs typeface="Times New Roman"/>
              </a:rPr>
              <a:t>Detection</a:t>
            </a:r>
            <a:r>
              <a:rPr sz="2000" b="1" spc="-5" dirty="0">
                <a:latin typeface="Times New Roman"/>
                <a:cs typeface="Times New Roman"/>
              </a:rPr>
              <a:t> </a:t>
            </a:r>
            <a:r>
              <a:rPr sz="2000" dirty="0">
                <a:latin typeface="Times New Roman"/>
                <a:cs typeface="Times New Roman"/>
              </a:rPr>
              <a:t>–</a:t>
            </a:r>
            <a:r>
              <a:rPr sz="2000" spc="5" dirty="0">
                <a:latin typeface="Times New Roman"/>
                <a:cs typeface="Times New Roman"/>
              </a:rPr>
              <a:t> </a:t>
            </a:r>
            <a:r>
              <a:rPr sz="2000" dirty="0">
                <a:latin typeface="Times New Roman"/>
                <a:cs typeface="Times New Roman"/>
              </a:rPr>
              <a:t>To</a:t>
            </a:r>
            <a:r>
              <a:rPr sz="2000" spc="15" dirty="0">
                <a:latin typeface="Times New Roman"/>
                <a:cs typeface="Times New Roman"/>
              </a:rPr>
              <a:t> </a:t>
            </a:r>
            <a:r>
              <a:rPr sz="2000" dirty="0">
                <a:latin typeface="Times New Roman"/>
                <a:cs typeface="Times New Roman"/>
              </a:rPr>
              <a:t>identify</a:t>
            </a:r>
            <a:r>
              <a:rPr sz="2000" spc="-10" dirty="0">
                <a:latin typeface="Times New Roman"/>
                <a:cs typeface="Times New Roman"/>
              </a:rPr>
              <a:t> </a:t>
            </a:r>
            <a:r>
              <a:rPr sz="2000" dirty="0">
                <a:latin typeface="Times New Roman"/>
                <a:cs typeface="Times New Roman"/>
              </a:rPr>
              <a:t>cracks</a:t>
            </a:r>
            <a:r>
              <a:rPr sz="2000" spc="10" dirty="0">
                <a:latin typeface="Times New Roman"/>
                <a:cs typeface="Times New Roman"/>
              </a:rPr>
              <a:t> </a:t>
            </a:r>
            <a:r>
              <a:rPr sz="2000" dirty="0">
                <a:latin typeface="Times New Roman"/>
                <a:cs typeface="Times New Roman"/>
              </a:rPr>
              <a:t>and</a:t>
            </a:r>
            <a:r>
              <a:rPr sz="2000" spc="25" dirty="0">
                <a:latin typeface="Times New Roman"/>
                <a:cs typeface="Times New Roman"/>
              </a:rPr>
              <a:t> </a:t>
            </a:r>
            <a:r>
              <a:rPr sz="2000" dirty="0">
                <a:latin typeface="Times New Roman"/>
                <a:cs typeface="Times New Roman"/>
              </a:rPr>
              <a:t>anomalies before</a:t>
            </a:r>
            <a:r>
              <a:rPr sz="2000" spc="25" dirty="0">
                <a:latin typeface="Times New Roman"/>
                <a:cs typeface="Times New Roman"/>
              </a:rPr>
              <a:t> </a:t>
            </a:r>
            <a:r>
              <a:rPr sz="2000" dirty="0">
                <a:latin typeface="Times New Roman"/>
                <a:cs typeface="Times New Roman"/>
              </a:rPr>
              <a:t>they</a:t>
            </a:r>
            <a:r>
              <a:rPr sz="2000" spc="-20" dirty="0">
                <a:latin typeface="Times New Roman"/>
                <a:cs typeface="Times New Roman"/>
              </a:rPr>
              <a:t> </a:t>
            </a:r>
            <a:r>
              <a:rPr sz="2000" spc="-10" dirty="0">
                <a:latin typeface="Times New Roman"/>
                <a:cs typeface="Times New Roman"/>
              </a:rPr>
              <a:t>become</a:t>
            </a:r>
            <a:endParaRPr sz="2000" dirty="0">
              <a:latin typeface="Times New Roman"/>
              <a:cs typeface="Times New Roman"/>
            </a:endParaRPr>
          </a:p>
          <a:p>
            <a:pPr marL="12700">
              <a:lnSpc>
                <a:spcPct val="100000"/>
              </a:lnSpc>
            </a:pPr>
            <a:r>
              <a:rPr sz="2000" spc="-10" dirty="0">
                <a:latin typeface="Times New Roman"/>
                <a:cs typeface="Times New Roman"/>
              </a:rPr>
              <a:t>critical</a:t>
            </a:r>
            <a:endParaRPr sz="2000" dirty="0">
              <a:latin typeface="Times New Roman"/>
              <a:cs typeface="Times New Roman"/>
            </a:endParaRPr>
          </a:p>
          <a:p>
            <a:pPr>
              <a:lnSpc>
                <a:spcPct val="100000"/>
              </a:lnSpc>
              <a:spcBef>
                <a:spcPts val="100"/>
              </a:spcBef>
            </a:pPr>
            <a:endParaRPr sz="2000" dirty="0">
              <a:latin typeface="Times New Roman"/>
              <a:cs typeface="Times New Roman"/>
            </a:endParaRPr>
          </a:p>
          <a:p>
            <a:pPr marL="12700" marR="5080" indent="-9525">
              <a:lnSpc>
                <a:spcPct val="100000"/>
              </a:lnSpc>
              <a:buSzPct val="95000"/>
              <a:buFont typeface="Times New Roman"/>
              <a:buChar char="•"/>
              <a:tabLst>
                <a:tab pos="100330" algn="l"/>
              </a:tabLst>
            </a:pPr>
            <a:r>
              <a:rPr sz="2000" b="1" dirty="0">
                <a:latin typeface="Times New Roman"/>
                <a:cs typeface="Times New Roman"/>
              </a:rPr>
              <a:t>	Prevent</a:t>
            </a:r>
            <a:r>
              <a:rPr sz="2000" b="1" spc="160" dirty="0">
                <a:latin typeface="Times New Roman"/>
                <a:cs typeface="Times New Roman"/>
              </a:rPr>
              <a:t> </a:t>
            </a:r>
            <a:r>
              <a:rPr sz="2000" b="1" dirty="0">
                <a:latin typeface="Times New Roman"/>
                <a:cs typeface="Times New Roman"/>
              </a:rPr>
              <a:t>Flooding</a:t>
            </a:r>
            <a:r>
              <a:rPr sz="2000" b="1" spc="165" dirty="0">
                <a:latin typeface="Times New Roman"/>
                <a:cs typeface="Times New Roman"/>
              </a:rPr>
              <a:t> </a:t>
            </a:r>
            <a:r>
              <a:rPr sz="2000" b="1" dirty="0">
                <a:latin typeface="Times New Roman"/>
                <a:cs typeface="Times New Roman"/>
              </a:rPr>
              <a:t>and</a:t>
            </a:r>
            <a:r>
              <a:rPr sz="2000" b="1" spc="145" dirty="0">
                <a:latin typeface="Times New Roman"/>
                <a:cs typeface="Times New Roman"/>
              </a:rPr>
              <a:t> </a:t>
            </a:r>
            <a:r>
              <a:rPr sz="2000" b="1" dirty="0">
                <a:latin typeface="Times New Roman"/>
                <a:cs typeface="Times New Roman"/>
              </a:rPr>
              <a:t>Water</a:t>
            </a:r>
            <a:r>
              <a:rPr sz="2000" b="1" spc="160" dirty="0">
                <a:latin typeface="Times New Roman"/>
                <a:cs typeface="Times New Roman"/>
              </a:rPr>
              <a:t> </a:t>
            </a:r>
            <a:r>
              <a:rPr sz="2000" b="1" dirty="0">
                <a:latin typeface="Times New Roman"/>
                <a:cs typeface="Times New Roman"/>
              </a:rPr>
              <a:t>Shortages</a:t>
            </a:r>
            <a:r>
              <a:rPr sz="2000" b="1" spc="150" dirty="0">
                <a:latin typeface="Times New Roman"/>
                <a:cs typeface="Times New Roman"/>
              </a:rPr>
              <a:t> </a:t>
            </a:r>
            <a:r>
              <a:rPr sz="2000" dirty="0">
                <a:latin typeface="Times New Roman"/>
                <a:cs typeface="Times New Roman"/>
              </a:rPr>
              <a:t>–</a:t>
            </a:r>
            <a:r>
              <a:rPr sz="2000" spc="135" dirty="0">
                <a:latin typeface="Times New Roman"/>
                <a:cs typeface="Times New Roman"/>
              </a:rPr>
              <a:t> </a:t>
            </a:r>
            <a:r>
              <a:rPr sz="2000" dirty="0">
                <a:latin typeface="Times New Roman"/>
                <a:cs typeface="Times New Roman"/>
              </a:rPr>
              <a:t>To</a:t>
            </a:r>
            <a:r>
              <a:rPr sz="2000" spc="160" dirty="0">
                <a:latin typeface="Times New Roman"/>
                <a:cs typeface="Times New Roman"/>
              </a:rPr>
              <a:t> </a:t>
            </a:r>
            <a:r>
              <a:rPr sz="2000" dirty="0">
                <a:latin typeface="Times New Roman"/>
                <a:cs typeface="Times New Roman"/>
              </a:rPr>
              <a:t>maintain</a:t>
            </a:r>
            <a:r>
              <a:rPr sz="2000" spc="140" dirty="0">
                <a:latin typeface="Times New Roman"/>
                <a:cs typeface="Times New Roman"/>
              </a:rPr>
              <a:t> </a:t>
            </a:r>
            <a:r>
              <a:rPr sz="2000" dirty="0">
                <a:latin typeface="Times New Roman"/>
                <a:cs typeface="Times New Roman"/>
              </a:rPr>
              <a:t>optimal</a:t>
            </a:r>
            <a:r>
              <a:rPr sz="2000" spc="180" dirty="0">
                <a:latin typeface="Times New Roman"/>
                <a:cs typeface="Times New Roman"/>
              </a:rPr>
              <a:t> </a:t>
            </a:r>
            <a:r>
              <a:rPr sz="2000" dirty="0">
                <a:latin typeface="Times New Roman"/>
                <a:cs typeface="Times New Roman"/>
              </a:rPr>
              <a:t>water</a:t>
            </a:r>
            <a:r>
              <a:rPr sz="2000" spc="165" dirty="0">
                <a:latin typeface="Times New Roman"/>
                <a:cs typeface="Times New Roman"/>
              </a:rPr>
              <a:t> </a:t>
            </a:r>
            <a:r>
              <a:rPr sz="2000" spc="-10" dirty="0">
                <a:latin typeface="Times New Roman"/>
                <a:cs typeface="Times New Roman"/>
              </a:rPr>
              <a:t>levels </a:t>
            </a:r>
            <a:r>
              <a:rPr sz="2000" dirty="0">
                <a:latin typeface="Times New Roman"/>
                <a:cs typeface="Times New Roman"/>
              </a:rPr>
              <a:t>to</a:t>
            </a:r>
            <a:r>
              <a:rPr sz="2000" spc="-45" dirty="0">
                <a:latin typeface="Times New Roman"/>
                <a:cs typeface="Times New Roman"/>
              </a:rPr>
              <a:t> </a:t>
            </a:r>
            <a:r>
              <a:rPr sz="2000" dirty="0">
                <a:latin typeface="Times New Roman"/>
                <a:cs typeface="Times New Roman"/>
              </a:rPr>
              <a:t>avoid</a:t>
            </a:r>
            <a:r>
              <a:rPr sz="2000" spc="-15" dirty="0">
                <a:latin typeface="Times New Roman"/>
                <a:cs typeface="Times New Roman"/>
              </a:rPr>
              <a:t> </a:t>
            </a:r>
            <a:r>
              <a:rPr sz="2000" spc="-10" dirty="0">
                <a:latin typeface="Times New Roman"/>
                <a:cs typeface="Times New Roman"/>
              </a:rPr>
              <a:t>disasters.</a:t>
            </a:r>
            <a:endParaRPr sz="2000" dirty="0">
              <a:latin typeface="Times New Roman"/>
              <a:cs typeface="Times New Roman"/>
            </a:endParaRPr>
          </a:p>
          <a:p>
            <a:pPr>
              <a:lnSpc>
                <a:spcPct val="100000"/>
              </a:lnSpc>
              <a:spcBef>
                <a:spcPts val="105"/>
              </a:spcBef>
              <a:buFont typeface="Times New Roman"/>
              <a:buChar char="•"/>
            </a:pPr>
            <a:endParaRPr sz="2000" dirty="0">
              <a:latin typeface="Times New Roman"/>
              <a:cs typeface="Times New Roman"/>
            </a:endParaRPr>
          </a:p>
          <a:p>
            <a:pPr marL="100330" indent="-96520">
              <a:lnSpc>
                <a:spcPct val="100000"/>
              </a:lnSpc>
              <a:buSzPct val="95000"/>
              <a:buFont typeface="Times New Roman"/>
              <a:buChar char="•"/>
              <a:tabLst>
                <a:tab pos="100330" algn="l"/>
                <a:tab pos="1179830" algn="l"/>
                <a:tab pos="3161665" algn="l"/>
                <a:tab pos="3423920" algn="l"/>
                <a:tab pos="3841750" algn="l"/>
                <a:tab pos="4750435" algn="l"/>
                <a:tab pos="5728970" algn="l"/>
                <a:tab pos="6281420" algn="l"/>
                <a:tab pos="6710680" algn="l"/>
                <a:tab pos="7814945" algn="l"/>
              </a:tabLst>
            </a:pPr>
            <a:r>
              <a:rPr sz="2000" b="1" spc="-10" dirty="0">
                <a:latin typeface="Times New Roman"/>
                <a:cs typeface="Times New Roman"/>
              </a:rPr>
              <a:t>Enhance</a:t>
            </a:r>
            <a:r>
              <a:rPr sz="2000" b="1" dirty="0">
                <a:latin typeface="Times New Roman"/>
                <a:cs typeface="Times New Roman"/>
              </a:rPr>
              <a:t>	</a:t>
            </a:r>
            <a:r>
              <a:rPr sz="2000" b="1" spc="-10" dirty="0">
                <a:latin typeface="Times New Roman"/>
                <a:cs typeface="Times New Roman"/>
              </a:rPr>
              <a:t>Decision-Making</a:t>
            </a:r>
            <a:r>
              <a:rPr sz="2000" b="1" dirty="0">
                <a:latin typeface="Times New Roman"/>
                <a:cs typeface="Times New Roman"/>
              </a:rPr>
              <a:t>	</a:t>
            </a:r>
            <a:r>
              <a:rPr sz="2000" spc="-50" dirty="0">
                <a:latin typeface="Times New Roman"/>
                <a:cs typeface="Times New Roman"/>
              </a:rPr>
              <a:t>–</a:t>
            </a:r>
            <a:r>
              <a:rPr sz="2000" dirty="0">
                <a:latin typeface="Times New Roman"/>
                <a:cs typeface="Times New Roman"/>
              </a:rPr>
              <a:t>	</a:t>
            </a:r>
            <a:r>
              <a:rPr sz="2000" spc="-25" dirty="0">
                <a:latin typeface="Times New Roman"/>
                <a:cs typeface="Times New Roman"/>
              </a:rPr>
              <a:t>To</a:t>
            </a:r>
            <a:r>
              <a:rPr sz="2000" dirty="0">
                <a:latin typeface="Times New Roman"/>
                <a:cs typeface="Times New Roman"/>
              </a:rPr>
              <a:t>	</a:t>
            </a:r>
            <a:r>
              <a:rPr sz="2000" spc="-10" dirty="0">
                <a:latin typeface="Times New Roman"/>
                <a:cs typeface="Times New Roman"/>
              </a:rPr>
              <a:t>provide</a:t>
            </a:r>
            <a:r>
              <a:rPr sz="2000" dirty="0">
                <a:latin typeface="Times New Roman"/>
                <a:cs typeface="Times New Roman"/>
              </a:rPr>
              <a:t>	</a:t>
            </a:r>
            <a:r>
              <a:rPr sz="2000" spc="-10" dirty="0">
                <a:latin typeface="Times New Roman"/>
                <a:cs typeface="Times New Roman"/>
              </a:rPr>
              <a:t>accurate</a:t>
            </a:r>
            <a:r>
              <a:rPr sz="2000" dirty="0">
                <a:latin typeface="Times New Roman"/>
                <a:cs typeface="Times New Roman"/>
              </a:rPr>
              <a:t>	</a:t>
            </a:r>
            <a:r>
              <a:rPr sz="2000" spc="-20" dirty="0">
                <a:latin typeface="Times New Roman"/>
                <a:cs typeface="Times New Roman"/>
              </a:rPr>
              <a:t>data</a:t>
            </a:r>
            <a:r>
              <a:rPr sz="2000" dirty="0">
                <a:latin typeface="Times New Roman"/>
                <a:cs typeface="Times New Roman"/>
              </a:rPr>
              <a:t>	</a:t>
            </a:r>
            <a:r>
              <a:rPr sz="2000" spc="-25" dirty="0">
                <a:latin typeface="Times New Roman"/>
                <a:cs typeface="Times New Roman"/>
              </a:rPr>
              <a:t>for</a:t>
            </a:r>
            <a:r>
              <a:rPr sz="2000" dirty="0">
                <a:latin typeface="Times New Roman"/>
                <a:cs typeface="Times New Roman"/>
              </a:rPr>
              <a:t>	</a:t>
            </a:r>
            <a:r>
              <a:rPr sz="2000" spc="-10" dirty="0">
                <a:latin typeface="Times New Roman"/>
                <a:cs typeface="Times New Roman"/>
              </a:rPr>
              <a:t>engineers</a:t>
            </a:r>
            <a:r>
              <a:rPr sz="2000" dirty="0">
                <a:latin typeface="Times New Roman"/>
                <a:cs typeface="Times New Roman"/>
              </a:rPr>
              <a:t>	</a:t>
            </a:r>
            <a:r>
              <a:rPr sz="2000" spc="-25" dirty="0">
                <a:latin typeface="Times New Roman"/>
                <a:cs typeface="Times New Roman"/>
              </a:rPr>
              <a:t>and</a:t>
            </a:r>
            <a:endParaRPr sz="2000" dirty="0">
              <a:latin typeface="Times New Roman"/>
              <a:cs typeface="Times New Roman"/>
            </a:endParaRPr>
          </a:p>
          <a:p>
            <a:pPr marL="12700">
              <a:lnSpc>
                <a:spcPct val="100000"/>
              </a:lnSpc>
            </a:pPr>
            <a:r>
              <a:rPr sz="2000" dirty="0">
                <a:latin typeface="Times New Roman"/>
                <a:cs typeface="Times New Roman"/>
              </a:rPr>
              <a:t>authorities</a:t>
            </a:r>
            <a:r>
              <a:rPr sz="2000" spc="-50" dirty="0">
                <a:latin typeface="Times New Roman"/>
                <a:cs typeface="Times New Roman"/>
              </a:rPr>
              <a:t> </a:t>
            </a:r>
            <a:r>
              <a:rPr sz="2000" dirty="0">
                <a:latin typeface="Times New Roman"/>
                <a:cs typeface="Times New Roman"/>
              </a:rPr>
              <a:t>to</a:t>
            </a:r>
            <a:r>
              <a:rPr sz="2000" spc="-35" dirty="0">
                <a:latin typeface="Times New Roman"/>
                <a:cs typeface="Times New Roman"/>
              </a:rPr>
              <a:t> </a:t>
            </a:r>
            <a:r>
              <a:rPr sz="2000" dirty="0">
                <a:latin typeface="Times New Roman"/>
                <a:cs typeface="Times New Roman"/>
              </a:rPr>
              <a:t>take</a:t>
            </a:r>
            <a:r>
              <a:rPr sz="2000" spc="-40" dirty="0">
                <a:latin typeface="Times New Roman"/>
                <a:cs typeface="Times New Roman"/>
              </a:rPr>
              <a:t> </a:t>
            </a:r>
            <a:r>
              <a:rPr sz="2000" dirty="0">
                <a:latin typeface="Times New Roman"/>
                <a:cs typeface="Times New Roman"/>
              </a:rPr>
              <a:t>preventive</a:t>
            </a:r>
            <a:r>
              <a:rPr sz="2000" spc="-15" dirty="0">
                <a:latin typeface="Times New Roman"/>
                <a:cs typeface="Times New Roman"/>
              </a:rPr>
              <a:t> </a:t>
            </a:r>
            <a:r>
              <a:rPr sz="2000" spc="-10" dirty="0">
                <a:latin typeface="Times New Roman"/>
                <a:cs typeface="Times New Roman"/>
              </a:rPr>
              <a:t>actions.</a:t>
            </a:r>
            <a:endParaRPr sz="2000" dirty="0">
              <a:latin typeface="Times New Roman"/>
              <a:cs typeface="Times New Roman"/>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25"/>
              </a:lnSpc>
            </a:pPr>
            <a:r>
              <a:rPr b="0" dirty="0">
                <a:latin typeface="Arial MT"/>
                <a:cs typeface="Arial MT"/>
              </a:rPr>
              <a:t>Dept.</a:t>
            </a:r>
            <a:r>
              <a:rPr b="0" spc="-25" dirty="0">
                <a:latin typeface="Arial MT"/>
                <a:cs typeface="Arial MT"/>
              </a:rPr>
              <a:t> </a:t>
            </a:r>
            <a:r>
              <a:rPr b="0" dirty="0">
                <a:latin typeface="Arial MT"/>
                <a:cs typeface="Arial MT"/>
              </a:rPr>
              <a:t>of</a:t>
            </a:r>
            <a:r>
              <a:rPr b="0" spc="-5" dirty="0">
                <a:latin typeface="Arial MT"/>
                <a:cs typeface="Arial MT"/>
              </a:rPr>
              <a:t> </a:t>
            </a:r>
            <a:r>
              <a:rPr b="0" dirty="0">
                <a:latin typeface="Arial MT"/>
                <a:cs typeface="Arial MT"/>
              </a:rPr>
              <a:t>ECE</a:t>
            </a:r>
            <a:r>
              <a:rPr b="0" spc="5" dirty="0">
                <a:latin typeface="Arial MT"/>
                <a:cs typeface="Arial MT"/>
              </a:rPr>
              <a:t> </a:t>
            </a:r>
            <a:r>
              <a:rPr b="0" dirty="0">
                <a:latin typeface="Arial MT"/>
                <a:cs typeface="Arial MT"/>
              </a:rPr>
              <a:t>2025-</a:t>
            </a:r>
            <a:r>
              <a:rPr b="0" spc="-25" dirty="0">
                <a:latin typeface="Arial MT"/>
                <a:cs typeface="Arial MT"/>
              </a:rPr>
              <a:t>26</a:t>
            </a: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104775">
              <a:lnSpc>
                <a:spcPts val="1425"/>
              </a:lnSpc>
            </a:pPr>
            <a:fld id="{81D60167-4931-47E6-BA6A-407CBD079E47}" type="slidenum">
              <a:rPr b="0" spc="-50" dirty="0">
                <a:latin typeface="Arial MT"/>
                <a:cs typeface="Arial MT"/>
              </a:rPr>
              <a:t>4</a:t>
            </a:fld>
            <a:endParaRPr b="0" spc="-50" dirty="0">
              <a:latin typeface="Arial MT"/>
              <a:cs typeface="Arial M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50644" y="275920"/>
            <a:ext cx="6000623" cy="960570"/>
          </a:xfrm>
          <a:prstGeom prst="rect">
            <a:avLst/>
          </a:prstGeom>
        </p:spPr>
        <p:txBody>
          <a:bodyPr vert="horz" wrap="square" lIns="0" tIns="448360" rIns="0" bIns="0" rtlCol="0">
            <a:spAutoFit/>
          </a:bodyPr>
          <a:lstStyle/>
          <a:p>
            <a:pPr marL="683260">
              <a:lnSpc>
                <a:spcPct val="100000"/>
              </a:lnSpc>
              <a:spcBef>
                <a:spcPts val="110"/>
              </a:spcBef>
            </a:pPr>
            <a:r>
              <a:rPr spc="-30" dirty="0">
                <a:latin typeface="Times New Roman" panose="02020603050405020304" pitchFamily="18" charset="0"/>
                <a:cs typeface="Times New Roman" panose="02020603050405020304" pitchFamily="18" charset="0"/>
              </a:rPr>
              <a:t>PROBLEM</a:t>
            </a:r>
            <a:r>
              <a:rPr spc="-150" dirty="0">
                <a:latin typeface="Times New Roman" panose="02020603050405020304" pitchFamily="18" charset="0"/>
                <a:cs typeface="Times New Roman" panose="02020603050405020304" pitchFamily="18" charset="0"/>
              </a:rPr>
              <a:t> </a:t>
            </a:r>
            <a:r>
              <a:rPr spc="-80" dirty="0">
                <a:latin typeface="Times New Roman" panose="02020603050405020304" pitchFamily="18" charset="0"/>
                <a:cs typeface="Times New Roman" panose="02020603050405020304" pitchFamily="18" charset="0"/>
              </a:rPr>
              <a:t>STATEMENT</a:t>
            </a:r>
          </a:p>
        </p:txBody>
      </p:sp>
      <p:sp>
        <p:nvSpPr>
          <p:cNvPr id="3" name="object 3"/>
          <p:cNvSpPr txBox="1"/>
          <p:nvPr/>
        </p:nvSpPr>
        <p:spPr>
          <a:xfrm>
            <a:off x="707542" y="1789556"/>
            <a:ext cx="7611109" cy="4812856"/>
          </a:xfrm>
          <a:prstGeom prst="rect">
            <a:avLst/>
          </a:prstGeom>
        </p:spPr>
        <p:txBody>
          <a:bodyPr vert="horz" wrap="square" lIns="0" tIns="11430" rIns="0" bIns="0" rtlCol="0">
            <a:spAutoFit/>
          </a:bodyPr>
          <a:lstStyle/>
          <a:p>
            <a:pPr marL="12700" algn="just">
              <a:lnSpc>
                <a:spcPts val="2160"/>
              </a:lnSpc>
              <a:spcBef>
                <a:spcPts val="90"/>
              </a:spcBef>
            </a:pPr>
            <a:r>
              <a:rPr sz="2000" b="1" dirty="0">
                <a:latin typeface="Times New Roman"/>
                <a:cs typeface="Times New Roman"/>
              </a:rPr>
              <a:t>Structural</a:t>
            </a:r>
            <a:r>
              <a:rPr sz="2000" b="1" spc="-55" dirty="0">
                <a:latin typeface="Times New Roman"/>
                <a:cs typeface="Times New Roman"/>
              </a:rPr>
              <a:t> </a:t>
            </a:r>
            <a:r>
              <a:rPr sz="2000" b="1" dirty="0">
                <a:latin typeface="Times New Roman"/>
                <a:cs typeface="Times New Roman"/>
              </a:rPr>
              <a:t>Integrity</a:t>
            </a:r>
            <a:r>
              <a:rPr sz="2000" b="1" spc="-55" dirty="0">
                <a:latin typeface="Times New Roman"/>
                <a:cs typeface="Times New Roman"/>
              </a:rPr>
              <a:t> </a:t>
            </a:r>
            <a:r>
              <a:rPr sz="2000" b="1" spc="-10" dirty="0">
                <a:latin typeface="Times New Roman"/>
                <a:cs typeface="Times New Roman"/>
              </a:rPr>
              <a:t>Concerns:</a:t>
            </a:r>
            <a:endParaRPr sz="2000" dirty="0">
              <a:latin typeface="Times New Roman"/>
              <a:cs typeface="Times New Roman"/>
            </a:endParaRPr>
          </a:p>
          <a:p>
            <a:pPr marL="12700" marR="183515" algn="just">
              <a:lnSpc>
                <a:spcPct val="80100"/>
              </a:lnSpc>
              <a:spcBef>
                <a:spcPts val="240"/>
              </a:spcBef>
            </a:pPr>
            <a:r>
              <a:rPr sz="2000" dirty="0">
                <a:latin typeface="Times New Roman"/>
                <a:cs typeface="Times New Roman"/>
              </a:rPr>
              <a:t>Dams</a:t>
            </a:r>
            <a:r>
              <a:rPr sz="2000" spc="-15" dirty="0">
                <a:latin typeface="Times New Roman"/>
                <a:cs typeface="Times New Roman"/>
              </a:rPr>
              <a:t> </a:t>
            </a:r>
            <a:r>
              <a:rPr sz="2000" dirty="0">
                <a:latin typeface="Times New Roman"/>
                <a:cs typeface="Times New Roman"/>
              </a:rPr>
              <a:t>are</a:t>
            </a:r>
            <a:r>
              <a:rPr sz="2000" spc="-40" dirty="0">
                <a:latin typeface="Times New Roman"/>
                <a:cs typeface="Times New Roman"/>
              </a:rPr>
              <a:t> </a:t>
            </a:r>
            <a:r>
              <a:rPr sz="2000" dirty="0">
                <a:latin typeface="Times New Roman"/>
                <a:cs typeface="Times New Roman"/>
              </a:rPr>
              <a:t>critical</a:t>
            </a:r>
            <a:r>
              <a:rPr sz="2000" spc="-65" dirty="0">
                <a:latin typeface="Times New Roman"/>
                <a:cs typeface="Times New Roman"/>
              </a:rPr>
              <a:t> </a:t>
            </a:r>
            <a:r>
              <a:rPr sz="2000" dirty="0">
                <a:latin typeface="Times New Roman"/>
                <a:cs typeface="Times New Roman"/>
              </a:rPr>
              <a:t>infrastructures</a:t>
            </a:r>
            <a:r>
              <a:rPr sz="2000" spc="-30" dirty="0">
                <a:latin typeface="Times New Roman"/>
                <a:cs typeface="Times New Roman"/>
              </a:rPr>
              <a:t> </a:t>
            </a:r>
            <a:r>
              <a:rPr sz="2000" dirty="0">
                <a:latin typeface="Times New Roman"/>
                <a:cs typeface="Times New Roman"/>
              </a:rPr>
              <a:t>whose</a:t>
            </a:r>
            <a:r>
              <a:rPr sz="2000" spc="20" dirty="0">
                <a:latin typeface="Times New Roman"/>
                <a:cs typeface="Times New Roman"/>
              </a:rPr>
              <a:t> </a:t>
            </a:r>
            <a:r>
              <a:rPr sz="2000" dirty="0">
                <a:latin typeface="Times New Roman"/>
                <a:cs typeface="Times New Roman"/>
              </a:rPr>
              <a:t>safety</a:t>
            </a:r>
            <a:r>
              <a:rPr sz="2000" spc="-35" dirty="0">
                <a:latin typeface="Times New Roman"/>
                <a:cs typeface="Times New Roman"/>
              </a:rPr>
              <a:t> </a:t>
            </a:r>
            <a:r>
              <a:rPr sz="2000" dirty="0">
                <a:latin typeface="Times New Roman"/>
                <a:cs typeface="Times New Roman"/>
              </a:rPr>
              <a:t>relies</a:t>
            </a:r>
            <a:r>
              <a:rPr sz="2000" spc="-50" dirty="0">
                <a:latin typeface="Times New Roman"/>
                <a:cs typeface="Times New Roman"/>
              </a:rPr>
              <a:t> </a:t>
            </a:r>
            <a:r>
              <a:rPr sz="2000" dirty="0">
                <a:latin typeface="Times New Roman"/>
                <a:cs typeface="Times New Roman"/>
              </a:rPr>
              <a:t>on</a:t>
            </a:r>
            <a:r>
              <a:rPr sz="2000" spc="-55" dirty="0">
                <a:latin typeface="Times New Roman"/>
                <a:cs typeface="Times New Roman"/>
              </a:rPr>
              <a:t> </a:t>
            </a:r>
            <a:r>
              <a:rPr sz="2000" dirty="0">
                <a:latin typeface="Times New Roman"/>
                <a:cs typeface="Times New Roman"/>
              </a:rPr>
              <a:t>their</a:t>
            </a:r>
            <a:r>
              <a:rPr sz="2000" spc="-40" dirty="0">
                <a:latin typeface="Times New Roman"/>
                <a:cs typeface="Times New Roman"/>
              </a:rPr>
              <a:t> </a:t>
            </a:r>
            <a:r>
              <a:rPr sz="2000" spc="-10" dirty="0">
                <a:latin typeface="Times New Roman"/>
                <a:cs typeface="Times New Roman"/>
              </a:rPr>
              <a:t>structural </a:t>
            </a:r>
            <a:r>
              <a:rPr sz="2000" dirty="0">
                <a:latin typeface="Times New Roman"/>
                <a:cs typeface="Times New Roman"/>
              </a:rPr>
              <a:t>soundness.</a:t>
            </a:r>
            <a:r>
              <a:rPr sz="2000" spc="-10" dirty="0">
                <a:latin typeface="Times New Roman"/>
                <a:cs typeface="Times New Roman"/>
              </a:rPr>
              <a:t> </a:t>
            </a:r>
            <a:r>
              <a:rPr sz="2000" dirty="0">
                <a:latin typeface="Times New Roman"/>
                <a:cs typeface="Times New Roman"/>
              </a:rPr>
              <a:t>Small</a:t>
            </a:r>
            <a:r>
              <a:rPr sz="2000" spc="-35" dirty="0">
                <a:latin typeface="Times New Roman"/>
                <a:cs typeface="Times New Roman"/>
              </a:rPr>
              <a:t> </a:t>
            </a:r>
            <a:r>
              <a:rPr sz="2000" dirty="0">
                <a:latin typeface="Times New Roman"/>
                <a:cs typeface="Times New Roman"/>
              </a:rPr>
              <a:t>cracks</a:t>
            </a:r>
            <a:r>
              <a:rPr sz="2000" spc="-40" dirty="0">
                <a:latin typeface="Times New Roman"/>
                <a:cs typeface="Times New Roman"/>
              </a:rPr>
              <a:t> </a:t>
            </a:r>
            <a:r>
              <a:rPr sz="2000" dirty="0">
                <a:latin typeface="Times New Roman"/>
                <a:cs typeface="Times New Roman"/>
              </a:rPr>
              <a:t>or</a:t>
            </a:r>
            <a:r>
              <a:rPr sz="2000" spc="-65" dirty="0">
                <a:latin typeface="Times New Roman"/>
                <a:cs typeface="Times New Roman"/>
              </a:rPr>
              <a:t> </a:t>
            </a:r>
            <a:r>
              <a:rPr sz="2000" dirty="0">
                <a:latin typeface="Times New Roman"/>
                <a:cs typeface="Times New Roman"/>
              </a:rPr>
              <a:t>fissures,</a:t>
            </a:r>
            <a:r>
              <a:rPr sz="2000" spc="-30" dirty="0">
                <a:latin typeface="Times New Roman"/>
                <a:cs typeface="Times New Roman"/>
              </a:rPr>
              <a:t> </a:t>
            </a:r>
            <a:r>
              <a:rPr sz="2000" dirty="0">
                <a:latin typeface="Times New Roman"/>
                <a:cs typeface="Times New Roman"/>
              </a:rPr>
              <a:t>if</a:t>
            </a:r>
            <a:r>
              <a:rPr sz="2000" spc="-45" dirty="0">
                <a:latin typeface="Times New Roman"/>
                <a:cs typeface="Times New Roman"/>
              </a:rPr>
              <a:t> </a:t>
            </a:r>
            <a:r>
              <a:rPr sz="2000" dirty="0">
                <a:latin typeface="Times New Roman"/>
                <a:cs typeface="Times New Roman"/>
              </a:rPr>
              <a:t>undetected,</a:t>
            </a:r>
            <a:r>
              <a:rPr sz="2000" spc="-50" dirty="0">
                <a:latin typeface="Times New Roman"/>
                <a:cs typeface="Times New Roman"/>
              </a:rPr>
              <a:t> </a:t>
            </a:r>
            <a:r>
              <a:rPr sz="2000" dirty="0">
                <a:latin typeface="Times New Roman"/>
                <a:cs typeface="Times New Roman"/>
              </a:rPr>
              <a:t>can</a:t>
            </a:r>
            <a:r>
              <a:rPr sz="2000" spc="-60" dirty="0">
                <a:latin typeface="Times New Roman"/>
                <a:cs typeface="Times New Roman"/>
              </a:rPr>
              <a:t> </a:t>
            </a:r>
            <a:r>
              <a:rPr sz="2000" dirty="0">
                <a:latin typeface="Times New Roman"/>
                <a:cs typeface="Times New Roman"/>
              </a:rPr>
              <a:t>evolve</a:t>
            </a:r>
            <a:r>
              <a:rPr sz="2000" spc="-30" dirty="0">
                <a:latin typeface="Times New Roman"/>
                <a:cs typeface="Times New Roman"/>
              </a:rPr>
              <a:t> </a:t>
            </a:r>
            <a:r>
              <a:rPr sz="2000" dirty="0">
                <a:latin typeface="Times New Roman"/>
                <a:cs typeface="Times New Roman"/>
              </a:rPr>
              <a:t>into</a:t>
            </a:r>
            <a:r>
              <a:rPr sz="2000" spc="-50" dirty="0">
                <a:latin typeface="Times New Roman"/>
                <a:cs typeface="Times New Roman"/>
              </a:rPr>
              <a:t> </a:t>
            </a:r>
            <a:r>
              <a:rPr sz="2000" spc="-10" dirty="0">
                <a:latin typeface="Times New Roman"/>
                <a:cs typeface="Times New Roman"/>
              </a:rPr>
              <a:t>severe </a:t>
            </a:r>
            <a:r>
              <a:rPr sz="2000" dirty="0">
                <a:latin typeface="Times New Roman"/>
                <a:cs typeface="Times New Roman"/>
              </a:rPr>
              <a:t>structural</a:t>
            </a:r>
            <a:r>
              <a:rPr sz="2000" spc="-65" dirty="0">
                <a:latin typeface="Times New Roman"/>
                <a:cs typeface="Times New Roman"/>
              </a:rPr>
              <a:t> </a:t>
            </a:r>
            <a:r>
              <a:rPr sz="2000" spc="-10" dirty="0">
                <a:latin typeface="Times New Roman"/>
                <a:cs typeface="Times New Roman"/>
              </a:rPr>
              <a:t>failures.</a:t>
            </a:r>
            <a:endParaRPr lang="en-US" sz="2000" spc="-10" dirty="0">
              <a:latin typeface="Times New Roman"/>
              <a:cs typeface="Times New Roman"/>
            </a:endParaRPr>
          </a:p>
          <a:p>
            <a:pPr marL="12700" marR="183515" algn="just">
              <a:lnSpc>
                <a:spcPct val="80100"/>
              </a:lnSpc>
              <a:spcBef>
                <a:spcPts val="240"/>
              </a:spcBef>
            </a:pPr>
            <a:endParaRPr sz="2000" dirty="0">
              <a:latin typeface="Times New Roman"/>
              <a:cs typeface="Times New Roman"/>
            </a:endParaRPr>
          </a:p>
          <a:p>
            <a:pPr marL="12700" algn="just">
              <a:lnSpc>
                <a:spcPts val="1680"/>
              </a:lnSpc>
              <a:tabLst>
                <a:tab pos="1014730" algn="l"/>
              </a:tabLst>
            </a:pPr>
            <a:r>
              <a:rPr sz="2000" b="1" spc="-10" dirty="0">
                <a:latin typeface="Times New Roman"/>
                <a:cs typeface="Times New Roman"/>
              </a:rPr>
              <a:t>Delayed</a:t>
            </a:r>
            <a:r>
              <a:rPr sz="2000" b="1" dirty="0">
                <a:latin typeface="Times New Roman"/>
                <a:cs typeface="Times New Roman"/>
              </a:rPr>
              <a:t>	Detection</a:t>
            </a:r>
            <a:r>
              <a:rPr sz="2000" b="1" spc="-50" dirty="0">
                <a:latin typeface="Times New Roman"/>
                <a:cs typeface="Times New Roman"/>
              </a:rPr>
              <a:t> </a:t>
            </a:r>
            <a:r>
              <a:rPr sz="2000" b="1" dirty="0">
                <a:latin typeface="Times New Roman"/>
                <a:cs typeface="Times New Roman"/>
              </a:rPr>
              <a:t>of</a:t>
            </a:r>
            <a:r>
              <a:rPr sz="2000" b="1" spc="-40" dirty="0">
                <a:latin typeface="Times New Roman"/>
                <a:cs typeface="Times New Roman"/>
              </a:rPr>
              <a:t> </a:t>
            </a:r>
            <a:r>
              <a:rPr sz="2000" b="1" spc="-10" dirty="0">
                <a:latin typeface="Times New Roman"/>
                <a:cs typeface="Times New Roman"/>
              </a:rPr>
              <a:t>Cracks:</a:t>
            </a:r>
            <a:endParaRPr sz="2000" dirty="0">
              <a:latin typeface="Times New Roman"/>
              <a:cs typeface="Times New Roman"/>
            </a:endParaRPr>
          </a:p>
          <a:p>
            <a:pPr marL="12700" marR="199390" algn="just">
              <a:lnSpc>
                <a:spcPct val="80000"/>
              </a:lnSpc>
              <a:spcBef>
                <a:spcPts val="240"/>
              </a:spcBef>
            </a:pPr>
            <a:r>
              <a:rPr sz="2000" spc="-10" dirty="0">
                <a:latin typeface="Times New Roman"/>
                <a:cs typeface="Times New Roman"/>
              </a:rPr>
              <a:t>Traditional</a:t>
            </a:r>
            <a:r>
              <a:rPr sz="2000" spc="-80" dirty="0">
                <a:latin typeface="Times New Roman"/>
                <a:cs typeface="Times New Roman"/>
              </a:rPr>
              <a:t> </a:t>
            </a:r>
            <a:r>
              <a:rPr sz="2000" dirty="0">
                <a:latin typeface="Times New Roman"/>
                <a:cs typeface="Times New Roman"/>
              </a:rPr>
              <a:t>inspection</a:t>
            </a:r>
            <a:r>
              <a:rPr sz="2000" spc="-30" dirty="0">
                <a:latin typeface="Times New Roman"/>
                <a:cs typeface="Times New Roman"/>
              </a:rPr>
              <a:t> </a:t>
            </a:r>
            <a:r>
              <a:rPr sz="2000" dirty="0">
                <a:latin typeface="Times New Roman"/>
                <a:cs typeface="Times New Roman"/>
              </a:rPr>
              <a:t>methods</a:t>
            </a:r>
            <a:r>
              <a:rPr sz="2000" spc="-25" dirty="0">
                <a:latin typeface="Times New Roman"/>
                <a:cs typeface="Times New Roman"/>
              </a:rPr>
              <a:t> </a:t>
            </a:r>
            <a:r>
              <a:rPr sz="2000" dirty="0">
                <a:latin typeface="Times New Roman"/>
                <a:cs typeface="Times New Roman"/>
              </a:rPr>
              <a:t>often</a:t>
            </a:r>
            <a:r>
              <a:rPr sz="2000" spc="-20" dirty="0">
                <a:latin typeface="Times New Roman"/>
                <a:cs typeface="Times New Roman"/>
              </a:rPr>
              <a:t> </a:t>
            </a:r>
            <a:r>
              <a:rPr sz="2000" dirty="0">
                <a:latin typeface="Times New Roman"/>
                <a:cs typeface="Times New Roman"/>
              </a:rPr>
              <a:t>miss</a:t>
            </a:r>
            <a:r>
              <a:rPr sz="2000" spc="-5" dirty="0">
                <a:latin typeface="Times New Roman"/>
                <a:cs typeface="Times New Roman"/>
              </a:rPr>
              <a:t> </a:t>
            </a:r>
            <a:r>
              <a:rPr sz="2000" spc="-10" dirty="0">
                <a:latin typeface="Times New Roman"/>
                <a:cs typeface="Times New Roman"/>
              </a:rPr>
              <a:t>early-</a:t>
            </a:r>
            <a:r>
              <a:rPr sz="2000" dirty="0">
                <a:latin typeface="Times New Roman"/>
                <a:cs typeface="Times New Roman"/>
              </a:rPr>
              <a:t>stage</a:t>
            </a:r>
            <a:r>
              <a:rPr sz="2000" spc="10" dirty="0">
                <a:latin typeface="Times New Roman"/>
                <a:cs typeface="Times New Roman"/>
              </a:rPr>
              <a:t> </a:t>
            </a:r>
            <a:r>
              <a:rPr sz="2000" spc="-20" dirty="0">
                <a:latin typeface="Times New Roman"/>
                <a:cs typeface="Times New Roman"/>
              </a:rPr>
              <a:t>micro-</a:t>
            </a:r>
            <a:r>
              <a:rPr sz="2000" dirty="0">
                <a:latin typeface="Times New Roman"/>
                <a:cs typeface="Times New Roman"/>
              </a:rPr>
              <a:t>cracks.</a:t>
            </a:r>
            <a:r>
              <a:rPr sz="2000" spc="-30" dirty="0">
                <a:latin typeface="Times New Roman"/>
                <a:cs typeface="Times New Roman"/>
              </a:rPr>
              <a:t> </a:t>
            </a:r>
            <a:r>
              <a:rPr sz="2000" spc="-20" dirty="0">
                <a:latin typeface="Times New Roman"/>
                <a:cs typeface="Times New Roman"/>
              </a:rPr>
              <a:t>This </a:t>
            </a:r>
            <a:r>
              <a:rPr sz="2000" dirty="0">
                <a:latin typeface="Times New Roman"/>
                <a:cs typeface="Times New Roman"/>
              </a:rPr>
              <a:t>delay</a:t>
            </a:r>
            <a:r>
              <a:rPr sz="2000" spc="-45" dirty="0">
                <a:latin typeface="Times New Roman"/>
                <a:cs typeface="Times New Roman"/>
              </a:rPr>
              <a:t> </a:t>
            </a:r>
            <a:r>
              <a:rPr sz="2000" dirty="0">
                <a:latin typeface="Times New Roman"/>
                <a:cs typeface="Times New Roman"/>
              </a:rPr>
              <a:t>in</a:t>
            </a:r>
            <a:r>
              <a:rPr sz="2000" spc="-55" dirty="0">
                <a:latin typeface="Times New Roman"/>
                <a:cs typeface="Times New Roman"/>
              </a:rPr>
              <a:t> </a:t>
            </a:r>
            <a:r>
              <a:rPr sz="2000" dirty="0">
                <a:latin typeface="Times New Roman"/>
                <a:cs typeface="Times New Roman"/>
              </a:rPr>
              <a:t>detection</a:t>
            </a:r>
            <a:r>
              <a:rPr sz="2000" spc="-45" dirty="0">
                <a:latin typeface="Times New Roman"/>
                <a:cs typeface="Times New Roman"/>
              </a:rPr>
              <a:t> </a:t>
            </a:r>
            <a:r>
              <a:rPr sz="2000" dirty="0">
                <a:latin typeface="Times New Roman"/>
                <a:cs typeface="Times New Roman"/>
              </a:rPr>
              <a:t>can</a:t>
            </a:r>
            <a:r>
              <a:rPr sz="2000" spc="-50" dirty="0">
                <a:latin typeface="Times New Roman"/>
                <a:cs typeface="Times New Roman"/>
              </a:rPr>
              <a:t> </a:t>
            </a:r>
            <a:r>
              <a:rPr sz="2000" dirty="0">
                <a:latin typeface="Times New Roman"/>
                <a:cs typeface="Times New Roman"/>
              </a:rPr>
              <a:t>lead</a:t>
            </a:r>
            <a:r>
              <a:rPr sz="2000" spc="-25" dirty="0">
                <a:latin typeface="Times New Roman"/>
                <a:cs typeface="Times New Roman"/>
              </a:rPr>
              <a:t> </a:t>
            </a:r>
            <a:r>
              <a:rPr sz="2000" dirty="0">
                <a:latin typeface="Times New Roman"/>
                <a:cs typeface="Times New Roman"/>
              </a:rPr>
              <a:t>to</a:t>
            </a:r>
            <a:r>
              <a:rPr sz="2000" spc="-50" dirty="0">
                <a:latin typeface="Times New Roman"/>
                <a:cs typeface="Times New Roman"/>
              </a:rPr>
              <a:t> </a:t>
            </a:r>
            <a:r>
              <a:rPr sz="2000" dirty="0">
                <a:latin typeface="Times New Roman"/>
                <a:cs typeface="Times New Roman"/>
              </a:rPr>
              <a:t>a</a:t>
            </a:r>
            <a:r>
              <a:rPr sz="2000" spc="-35" dirty="0">
                <a:latin typeface="Times New Roman"/>
                <a:cs typeface="Times New Roman"/>
              </a:rPr>
              <a:t> </a:t>
            </a:r>
            <a:r>
              <a:rPr sz="2000" dirty="0">
                <a:latin typeface="Times New Roman"/>
                <a:cs typeface="Times New Roman"/>
              </a:rPr>
              <a:t>lack</a:t>
            </a:r>
            <a:r>
              <a:rPr sz="2000" spc="-40" dirty="0">
                <a:latin typeface="Times New Roman"/>
                <a:cs typeface="Times New Roman"/>
              </a:rPr>
              <a:t> </a:t>
            </a:r>
            <a:r>
              <a:rPr sz="2000" dirty="0">
                <a:latin typeface="Times New Roman"/>
                <a:cs typeface="Times New Roman"/>
              </a:rPr>
              <a:t>of</a:t>
            </a:r>
            <a:r>
              <a:rPr sz="2000" spc="-30" dirty="0">
                <a:latin typeface="Times New Roman"/>
                <a:cs typeface="Times New Roman"/>
              </a:rPr>
              <a:t> </a:t>
            </a:r>
            <a:r>
              <a:rPr sz="2000" dirty="0">
                <a:latin typeface="Times New Roman"/>
                <a:cs typeface="Times New Roman"/>
              </a:rPr>
              <a:t>timely</a:t>
            </a:r>
            <a:r>
              <a:rPr sz="2000" spc="-25" dirty="0">
                <a:latin typeface="Times New Roman"/>
                <a:cs typeface="Times New Roman"/>
              </a:rPr>
              <a:t> </a:t>
            </a:r>
            <a:r>
              <a:rPr sz="2000" dirty="0">
                <a:latin typeface="Times New Roman"/>
                <a:cs typeface="Times New Roman"/>
              </a:rPr>
              <a:t>maintenance</a:t>
            </a:r>
            <a:r>
              <a:rPr sz="2000" spc="30" dirty="0">
                <a:latin typeface="Times New Roman"/>
                <a:cs typeface="Times New Roman"/>
              </a:rPr>
              <a:t> </a:t>
            </a:r>
            <a:r>
              <a:rPr sz="2000" dirty="0">
                <a:latin typeface="Times New Roman"/>
                <a:cs typeface="Times New Roman"/>
              </a:rPr>
              <a:t>and</a:t>
            </a:r>
            <a:r>
              <a:rPr sz="2000" spc="-5" dirty="0">
                <a:latin typeface="Times New Roman"/>
                <a:cs typeface="Times New Roman"/>
              </a:rPr>
              <a:t> </a:t>
            </a:r>
            <a:r>
              <a:rPr sz="2000" spc="-10" dirty="0">
                <a:latin typeface="Times New Roman"/>
                <a:cs typeface="Times New Roman"/>
              </a:rPr>
              <a:t>eventual </a:t>
            </a:r>
            <a:r>
              <a:rPr sz="2000" dirty="0">
                <a:latin typeface="Times New Roman"/>
                <a:cs typeface="Times New Roman"/>
              </a:rPr>
              <a:t>catastrophic</a:t>
            </a:r>
            <a:r>
              <a:rPr sz="2000" spc="-40" dirty="0">
                <a:latin typeface="Times New Roman"/>
                <a:cs typeface="Times New Roman"/>
              </a:rPr>
              <a:t> </a:t>
            </a:r>
            <a:r>
              <a:rPr sz="2000" spc="-10" dirty="0">
                <a:latin typeface="Times New Roman"/>
                <a:cs typeface="Times New Roman"/>
              </a:rPr>
              <a:t>outcomes.</a:t>
            </a:r>
            <a:endParaRPr lang="en-US" sz="2000" spc="-10" dirty="0">
              <a:latin typeface="Times New Roman"/>
              <a:cs typeface="Times New Roman"/>
            </a:endParaRPr>
          </a:p>
          <a:p>
            <a:pPr marL="12700" marR="199390" algn="just">
              <a:lnSpc>
                <a:spcPct val="80000"/>
              </a:lnSpc>
              <a:spcBef>
                <a:spcPts val="240"/>
              </a:spcBef>
            </a:pPr>
            <a:endParaRPr sz="2000" dirty="0">
              <a:latin typeface="Times New Roman"/>
              <a:cs typeface="Times New Roman"/>
            </a:endParaRPr>
          </a:p>
          <a:p>
            <a:pPr marL="12700" algn="just">
              <a:lnSpc>
                <a:spcPts val="1680"/>
              </a:lnSpc>
            </a:pPr>
            <a:r>
              <a:rPr sz="2000" b="1" dirty="0">
                <a:latin typeface="Times New Roman"/>
                <a:cs typeface="Times New Roman"/>
              </a:rPr>
              <a:t>Integration</a:t>
            </a:r>
            <a:r>
              <a:rPr sz="2000" b="1" spc="-85" dirty="0">
                <a:latin typeface="Times New Roman"/>
                <a:cs typeface="Times New Roman"/>
              </a:rPr>
              <a:t> </a:t>
            </a:r>
            <a:r>
              <a:rPr sz="2000" b="1" spc="-20" dirty="0">
                <a:latin typeface="Times New Roman"/>
                <a:cs typeface="Times New Roman"/>
              </a:rPr>
              <a:t>Gap:</a:t>
            </a:r>
            <a:endParaRPr sz="2000" dirty="0">
              <a:latin typeface="Times New Roman"/>
              <a:cs typeface="Times New Roman"/>
            </a:endParaRPr>
          </a:p>
          <a:p>
            <a:pPr marL="12700" marR="61594" algn="just">
              <a:lnSpc>
                <a:spcPct val="80100"/>
              </a:lnSpc>
              <a:spcBef>
                <a:spcPts val="235"/>
              </a:spcBef>
            </a:pPr>
            <a:r>
              <a:rPr sz="2000" dirty="0">
                <a:latin typeface="Times New Roman"/>
                <a:cs typeface="Times New Roman"/>
              </a:rPr>
              <a:t>There</a:t>
            </a:r>
            <a:r>
              <a:rPr sz="2000" spc="-85" dirty="0">
                <a:latin typeface="Times New Roman"/>
                <a:cs typeface="Times New Roman"/>
              </a:rPr>
              <a:t> </a:t>
            </a:r>
            <a:r>
              <a:rPr sz="2000" dirty="0">
                <a:latin typeface="Times New Roman"/>
                <a:cs typeface="Times New Roman"/>
              </a:rPr>
              <a:t>exists</a:t>
            </a:r>
            <a:r>
              <a:rPr sz="2000" spc="-45" dirty="0">
                <a:latin typeface="Times New Roman"/>
                <a:cs typeface="Times New Roman"/>
              </a:rPr>
              <a:t> </a:t>
            </a:r>
            <a:r>
              <a:rPr sz="2000" dirty="0">
                <a:latin typeface="Times New Roman"/>
                <a:cs typeface="Times New Roman"/>
              </a:rPr>
              <a:t>a</a:t>
            </a:r>
            <a:r>
              <a:rPr sz="2000" spc="-60" dirty="0">
                <a:latin typeface="Times New Roman"/>
                <a:cs typeface="Times New Roman"/>
              </a:rPr>
              <a:t> </a:t>
            </a:r>
            <a:r>
              <a:rPr sz="2000" dirty="0">
                <a:latin typeface="Times New Roman"/>
                <a:cs typeface="Times New Roman"/>
              </a:rPr>
              <a:t>challenge</a:t>
            </a:r>
            <a:r>
              <a:rPr sz="2000" spc="-40" dirty="0">
                <a:latin typeface="Times New Roman"/>
                <a:cs typeface="Times New Roman"/>
              </a:rPr>
              <a:t> </a:t>
            </a:r>
            <a:r>
              <a:rPr sz="2000" dirty="0">
                <a:latin typeface="Times New Roman"/>
                <a:cs typeface="Times New Roman"/>
              </a:rPr>
              <a:t>in</a:t>
            </a:r>
            <a:r>
              <a:rPr sz="2000" spc="-55" dirty="0">
                <a:latin typeface="Times New Roman"/>
                <a:cs typeface="Times New Roman"/>
              </a:rPr>
              <a:t> </a:t>
            </a:r>
            <a:r>
              <a:rPr sz="2000" dirty="0">
                <a:latin typeface="Times New Roman"/>
                <a:cs typeface="Times New Roman"/>
              </a:rPr>
              <a:t>combining</a:t>
            </a:r>
            <a:r>
              <a:rPr sz="2000" spc="-30" dirty="0">
                <a:latin typeface="Times New Roman"/>
                <a:cs typeface="Times New Roman"/>
              </a:rPr>
              <a:t> </a:t>
            </a:r>
            <a:r>
              <a:rPr sz="2000" dirty="0">
                <a:latin typeface="Times New Roman"/>
                <a:cs typeface="Times New Roman"/>
              </a:rPr>
              <a:t>two</a:t>
            </a:r>
            <a:r>
              <a:rPr sz="2000" spc="-15" dirty="0">
                <a:latin typeface="Times New Roman"/>
                <a:cs typeface="Times New Roman"/>
              </a:rPr>
              <a:t> </a:t>
            </a:r>
            <a:r>
              <a:rPr sz="2000" dirty="0">
                <a:latin typeface="Times New Roman"/>
                <a:cs typeface="Times New Roman"/>
              </a:rPr>
              <a:t>essential</a:t>
            </a:r>
            <a:r>
              <a:rPr sz="2000" spc="-45" dirty="0">
                <a:latin typeface="Times New Roman"/>
                <a:cs typeface="Times New Roman"/>
              </a:rPr>
              <a:t> </a:t>
            </a:r>
            <a:r>
              <a:rPr sz="2000" dirty="0">
                <a:latin typeface="Times New Roman"/>
                <a:cs typeface="Times New Roman"/>
              </a:rPr>
              <a:t>monitoring</a:t>
            </a:r>
            <a:r>
              <a:rPr sz="2000" spc="-35" dirty="0">
                <a:latin typeface="Times New Roman"/>
                <a:cs typeface="Times New Roman"/>
              </a:rPr>
              <a:t> </a:t>
            </a:r>
            <a:r>
              <a:rPr sz="2000" spc="-10" dirty="0">
                <a:latin typeface="Times New Roman"/>
                <a:cs typeface="Times New Roman"/>
              </a:rPr>
              <a:t>systems— </a:t>
            </a:r>
            <a:r>
              <a:rPr sz="2000" dirty="0">
                <a:latin typeface="Times New Roman"/>
                <a:cs typeface="Times New Roman"/>
              </a:rPr>
              <a:t>crack</a:t>
            </a:r>
            <a:r>
              <a:rPr sz="2000" spc="-35" dirty="0">
                <a:latin typeface="Times New Roman"/>
                <a:cs typeface="Times New Roman"/>
              </a:rPr>
              <a:t> </a:t>
            </a:r>
            <a:r>
              <a:rPr sz="2000" dirty="0">
                <a:latin typeface="Times New Roman"/>
                <a:cs typeface="Times New Roman"/>
              </a:rPr>
              <a:t>detection</a:t>
            </a:r>
            <a:r>
              <a:rPr sz="2000" spc="-40" dirty="0">
                <a:latin typeface="Times New Roman"/>
                <a:cs typeface="Times New Roman"/>
              </a:rPr>
              <a:t> </a:t>
            </a:r>
            <a:r>
              <a:rPr sz="2000" dirty="0">
                <a:latin typeface="Times New Roman"/>
                <a:cs typeface="Times New Roman"/>
              </a:rPr>
              <a:t>and</a:t>
            </a:r>
            <a:r>
              <a:rPr sz="2000" spc="-15" dirty="0">
                <a:latin typeface="Times New Roman"/>
                <a:cs typeface="Times New Roman"/>
              </a:rPr>
              <a:t> </a:t>
            </a:r>
            <a:r>
              <a:rPr sz="2000" dirty="0">
                <a:latin typeface="Times New Roman"/>
                <a:cs typeface="Times New Roman"/>
              </a:rPr>
              <a:t>water</a:t>
            </a:r>
            <a:r>
              <a:rPr sz="2000" spc="5" dirty="0">
                <a:latin typeface="Times New Roman"/>
                <a:cs typeface="Times New Roman"/>
              </a:rPr>
              <a:t> </a:t>
            </a:r>
            <a:r>
              <a:rPr sz="2000" dirty="0">
                <a:latin typeface="Times New Roman"/>
                <a:cs typeface="Times New Roman"/>
              </a:rPr>
              <a:t>level</a:t>
            </a:r>
            <a:r>
              <a:rPr sz="2000" spc="5" dirty="0">
                <a:latin typeface="Times New Roman"/>
                <a:cs typeface="Times New Roman"/>
              </a:rPr>
              <a:t> </a:t>
            </a:r>
            <a:r>
              <a:rPr sz="2000" spc="-10" dirty="0">
                <a:latin typeface="Times New Roman"/>
                <a:cs typeface="Times New Roman"/>
              </a:rPr>
              <a:t>indication—</a:t>
            </a:r>
            <a:r>
              <a:rPr sz="2000" dirty="0">
                <a:latin typeface="Times New Roman"/>
                <a:cs typeface="Times New Roman"/>
              </a:rPr>
              <a:t>into</a:t>
            </a:r>
            <a:r>
              <a:rPr sz="2000" spc="-15" dirty="0">
                <a:latin typeface="Times New Roman"/>
                <a:cs typeface="Times New Roman"/>
              </a:rPr>
              <a:t> </a:t>
            </a:r>
            <a:r>
              <a:rPr sz="2000" dirty="0">
                <a:latin typeface="Times New Roman"/>
                <a:cs typeface="Times New Roman"/>
              </a:rPr>
              <a:t>a</a:t>
            </a:r>
            <a:r>
              <a:rPr sz="2000" spc="-20" dirty="0">
                <a:latin typeface="Times New Roman"/>
                <a:cs typeface="Times New Roman"/>
              </a:rPr>
              <a:t> </a:t>
            </a:r>
            <a:r>
              <a:rPr sz="2000" dirty="0">
                <a:latin typeface="Times New Roman"/>
                <a:cs typeface="Times New Roman"/>
              </a:rPr>
              <a:t>single,</a:t>
            </a:r>
            <a:r>
              <a:rPr sz="2000" spc="10" dirty="0">
                <a:latin typeface="Times New Roman"/>
                <a:cs typeface="Times New Roman"/>
              </a:rPr>
              <a:t> </a:t>
            </a:r>
            <a:r>
              <a:rPr sz="2000" spc="-10" dirty="0">
                <a:latin typeface="Times New Roman"/>
                <a:cs typeface="Times New Roman"/>
              </a:rPr>
              <a:t>real-</a:t>
            </a:r>
            <a:r>
              <a:rPr sz="2000" dirty="0">
                <a:latin typeface="Times New Roman"/>
                <a:cs typeface="Times New Roman"/>
              </a:rPr>
              <a:t>time,</a:t>
            </a:r>
            <a:r>
              <a:rPr sz="2000" spc="10" dirty="0">
                <a:latin typeface="Times New Roman"/>
                <a:cs typeface="Times New Roman"/>
              </a:rPr>
              <a:t> </a:t>
            </a:r>
            <a:r>
              <a:rPr sz="2000" spc="-25" dirty="0">
                <a:latin typeface="Times New Roman"/>
                <a:cs typeface="Times New Roman"/>
              </a:rPr>
              <a:t>and </a:t>
            </a:r>
            <a:r>
              <a:rPr sz="2000" dirty="0">
                <a:latin typeface="Times New Roman"/>
                <a:cs typeface="Times New Roman"/>
              </a:rPr>
              <a:t>reliable</a:t>
            </a:r>
            <a:r>
              <a:rPr sz="2000" spc="-45" dirty="0">
                <a:latin typeface="Times New Roman"/>
                <a:cs typeface="Times New Roman"/>
              </a:rPr>
              <a:t> </a:t>
            </a:r>
            <a:r>
              <a:rPr sz="2000" spc="-10" dirty="0">
                <a:latin typeface="Times New Roman"/>
                <a:cs typeface="Times New Roman"/>
              </a:rPr>
              <a:t>solution.</a:t>
            </a:r>
            <a:endParaRPr lang="en-US" sz="2000" spc="-10" dirty="0">
              <a:latin typeface="Times New Roman"/>
              <a:cs typeface="Times New Roman"/>
            </a:endParaRPr>
          </a:p>
          <a:p>
            <a:pPr marL="12700" marR="61594" algn="just">
              <a:lnSpc>
                <a:spcPct val="80100"/>
              </a:lnSpc>
              <a:spcBef>
                <a:spcPts val="235"/>
              </a:spcBef>
            </a:pPr>
            <a:endParaRPr sz="2000" dirty="0">
              <a:latin typeface="Times New Roman"/>
              <a:cs typeface="Times New Roman"/>
            </a:endParaRPr>
          </a:p>
          <a:p>
            <a:pPr marL="12700" algn="just">
              <a:lnSpc>
                <a:spcPts val="1680"/>
              </a:lnSpc>
            </a:pPr>
            <a:r>
              <a:rPr sz="2000" b="1" spc="-10" dirty="0">
                <a:latin typeface="Times New Roman"/>
                <a:cs typeface="Times New Roman"/>
              </a:rPr>
              <a:t>Data</a:t>
            </a:r>
            <a:r>
              <a:rPr sz="2000" b="1" spc="-114" dirty="0">
                <a:latin typeface="Times New Roman"/>
                <a:cs typeface="Times New Roman"/>
              </a:rPr>
              <a:t> </a:t>
            </a:r>
            <a:r>
              <a:rPr sz="2000" b="1" dirty="0">
                <a:latin typeface="Times New Roman"/>
                <a:cs typeface="Times New Roman"/>
              </a:rPr>
              <a:t>Analysis</a:t>
            </a:r>
            <a:r>
              <a:rPr sz="2000" b="1" spc="-35" dirty="0">
                <a:latin typeface="Times New Roman"/>
                <a:cs typeface="Times New Roman"/>
              </a:rPr>
              <a:t> </a:t>
            </a:r>
            <a:r>
              <a:rPr sz="2000" b="1" dirty="0">
                <a:latin typeface="Times New Roman"/>
                <a:cs typeface="Times New Roman"/>
              </a:rPr>
              <a:t>and</a:t>
            </a:r>
            <a:r>
              <a:rPr sz="2000" b="1" spc="-20" dirty="0">
                <a:latin typeface="Times New Roman"/>
                <a:cs typeface="Times New Roman"/>
              </a:rPr>
              <a:t> </a:t>
            </a:r>
            <a:r>
              <a:rPr sz="2000" b="1" spc="-10" dirty="0">
                <a:latin typeface="Times New Roman"/>
                <a:cs typeface="Times New Roman"/>
              </a:rPr>
              <a:t>Real-</a:t>
            </a:r>
            <a:r>
              <a:rPr sz="2000" b="1" spc="-20" dirty="0">
                <a:latin typeface="Times New Roman"/>
                <a:cs typeface="Times New Roman"/>
              </a:rPr>
              <a:t>Time</a:t>
            </a:r>
            <a:r>
              <a:rPr sz="2000" b="1" spc="-55" dirty="0">
                <a:latin typeface="Times New Roman"/>
                <a:cs typeface="Times New Roman"/>
              </a:rPr>
              <a:t> </a:t>
            </a:r>
            <a:r>
              <a:rPr sz="2000" b="1" spc="-10" dirty="0">
                <a:latin typeface="Times New Roman"/>
                <a:cs typeface="Times New Roman"/>
              </a:rPr>
              <a:t>Alerts:</a:t>
            </a:r>
            <a:endParaRPr sz="2000" dirty="0">
              <a:latin typeface="Times New Roman"/>
              <a:cs typeface="Times New Roman"/>
            </a:endParaRPr>
          </a:p>
          <a:p>
            <a:pPr marL="12700" marR="5080" algn="just">
              <a:lnSpc>
                <a:spcPts val="1920"/>
              </a:lnSpc>
              <a:spcBef>
                <a:spcPts val="225"/>
              </a:spcBef>
            </a:pPr>
            <a:r>
              <a:rPr sz="2000" dirty="0">
                <a:latin typeface="Times New Roman"/>
                <a:cs typeface="Times New Roman"/>
              </a:rPr>
              <a:t>Developing</a:t>
            </a:r>
            <a:r>
              <a:rPr sz="2000" spc="-25" dirty="0">
                <a:latin typeface="Times New Roman"/>
                <a:cs typeface="Times New Roman"/>
              </a:rPr>
              <a:t> </a:t>
            </a:r>
            <a:r>
              <a:rPr sz="2000" dirty="0">
                <a:latin typeface="Times New Roman"/>
                <a:cs typeface="Times New Roman"/>
              </a:rPr>
              <a:t>a</a:t>
            </a:r>
            <a:r>
              <a:rPr sz="2000" spc="-35" dirty="0">
                <a:latin typeface="Times New Roman"/>
                <a:cs typeface="Times New Roman"/>
              </a:rPr>
              <a:t> </a:t>
            </a:r>
            <a:r>
              <a:rPr sz="2000" dirty="0">
                <a:latin typeface="Times New Roman"/>
                <a:cs typeface="Times New Roman"/>
              </a:rPr>
              <a:t>system</a:t>
            </a:r>
            <a:r>
              <a:rPr sz="2000" spc="25" dirty="0">
                <a:latin typeface="Times New Roman"/>
                <a:cs typeface="Times New Roman"/>
              </a:rPr>
              <a:t> </a:t>
            </a:r>
            <a:r>
              <a:rPr sz="2000" dirty="0">
                <a:latin typeface="Times New Roman"/>
                <a:cs typeface="Times New Roman"/>
              </a:rPr>
              <a:t>that</a:t>
            </a:r>
            <a:r>
              <a:rPr sz="2000" spc="-40" dirty="0">
                <a:latin typeface="Times New Roman"/>
                <a:cs typeface="Times New Roman"/>
              </a:rPr>
              <a:t> </a:t>
            </a:r>
            <a:r>
              <a:rPr sz="2000" dirty="0">
                <a:latin typeface="Times New Roman"/>
                <a:cs typeface="Times New Roman"/>
              </a:rPr>
              <a:t>not</a:t>
            </a:r>
            <a:r>
              <a:rPr sz="2000" spc="-35" dirty="0">
                <a:latin typeface="Times New Roman"/>
                <a:cs typeface="Times New Roman"/>
              </a:rPr>
              <a:t> </a:t>
            </a:r>
            <a:r>
              <a:rPr sz="2000" dirty="0">
                <a:latin typeface="Times New Roman"/>
                <a:cs typeface="Times New Roman"/>
              </a:rPr>
              <a:t>only</a:t>
            </a:r>
            <a:r>
              <a:rPr sz="2000" spc="-25" dirty="0">
                <a:latin typeface="Times New Roman"/>
                <a:cs typeface="Times New Roman"/>
              </a:rPr>
              <a:t> </a:t>
            </a:r>
            <a:r>
              <a:rPr sz="2000" dirty="0">
                <a:latin typeface="Times New Roman"/>
                <a:cs typeface="Times New Roman"/>
              </a:rPr>
              <a:t>collects</a:t>
            </a:r>
            <a:r>
              <a:rPr sz="2000" spc="-60" dirty="0">
                <a:latin typeface="Times New Roman"/>
                <a:cs typeface="Times New Roman"/>
              </a:rPr>
              <a:t> </a:t>
            </a:r>
            <a:r>
              <a:rPr sz="2000" dirty="0">
                <a:latin typeface="Times New Roman"/>
                <a:cs typeface="Times New Roman"/>
              </a:rPr>
              <a:t>data</a:t>
            </a:r>
            <a:r>
              <a:rPr sz="2000" spc="-35" dirty="0">
                <a:latin typeface="Times New Roman"/>
                <a:cs typeface="Times New Roman"/>
              </a:rPr>
              <a:t> </a:t>
            </a:r>
            <a:r>
              <a:rPr sz="2000" dirty="0">
                <a:latin typeface="Times New Roman"/>
                <a:cs typeface="Times New Roman"/>
              </a:rPr>
              <a:t>but</a:t>
            </a:r>
            <a:r>
              <a:rPr sz="2000" spc="-35" dirty="0">
                <a:latin typeface="Times New Roman"/>
                <a:cs typeface="Times New Roman"/>
              </a:rPr>
              <a:t> </a:t>
            </a:r>
            <a:r>
              <a:rPr sz="2000" dirty="0">
                <a:latin typeface="Times New Roman"/>
                <a:cs typeface="Times New Roman"/>
              </a:rPr>
              <a:t>also</a:t>
            </a:r>
            <a:r>
              <a:rPr sz="2000" spc="-30" dirty="0">
                <a:latin typeface="Times New Roman"/>
                <a:cs typeface="Times New Roman"/>
              </a:rPr>
              <a:t> </a:t>
            </a:r>
            <a:r>
              <a:rPr sz="2000" dirty="0">
                <a:latin typeface="Times New Roman"/>
                <a:cs typeface="Times New Roman"/>
              </a:rPr>
              <a:t>analyzes</a:t>
            </a:r>
            <a:r>
              <a:rPr sz="2000" spc="10" dirty="0">
                <a:latin typeface="Times New Roman"/>
                <a:cs typeface="Times New Roman"/>
              </a:rPr>
              <a:t> </a:t>
            </a:r>
            <a:r>
              <a:rPr sz="2000" dirty="0">
                <a:latin typeface="Times New Roman"/>
                <a:cs typeface="Times New Roman"/>
              </a:rPr>
              <a:t>it</a:t>
            </a:r>
            <a:r>
              <a:rPr sz="2000" spc="-60" dirty="0">
                <a:latin typeface="Times New Roman"/>
                <a:cs typeface="Times New Roman"/>
              </a:rPr>
              <a:t> </a:t>
            </a:r>
            <a:r>
              <a:rPr sz="2000" dirty="0">
                <a:latin typeface="Times New Roman"/>
                <a:cs typeface="Times New Roman"/>
              </a:rPr>
              <a:t>in</a:t>
            </a:r>
            <a:r>
              <a:rPr sz="2000" spc="-25" dirty="0">
                <a:latin typeface="Times New Roman"/>
                <a:cs typeface="Times New Roman"/>
              </a:rPr>
              <a:t> </a:t>
            </a:r>
            <a:r>
              <a:rPr sz="2000" spc="-10" dirty="0">
                <a:latin typeface="Times New Roman"/>
                <a:cs typeface="Times New Roman"/>
              </a:rPr>
              <a:t>real- </a:t>
            </a:r>
            <a:r>
              <a:rPr sz="2000" dirty="0">
                <a:latin typeface="Times New Roman"/>
                <a:cs typeface="Times New Roman"/>
              </a:rPr>
              <a:t>time</a:t>
            </a:r>
            <a:r>
              <a:rPr sz="2000" spc="-25" dirty="0">
                <a:latin typeface="Times New Roman"/>
                <a:cs typeface="Times New Roman"/>
              </a:rPr>
              <a:t> </a:t>
            </a:r>
            <a:r>
              <a:rPr sz="2000" dirty="0">
                <a:latin typeface="Times New Roman"/>
                <a:cs typeface="Times New Roman"/>
              </a:rPr>
              <a:t>to</a:t>
            </a:r>
            <a:r>
              <a:rPr sz="2000" spc="-35" dirty="0">
                <a:latin typeface="Times New Roman"/>
                <a:cs typeface="Times New Roman"/>
              </a:rPr>
              <a:t> </a:t>
            </a:r>
            <a:r>
              <a:rPr sz="2000" dirty="0">
                <a:latin typeface="Times New Roman"/>
                <a:cs typeface="Times New Roman"/>
              </a:rPr>
              <a:t>generate</a:t>
            </a:r>
            <a:r>
              <a:rPr sz="2000" spc="-40" dirty="0">
                <a:latin typeface="Times New Roman"/>
                <a:cs typeface="Times New Roman"/>
              </a:rPr>
              <a:t> </a:t>
            </a:r>
            <a:r>
              <a:rPr sz="2000" dirty="0">
                <a:latin typeface="Times New Roman"/>
                <a:cs typeface="Times New Roman"/>
              </a:rPr>
              <a:t>actionable</a:t>
            </a:r>
            <a:r>
              <a:rPr sz="2000" spc="-45" dirty="0">
                <a:latin typeface="Times New Roman"/>
                <a:cs typeface="Times New Roman"/>
              </a:rPr>
              <a:t> </a:t>
            </a:r>
            <a:r>
              <a:rPr sz="2000" dirty="0">
                <a:latin typeface="Times New Roman"/>
                <a:cs typeface="Times New Roman"/>
              </a:rPr>
              <a:t>alerts</a:t>
            </a:r>
            <a:r>
              <a:rPr sz="2000" spc="-70" dirty="0">
                <a:latin typeface="Times New Roman"/>
                <a:cs typeface="Times New Roman"/>
              </a:rPr>
              <a:t> </a:t>
            </a:r>
            <a:r>
              <a:rPr sz="2000" dirty="0">
                <a:latin typeface="Times New Roman"/>
                <a:cs typeface="Times New Roman"/>
              </a:rPr>
              <a:t>is</a:t>
            </a:r>
            <a:r>
              <a:rPr sz="2000" spc="-55" dirty="0">
                <a:latin typeface="Times New Roman"/>
                <a:cs typeface="Times New Roman"/>
              </a:rPr>
              <a:t> </a:t>
            </a:r>
            <a:r>
              <a:rPr sz="2000" dirty="0">
                <a:latin typeface="Times New Roman"/>
                <a:cs typeface="Times New Roman"/>
              </a:rPr>
              <a:t>a</a:t>
            </a:r>
            <a:r>
              <a:rPr sz="2000" spc="-40" dirty="0">
                <a:latin typeface="Times New Roman"/>
                <a:cs typeface="Times New Roman"/>
              </a:rPr>
              <a:t> </a:t>
            </a:r>
            <a:r>
              <a:rPr sz="2000" dirty="0">
                <a:latin typeface="Times New Roman"/>
                <a:cs typeface="Times New Roman"/>
              </a:rPr>
              <a:t>significant challenge that</a:t>
            </a:r>
            <a:r>
              <a:rPr sz="2000" spc="-45" dirty="0">
                <a:latin typeface="Times New Roman"/>
                <a:cs typeface="Times New Roman"/>
              </a:rPr>
              <a:t> </a:t>
            </a:r>
            <a:r>
              <a:rPr sz="2000" dirty="0">
                <a:latin typeface="Times New Roman"/>
                <a:cs typeface="Times New Roman"/>
              </a:rPr>
              <a:t>needs</a:t>
            </a:r>
            <a:r>
              <a:rPr sz="2000" spc="-30" dirty="0">
                <a:latin typeface="Times New Roman"/>
                <a:cs typeface="Times New Roman"/>
              </a:rPr>
              <a:t> </a:t>
            </a:r>
            <a:r>
              <a:rPr sz="2000" dirty="0">
                <a:latin typeface="Times New Roman"/>
                <a:cs typeface="Times New Roman"/>
              </a:rPr>
              <a:t>to</a:t>
            </a:r>
            <a:r>
              <a:rPr sz="2000" spc="-60" dirty="0">
                <a:latin typeface="Times New Roman"/>
                <a:cs typeface="Times New Roman"/>
              </a:rPr>
              <a:t> </a:t>
            </a:r>
            <a:r>
              <a:rPr sz="2000" spc="-25" dirty="0">
                <a:latin typeface="Times New Roman"/>
                <a:cs typeface="Times New Roman"/>
              </a:rPr>
              <a:t>be </a:t>
            </a:r>
            <a:r>
              <a:rPr sz="2000" spc="-10" dirty="0">
                <a:latin typeface="Times New Roman"/>
                <a:cs typeface="Times New Roman"/>
              </a:rPr>
              <a:t>addressed.</a:t>
            </a:r>
            <a:endParaRPr sz="2000" dirty="0">
              <a:latin typeface="Times New Roman"/>
              <a:cs typeface="Times New Roman"/>
            </a:endParaRPr>
          </a:p>
        </p:txBody>
      </p:sp>
      <p:sp>
        <p:nvSpPr>
          <p:cNvPr id="4" name="object 4"/>
          <p:cNvSpPr txBox="1"/>
          <p:nvPr/>
        </p:nvSpPr>
        <p:spPr>
          <a:xfrm>
            <a:off x="8350122" y="6454546"/>
            <a:ext cx="90170" cy="164465"/>
          </a:xfrm>
          <a:prstGeom prst="rect">
            <a:avLst/>
          </a:prstGeom>
        </p:spPr>
        <p:txBody>
          <a:bodyPr vert="horz" wrap="square" lIns="0" tIns="13970" rIns="0" bIns="0" rtlCol="0">
            <a:spAutoFit/>
          </a:bodyPr>
          <a:lstStyle/>
          <a:p>
            <a:pPr marL="12700">
              <a:lnSpc>
                <a:spcPct val="100000"/>
              </a:lnSpc>
              <a:spcBef>
                <a:spcPts val="110"/>
              </a:spcBef>
            </a:pPr>
            <a:r>
              <a:rPr sz="900" spc="-50" dirty="0">
                <a:solidFill>
                  <a:srgbClr val="888888"/>
                </a:solidFill>
                <a:latin typeface="Arial MT"/>
                <a:cs typeface="Arial MT"/>
              </a:rPr>
              <a:t>5</a:t>
            </a:r>
            <a:endParaRPr sz="900">
              <a:latin typeface="Arial MT"/>
              <a:cs typeface="Arial MT"/>
            </a:endParaRPr>
          </a:p>
        </p:txBody>
      </p:sp>
      <p:pic>
        <p:nvPicPr>
          <p:cNvPr id="5" name="object 5"/>
          <p:cNvPicPr/>
          <p:nvPr/>
        </p:nvPicPr>
        <p:blipFill>
          <a:blip r:embed="rId2" cstate="print"/>
          <a:stretch>
            <a:fillRect/>
          </a:stretch>
        </p:blipFill>
        <p:spPr>
          <a:xfrm>
            <a:off x="304800" y="301752"/>
            <a:ext cx="981456" cy="1100327"/>
          </a:xfrm>
          <a:prstGeom prst="rect">
            <a:avLst/>
          </a:prstGeom>
        </p:spPr>
      </p:pic>
      <p:pic>
        <p:nvPicPr>
          <p:cNvPr id="6" name="object 6"/>
          <p:cNvPicPr/>
          <p:nvPr/>
        </p:nvPicPr>
        <p:blipFill>
          <a:blip r:embed="rId3" cstate="print"/>
          <a:stretch>
            <a:fillRect/>
          </a:stretch>
        </p:blipFill>
        <p:spPr>
          <a:xfrm>
            <a:off x="7805928" y="301752"/>
            <a:ext cx="1051559" cy="110032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47446" rIns="0" bIns="0" rtlCol="0">
            <a:spAutoFit/>
          </a:bodyPr>
          <a:lstStyle/>
          <a:p>
            <a:pPr marL="1866900">
              <a:lnSpc>
                <a:spcPct val="100000"/>
              </a:lnSpc>
              <a:spcBef>
                <a:spcPts val="110"/>
              </a:spcBef>
            </a:pPr>
            <a:r>
              <a:rPr spc="-10" dirty="0"/>
              <a:t>INTRODUCTION</a:t>
            </a:r>
          </a:p>
        </p:txBody>
      </p:sp>
      <p:sp>
        <p:nvSpPr>
          <p:cNvPr id="3" name="object 3"/>
          <p:cNvSpPr txBox="1"/>
          <p:nvPr/>
        </p:nvSpPr>
        <p:spPr>
          <a:xfrm>
            <a:off x="808126" y="1671319"/>
            <a:ext cx="7778115" cy="4548681"/>
          </a:xfrm>
          <a:prstGeom prst="rect">
            <a:avLst/>
          </a:prstGeom>
        </p:spPr>
        <p:txBody>
          <a:bodyPr vert="horz" wrap="square" lIns="0" tIns="41910" rIns="0" bIns="0" rtlCol="0">
            <a:spAutoFit/>
          </a:bodyPr>
          <a:lstStyle/>
          <a:p>
            <a:pPr marL="12700" marR="9525" algn="just">
              <a:lnSpc>
                <a:spcPct val="90000"/>
              </a:lnSpc>
              <a:spcBef>
                <a:spcPts val="330"/>
              </a:spcBef>
            </a:pPr>
            <a:r>
              <a:rPr sz="2000" dirty="0">
                <a:latin typeface="Times New Roman"/>
                <a:cs typeface="Times New Roman"/>
              </a:rPr>
              <a:t>Dams</a:t>
            </a:r>
            <a:r>
              <a:rPr sz="2000" spc="204" dirty="0">
                <a:latin typeface="Times New Roman"/>
                <a:cs typeface="Times New Roman"/>
              </a:rPr>
              <a:t>  </a:t>
            </a:r>
            <a:r>
              <a:rPr sz="2000" dirty="0">
                <a:latin typeface="Times New Roman"/>
                <a:cs typeface="Times New Roman"/>
              </a:rPr>
              <a:t>play</a:t>
            </a:r>
            <a:r>
              <a:rPr sz="2000" spc="195" dirty="0">
                <a:latin typeface="Times New Roman"/>
                <a:cs typeface="Times New Roman"/>
              </a:rPr>
              <a:t>  </a:t>
            </a:r>
            <a:r>
              <a:rPr sz="2000" dirty="0">
                <a:latin typeface="Times New Roman"/>
                <a:cs typeface="Times New Roman"/>
              </a:rPr>
              <a:t>a</a:t>
            </a:r>
            <a:r>
              <a:rPr sz="2000" spc="225" dirty="0">
                <a:latin typeface="Times New Roman"/>
                <a:cs typeface="Times New Roman"/>
              </a:rPr>
              <a:t>  </a:t>
            </a:r>
            <a:r>
              <a:rPr sz="2000" dirty="0">
                <a:latin typeface="Times New Roman"/>
                <a:cs typeface="Times New Roman"/>
              </a:rPr>
              <a:t>vital</a:t>
            </a:r>
            <a:r>
              <a:rPr sz="2000" spc="215" dirty="0">
                <a:latin typeface="Times New Roman"/>
                <a:cs typeface="Times New Roman"/>
              </a:rPr>
              <a:t>  </a:t>
            </a:r>
            <a:r>
              <a:rPr sz="2000" dirty="0">
                <a:latin typeface="Times New Roman"/>
                <a:cs typeface="Times New Roman"/>
              </a:rPr>
              <a:t>role</a:t>
            </a:r>
            <a:r>
              <a:rPr sz="2000" spc="215" dirty="0">
                <a:latin typeface="Times New Roman"/>
                <a:cs typeface="Times New Roman"/>
              </a:rPr>
              <a:t>  </a:t>
            </a:r>
            <a:r>
              <a:rPr sz="2000" dirty="0">
                <a:latin typeface="Times New Roman"/>
                <a:cs typeface="Times New Roman"/>
              </a:rPr>
              <a:t>in</a:t>
            </a:r>
            <a:r>
              <a:rPr sz="2000" spc="220" dirty="0">
                <a:latin typeface="Times New Roman"/>
                <a:cs typeface="Times New Roman"/>
              </a:rPr>
              <a:t>  </a:t>
            </a:r>
            <a:r>
              <a:rPr sz="2000" dirty="0">
                <a:latin typeface="Times New Roman"/>
                <a:cs typeface="Times New Roman"/>
              </a:rPr>
              <a:t>water</a:t>
            </a:r>
            <a:r>
              <a:rPr sz="2000" spc="229" dirty="0">
                <a:latin typeface="Times New Roman"/>
                <a:cs typeface="Times New Roman"/>
              </a:rPr>
              <a:t>  </a:t>
            </a:r>
            <a:r>
              <a:rPr sz="2000" dirty="0">
                <a:latin typeface="Times New Roman"/>
                <a:cs typeface="Times New Roman"/>
              </a:rPr>
              <a:t>management,</a:t>
            </a:r>
            <a:r>
              <a:rPr sz="2000" spc="220" dirty="0">
                <a:latin typeface="Times New Roman"/>
                <a:cs typeface="Times New Roman"/>
              </a:rPr>
              <a:t>  </a:t>
            </a:r>
            <a:r>
              <a:rPr sz="2000" dirty="0">
                <a:latin typeface="Times New Roman"/>
                <a:cs typeface="Times New Roman"/>
              </a:rPr>
              <a:t>hydroelectric</a:t>
            </a:r>
            <a:r>
              <a:rPr sz="2000" spc="220" dirty="0">
                <a:latin typeface="Times New Roman"/>
                <a:cs typeface="Times New Roman"/>
              </a:rPr>
              <a:t>  </a:t>
            </a:r>
            <a:r>
              <a:rPr sz="2000" spc="-10" dirty="0">
                <a:latin typeface="Times New Roman"/>
                <a:cs typeface="Times New Roman"/>
              </a:rPr>
              <a:t>power </a:t>
            </a:r>
            <a:r>
              <a:rPr sz="2000" dirty="0">
                <a:latin typeface="Times New Roman"/>
                <a:cs typeface="Times New Roman"/>
              </a:rPr>
              <a:t>generation,</a:t>
            </a:r>
            <a:r>
              <a:rPr sz="2000" spc="130" dirty="0">
                <a:latin typeface="Times New Roman"/>
                <a:cs typeface="Times New Roman"/>
              </a:rPr>
              <a:t>  </a:t>
            </a:r>
            <a:r>
              <a:rPr sz="2000" dirty="0">
                <a:latin typeface="Times New Roman"/>
                <a:cs typeface="Times New Roman"/>
              </a:rPr>
              <a:t>and</a:t>
            </a:r>
            <a:r>
              <a:rPr sz="2000" spc="140" dirty="0">
                <a:latin typeface="Times New Roman"/>
                <a:cs typeface="Times New Roman"/>
              </a:rPr>
              <a:t>  </a:t>
            </a:r>
            <a:r>
              <a:rPr sz="2000" dirty="0">
                <a:latin typeface="Times New Roman"/>
                <a:cs typeface="Times New Roman"/>
              </a:rPr>
              <a:t>flood</a:t>
            </a:r>
            <a:r>
              <a:rPr sz="2000" spc="135" dirty="0">
                <a:latin typeface="Times New Roman"/>
                <a:cs typeface="Times New Roman"/>
              </a:rPr>
              <a:t>  </a:t>
            </a:r>
            <a:r>
              <a:rPr sz="2000" dirty="0">
                <a:latin typeface="Times New Roman"/>
                <a:cs typeface="Times New Roman"/>
              </a:rPr>
              <a:t>control.</a:t>
            </a:r>
            <a:r>
              <a:rPr sz="2000" spc="135" dirty="0">
                <a:latin typeface="Times New Roman"/>
                <a:cs typeface="Times New Roman"/>
              </a:rPr>
              <a:t>  </a:t>
            </a:r>
            <a:r>
              <a:rPr sz="2000" dirty="0">
                <a:latin typeface="Times New Roman"/>
                <a:cs typeface="Times New Roman"/>
              </a:rPr>
              <a:t>To</a:t>
            </a:r>
            <a:r>
              <a:rPr sz="2000" spc="140" dirty="0">
                <a:latin typeface="Times New Roman"/>
                <a:cs typeface="Times New Roman"/>
              </a:rPr>
              <a:t>  </a:t>
            </a:r>
            <a:r>
              <a:rPr sz="2000" dirty="0">
                <a:latin typeface="Times New Roman"/>
                <a:cs typeface="Times New Roman"/>
              </a:rPr>
              <a:t>ensure</a:t>
            </a:r>
            <a:r>
              <a:rPr sz="2000" spc="135" dirty="0">
                <a:latin typeface="Times New Roman"/>
                <a:cs typeface="Times New Roman"/>
              </a:rPr>
              <a:t>  </a:t>
            </a:r>
            <a:r>
              <a:rPr sz="2000" dirty="0">
                <a:latin typeface="Times New Roman"/>
                <a:cs typeface="Times New Roman"/>
              </a:rPr>
              <a:t>their</a:t>
            </a:r>
            <a:r>
              <a:rPr sz="2000" spc="140" dirty="0">
                <a:latin typeface="Times New Roman"/>
                <a:cs typeface="Times New Roman"/>
              </a:rPr>
              <a:t>  </a:t>
            </a:r>
            <a:r>
              <a:rPr sz="2000" dirty="0">
                <a:latin typeface="Times New Roman"/>
                <a:cs typeface="Times New Roman"/>
              </a:rPr>
              <a:t>safety</a:t>
            </a:r>
            <a:r>
              <a:rPr sz="2000" spc="140" dirty="0">
                <a:latin typeface="Times New Roman"/>
                <a:cs typeface="Times New Roman"/>
              </a:rPr>
              <a:t>  </a:t>
            </a:r>
            <a:r>
              <a:rPr sz="2000" dirty="0">
                <a:latin typeface="Times New Roman"/>
                <a:cs typeface="Times New Roman"/>
              </a:rPr>
              <a:t>and</a:t>
            </a:r>
            <a:r>
              <a:rPr sz="2000" spc="135" dirty="0">
                <a:latin typeface="Times New Roman"/>
                <a:cs typeface="Times New Roman"/>
              </a:rPr>
              <a:t>  </a:t>
            </a:r>
            <a:r>
              <a:rPr sz="2000" spc="-10" dirty="0">
                <a:latin typeface="Times New Roman"/>
                <a:cs typeface="Times New Roman"/>
              </a:rPr>
              <a:t>efficiency, </a:t>
            </a:r>
            <a:r>
              <a:rPr sz="2000" dirty="0">
                <a:latin typeface="Times New Roman"/>
                <a:cs typeface="Times New Roman"/>
              </a:rPr>
              <a:t>continuous</a:t>
            </a:r>
            <a:r>
              <a:rPr sz="2000" spc="100" dirty="0">
                <a:latin typeface="Times New Roman"/>
                <a:cs typeface="Times New Roman"/>
              </a:rPr>
              <a:t> </a:t>
            </a:r>
            <a:r>
              <a:rPr sz="2000" dirty="0">
                <a:latin typeface="Times New Roman"/>
                <a:cs typeface="Times New Roman"/>
              </a:rPr>
              <a:t>monitoring</a:t>
            </a:r>
            <a:r>
              <a:rPr sz="2000" spc="95" dirty="0">
                <a:latin typeface="Times New Roman"/>
                <a:cs typeface="Times New Roman"/>
              </a:rPr>
              <a:t> </a:t>
            </a:r>
            <a:r>
              <a:rPr sz="2000" dirty="0">
                <a:latin typeface="Times New Roman"/>
                <a:cs typeface="Times New Roman"/>
              </a:rPr>
              <a:t>is</a:t>
            </a:r>
            <a:r>
              <a:rPr sz="2000" spc="105" dirty="0">
                <a:latin typeface="Times New Roman"/>
                <a:cs typeface="Times New Roman"/>
              </a:rPr>
              <a:t> </a:t>
            </a:r>
            <a:r>
              <a:rPr sz="2000" dirty="0">
                <a:latin typeface="Times New Roman"/>
                <a:cs typeface="Times New Roman"/>
              </a:rPr>
              <a:t>essential.</a:t>
            </a:r>
            <a:r>
              <a:rPr sz="2000" spc="105" dirty="0">
                <a:latin typeface="Times New Roman"/>
                <a:cs typeface="Times New Roman"/>
              </a:rPr>
              <a:t> </a:t>
            </a:r>
            <a:r>
              <a:rPr sz="2000" dirty="0">
                <a:latin typeface="Times New Roman"/>
                <a:cs typeface="Times New Roman"/>
              </a:rPr>
              <a:t>Two</a:t>
            </a:r>
            <a:r>
              <a:rPr sz="2000" spc="130" dirty="0">
                <a:latin typeface="Times New Roman"/>
                <a:cs typeface="Times New Roman"/>
              </a:rPr>
              <a:t> </a:t>
            </a:r>
            <a:r>
              <a:rPr sz="2000" dirty="0">
                <a:latin typeface="Times New Roman"/>
                <a:cs typeface="Times New Roman"/>
              </a:rPr>
              <a:t>critical</a:t>
            </a:r>
            <a:r>
              <a:rPr sz="2000" spc="125" dirty="0">
                <a:latin typeface="Times New Roman"/>
                <a:cs typeface="Times New Roman"/>
              </a:rPr>
              <a:t> </a:t>
            </a:r>
            <a:r>
              <a:rPr sz="2000" dirty="0">
                <a:latin typeface="Times New Roman"/>
                <a:cs typeface="Times New Roman"/>
              </a:rPr>
              <a:t>aspects</a:t>
            </a:r>
            <a:r>
              <a:rPr sz="2000" spc="95" dirty="0">
                <a:latin typeface="Times New Roman"/>
                <a:cs typeface="Times New Roman"/>
              </a:rPr>
              <a:t> </a:t>
            </a:r>
            <a:r>
              <a:rPr sz="2000" dirty="0">
                <a:latin typeface="Times New Roman"/>
                <a:cs typeface="Times New Roman"/>
              </a:rPr>
              <a:t>of</a:t>
            </a:r>
            <a:r>
              <a:rPr sz="2000" spc="80" dirty="0">
                <a:latin typeface="Times New Roman"/>
                <a:cs typeface="Times New Roman"/>
              </a:rPr>
              <a:t> </a:t>
            </a:r>
            <a:r>
              <a:rPr sz="2000" dirty="0">
                <a:latin typeface="Times New Roman"/>
                <a:cs typeface="Times New Roman"/>
              </a:rPr>
              <a:t>dam</a:t>
            </a:r>
            <a:r>
              <a:rPr sz="2000" spc="110" dirty="0">
                <a:latin typeface="Times New Roman"/>
                <a:cs typeface="Times New Roman"/>
              </a:rPr>
              <a:t> </a:t>
            </a:r>
            <a:r>
              <a:rPr sz="2000" spc="-10" dirty="0">
                <a:latin typeface="Times New Roman"/>
                <a:cs typeface="Times New Roman"/>
              </a:rPr>
              <a:t>monitoring </a:t>
            </a:r>
            <a:r>
              <a:rPr sz="2000" dirty="0">
                <a:latin typeface="Times New Roman"/>
                <a:cs typeface="Times New Roman"/>
              </a:rPr>
              <a:t>are</a:t>
            </a:r>
            <a:r>
              <a:rPr sz="2000" spc="-60" dirty="0">
                <a:latin typeface="Times New Roman"/>
                <a:cs typeface="Times New Roman"/>
              </a:rPr>
              <a:t> </a:t>
            </a:r>
            <a:r>
              <a:rPr sz="2000" dirty="0">
                <a:latin typeface="Times New Roman"/>
                <a:cs typeface="Times New Roman"/>
              </a:rPr>
              <a:t>crack</a:t>
            </a:r>
            <a:r>
              <a:rPr sz="2000" spc="-45" dirty="0">
                <a:latin typeface="Times New Roman"/>
                <a:cs typeface="Times New Roman"/>
              </a:rPr>
              <a:t> </a:t>
            </a:r>
            <a:r>
              <a:rPr sz="2000" dirty="0">
                <a:latin typeface="Times New Roman"/>
                <a:cs typeface="Times New Roman"/>
              </a:rPr>
              <a:t>detection</a:t>
            </a:r>
            <a:r>
              <a:rPr sz="2000" spc="-35" dirty="0">
                <a:latin typeface="Times New Roman"/>
                <a:cs typeface="Times New Roman"/>
              </a:rPr>
              <a:t> </a:t>
            </a:r>
            <a:r>
              <a:rPr sz="2000" dirty="0">
                <a:latin typeface="Times New Roman"/>
                <a:cs typeface="Times New Roman"/>
              </a:rPr>
              <a:t>and</a:t>
            </a:r>
            <a:r>
              <a:rPr sz="2000" spc="-25" dirty="0">
                <a:latin typeface="Times New Roman"/>
                <a:cs typeface="Times New Roman"/>
              </a:rPr>
              <a:t> </a:t>
            </a:r>
            <a:r>
              <a:rPr sz="2000" dirty="0">
                <a:latin typeface="Times New Roman"/>
                <a:cs typeface="Times New Roman"/>
              </a:rPr>
              <a:t>water</a:t>
            </a:r>
            <a:r>
              <a:rPr sz="2000" spc="20" dirty="0">
                <a:latin typeface="Times New Roman"/>
                <a:cs typeface="Times New Roman"/>
              </a:rPr>
              <a:t> </a:t>
            </a:r>
            <a:r>
              <a:rPr sz="2000" dirty="0">
                <a:latin typeface="Times New Roman"/>
                <a:cs typeface="Times New Roman"/>
              </a:rPr>
              <a:t>level</a:t>
            </a:r>
            <a:r>
              <a:rPr sz="2000" spc="-35" dirty="0">
                <a:latin typeface="Times New Roman"/>
                <a:cs typeface="Times New Roman"/>
              </a:rPr>
              <a:t> </a:t>
            </a:r>
            <a:r>
              <a:rPr sz="2000" spc="-10" dirty="0">
                <a:latin typeface="Times New Roman"/>
                <a:cs typeface="Times New Roman"/>
              </a:rPr>
              <a:t>indication.</a:t>
            </a:r>
            <a:endParaRPr lang="en-US" sz="2000" spc="-10" dirty="0">
              <a:latin typeface="Times New Roman"/>
              <a:cs typeface="Times New Roman"/>
            </a:endParaRPr>
          </a:p>
          <a:p>
            <a:pPr marL="12700" marR="9525" algn="just">
              <a:lnSpc>
                <a:spcPct val="90000"/>
              </a:lnSpc>
              <a:spcBef>
                <a:spcPts val="330"/>
              </a:spcBef>
            </a:pPr>
            <a:endParaRPr sz="2000" dirty="0">
              <a:latin typeface="Times New Roman"/>
              <a:cs typeface="Times New Roman"/>
            </a:endParaRPr>
          </a:p>
          <a:p>
            <a:pPr marL="12700" algn="just">
              <a:lnSpc>
                <a:spcPts val="2039"/>
              </a:lnSpc>
            </a:pPr>
            <a:r>
              <a:rPr sz="2000" dirty="0">
                <a:latin typeface="Times New Roman"/>
                <a:cs typeface="Times New Roman"/>
              </a:rPr>
              <a:t>Cracks</a:t>
            </a:r>
            <a:r>
              <a:rPr sz="2000" spc="80" dirty="0">
                <a:latin typeface="Times New Roman"/>
                <a:cs typeface="Times New Roman"/>
              </a:rPr>
              <a:t> </a:t>
            </a:r>
            <a:r>
              <a:rPr sz="2000" dirty="0">
                <a:latin typeface="Times New Roman"/>
                <a:cs typeface="Times New Roman"/>
              </a:rPr>
              <a:t>in</a:t>
            </a:r>
            <a:r>
              <a:rPr sz="2000" spc="90" dirty="0">
                <a:latin typeface="Times New Roman"/>
                <a:cs typeface="Times New Roman"/>
              </a:rPr>
              <a:t> </a:t>
            </a:r>
            <a:r>
              <a:rPr sz="2000" dirty="0">
                <a:latin typeface="Times New Roman"/>
                <a:cs typeface="Times New Roman"/>
              </a:rPr>
              <a:t>dams</a:t>
            </a:r>
            <a:r>
              <a:rPr sz="2000" spc="100" dirty="0">
                <a:latin typeface="Times New Roman"/>
                <a:cs typeface="Times New Roman"/>
              </a:rPr>
              <a:t> </a:t>
            </a:r>
            <a:r>
              <a:rPr sz="2000" dirty="0">
                <a:latin typeface="Times New Roman"/>
                <a:cs typeface="Times New Roman"/>
              </a:rPr>
              <a:t>can</a:t>
            </a:r>
            <a:r>
              <a:rPr sz="2000" spc="85" dirty="0">
                <a:latin typeface="Times New Roman"/>
                <a:cs typeface="Times New Roman"/>
              </a:rPr>
              <a:t> </a:t>
            </a:r>
            <a:r>
              <a:rPr sz="2000" dirty="0">
                <a:latin typeface="Times New Roman"/>
                <a:cs typeface="Times New Roman"/>
              </a:rPr>
              <a:t>lead</a:t>
            </a:r>
            <a:r>
              <a:rPr sz="2000" spc="114" dirty="0">
                <a:latin typeface="Times New Roman"/>
                <a:cs typeface="Times New Roman"/>
              </a:rPr>
              <a:t> </a:t>
            </a:r>
            <a:r>
              <a:rPr sz="2000" dirty="0">
                <a:latin typeface="Times New Roman"/>
                <a:cs typeface="Times New Roman"/>
              </a:rPr>
              <a:t>to</a:t>
            </a:r>
            <a:r>
              <a:rPr sz="2000" spc="110" dirty="0">
                <a:latin typeface="Times New Roman"/>
                <a:cs typeface="Times New Roman"/>
              </a:rPr>
              <a:t> </a:t>
            </a:r>
            <a:r>
              <a:rPr sz="2000" dirty="0">
                <a:latin typeface="Times New Roman"/>
                <a:cs typeface="Times New Roman"/>
              </a:rPr>
              <a:t>structural</a:t>
            </a:r>
            <a:r>
              <a:rPr sz="2000" spc="105" dirty="0">
                <a:latin typeface="Times New Roman"/>
                <a:cs typeface="Times New Roman"/>
              </a:rPr>
              <a:t> </a:t>
            </a:r>
            <a:r>
              <a:rPr sz="2000" dirty="0">
                <a:latin typeface="Times New Roman"/>
                <a:cs typeface="Times New Roman"/>
              </a:rPr>
              <a:t>failures</a:t>
            </a:r>
            <a:r>
              <a:rPr sz="2000" spc="100" dirty="0">
                <a:latin typeface="Times New Roman"/>
                <a:cs typeface="Times New Roman"/>
              </a:rPr>
              <a:t> </a:t>
            </a:r>
            <a:r>
              <a:rPr sz="2000" dirty="0">
                <a:latin typeface="Times New Roman"/>
                <a:cs typeface="Times New Roman"/>
              </a:rPr>
              <a:t>if</a:t>
            </a:r>
            <a:r>
              <a:rPr sz="2000" spc="85" dirty="0">
                <a:latin typeface="Times New Roman"/>
                <a:cs typeface="Times New Roman"/>
              </a:rPr>
              <a:t> </a:t>
            </a:r>
            <a:r>
              <a:rPr sz="2000" dirty="0">
                <a:latin typeface="Times New Roman"/>
                <a:cs typeface="Times New Roman"/>
              </a:rPr>
              <a:t>not</a:t>
            </a:r>
            <a:r>
              <a:rPr sz="2000" spc="100" dirty="0">
                <a:latin typeface="Times New Roman"/>
                <a:cs typeface="Times New Roman"/>
              </a:rPr>
              <a:t> </a:t>
            </a:r>
            <a:r>
              <a:rPr sz="2000" dirty="0">
                <a:latin typeface="Times New Roman"/>
                <a:cs typeface="Times New Roman"/>
              </a:rPr>
              <a:t>detected</a:t>
            </a:r>
            <a:r>
              <a:rPr sz="2000" spc="120" dirty="0">
                <a:latin typeface="Times New Roman"/>
                <a:cs typeface="Times New Roman"/>
              </a:rPr>
              <a:t> </a:t>
            </a:r>
            <a:r>
              <a:rPr sz="2000" dirty="0">
                <a:latin typeface="Times New Roman"/>
                <a:cs typeface="Times New Roman"/>
              </a:rPr>
              <a:t>early.</a:t>
            </a:r>
            <a:r>
              <a:rPr sz="2000" spc="105" dirty="0">
                <a:latin typeface="Times New Roman"/>
                <a:cs typeface="Times New Roman"/>
              </a:rPr>
              <a:t> </a:t>
            </a:r>
            <a:r>
              <a:rPr sz="2000" spc="-10" dirty="0">
                <a:latin typeface="Times New Roman"/>
                <a:cs typeface="Times New Roman"/>
              </a:rPr>
              <a:t>Various</a:t>
            </a:r>
            <a:endParaRPr sz="2000" dirty="0">
              <a:latin typeface="Times New Roman"/>
              <a:cs typeface="Times New Roman"/>
            </a:endParaRPr>
          </a:p>
          <a:p>
            <a:pPr marL="12700" marR="5080" algn="just">
              <a:lnSpc>
                <a:spcPts val="2160"/>
              </a:lnSpc>
              <a:spcBef>
                <a:spcPts val="155"/>
              </a:spcBef>
            </a:pPr>
            <a:r>
              <a:rPr sz="2000" dirty="0">
                <a:latin typeface="Times New Roman"/>
                <a:cs typeface="Times New Roman"/>
              </a:rPr>
              <a:t>techniques,</a:t>
            </a:r>
            <a:r>
              <a:rPr sz="2000" spc="150" dirty="0">
                <a:latin typeface="Times New Roman"/>
                <a:cs typeface="Times New Roman"/>
              </a:rPr>
              <a:t>  </a:t>
            </a:r>
            <a:r>
              <a:rPr sz="2000" dirty="0">
                <a:latin typeface="Times New Roman"/>
                <a:cs typeface="Times New Roman"/>
              </a:rPr>
              <a:t>such</a:t>
            </a:r>
            <a:r>
              <a:rPr sz="2000" spc="150" dirty="0">
                <a:latin typeface="Times New Roman"/>
                <a:cs typeface="Times New Roman"/>
              </a:rPr>
              <a:t>  </a:t>
            </a:r>
            <a:r>
              <a:rPr sz="2000" dirty="0">
                <a:latin typeface="Times New Roman"/>
                <a:cs typeface="Times New Roman"/>
              </a:rPr>
              <a:t>as</a:t>
            </a:r>
            <a:r>
              <a:rPr sz="2000" spc="150" dirty="0">
                <a:latin typeface="Times New Roman"/>
                <a:cs typeface="Times New Roman"/>
              </a:rPr>
              <a:t>  </a:t>
            </a:r>
            <a:r>
              <a:rPr sz="2000" dirty="0">
                <a:latin typeface="Times New Roman"/>
                <a:cs typeface="Times New Roman"/>
              </a:rPr>
              <a:t>ultrasonic</a:t>
            </a:r>
            <a:r>
              <a:rPr sz="2000" spc="160" dirty="0">
                <a:latin typeface="Times New Roman"/>
                <a:cs typeface="Times New Roman"/>
              </a:rPr>
              <a:t>  </a:t>
            </a:r>
            <a:r>
              <a:rPr sz="2000" dirty="0">
                <a:latin typeface="Times New Roman"/>
                <a:cs typeface="Times New Roman"/>
              </a:rPr>
              <a:t>sensors,</a:t>
            </a:r>
            <a:r>
              <a:rPr sz="2000" spc="150" dirty="0">
                <a:latin typeface="Times New Roman"/>
                <a:cs typeface="Times New Roman"/>
              </a:rPr>
              <a:t>  </a:t>
            </a:r>
            <a:r>
              <a:rPr sz="2000" dirty="0">
                <a:latin typeface="Times New Roman"/>
                <a:cs typeface="Times New Roman"/>
              </a:rPr>
              <a:t>infrared</a:t>
            </a:r>
            <a:r>
              <a:rPr sz="2000" spc="165" dirty="0">
                <a:latin typeface="Times New Roman"/>
                <a:cs typeface="Times New Roman"/>
              </a:rPr>
              <a:t>  </a:t>
            </a:r>
            <a:r>
              <a:rPr sz="2000" dirty="0">
                <a:latin typeface="Times New Roman"/>
                <a:cs typeface="Times New Roman"/>
              </a:rPr>
              <a:t>thermography,</a:t>
            </a:r>
            <a:r>
              <a:rPr sz="2000" spc="165" dirty="0">
                <a:latin typeface="Times New Roman"/>
                <a:cs typeface="Times New Roman"/>
              </a:rPr>
              <a:t>  </a:t>
            </a:r>
            <a:r>
              <a:rPr sz="2000" spc="-10" dirty="0">
                <a:latin typeface="Times New Roman"/>
                <a:cs typeface="Times New Roman"/>
              </a:rPr>
              <a:t>image </a:t>
            </a:r>
            <a:r>
              <a:rPr sz="2000" dirty="0">
                <a:latin typeface="Times New Roman"/>
                <a:cs typeface="Times New Roman"/>
              </a:rPr>
              <a:t>processing,</a:t>
            </a:r>
            <a:r>
              <a:rPr sz="2000" spc="140" dirty="0">
                <a:latin typeface="Times New Roman"/>
                <a:cs typeface="Times New Roman"/>
              </a:rPr>
              <a:t> </a:t>
            </a:r>
            <a:r>
              <a:rPr sz="2000" dirty="0">
                <a:latin typeface="Times New Roman"/>
                <a:cs typeface="Times New Roman"/>
              </a:rPr>
              <a:t>and</a:t>
            </a:r>
            <a:r>
              <a:rPr sz="2000" spc="155" dirty="0">
                <a:latin typeface="Times New Roman"/>
                <a:cs typeface="Times New Roman"/>
              </a:rPr>
              <a:t> </a:t>
            </a:r>
            <a:r>
              <a:rPr sz="2000" dirty="0">
                <a:latin typeface="Times New Roman"/>
                <a:cs typeface="Times New Roman"/>
              </a:rPr>
              <a:t>embedded</a:t>
            </a:r>
            <a:r>
              <a:rPr sz="2000" spc="165" dirty="0">
                <a:latin typeface="Times New Roman"/>
                <a:cs typeface="Times New Roman"/>
              </a:rPr>
              <a:t> </a:t>
            </a:r>
            <a:r>
              <a:rPr sz="2000" dirty="0">
                <a:latin typeface="Times New Roman"/>
                <a:cs typeface="Times New Roman"/>
              </a:rPr>
              <a:t>smart</a:t>
            </a:r>
            <a:r>
              <a:rPr sz="2000" spc="145" dirty="0">
                <a:latin typeface="Times New Roman"/>
                <a:cs typeface="Times New Roman"/>
              </a:rPr>
              <a:t> </a:t>
            </a:r>
            <a:r>
              <a:rPr sz="2000" dirty="0">
                <a:latin typeface="Times New Roman"/>
                <a:cs typeface="Times New Roman"/>
              </a:rPr>
              <a:t>sensors,</a:t>
            </a:r>
            <a:r>
              <a:rPr sz="2000" spc="150" dirty="0">
                <a:latin typeface="Times New Roman"/>
                <a:cs typeface="Times New Roman"/>
              </a:rPr>
              <a:t> </a:t>
            </a:r>
            <a:r>
              <a:rPr sz="2000" dirty="0">
                <a:latin typeface="Times New Roman"/>
                <a:cs typeface="Times New Roman"/>
              </a:rPr>
              <a:t>help</a:t>
            </a:r>
            <a:r>
              <a:rPr sz="2000" spc="135" dirty="0">
                <a:latin typeface="Times New Roman"/>
                <a:cs typeface="Times New Roman"/>
              </a:rPr>
              <a:t> </a:t>
            </a:r>
            <a:r>
              <a:rPr sz="2000" dirty="0">
                <a:latin typeface="Times New Roman"/>
                <a:cs typeface="Times New Roman"/>
              </a:rPr>
              <a:t>identify</a:t>
            </a:r>
            <a:r>
              <a:rPr sz="2000" spc="120" dirty="0">
                <a:latin typeface="Times New Roman"/>
                <a:cs typeface="Times New Roman"/>
              </a:rPr>
              <a:t> </a:t>
            </a:r>
            <a:r>
              <a:rPr sz="2000" dirty="0">
                <a:latin typeface="Times New Roman"/>
                <a:cs typeface="Times New Roman"/>
              </a:rPr>
              <a:t>and</a:t>
            </a:r>
            <a:r>
              <a:rPr sz="2000" spc="150" dirty="0">
                <a:latin typeface="Times New Roman"/>
                <a:cs typeface="Times New Roman"/>
              </a:rPr>
              <a:t> </a:t>
            </a:r>
            <a:r>
              <a:rPr sz="2000" dirty="0">
                <a:latin typeface="Times New Roman"/>
                <a:cs typeface="Times New Roman"/>
              </a:rPr>
              <a:t>monitor</a:t>
            </a:r>
            <a:r>
              <a:rPr sz="2000" spc="145" dirty="0">
                <a:latin typeface="Times New Roman"/>
                <a:cs typeface="Times New Roman"/>
              </a:rPr>
              <a:t> </a:t>
            </a:r>
            <a:r>
              <a:rPr sz="2000" spc="-10" dirty="0">
                <a:latin typeface="Times New Roman"/>
                <a:cs typeface="Times New Roman"/>
              </a:rPr>
              <a:t>cracks efficiently.</a:t>
            </a:r>
            <a:endParaRPr sz="2000" dirty="0">
              <a:latin typeface="Times New Roman"/>
              <a:cs typeface="Times New Roman"/>
            </a:endParaRPr>
          </a:p>
          <a:p>
            <a:pPr marL="12700" algn="just">
              <a:lnSpc>
                <a:spcPts val="2010"/>
              </a:lnSpc>
            </a:pPr>
            <a:r>
              <a:rPr sz="2000" dirty="0">
                <a:latin typeface="Times New Roman"/>
                <a:cs typeface="Times New Roman"/>
              </a:rPr>
              <a:t>Similarly,</a:t>
            </a:r>
            <a:r>
              <a:rPr sz="2000" spc="395" dirty="0">
                <a:latin typeface="Times New Roman"/>
                <a:cs typeface="Times New Roman"/>
              </a:rPr>
              <a:t> </a:t>
            </a:r>
            <a:r>
              <a:rPr sz="2000" dirty="0">
                <a:latin typeface="Times New Roman"/>
                <a:cs typeface="Times New Roman"/>
              </a:rPr>
              <a:t>monitoring</a:t>
            </a:r>
            <a:r>
              <a:rPr sz="2000" spc="370" dirty="0">
                <a:latin typeface="Times New Roman"/>
                <a:cs typeface="Times New Roman"/>
              </a:rPr>
              <a:t> </a:t>
            </a:r>
            <a:r>
              <a:rPr sz="2000" dirty="0">
                <a:latin typeface="Times New Roman"/>
                <a:cs typeface="Times New Roman"/>
              </a:rPr>
              <a:t>the</a:t>
            </a:r>
            <a:r>
              <a:rPr sz="2000" spc="400" dirty="0">
                <a:latin typeface="Times New Roman"/>
                <a:cs typeface="Times New Roman"/>
              </a:rPr>
              <a:t> </a:t>
            </a:r>
            <a:r>
              <a:rPr sz="2000" dirty="0">
                <a:latin typeface="Times New Roman"/>
                <a:cs typeface="Times New Roman"/>
              </a:rPr>
              <a:t>water</a:t>
            </a:r>
            <a:r>
              <a:rPr sz="2000" spc="380" dirty="0">
                <a:latin typeface="Times New Roman"/>
                <a:cs typeface="Times New Roman"/>
              </a:rPr>
              <a:t> </a:t>
            </a:r>
            <a:r>
              <a:rPr sz="2000" dirty="0">
                <a:latin typeface="Times New Roman"/>
                <a:cs typeface="Times New Roman"/>
              </a:rPr>
              <a:t>level</a:t>
            </a:r>
            <a:r>
              <a:rPr sz="2000" spc="380" dirty="0">
                <a:latin typeface="Times New Roman"/>
                <a:cs typeface="Times New Roman"/>
              </a:rPr>
              <a:t> </a:t>
            </a:r>
            <a:r>
              <a:rPr sz="2000" dirty="0">
                <a:latin typeface="Times New Roman"/>
                <a:cs typeface="Times New Roman"/>
              </a:rPr>
              <a:t>is</a:t>
            </a:r>
            <a:r>
              <a:rPr sz="2000" spc="345" dirty="0">
                <a:latin typeface="Times New Roman"/>
                <a:cs typeface="Times New Roman"/>
              </a:rPr>
              <a:t> </a:t>
            </a:r>
            <a:r>
              <a:rPr sz="2000" dirty="0">
                <a:latin typeface="Times New Roman"/>
                <a:cs typeface="Times New Roman"/>
              </a:rPr>
              <a:t>crucial</a:t>
            </a:r>
            <a:r>
              <a:rPr sz="2000" spc="380" dirty="0">
                <a:latin typeface="Times New Roman"/>
                <a:cs typeface="Times New Roman"/>
              </a:rPr>
              <a:t> </a:t>
            </a:r>
            <a:r>
              <a:rPr sz="2000" dirty="0">
                <a:latin typeface="Times New Roman"/>
                <a:cs typeface="Times New Roman"/>
              </a:rPr>
              <a:t>to</a:t>
            </a:r>
            <a:r>
              <a:rPr sz="2000" spc="390" dirty="0">
                <a:latin typeface="Times New Roman"/>
                <a:cs typeface="Times New Roman"/>
              </a:rPr>
              <a:t> </a:t>
            </a:r>
            <a:r>
              <a:rPr sz="2000" dirty="0">
                <a:latin typeface="Times New Roman"/>
                <a:cs typeface="Times New Roman"/>
              </a:rPr>
              <a:t>prevent</a:t>
            </a:r>
            <a:r>
              <a:rPr sz="2000" spc="375" dirty="0">
                <a:latin typeface="Times New Roman"/>
                <a:cs typeface="Times New Roman"/>
              </a:rPr>
              <a:t> </a:t>
            </a:r>
            <a:r>
              <a:rPr sz="2000" dirty="0">
                <a:latin typeface="Times New Roman"/>
                <a:cs typeface="Times New Roman"/>
              </a:rPr>
              <a:t>overflow</a:t>
            </a:r>
            <a:r>
              <a:rPr sz="2000" spc="340" dirty="0">
                <a:latin typeface="Times New Roman"/>
                <a:cs typeface="Times New Roman"/>
              </a:rPr>
              <a:t> </a:t>
            </a:r>
            <a:r>
              <a:rPr sz="2000" spc="-25" dirty="0">
                <a:latin typeface="Times New Roman"/>
                <a:cs typeface="Times New Roman"/>
              </a:rPr>
              <a:t>and</a:t>
            </a:r>
            <a:endParaRPr sz="2000" dirty="0">
              <a:latin typeface="Times New Roman"/>
              <a:cs typeface="Times New Roman"/>
            </a:endParaRPr>
          </a:p>
          <a:p>
            <a:pPr marL="12700" marR="10795" algn="just">
              <a:lnSpc>
                <a:spcPct val="90100"/>
              </a:lnSpc>
              <a:spcBef>
                <a:spcPts val="114"/>
              </a:spcBef>
            </a:pPr>
            <a:r>
              <a:rPr sz="2000" dirty="0">
                <a:latin typeface="Times New Roman"/>
                <a:cs typeface="Times New Roman"/>
              </a:rPr>
              <a:t>optimize</a:t>
            </a:r>
            <a:r>
              <a:rPr sz="2000" spc="75" dirty="0">
                <a:latin typeface="Times New Roman"/>
                <a:cs typeface="Times New Roman"/>
              </a:rPr>
              <a:t>  </a:t>
            </a:r>
            <a:r>
              <a:rPr sz="2000" dirty="0">
                <a:latin typeface="Times New Roman"/>
                <a:cs typeface="Times New Roman"/>
              </a:rPr>
              <a:t>resource</a:t>
            </a:r>
            <a:r>
              <a:rPr sz="2000" spc="80" dirty="0">
                <a:latin typeface="Times New Roman"/>
                <a:cs typeface="Times New Roman"/>
              </a:rPr>
              <a:t>  </a:t>
            </a:r>
            <a:r>
              <a:rPr sz="2000" dirty="0">
                <a:latin typeface="Times New Roman"/>
                <a:cs typeface="Times New Roman"/>
              </a:rPr>
              <a:t>management.</a:t>
            </a:r>
            <a:r>
              <a:rPr sz="2000" spc="80" dirty="0">
                <a:latin typeface="Times New Roman"/>
                <a:cs typeface="Times New Roman"/>
              </a:rPr>
              <a:t>  </a:t>
            </a:r>
            <a:r>
              <a:rPr sz="2000" dirty="0">
                <a:latin typeface="Times New Roman"/>
                <a:cs typeface="Times New Roman"/>
              </a:rPr>
              <a:t>Technologies</a:t>
            </a:r>
            <a:r>
              <a:rPr sz="2000" spc="65" dirty="0">
                <a:latin typeface="Times New Roman"/>
                <a:cs typeface="Times New Roman"/>
              </a:rPr>
              <a:t>  </a:t>
            </a:r>
            <a:r>
              <a:rPr sz="2000" dirty="0">
                <a:latin typeface="Times New Roman"/>
                <a:cs typeface="Times New Roman"/>
              </a:rPr>
              <a:t>like</a:t>
            </a:r>
            <a:r>
              <a:rPr sz="2000" spc="75" dirty="0">
                <a:latin typeface="Times New Roman"/>
                <a:cs typeface="Times New Roman"/>
              </a:rPr>
              <a:t>  </a:t>
            </a:r>
            <a:r>
              <a:rPr sz="2000" spc="-10" dirty="0">
                <a:latin typeface="Times New Roman"/>
                <a:cs typeface="Times New Roman"/>
              </a:rPr>
              <a:t>float-</a:t>
            </a:r>
            <a:r>
              <a:rPr sz="2000" dirty="0">
                <a:latin typeface="Times New Roman"/>
                <a:cs typeface="Times New Roman"/>
              </a:rPr>
              <a:t>based</a:t>
            </a:r>
            <a:r>
              <a:rPr sz="2000" spc="80" dirty="0">
                <a:latin typeface="Times New Roman"/>
                <a:cs typeface="Times New Roman"/>
              </a:rPr>
              <a:t>  </a:t>
            </a:r>
            <a:r>
              <a:rPr sz="2000" spc="-10" dirty="0">
                <a:latin typeface="Times New Roman"/>
                <a:cs typeface="Times New Roman"/>
              </a:rPr>
              <a:t>systems, </a:t>
            </a:r>
            <a:r>
              <a:rPr sz="2000" dirty="0">
                <a:latin typeface="Times New Roman"/>
                <a:cs typeface="Times New Roman"/>
              </a:rPr>
              <a:t>ultrasonic/radar</a:t>
            </a:r>
            <a:r>
              <a:rPr sz="2000" spc="20" dirty="0">
                <a:latin typeface="Times New Roman"/>
                <a:cs typeface="Times New Roman"/>
              </a:rPr>
              <a:t> </a:t>
            </a:r>
            <a:r>
              <a:rPr sz="2000" dirty="0">
                <a:latin typeface="Times New Roman"/>
                <a:cs typeface="Times New Roman"/>
              </a:rPr>
              <a:t>sensors,</a:t>
            </a:r>
            <a:r>
              <a:rPr sz="2000" spc="25" dirty="0">
                <a:latin typeface="Times New Roman"/>
                <a:cs typeface="Times New Roman"/>
              </a:rPr>
              <a:t> </a:t>
            </a:r>
            <a:r>
              <a:rPr sz="2000" dirty="0">
                <a:latin typeface="Times New Roman"/>
                <a:cs typeface="Times New Roman"/>
              </a:rPr>
              <a:t>and</a:t>
            </a:r>
            <a:r>
              <a:rPr sz="2000" spc="15" dirty="0">
                <a:latin typeface="Times New Roman"/>
                <a:cs typeface="Times New Roman"/>
              </a:rPr>
              <a:t> </a:t>
            </a:r>
            <a:r>
              <a:rPr sz="2000" spc="-60" dirty="0">
                <a:latin typeface="Times New Roman"/>
                <a:cs typeface="Times New Roman"/>
              </a:rPr>
              <a:t>IoT-</a:t>
            </a:r>
            <a:r>
              <a:rPr sz="2000" dirty="0">
                <a:latin typeface="Times New Roman"/>
                <a:cs typeface="Times New Roman"/>
              </a:rPr>
              <a:t>enabled</a:t>
            </a:r>
            <a:r>
              <a:rPr sz="2000" spc="35" dirty="0">
                <a:latin typeface="Times New Roman"/>
                <a:cs typeface="Times New Roman"/>
              </a:rPr>
              <a:t> </a:t>
            </a:r>
            <a:r>
              <a:rPr sz="2000" dirty="0">
                <a:latin typeface="Times New Roman"/>
                <a:cs typeface="Times New Roman"/>
              </a:rPr>
              <a:t>monitoring</a:t>
            </a:r>
            <a:r>
              <a:rPr sz="2000" spc="20" dirty="0">
                <a:latin typeface="Times New Roman"/>
                <a:cs typeface="Times New Roman"/>
              </a:rPr>
              <a:t> </a:t>
            </a:r>
            <a:r>
              <a:rPr sz="2000" dirty="0">
                <a:latin typeface="Times New Roman"/>
                <a:cs typeface="Times New Roman"/>
              </a:rPr>
              <a:t>ensure</a:t>
            </a:r>
            <a:r>
              <a:rPr sz="2000" spc="50" dirty="0">
                <a:latin typeface="Times New Roman"/>
                <a:cs typeface="Times New Roman"/>
              </a:rPr>
              <a:t> </a:t>
            </a:r>
            <a:r>
              <a:rPr sz="2000" spc="-10" dirty="0">
                <a:latin typeface="Times New Roman"/>
                <a:cs typeface="Times New Roman"/>
              </a:rPr>
              <a:t>real-</a:t>
            </a:r>
            <a:r>
              <a:rPr sz="2000" dirty="0">
                <a:latin typeface="Times New Roman"/>
                <a:cs typeface="Times New Roman"/>
              </a:rPr>
              <a:t>time</a:t>
            </a:r>
            <a:r>
              <a:rPr sz="2000" spc="50" dirty="0">
                <a:latin typeface="Times New Roman"/>
                <a:cs typeface="Times New Roman"/>
              </a:rPr>
              <a:t> </a:t>
            </a:r>
            <a:r>
              <a:rPr sz="2000" spc="-10" dirty="0">
                <a:latin typeface="Times New Roman"/>
                <a:cs typeface="Times New Roman"/>
              </a:rPr>
              <a:t>water </a:t>
            </a:r>
            <a:r>
              <a:rPr sz="2000" dirty="0">
                <a:latin typeface="Times New Roman"/>
                <a:cs typeface="Times New Roman"/>
              </a:rPr>
              <a:t>level</a:t>
            </a:r>
            <a:r>
              <a:rPr sz="2000" spc="-35" dirty="0">
                <a:latin typeface="Times New Roman"/>
                <a:cs typeface="Times New Roman"/>
              </a:rPr>
              <a:t> </a:t>
            </a:r>
            <a:r>
              <a:rPr sz="2000" spc="-10" dirty="0">
                <a:latin typeface="Times New Roman"/>
                <a:cs typeface="Times New Roman"/>
              </a:rPr>
              <a:t>detection.</a:t>
            </a:r>
            <a:endParaRPr lang="en-US" sz="2000" spc="-10" dirty="0">
              <a:latin typeface="Times New Roman"/>
              <a:cs typeface="Times New Roman"/>
            </a:endParaRPr>
          </a:p>
          <a:p>
            <a:pPr marL="12700" marR="10795" algn="just">
              <a:lnSpc>
                <a:spcPct val="90100"/>
              </a:lnSpc>
              <a:spcBef>
                <a:spcPts val="114"/>
              </a:spcBef>
            </a:pPr>
            <a:endParaRPr sz="2000" dirty="0">
              <a:latin typeface="Times New Roman"/>
              <a:cs typeface="Times New Roman"/>
            </a:endParaRPr>
          </a:p>
          <a:p>
            <a:pPr marL="12700" marR="8255" algn="just">
              <a:lnSpc>
                <a:spcPts val="2160"/>
              </a:lnSpc>
              <a:spcBef>
                <a:spcPts val="35"/>
              </a:spcBef>
            </a:pPr>
            <a:r>
              <a:rPr sz="2000" dirty="0">
                <a:latin typeface="Times New Roman"/>
                <a:cs typeface="Times New Roman"/>
              </a:rPr>
              <a:t>By</a:t>
            </a:r>
            <a:r>
              <a:rPr sz="2000" spc="105" dirty="0">
                <a:latin typeface="Times New Roman"/>
                <a:cs typeface="Times New Roman"/>
              </a:rPr>
              <a:t> </a:t>
            </a:r>
            <a:r>
              <a:rPr sz="2000" dirty="0">
                <a:latin typeface="Times New Roman"/>
                <a:cs typeface="Times New Roman"/>
              </a:rPr>
              <a:t>integrating</a:t>
            </a:r>
            <a:r>
              <a:rPr sz="2000" spc="140" dirty="0">
                <a:latin typeface="Times New Roman"/>
                <a:cs typeface="Times New Roman"/>
              </a:rPr>
              <a:t> </a:t>
            </a:r>
            <a:r>
              <a:rPr sz="2000" dirty="0">
                <a:latin typeface="Times New Roman"/>
                <a:cs typeface="Times New Roman"/>
              </a:rPr>
              <a:t>IoT,</a:t>
            </a:r>
            <a:r>
              <a:rPr sz="2000" spc="150" dirty="0">
                <a:latin typeface="Times New Roman"/>
                <a:cs typeface="Times New Roman"/>
              </a:rPr>
              <a:t> </a:t>
            </a:r>
            <a:r>
              <a:rPr sz="2000" dirty="0">
                <a:latin typeface="Times New Roman"/>
                <a:cs typeface="Times New Roman"/>
              </a:rPr>
              <a:t>and</a:t>
            </a:r>
            <a:r>
              <a:rPr sz="2000" spc="150" dirty="0">
                <a:latin typeface="Times New Roman"/>
                <a:cs typeface="Times New Roman"/>
              </a:rPr>
              <a:t> </a:t>
            </a:r>
            <a:r>
              <a:rPr sz="2000" dirty="0">
                <a:latin typeface="Times New Roman"/>
                <a:cs typeface="Times New Roman"/>
              </a:rPr>
              <a:t>Image</a:t>
            </a:r>
            <a:r>
              <a:rPr sz="2000" spc="150" dirty="0">
                <a:latin typeface="Times New Roman"/>
                <a:cs typeface="Times New Roman"/>
              </a:rPr>
              <a:t> </a:t>
            </a:r>
            <a:r>
              <a:rPr sz="2000" dirty="0">
                <a:latin typeface="Times New Roman"/>
                <a:cs typeface="Times New Roman"/>
              </a:rPr>
              <a:t>processing</a:t>
            </a:r>
            <a:r>
              <a:rPr sz="2000" spc="135" dirty="0">
                <a:latin typeface="Times New Roman"/>
                <a:cs typeface="Times New Roman"/>
              </a:rPr>
              <a:t> </a:t>
            </a:r>
            <a:r>
              <a:rPr sz="2000" dirty="0">
                <a:latin typeface="Times New Roman"/>
                <a:cs typeface="Times New Roman"/>
              </a:rPr>
              <a:t>technologies,</a:t>
            </a:r>
            <a:r>
              <a:rPr sz="2000" spc="140" dirty="0">
                <a:latin typeface="Times New Roman"/>
                <a:cs typeface="Times New Roman"/>
              </a:rPr>
              <a:t> </a:t>
            </a:r>
            <a:r>
              <a:rPr sz="2000" dirty="0">
                <a:latin typeface="Times New Roman"/>
                <a:cs typeface="Times New Roman"/>
              </a:rPr>
              <a:t>dam</a:t>
            </a:r>
            <a:r>
              <a:rPr sz="2000" spc="135" dirty="0">
                <a:latin typeface="Times New Roman"/>
                <a:cs typeface="Times New Roman"/>
              </a:rPr>
              <a:t> </a:t>
            </a:r>
            <a:r>
              <a:rPr sz="2000" dirty="0">
                <a:latin typeface="Times New Roman"/>
                <a:cs typeface="Times New Roman"/>
              </a:rPr>
              <a:t>safety</a:t>
            </a:r>
            <a:r>
              <a:rPr sz="2000" spc="130" dirty="0">
                <a:latin typeface="Times New Roman"/>
                <a:cs typeface="Times New Roman"/>
              </a:rPr>
              <a:t> </a:t>
            </a:r>
            <a:r>
              <a:rPr sz="2000" dirty="0">
                <a:latin typeface="Times New Roman"/>
                <a:cs typeface="Times New Roman"/>
              </a:rPr>
              <a:t>can</a:t>
            </a:r>
            <a:r>
              <a:rPr sz="2000" spc="130" dirty="0">
                <a:latin typeface="Times New Roman"/>
                <a:cs typeface="Times New Roman"/>
              </a:rPr>
              <a:t> </a:t>
            </a:r>
            <a:r>
              <a:rPr sz="2000" spc="-25" dirty="0">
                <a:latin typeface="Times New Roman"/>
                <a:cs typeface="Times New Roman"/>
              </a:rPr>
              <a:t>be </a:t>
            </a:r>
            <a:r>
              <a:rPr sz="2000" dirty="0">
                <a:latin typeface="Times New Roman"/>
                <a:cs typeface="Times New Roman"/>
              </a:rPr>
              <a:t>enhanced,</a:t>
            </a:r>
            <a:r>
              <a:rPr sz="2000" spc="-40" dirty="0">
                <a:latin typeface="Times New Roman"/>
                <a:cs typeface="Times New Roman"/>
              </a:rPr>
              <a:t> </a:t>
            </a:r>
            <a:r>
              <a:rPr sz="2000" dirty="0">
                <a:latin typeface="Times New Roman"/>
                <a:cs typeface="Times New Roman"/>
              </a:rPr>
              <a:t>minimizing</a:t>
            </a:r>
            <a:r>
              <a:rPr sz="2000" spc="40" dirty="0">
                <a:latin typeface="Times New Roman"/>
                <a:cs typeface="Times New Roman"/>
              </a:rPr>
              <a:t> </a:t>
            </a:r>
            <a:r>
              <a:rPr sz="2000" dirty="0">
                <a:latin typeface="Times New Roman"/>
                <a:cs typeface="Times New Roman"/>
              </a:rPr>
              <a:t>risks</a:t>
            </a:r>
            <a:r>
              <a:rPr sz="2000" spc="-40" dirty="0">
                <a:latin typeface="Times New Roman"/>
                <a:cs typeface="Times New Roman"/>
              </a:rPr>
              <a:t> </a:t>
            </a:r>
            <a:r>
              <a:rPr sz="2000" dirty="0">
                <a:latin typeface="Times New Roman"/>
                <a:cs typeface="Times New Roman"/>
              </a:rPr>
              <a:t>and</a:t>
            </a:r>
            <a:r>
              <a:rPr sz="2000" spc="-45" dirty="0">
                <a:latin typeface="Times New Roman"/>
                <a:cs typeface="Times New Roman"/>
              </a:rPr>
              <a:t> </a:t>
            </a:r>
            <a:r>
              <a:rPr sz="2000" dirty="0">
                <a:latin typeface="Times New Roman"/>
                <a:cs typeface="Times New Roman"/>
              </a:rPr>
              <a:t>ensuring</a:t>
            </a:r>
            <a:r>
              <a:rPr sz="2000" spc="-25" dirty="0">
                <a:latin typeface="Times New Roman"/>
                <a:cs typeface="Times New Roman"/>
              </a:rPr>
              <a:t> long-</a:t>
            </a:r>
            <a:r>
              <a:rPr sz="2000" dirty="0">
                <a:latin typeface="Times New Roman"/>
                <a:cs typeface="Times New Roman"/>
              </a:rPr>
              <a:t>term</a:t>
            </a:r>
            <a:r>
              <a:rPr sz="2000" spc="-50" dirty="0">
                <a:latin typeface="Times New Roman"/>
                <a:cs typeface="Times New Roman"/>
              </a:rPr>
              <a:t> </a:t>
            </a:r>
            <a:r>
              <a:rPr sz="2000" spc="-10" dirty="0">
                <a:latin typeface="Times New Roman"/>
                <a:cs typeface="Times New Roman"/>
              </a:rPr>
              <a:t>stability.</a:t>
            </a:r>
            <a:endParaRPr sz="2000" dirty="0">
              <a:latin typeface="Times New Roman"/>
              <a:cs typeface="Times New Roman"/>
            </a:endParaRPr>
          </a:p>
        </p:txBody>
      </p:sp>
      <p:sp>
        <p:nvSpPr>
          <p:cNvPr id="4" name="object 4"/>
          <p:cNvSpPr txBox="1"/>
          <p:nvPr/>
        </p:nvSpPr>
        <p:spPr>
          <a:xfrm>
            <a:off x="3810761" y="6434734"/>
            <a:ext cx="152273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Arial MT"/>
                <a:cs typeface="Arial MT"/>
              </a:rPr>
              <a:t>Dept.</a:t>
            </a:r>
            <a:r>
              <a:rPr sz="1200" spc="-25" dirty="0">
                <a:latin typeface="Arial MT"/>
                <a:cs typeface="Arial MT"/>
              </a:rPr>
              <a:t> </a:t>
            </a:r>
            <a:r>
              <a:rPr sz="1200" dirty="0">
                <a:latin typeface="Arial MT"/>
                <a:cs typeface="Arial MT"/>
              </a:rPr>
              <a:t>of</a:t>
            </a:r>
            <a:r>
              <a:rPr sz="1200" spc="-5" dirty="0">
                <a:latin typeface="Arial MT"/>
                <a:cs typeface="Arial MT"/>
              </a:rPr>
              <a:t> </a:t>
            </a:r>
            <a:r>
              <a:rPr sz="1200" dirty="0">
                <a:latin typeface="Arial MT"/>
                <a:cs typeface="Arial MT"/>
              </a:rPr>
              <a:t>ECE</a:t>
            </a:r>
            <a:r>
              <a:rPr sz="1200" spc="5" dirty="0">
                <a:latin typeface="Arial MT"/>
                <a:cs typeface="Arial MT"/>
              </a:rPr>
              <a:t> </a:t>
            </a:r>
            <a:r>
              <a:rPr sz="1200" dirty="0">
                <a:latin typeface="Arial MT"/>
                <a:cs typeface="Arial MT"/>
              </a:rPr>
              <a:t>2025-</a:t>
            </a:r>
            <a:r>
              <a:rPr sz="1200" spc="-25" dirty="0">
                <a:latin typeface="Arial MT"/>
                <a:cs typeface="Arial MT"/>
              </a:rPr>
              <a:t>26</a:t>
            </a:r>
            <a:endParaRPr sz="1200">
              <a:latin typeface="Arial MT"/>
              <a:cs typeface="Arial MT"/>
            </a:endParaRPr>
          </a:p>
        </p:txBody>
      </p:sp>
      <p:sp>
        <p:nvSpPr>
          <p:cNvPr id="5" name="object 5"/>
          <p:cNvSpPr txBox="1"/>
          <p:nvPr/>
        </p:nvSpPr>
        <p:spPr>
          <a:xfrm>
            <a:off x="8328786" y="6434734"/>
            <a:ext cx="110489" cy="208279"/>
          </a:xfrm>
          <a:prstGeom prst="rect">
            <a:avLst/>
          </a:prstGeom>
        </p:spPr>
        <p:txBody>
          <a:bodyPr vert="horz" wrap="square" lIns="0" tIns="12700" rIns="0" bIns="0" rtlCol="0">
            <a:spAutoFit/>
          </a:bodyPr>
          <a:lstStyle/>
          <a:p>
            <a:pPr marL="12700">
              <a:lnSpc>
                <a:spcPct val="100000"/>
              </a:lnSpc>
              <a:spcBef>
                <a:spcPts val="100"/>
              </a:spcBef>
            </a:pPr>
            <a:r>
              <a:rPr sz="1200" spc="-50" dirty="0">
                <a:latin typeface="Arial MT"/>
                <a:cs typeface="Arial MT"/>
              </a:rPr>
              <a:t>6</a:t>
            </a:r>
            <a:endParaRPr sz="1200">
              <a:latin typeface="Arial MT"/>
              <a:cs typeface="Arial MT"/>
            </a:endParaRPr>
          </a:p>
        </p:txBody>
      </p:sp>
      <p:pic>
        <p:nvPicPr>
          <p:cNvPr id="6" name="object 6"/>
          <p:cNvPicPr/>
          <p:nvPr/>
        </p:nvPicPr>
        <p:blipFill>
          <a:blip r:embed="rId2" cstate="print"/>
          <a:stretch>
            <a:fillRect/>
          </a:stretch>
        </p:blipFill>
        <p:spPr>
          <a:xfrm>
            <a:off x="304800" y="301752"/>
            <a:ext cx="981456" cy="1100327"/>
          </a:xfrm>
          <a:prstGeom prst="rect">
            <a:avLst/>
          </a:prstGeom>
        </p:spPr>
      </p:pic>
      <p:pic>
        <p:nvPicPr>
          <p:cNvPr id="7" name="object 7"/>
          <p:cNvPicPr/>
          <p:nvPr/>
        </p:nvPicPr>
        <p:blipFill>
          <a:blip r:embed="rId3" cstate="print"/>
          <a:stretch>
            <a:fillRect/>
          </a:stretch>
        </p:blipFill>
        <p:spPr>
          <a:xfrm>
            <a:off x="7805928" y="301752"/>
            <a:ext cx="1051559" cy="110032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624988" y="5949797"/>
            <a:ext cx="1088390" cy="669290"/>
          </a:xfrm>
          <a:prstGeom prst="rect">
            <a:avLst/>
          </a:prstGeom>
        </p:spPr>
        <p:txBody>
          <a:bodyPr vert="horz" wrap="square" lIns="0" tIns="11430" rIns="0" bIns="0" rtlCol="0">
            <a:spAutoFit/>
          </a:bodyPr>
          <a:lstStyle/>
          <a:p>
            <a:pPr marL="12700">
              <a:lnSpc>
                <a:spcPct val="100000"/>
              </a:lnSpc>
              <a:spcBef>
                <a:spcPts val="90"/>
              </a:spcBef>
            </a:pPr>
            <a:r>
              <a:rPr sz="2000" spc="-10" dirty="0">
                <a:latin typeface="Times New Roman"/>
                <a:cs typeface="Times New Roman"/>
              </a:rPr>
              <a:t>variations</a:t>
            </a:r>
            <a:r>
              <a:rPr sz="1800" spc="-10" dirty="0">
                <a:latin typeface="Times New Roman"/>
                <a:cs typeface="Times New Roman"/>
              </a:rPr>
              <a:t>.</a:t>
            </a:r>
            <a:endParaRPr sz="1800">
              <a:latin typeface="Times New Roman"/>
              <a:cs typeface="Times New Roman"/>
            </a:endParaRPr>
          </a:p>
          <a:p>
            <a:pPr marR="278130" algn="r">
              <a:lnSpc>
                <a:spcPct val="100000"/>
              </a:lnSpc>
              <a:spcBef>
                <a:spcPts val="1595"/>
              </a:spcBef>
            </a:pPr>
            <a:r>
              <a:rPr sz="900" spc="-50" dirty="0">
                <a:solidFill>
                  <a:srgbClr val="888888"/>
                </a:solidFill>
                <a:latin typeface="Arial MT"/>
                <a:cs typeface="Arial MT"/>
              </a:rPr>
              <a:t>7</a:t>
            </a:r>
            <a:endParaRPr sz="900">
              <a:latin typeface="Arial MT"/>
              <a:cs typeface="Arial MT"/>
            </a:endParaRPr>
          </a:p>
        </p:txBody>
      </p:sp>
      <p:pic>
        <p:nvPicPr>
          <p:cNvPr id="3" name="object 3"/>
          <p:cNvPicPr/>
          <p:nvPr/>
        </p:nvPicPr>
        <p:blipFill>
          <a:blip r:embed="rId2" cstate="print"/>
          <a:stretch>
            <a:fillRect/>
          </a:stretch>
        </p:blipFill>
        <p:spPr>
          <a:xfrm>
            <a:off x="274320" y="103631"/>
            <a:ext cx="981456" cy="1100328"/>
          </a:xfrm>
          <a:prstGeom prst="rect">
            <a:avLst/>
          </a:prstGeom>
        </p:spPr>
      </p:pic>
      <p:pic>
        <p:nvPicPr>
          <p:cNvPr id="4" name="object 4"/>
          <p:cNvPicPr/>
          <p:nvPr/>
        </p:nvPicPr>
        <p:blipFill>
          <a:blip r:embed="rId3" cstate="print"/>
          <a:stretch>
            <a:fillRect/>
          </a:stretch>
        </p:blipFill>
        <p:spPr>
          <a:xfrm>
            <a:off x="7818119" y="103631"/>
            <a:ext cx="1051559" cy="1100328"/>
          </a:xfrm>
          <a:prstGeom prst="rect">
            <a:avLst/>
          </a:prstGeom>
        </p:spPr>
      </p:pic>
      <p:sp>
        <p:nvSpPr>
          <p:cNvPr id="5" name="object 5"/>
          <p:cNvSpPr txBox="1">
            <a:spLocks noGrp="1"/>
          </p:cNvSpPr>
          <p:nvPr>
            <p:ph type="title"/>
          </p:nvPr>
        </p:nvSpPr>
        <p:spPr>
          <a:xfrm>
            <a:off x="2313177" y="702386"/>
            <a:ext cx="4014470" cy="454025"/>
          </a:xfrm>
          <a:prstGeom prst="rect">
            <a:avLst/>
          </a:prstGeom>
        </p:spPr>
        <p:txBody>
          <a:bodyPr vert="horz" wrap="square" lIns="0" tIns="13970" rIns="0" bIns="0" rtlCol="0">
            <a:spAutoFit/>
          </a:bodyPr>
          <a:lstStyle/>
          <a:p>
            <a:pPr marL="12700">
              <a:lnSpc>
                <a:spcPct val="100000"/>
              </a:lnSpc>
              <a:spcBef>
                <a:spcPts val="110"/>
              </a:spcBef>
              <a:tabLst>
                <a:tab pos="2539365" algn="l"/>
              </a:tabLst>
            </a:pPr>
            <a:r>
              <a:rPr sz="2800" spc="-10" dirty="0"/>
              <a:t>LITERATURE</a:t>
            </a:r>
            <a:r>
              <a:rPr sz="2800" dirty="0"/>
              <a:t>	</a:t>
            </a:r>
            <a:r>
              <a:rPr sz="2800" spc="-10" dirty="0"/>
              <a:t>SURVEY</a:t>
            </a:r>
            <a:endParaRPr sz="2800"/>
          </a:p>
        </p:txBody>
      </p:sp>
      <p:sp>
        <p:nvSpPr>
          <p:cNvPr id="6" name="object 6"/>
          <p:cNvSpPr txBox="1"/>
          <p:nvPr/>
        </p:nvSpPr>
        <p:spPr>
          <a:xfrm>
            <a:off x="352755" y="1680159"/>
            <a:ext cx="8439785" cy="3989070"/>
          </a:xfrm>
          <a:prstGeom prst="rect">
            <a:avLst/>
          </a:prstGeom>
        </p:spPr>
        <p:txBody>
          <a:bodyPr vert="horz" wrap="square" lIns="0" tIns="12065" rIns="0" bIns="0" rtlCol="0">
            <a:spAutoFit/>
          </a:bodyPr>
          <a:lstStyle/>
          <a:p>
            <a:pPr marL="12700">
              <a:lnSpc>
                <a:spcPct val="100000"/>
              </a:lnSpc>
              <a:spcBef>
                <a:spcPts val="95"/>
              </a:spcBef>
            </a:pPr>
            <a:r>
              <a:rPr sz="2000" dirty="0">
                <a:latin typeface="Times New Roman"/>
                <a:cs typeface="Times New Roman"/>
              </a:rPr>
              <a:t>[</a:t>
            </a:r>
            <a:r>
              <a:rPr sz="2000" b="1" dirty="0">
                <a:latin typeface="Times New Roman"/>
                <a:cs typeface="Times New Roman"/>
              </a:rPr>
              <a:t>1]Title</a:t>
            </a:r>
            <a:r>
              <a:rPr sz="2000" b="1" spc="415" dirty="0">
                <a:latin typeface="Times New Roman"/>
                <a:cs typeface="Times New Roman"/>
              </a:rPr>
              <a:t> </a:t>
            </a:r>
            <a:r>
              <a:rPr sz="2000" b="1" dirty="0">
                <a:latin typeface="Times New Roman"/>
                <a:cs typeface="Times New Roman"/>
              </a:rPr>
              <a:t>of</a:t>
            </a:r>
            <a:r>
              <a:rPr sz="2000" b="1" spc="-45" dirty="0">
                <a:latin typeface="Times New Roman"/>
                <a:cs typeface="Times New Roman"/>
              </a:rPr>
              <a:t> </a:t>
            </a:r>
            <a:r>
              <a:rPr sz="2000" b="1" dirty="0">
                <a:latin typeface="Times New Roman"/>
                <a:cs typeface="Times New Roman"/>
              </a:rPr>
              <a:t>the</a:t>
            </a:r>
            <a:r>
              <a:rPr sz="2000" b="1" spc="-35" dirty="0">
                <a:latin typeface="Times New Roman"/>
                <a:cs typeface="Times New Roman"/>
              </a:rPr>
              <a:t> </a:t>
            </a:r>
            <a:r>
              <a:rPr sz="2000" b="1" dirty="0">
                <a:latin typeface="Times New Roman"/>
                <a:cs typeface="Times New Roman"/>
              </a:rPr>
              <a:t>paper:</a:t>
            </a:r>
            <a:r>
              <a:rPr sz="2000" b="1" spc="-50" dirty="0">
                <a:latin typeface="Times New Roman"/>
                <a:cs typeface="Times New Roman"/>
              </a:rPr>
              <a:t> </a:t>
            </a:r>
            <a:r>
              <a:rPr sz="2000" b="1" dirty="0">
                <a:latin typeface="Times New Roman"/>
                <a:cs typeface="Times New Roman"/>
              </a:rPr>
              <a:t>A</a:t>
            </a:r>
            <a:r>
              <a:rPr sz="2000" b="1" spc="-5" dirty="0">
                <a:latin typeface="Times New Roman"/>
                <a:cs typeface="Times New Roman"/>
              </a:rPr>
              <a:t> </a:t>
            </a:r>
            <a:r>
              <a:rPr sz="2000" b="1" dirty="0">
                <a:latin typeface="Times New Roman"/>
                <a:cs typeface="Times New Roman"/>
              </a:rPr>
              <a:t>Reservoir</a:t>
            </a:r>
            <a:r>
              <a:rPr sz="2000" b="1" spc="-50" dirty="0">
                <a:latin typeface="Times New Roman"/>
                <a:cs typeface="Times New Roman"/>
              </a:rPr>
              <a:t> </a:t>
            </a:r>
            <a:r>
              <a:rPr sz="2000" b="1" dirty="0">
                <a:latin typeface="Times New Roman"/>
                <a:cs typeface="Times New Roman"/>
              </a:rPr>
              <a:t>Dam</a:t>
            </a:r>
            <a:r>
              <a:rPr sz="2000" b="1" spc="-40" dirty="0">
                <a:latin typeface="Times New Roman"/>
                <a:cs typeface="Times New Roman"/>
              </a:rPr>
              <a:t> </a:t>
            </a:r>
            <a:r>
              <a:rPr sz="2000" b="1" dirty="0">
                <a:latin typeface="Times New Roman"/>
                <a:cs typeface="Times New Roman"/>
              </a:rPr>
              <a:t>Monitoring</a:t>
            </a:r>
            <a:r>
              <a:rPr sz="2000" b="1" spc="-70" dirty="0">
                <a:latin typeface="Times New Roman"/>
                <a:cs typeface="Times New Roman"/>
              </a:rPr>
              <a:t> </a:t>
            </a:r>
            <a:r>
              <a:rPr sz="2000" b="1" dirty="0">
                <a:latin typeface="Times New Roman"/>
                <a:cs typeface="Times New Roman"/>
              </a:rPr>
              <a:t>Technology</a:t>
            </a:r>
            <a:r>
              <a:rPr sz="2000" b="1" spc="-25" dirty="0">
                <a:latin typeface="Times New Roman"/>
                <a:cs typeface="Times New Roman"/>
              </a:rPr>
              <a:t> </a:t>
            </a:r>
            <a:r>
              <a:rPr sz="2000" b="1" spc="-10" dirty="0">
                <a:latin typeface="Times New Roman"/>
                <a:cs typeface="Times New Roman"/>
              </a:rPr>
              <a:t>Integrating</a:t>
            </a:r>
            <a:endParaRPr sz="2000">
              <a:latin typeface="Times New Roman"/>
              <a:cs typeface="Times New Roman"/>
            </a:endParaRPr>
          </a:p>
          <a:p>
            <a:pPr marL="12700">
              <a:lnSpc>
                <a:spcPct val="100000"/>
              </a:lnSpc>
            </a:pPr>
            <a:r>
              <a:rPr sz="2000" b="1" dirty="0">
                <a:latin typeface="Times New Roman"/>
                <a:cs typeface="Times New Roman"/>
              </a:rPr>
              <a:t>Improved</a:t>
            </a:r>
            <a:r>
              <a:rPr sz="2000" b="1" spc="-10" dirty="0">
                <a:latin typeface="Times New Roman"/>
                <a:cs typeface="Times New Roman"/>
              </a:rPr>
              <a:t> </a:t>
            </a:r>
            <a:r>
              <a:rPr sz="2000" b="1" dirty="0">
                <a:latin typeface="Times New Roman"/>
                <a:cs typeface="Times New Roman"/>
              </a:rPr>
              <a:t>ABC</a:t>
            </a:r>
            <a:r>
              <a:rPr sz="2000" b="1" spc="-30" dirty="0">
                <a:latin typeface="Times New Roman"/>
                <a:cs typeface="Times New Roman"/>
              </a:rPr>
              <a:t> </a:t>
            </a:r>
            <a:r>
              <a:rPr sz="2000" b="1" dirty="0">
                <a:latin typeface="Times New Roman"/>
                <a:cs typeface="Times New Roman"/>
              </a:rPr>
              <a:t>Algorithm</a:t>
            </a:r>
            <a:r>
              <a:rPr sz="2000" b="1" spc="-75" dirty="0">
                <a:latin typeface="Times New Roman"/>
                <a:cs typeface="Times New Roman"/>
              </a:rPr>
              <a:t> </a:t>
            </a:r>
            <a:r>
              <a:rPr sz="2000" b="1" dirty="0">
                <a:latin typeface="Times New Roman"/>
                <a:cs typeface="Times New Roman"/>
              </a:rPr>
              <a:t>and</a:t>
            </a:r>
            <a:r>
              <a:rPr sz="2000" b="1" spc="-40" dirty="0">
                <a:latin typeface="Times New Roman"/>
                <a:cs typeface="Times New Roman"/>
              </a:rPr>
              <a:t> </a:t>
            </a:r>
            <a:r>
              <a:rPr sz="2000" b="1" dirty="0">
                <a:latin typeface="Times New Roman"/>
                <a:cs typeface="Times New Roman"/>
              </a:rPr>
              <a:t>SVM</a:t>
            </a:r>
            <a:r>
              <a:rPr sz="2000" b="1" spc="-35" dirty="0">
                <a:latin typeface="Times New Roman"/>
                <a:cs typeface="Times New Roman"/>
              </a:rPr>
              <a:t> </a:t>
            </a:r>
            <a:r>
              <a:rPr sz="2000" b="1" spc="-10" dirty="0">
                <a:latin typeface="Times New Roman"/>
                <a:cs typeface="Times New Roman"/>
              </a:rPr>
              <a:t>Algorithm</a:t>
            </a:r>
            <a:endParaRPr sz="2000">
              <a:latin typeface="Times New Roman"/>
              <a:cs typeface="Times New Roman"/>
            </a:endParaRPr>
          </a:p>
          <a:p>
            <a:pPr marL="12700" marR="1978025">
              <a:lnSpc>
                <a:spcPct val="200100"/>
              </a:lnSpc>
              <a:tabLst>
                <a:tab pos="858519" algn="l"/>
              </a:tabLst>
            </a:pPr>
            <a:r>
              <a:rPr sz="2000" spc="-10" dirty="0">
                <a:latin typeface="Times New Roman"/>
                <a:cs typeface="Times New Roman"/>
              </a:rPr>
              <a:t>Author</a:t>
            </a:r>
            <a:r>
              <a:rPr sz="2000" dirty="0">
                <a:latin typeface="Times New Roman"/>
                <a:cs typeface="Times New Roman"/>
              </a:rPr>
              <a:t>	:</a:t>
            </a:r>
            <a:r>
              <a:rPr sz="2000" spc="405" dirty="0">
                <a:latin typeface="Times New Roman"/>
                <a:cs typeface="Times New Roman"/>
              </a:rPr>
              <a:t> </a:t>
            </a:r>
            <a:r>
              <a:rPr sz="2000" dirty="0">
                <a:latin typeface="Times New Roman"/>
                <a:cs typeface="Times New Roman"/>
              </a:rPr>
              <a:t>Yunqian Xu,</a:t>
            </a:r>
            <a:r>
              <a:rPr sz="2000" spc="-15" dirty="0">
                <a:latin typeface="Times New Roman"/>
                <a:cs typeface="Times New Roman"/>
              </a:rPr>
              <a:t> </a:t>
            </a:r>
            <a:r>
              <a:rPr sz="2000" dirty="0">
                <a:latin typeface="Times New Roman"/>
                <a:cs typeface="Times New Roman"/>
              </a:rPr>
              <a:t>tengfei</a:t>
            </a:r>
            <a:r>
              <a:rPr sz="2000" spc="-25" dirty="0">
                <a:latin typeface="Times New Roman"/>
                <a:cs typeface="Times New Roman"/>
              </a:rPr>
              <a:t> </a:t>
            </a:r>
            <a:r>
              <a:rPr sz="2000" dirty="0">
                <a:latin typeface="Times New Roman"/>
                <a:cs typeface="Times New Roman"/>
              </a:rPr>
              <a:t>Bao,</a:t>
            </a:r>
            <a:r>
              <a:rPr sz="2000" spc="-55" dirty="0">
                <a:latin typeface="Times New Roman"/>
                <a:cs typeface="Times New Roman"/>
              </a:rPr>
              <a:t> </a:t>
            </a:r>
            <a:r>
              <a:rPr sz="2000" dirty="0">
                <a:latin typeface="Times New Roman"/>
                <a:cs typeface="Times New Roman"/>
              </a:rPr>
              <a:t>Mingdao Yuan,</a:t>
            </a:r>
            <a:r>
              <a:rPr sz="2000" spc="-10" dirty="0">
                <a:latin typeface="Times New Roman"/>
                <a:cs typeface="Times New Roman"/>
              </a:rPr>
              <a:t> </a:t>
            </a:r>
            <a:r>
              <a:rPr sz="2000" dirty="0">
                <a:latin typeface="Times New Roman"/>
                <a:cs typeface="Times New Roman"/>
              </a:rPr>
              <a:t>shu</a:t>
            </a:r>
            <a:r>
              <a:rPr sz="2000" spc="-10" dirty="0">
                <a:latin typeface="Times New Roman"/>
                <a:cs typeface="Times New Roman"/>
              </a:rPr>
              <a:t> Zhang </a:t>
            </a:r>
            <a:r>
              <a:rPr sz="2000" dirty="0">
                <a:latin typeface="Times New Roman"/>
                <a:cs typeface="Times New Roman"/>
              </a:rPr>
              <a:t>Published</a:t>
            </a:r>
            <a:r>
              <a:rPr sz="2000" spc="-20" dirty="0">
                <a:latin typeface="Times New Roman"/>
                <a:cs typeface="Times New Roman"/>
              </a:rPr>
              <a:t> </a:t>
            </a:r>
            <a:r>
              <a:rPr sz="2000" dirty="0">
                <a:latin typeface="Times New Roman"/>
                <a:cs typeface="Times New Roman"/>
              </a:rPr>
              <a:t>Year</a:t>
            </a:r>
            <a:r>
              <a:rPr sz="2000" spc="-30" dirty="0">
                <a:latin typeface="Times New Roman"/>
                <a:cs typeface="Times New Roman"/>
              </a:rPr>
              <a:t> </a:t>
            </a:r>
            <a:r>
              <a:rPr sz="2000" dirty="0">
                <a:latin typeface="Times New Roman"/>
                <a:cs typeface="Times New Roman"/>
              </a:rPr>
              <a:t>:</a:t>
            </a:r>
            <a:r>
              <a:rPr sz="2000" spc="-40" dirty="0">
                <a:latin typeface="Times New Roman"/>
                <a:cs typeface="Times New Roman"/>
              </a:rPr>
              <a:t> </a:t>
            </a:r>
            <a:r>
              <a:rPr sz="2000" spc="-20" dirty="0">
                <a:latin typeface="Times New Roman"/>
                <a:cs typeface="Times New Roman"/>
              </a:rPr>
              <a:t>2025</a:t>
            </a:r>
            <a:endParaRPr sz="2000">
              <a:latin typeface="Times New Roman"/>
              <a:cs typeface="Times New Roman"/>
            </a:endParaRPr>
          </a:p>
          <a:p>
            <a:pPr>
              <a:lnSpc>
                <a:spcPct val="100000"/>
              </a:lnSpc>
              <a:spcBef>
                <a:spcPts val="100"/>
              </a:spcBef>
            </a:pPr>
            <a:endParaRPr sz="2000">
              <a:latin typeface="Times New Roman"/>
              <a:cs typeface="Times New Roman"/>
            </a:endParaRPr>
          </a:p>
          <a:p>
            <a:pPr marL="12700">
              <a:lnSpc>
                <a:spcPct val="100000"/>
              </a:lnSpc>
              <a:tabLst>
                <a:tab pos="2038985" algn="l"/>
              </a:tabLst>
            </a:pPr>
            <a:r>
              <a:rPr sz="2000" dirty="0">
                <a:latin typeface="Times New Roman"/>
                <a:cs typeface="Times New Roman"/>
              </a:rPr>
              <a:t>Proposed</a:t>
            </a:r>
            <a:r>
              <a:rPr sz="2000" spc="-100" dirty="0">
                <a:latin typeface="Times New Roman"/>
                <a:cs typeface="Times New Roman"/>
              </a:rPr>
              <a:t> </a:t>
            </a:r>
            <a:r>
              <a:rPr sz="2000" dirty="0">
                <a:latin typeface="Times New Roman"/>
                <a:cs typeface="Times New Roman"/>
              </a:rPr>
              <a:t>method</a:t>
            </a:r>
            <a:r>
              <a:rPr sz="2000" spc="-35" dirty="0">
                <a:latin typeface="Times New Roman"/>
                <a:cs typeface="Times New Roman"/>
              </a:rPr>
              <a:t> </a:t>
            </a:r>
            <a:r>
              <a:rPr sz="2000" spc="-50" dirty="0">
                <a:latin typeface="Times New Roman"/>
                <a:cs typeface="Times New Roman"/>
              </a:rPr>
              <a:t>:</a:t>
            </a:r>
            <a:r>
              <a:rPr sz="2000" dirty="0">
                <a:latin typeface="Times New Roman"/>
                <a:cs typeface="Times New Roman"/>
              </a:rPr>
              <a:t>	Improved</a:t>
            </a:r>
            <a:r>
              <a:rPr sz="2000" spc="-75" dirty="0">
                <a:latin typeface="Times New Roman"/>
                <a:cs typeface="Times New Roman"/>
              </a:rPr>
              <a:t> </a:t>
            </a:r>
            <a:r>
              <a:rPr sz="2000" dirty="0">
                <a:latin typeface="Times New Roman"/>
                <a:cs typeface="Times New Roman"/>
              </a:rPr>
              <a:t>ABC</a:t>
            </a:r>
            <a:r>
              <a:rPr sz="2000" spc="-45" dirty="0">
                <a:latin typeface="Times New Roman"/>
                <a:cs typeface="Times New Roman"/>
              </a:rPr>
              <a:t> </a:t>
            </a:r>
            <a:r>
              <a:rPr sz="2000" dirty="0">
                <a:latin typeface="Times New Roman"/>
                <a:cs typeface="Times New Roman"/>
              </a:rPr>
              <a:t>algorithm,</a:t>
            </a:r>
            <a:r>
              <a:rPr sz="2000" spc="-55" dirty="0">
                <a:latin typeface="Times New Roman"/>
                <a:cs typeface="Times New Roman"/>
              </a:rPr>
              <a:t> </a:t>
            </a:r>
            <a:r>
              <a:rPr sz="2000" dirty="0">
                <a:latin typeface="Times New Roman"/>
                <a:cs typeface="Times New Roman"/>
              </a:rPr>
              <a:t>SVM</a:t>
            </a:r>
            <a:r>
              <a:rPr sz="2000" spc="-60" dirty="0">
                <a:latin typeface="Times New Roman"/>
                <a:cs typeface="Times New Roman"/>
              </a:rPr>
              <a:t> </a:t>
            </a:r>
            <a:r>
              <a:rPr sz="2000" dirty="0">
                <a:latin typeface="Times New Roman"/>
                <a:cs typeface="Times New Roman"/>
              </a:rPr>
              <a:t>algorithm,</a:t>
            </a:r>
            <a:r>
              <a:rPr sz="2000" spc="10" dirty="0">
                <a:latin typeface="Times New Roman"/>
                <a:cs typeface="Times New Roman"/>
              </a:rPr>
              <a:t> </a:t>
            </a:r>
            <a:r>
              <a:rPr sz="2000" dirty="0">
                <a:latin typeface="Times New Roman"/>
                <a:cs typeface="Times New Roman"/>
              </a:rPr>
              <a:t>Comprensive</a:t>
            </a:r>
            <a:r>
              <a:rPr sz="2000" spc="-5" dirty="0">
                <a:latin typeface="Times New Roman"/>
                <a:cs typeface="Times New Roman"/>
              </a:rPr>
              <a:t> </a:t>
            </a:r>
            <a:r>
              <a:rPr sz="2000" spc="-25" dirty="0">
                <a:latin typeface="Times New Roman"/>
                <a:cs typeface="Times New Roman"/>
              </a:rPr>
              <a:t>Dam</a:t>
            </a:r>
            <a:endParaRPr sz="2000">
              <a:latin typeface="Times New Roman"/>
              <a:cs typeface="Times New Roman"/>
            </a:endParaRPr>
          </a:p>
          <a:p>
            <a:pPr marL="12700">
              <a:lnSpc>
                <a:spcPct val="100000"/>
              </a:lnSpc>
              <a:spcBef>
                <a:spcPts val="5"/>
              </a:spcBef>
            </a:pPr>
            <a:r>
              <a:rPr sz="2000" spc="-10" dirty="0">
                <a:latin typeface="Times New Roman"/>
                <a:cs typeface="Times New Roman"/>
              </a:rPr>
              <a:t>monitoring.</a:t>
            </a:r>
            <a:endParaRPr sz="2000">
              <a:latin typeface="Times New Roman"/>
              <a:cs typeface="Times New Roman"/>
            </a:endParaRPr>
          </a:p>
          <a:p>
            <a:pPr>
              <a:lnSpc>
                <a:spcPct val="100000"/>
              </a:lnSpc>
              <a:spcBef>
                <a:spcPts val="100"/>
              </a:spcBef>
            </a:pPr>
            <a:endParaRPr sz="2000">
              <a:latin typeface="Times New Roman"/>
              <a:cs typeface="Times New Roman"/>
            </a:endParaRPr>
          </a:p>
          <a:p>
            <a:pPr marL="12700">
              <a:lnSpc>
                <a:spcPct val="100000"/>
              </a:lnSpc>
            </a:pPr>
            <a:r>
              <a:rPr sz="2000" dirty="0">
                <a:latin typeface="Times New Roman"/>
                <a:cs typeface="Times New Roman"/>
              </a:rPr>
              <a:t>Parameter</a:t>
            </a:r>
            <a:r>
              <a:rPr sz="2000" spc="-60" dirty="0">
                <a:latin typeface="Times New Roman"/>
                <a:cs typeface="Times New Roman"/>
              </a:rPr>
              <a:t> </a:t>
            </a:r>
            <a:r>
              <a:rPr sz="2000" dirty="0">
                <a:latin typeface="Times New Roman"/>
                <a:cs typeface="Times New Roman"/>
              </a:rPr>
              <a:t>used</a:t>
            </a:r>
            <a:r>
              <a:rPr sz="2000" spc="-50" dirty="0">
                <a:latin typeface="Times New Roman"/>
                <a:cs typeface="Times New Roman"/>
              </a:rPr>
              <a:t> </a:t>
            </a:r>
            <a:r>
              <a:rPr sz="2000" dirty="0">
                <a:latin typeface="Times New Roman"/>
                <a:cs typeface="Times New Roman"/>
              </a:rPr>
              <a:t>:</a:t>
            </a:r>
            <a:r>
              <a:rPr sz="2000" spc="-65" dirty="0">
                <a:latin typeface="Times New Roman"/>
                <a:cs typeface="Times New Roman"/>
              </a:rPr>
              <a:t> </a:t>
            </a:r>
            <a:r>
              <a:rPr sz="2000" dirty="0">
                <a:latin typeface="Times New Roman"/>
                <a:cs typeface="Times New Roman"/>
              </a:rPr>
              <a:t>Algorithms, Data</a:t>
            </a:r>
            <a:r>
              <a:rPr sz="2000" spc="-60" dirty="0">
                <a:latin typeface="Times New Roman"/>
                <a:cs typeface="Times New Roman"/>
              </a:rPr>
              <a:t> </a:t>
            </a:r>
            <a:r>
              <a:rPr sz="2000" spc="-10" dirty="0">
                <a:latin typeface="Times New Roman"/>
                <a:cs typeface="Times New Roman"/>
              </a:rPr>
              <a:t>monitored</a:t>
            </a:r>
            <a:endParaRPr sz="2000">
              <a:latin typeface="Times New Roman"/>
              <a:cs typeface="Times New Roman"/>
            </a:endParaRPr>
          </a:p>
          <a:p>
            <a:pPr>
              <a:lnSpc>
                <a:spcPct val="100000"/>
              </a:lnSpc>
              <a:spcBef>
                <a:spcPts val="105"/>
              </a:spcBef>
            </a:pPr>
            <a:endParaRPr sz="2000">
              <a:latin typeface="Times New Roman"/>
              <a:cs typeface="Times New Roman"/>
            </a:endParaRPr>
          </a:p>
          <a:p>
            <a:pPr marL="12700">
              <a:lnSpc>
                <a:spcPct val="100000"/>
              </a:lnSpc>
            </a:pPr>
            <a:r>
              <a:rPr sz="2000" dirty="0">
                <a:latin typeface="Times New Roman"/>
                <a:cs typeface="Times New Roman"/>
              </a:rPr>
              <a:t>Advantage</a:t>
            </a:r>
            <a:r>
              <a:rPr sz="2000" spc="5" dirty="0">
                <a:latin typeface="Times New Roman"/>
                <a:cs typeface="Times New Roman"/>
              </a:rPr>
              <a:t> </a:t>
            </a:r>
            <a:r>
              <a:rPr sz="2000" dirty="0">
                <a:latin typeface="Times New Roman"/>
                <a:cs typeface="Times New Roman"/>
              </a:rPr>
              <a:t>:</a:t>
            </a:r>
            <a:r>
              <a:rPr sz="2000" spc="370" dirty="0">
                <a:latin typeface="Times New Roman"/>
                <a:cs typeface="Times New Roman"/>
              </a:rPr>
              <a:t> </a:t>
            </a:r>
            <a:r>
              <a:rPr sz="2000" dirty="0">
                <a:latin typeface="Times New Roman"/>
                <a:cs typeface="Times New Roman"/>
              </a:rPr>
              <a:t>High</a:t>
            </a:r>
            <a:r>
              <a:rPr sz="2000" spc="-25" dirty="0">
                <a:latin typeface="Times New Roman"/>
                <a:cs typeface="Times New Roman"/>
              </a:rPr>
              <a:t> </a:t>
            </a:r>
            <a:r>
              <a:rPr sz="2000" dirty="0">
                <a:latin typeface="Times New Roman"/>
                <a:cs typeface="Times New Roman"/>
              </a:rPr>
              <a:t>accuracy,</a:t>
            </a:r>
            <a:r>
              <a:rPr sz="2000" spc="-40" dirty="0">
                <a:latin typeface="Times New Roman"/>
                <a:cs typeface="Times New Roman"/>
              </a:rPr>
              <a:t> </a:t>
            </a:r>
            <a:r>
              <a:rPr sz="2000" dirty="0">
                <a:latin typeface="Times New Roman"/>
                <a:cs typeface="Times New Roman"/>
              </a:rPr>
              <a:t>Real</a:t>
            </a:r>
            <a:r>
              <a:rPr sz="2000" spc="-35" dirty="0">
                <a:latin typeface="Times New Roman"/>
                <a:cs typeface="Times New Roman"/>
              </a:rPr>
              <a:t> </a:t>
            </a:r>
            <a:r>
              <a:rPr sz="2000" dirty="0">
                <a:latin typeface="Times New Roman"/>
                <a:cs typeface="Times New Roman"/>
              </a:rPr>
              <a:t>time</a:t>
            </a:r>
            <a:r>
              <a:rPr sz="2000" spc="-40" dirty="0">
                <a:latin typeface="Times New Roman"/>
                <a:cs typeface="Times New Roman"/>
              </a:rPr>
              <a:t> </a:t>
            </a:r>
            <a:r>
              <a:rPr sz="2000" dirty="0">
                <a:latin typeface="Times New Roman"/>
                <a:cs typeface="Times New Roman"/>
              </a:rPr>
              <a:t>monitoring,</a:t>
            </a:r>
            <a:r>
              <a:rPr sz="2000" spc="-10" dirty="0">
                <a:latin typeface="Times New Roman"/>
                <a:cs typeface="Times New Roman"/>
              </a:rPr>
              <a:t> </a:t>
            </a:r>
            <a:r>
              <a:rPr sz="2000" dirty="0">
                <a:latin typeface="Times New Roman"/>
                <a:cs typeface="Times New Roman"/>
              </a:rPr>
              <a:t>Robust</a:t>
            </a:r>
            <a:r>
              <a:rPr sz="2000" spc="-40" dirty="0">
                <a:latin typeface="Times New Roman"/>
                <a:cs typeface="Times New Roman"/>
              </a:rPr>
              <a:t> </a:t>
            </a:r>
            <a:r>
              <a:rPr sz="2000" dirty="0">
                <a:latin typeface="Times New Roman"/>
                <a:cs typeface="Times New Roman"/>
              </a:rPr>
              <a:t>data</a:t>
            </a:r>
            <a:r>
              <a:rPr sz="2000" spc="-70" dirty="0">
                <a:latin typeface="Times New Roman"/>
                <a:cs typeface="Times New Roman"/>
              </a:rPr>
              <a:t> </a:t>
            </a:r>
            <a:r>
              <a:rPr sz="2000" spc="-10" dirty="0">
                <a:latin typeface="Times New Roman"/>
                <a:cs typeface="Times New Roman"/>
              </a:rPr>
              <a:t>processing</a:t>
            </a:r>
            <a:endParaRPr sz="2000">
              <a:latin typeface="Times New Roman"/>
              <a:cs typeface="Times New Roman"/>
            </a:endParaRPr>
          </a:p>
        </p:txBody>
      </p:sp>
      <p:sp>
        <p:nvSpPr>
          <p:cNvPr id="7" name="object 7"/>
          <p:cNvSpPr txBox="1"/>
          <p:nvPr/>
        </p:nvSpPr>
        <p:spPr>
          <a:xfrm>
            <a:off x="352755" y="5949797"/>
            <a:ext cx="7097395" cy="669290"/>
          </a:xfrm>
          <a:prstGeom prst="rect">
            <a:avLst/>
          </a:prstGeom>
        </p:spPr>
        <p:txBody>
          <a:bodyPr vert="horz" wrap="square" lIns="0" tIns="11430" rIns="0" bIns="0" rtlCol="0">
            <a:spAutoFit/>
          </a:bodyPr>
          <a:lstStyle/>
          <a:p>
            <a:pPr marL="12700">
              <a:lnSpc>
                <a:spcPct val="100000"/>
              </a:lnSpc>
              <a:spcBef>
                <a:spcPts val="90"/>
              </a:spcBef>
            </a:pPr>
            <a:r>
              <a:rPr sz="2000" dirty="0">
                <a:latin typeface="Times New Roman"/>
                <a:cs typeface="Times New Roman"/>
              </a:rPr>
              <a:t>Limitation</a:t>
            </a:r>
            <a:r>
              <a:rPr sz="2000" spc="-15" dirty="0">
                <a:latin typeface="Times New Roman"/>
                <a:cs typeface="Times New Roman"/>
              </a:rPr>
              <a:t> </a:t>
            </a:r>
            <a:r>
              <a:rPr sz="2000" dirty="0">
                <a:latin typeface="Times New Roman"/>
                <a:cs typeface="Times New Roman"/>
              </a:rPr>
              <a:t>:</a:t>
            </a:r>
            <a:r>
              <a:rPr sz="2000" spc="-50" dirty="0">
                <a:latin typeface="Times New Roman"/>
                <a:cs typeface="Times New Roman"/>
              </a:rPr>
              <a:t> </a:t>
            </a:r>
            <a:r>
              <a:rPr sz="2000" dirty="0">
                <a:latin typeface="Times New Roman"/>
                <a:cs typeface="Times New Roman"/>
              </a:rPr>
              <a:t>Dependence</a:t>
            </a:r>
            <a:r>
              <a:rPr sz="2000" spc="-20" dirty="0">
                <a:latin typeface="Times New Roman"/>
                <a:cs typeface="Times New Roman"/>
              </a:rPr>
              <a:t> </a:t>
            </a:r>
            <a:r>
              <a:rPr sz="2000" dirty="0">
                <a:latin typeface="Times New Roman"/>
                <a:cs typeface="Times New Roman"/>
              </a:rPr>
              <a:t>on</a:t>
            </a:r>
            <a:r>
              <a:rPr sz="2000" spc="-50" dirty="0">
                <a:latin typeface="Times New Roman"/>
                <a:cs typeface="Times New Roman"/>
              </a:rPr>
              <a:t> </a:t>
            </a:r>
            <a:r>
              <a:rPr sz="2000" dirty="0">
                <a:latin typeface="Times New Roman"/>
                <a:cs typeface="Times New Roman"/>
              </a:rPr>
              <a:t>data</a:t>
            </a:r>
            <a:r>
              <a:rPr sz="2000" spc="-60" dirty="0">
                <a:latin typeface="Times New Roman"/>
                <a:cs typeface="Times New Roman"/>
              </a:rPr>
              <a:t> </a:t>
            </a:r>
            <a:r>
              <a:rPr sz="2000" dirty="0">
                <a:latin typeface="Times New Roman"/>
                <a:cs typeface="Times New Roman"/>
              </a:rPr>
              <a:t>quality, Sensitivity</a:t>
            </a:r>
            <a:r>
              <a:rPr sz="2000" spc="-20" dirty="0">
                <a:latin typeface="Times New Roman"/>
                <a:cs typeface="Times New Roman"/>
              </a:rPr>
              <a:t> </a:t>
            </a:r>
            <a:r>
              <a:rPr sz="2000" dirty="0">
                <a:latin typeface="Times New Roman"/>
                <a:cs typeface="Times New Roman"/>
              </a:rPr>
              <a:t>to</a:t>
            </a:r>
            <a:r>
              <a:rPr sz="2000" spc="-55" dirty="0">
                <a:latin typeface="Times New Roman"/>
                <a:cs typeface="Times New Roman"/>
              </a:rPr>
              <a:t> </a:t>
            </a:r>
            <a:r>
              <a:rPr sz="2000" spc="-10" dirty="0">
                <a:latin typeface="Times New Roman"/>
                <a:cs typeface="Times New Roman"/>
              </a:rPr>
              <a:t>environmental</a:t>
            </a:r>
            <a:endParaRPr sz="2000">
              <a:latin typeface="Times New Roman"/>
              <a:cs typeface="Times New Roman"/>
            </a:endParaRPr>
          </a:p>
          <a:p>
            <a:pPr marL="3659504">
              <a:lnSpc>
                <a:spcPct val="100000"/>
              </a:lnSpc>
              <a:spcBef>
                <a:spcPts val="1595"/>
              </a:spcBef>
            </a:pPr>
            <a:r>
              <a:rPr sz="900" dirty="0">
                <a:solidFill>
                  <a:srgbClr val="888888"/>
                </a:solidFill>
                <a:latin typeface="Arial MT"/>
                <a:cs typeface="Arial MT"/>
              </a:rPr>
              <a:t>Dept.</a:t>
            </a:r>
            <a:r>
              <a:rPr sz="900" spc="-10" dirty="0">
                <a:solidFill>
                  <a:srgbClr val="888888"/>
                </a:solidFill>
                <a:latin typeface="Arial MT"/>
                <a:cs typeface="Arial MT"/>
              </a:rPr>
              <a:t> </a:t>
            </a:r>
            <a:r>
              <a:rPr sz="900" dirty="0">
                <a:solidFill>
                  <a:srgbClr val="888888"/>
                </a:solidFill>
                <a:latin typeface="Arial MT"/>
                <a:cs typeface="Arial MT"/>
              </a:rPr>
              <a:t>of</a:t>
            </a:r>
            <a:r>
              <a:rPr sz="900" spc="-5" dirty="0">
                <a:solidFill>
                  <a:srgbClr val="888888"/>
                </a:solidFill>
                <a:latin typeface="Arial MT"/>
                <a:cs typeface="Arial MT"/>
              </a:rPr>
              <a:t> </a:t>
            </a:r>
            <a:r>
              <a:rPr sz="900" dirty="0">
                <a:solidFill>
                  <a:srgbClr val="888888"/>
                </a:solidFill>
                <a:latin typeface="Arial MT"/>
                <a:cs typeface="Arial MT"/>
              </a:rPr>
              <a:t>ECE</a:t>
            </a:r>
            <a:r>
              <a:rPr sz="900" spc="-20" dirty="0">
                <a:solidFill>
                  <a:srgbClr val="888888"/>
                </a:solidFill>
                <a:latin typeface="Arial MT"/>
                <a:cs typeface="Arial MT"/>
              </a:rPr>
              <a:t> </a:t>
            </a:r>
            <a:r>
              <a:rPr sz="900" dirty="0">
                <a:solidFill>
                  <a:srgbClr val="888888"/>
                </a:solidFill>
                <a:latin typeface="Arial MT"/>
                <a:cs typeface="Arial MT"/>
              </a:rPr>
              <a:t>2025-</a:t>
            </a:r>
            <a:r>
              <a:rPr sz="900" spc="-25" dirty="0">
                <a:solidFill>
                  <a:srgbClr val="888888"/>
                </a:solidFill>
                <a:latin typeface="Arial MT"/>
                <a:cs typeface="Arial MT"/>
              </a:rPr>
              <a:t>26</a:t>
            </a:r>
            <a:endParaRPr sz="900">
              <a:latin typeface="Arial MT"/>
              <a:cs typeface="Arial M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14655" y="1680159"/>
            <a:ext cx="8163559" cy="5212080"/>
          </a:xfrm>
          <a:prstGeom prst="rect">
            <a:avLst/>
          </a:prstGeom>
        </p:spPr>
        <p:txBody>
          <a:bodyPr vert="horz" wrap="square" lIns="0" tIns="12065" rIns="0" bIns="0" rtlCol="0">
            <a:spAutoFit/>
          </a:bodyPr>
          <a:lstStyle/>
          <a:p>
            <a:pPr marL="50800">
              <a:lnSpc>
                <a:spcPct val="100000"/>
              </a:lnSpc>
              <a:spcBef>
                <a:spcPts val="95"/>
              </a:spcBef>
              <a:tabLst>
                <a:tab pos="5882005" algn="l"/>
              </a:tabLst>
            </a:pPr>
            <a:r>
              <a:rPr sz="1800" dirty="0">
                <a:latin typeface="Times New Roman"/>
                <a:cs typeface="Times New Roman"/>
              </a:rPr>
              <a:t>[</a:t>
            </a:r>
            <a:r>
              <a:rPr sz="2000" b="1" dirty="0">
                <a:latin typeface="Times New Roman"/>
                <a:cs typeface="Times New Roman"/>
              </a:rPr>
              <a:t>2]Title</a:t>
            </a:r>
            <a:r>
              <a:rPr sz="2000" b="1" spc="405" dirty="0">
                <a:latin typeface="Times New Roman"/>
                <a:cs typeface="Times New Roman"/>
              </a:rPr>
              <a:t> </a:t>
            </a:r>
            <a:r>
              <a:rPr sz="2000" b="1" dirty="0">
                <a:latin typeface="Times New Roman"/>
                <a:cs typeface="Times New Roman"/>
              </a:rPr>
              <a:t>of</a:t>
            </a:r>
            <a:r>
              <a:rPr sz="2000" b="1" spc="-45" dirty="0">
                <a:latin typeface="Times New Roman"/>
                <a:cs typeface="Times New Roman"/>
              </a:rPr>
              <a:t> </a:t>
            </a:r>
            <a:r>
              <a:rPr sz="2000" b="1" dirty="0">
                <a:latin typeface="Times New Roman"/>
                <a:cs typeface="Times New Roman"/>
              </a:rPr>
              <a:t>the</a:t>
            </a:r>
            <a:r>
              <a:rPr sz="2000" b="1" spc="-30" dirty="0">
                <a:latin typeface="Times New Roman"/>
                <a:cs typeface="Times New Roman"/>
              </a:rPr>
              <a:t> </a:t>
            </a:r>
            <a:r>
              <a:rPr sz="2000" b="1" dirty="0">
                <a:latin typeface="Times New Roman"/>
                <a:cs typeface="Times New Roman"/>
              </a:rPr>
              <a:t>paper:</a:t>
            </a:r>
            <a:r>
              <a:rPr sz="2000" b="1" spc="-25" dirty="0">
                <a:latin typeface="Times New Roman"/>
                <a:cs typeface="Times New Roman"/>
              </a:rPr>
              <a:t> </a:t>
            </a:r>
            <a:r>
              <a:rPr sz="2000" b="1" dirty="0">
                <a:latin typeface="Times New Roman"/>
                <a:cs typeface="Times New Roman"/>
              </a:rPr>
              <a:t>Impact</a:t>
            </a:r>
            <a:r>
              <a:rPr sz="2000" b="1" spc="25" dirty="0">
                <a:latin typeface="Times New Roman"/>
                <a:cs typeface="Times New Roman"/>
              </a:rPr>
              <a:t> </a:t>
            </a:r>
            <a:r>
              <a:rPr sz="2000" b="1" dirty="0">
                <a:latin typeface="Times New Roman"/>
                <a:cs typeface="Times New Roman"/>
              </a:rPr>
              <a:t>of</a:t>
            </a:r>
            <a:r>
              <a:rPr sz="2000" b="1" spc="-40" dirty="0">
                <a:latin typeface="Times New Roman"/>
                <a:cs typeface="Times New Roman"/>
              </a:rPr>
              <a:t> </a:t>
            </a:r>
            <a:r>
              <a:rPr sz="2000" b="1" dirty="0">
                <a:latin typeface="Times New Roman"/>
                <a:cs typeface="Times New Roman"/>
              </a:rPr>
              <a:t>Arch</a:t>
            </a:r>
            <a:r>
              <a:rPr sz="2000" b="1" spc="-30" dirty="0">
                <a:latin typeface="Times New Roman"/>
                <a:cs typeface="Times New Roman"/>
              </a:rPr>
              <a:t> </a:t>
            </a:r>
            <a:r>
              <a:rPr sz="2000" b="1" dirty="0">
                <a:latin typeface="Times New Roman"/>
                <a:cs typeface="Times New Roman"/>
              </a:rPr>
              <a:t>Dam</a:t>
            </a:r>
            <a:r>
              <a:rPr sz="2000" b="1" spc="-5" dirty="0">
                <a:latin typeface="Times New Roman"/>
                <a:cs typeface="Times New Roman"/>
              </a:rPr>
              <a:t> </a:t>
            </a:r>
            <a:r>
              <a:rPr sz="2000" b="1" spc="-10" dirty="0">
                <a:latin typeface="Times New Roman"/>
                <a:cs typeface="Times New Roman"/>
              </a:rPr>
              <a:t>Cracking</a:t>
            </a:r>
            <a:r>
              <a:rPr sz="2000" b="1" dirty="0">
                <a:latin typeface="Times New Roman"/>
                <a:cs typeface="Times New Roman"/>
              </a:rPr>
              <a:t>	on</a:t>
            </a:r>
            <a:r>
              <a:rPr sz="2000" b="1" spc="-55" dirty="0">
                <a:latin typeface="Times New Roman"/>
                <a:cs typeface="Times New Roman"/>
              </a:rPr>
              <a:t> </a:t>
            </a:r>
            <a:r>
              <a:rPr sz="2000" b="1" dirty="0">
                <a:latin typeface="Times New Roman"/>
                <a:cs typeface="Times New Roman"/>
              </a:rPr>
              <a:t>Monitoring</a:t>
            </a:r>
            <a:r>
              <a:rPr sz="2000" b="1" spc="-65" dirty="0">
                <a:latin typeface="Times New Roman"/>
                <a:cs typeface="Times New Roman"/>
              </a:rPr>
              <a:t> </a:t>
            </a:r>
            <a:r>
              <a:rPr sz="2000" b="1" spc="-20" dirty="0">
                <a:latin typeface="Times New Roman"/>
                <a:cs typeface="Times New Roman"/>
              </a:rPr>
              <a:t>data</a:t>
            </a:r>
            <a:endParaRPr sz="2000">
              <a:latin typeface="Times New Roman"/>
              <a:cs typeface="Times New Roman"/>
            </a:endParaRPr>
          </a:p>
          <a:p>
            <a:pPr>
              <a:lnSpc>
                <a:spcPct val="100000"/>
              </a:lnSpc>
              <a:spcBef>
                <a:spcPts val="100"/>
              </a:spcBef>
            </a:pPr>
            <a:endParaRPr sz="2000">
              <a:latin typeface="Times New Roman"/>
              <a:cs typeface="Times New Roman"/>
            </a:endParaRPr>
          </a:p>
          <a:p>
            <a:pPr marL="50800">
              <a:lnSpc>
                <a:spcPct val="100000"/>
              </a:lnSpc>
              <a:tabLst>
                <a:tab pos="895985" algn="l"/>
              </a:tabLst>
            </a:pPr>
            <a:r>
              <a:rPr sz="2000" spc="-10" dirty="0">
                <a:latin typeface="Times New Roman"/>
                <a:cs typeface="Times New Roman"/>
              </a:rPr>
              <a:t>Author</a:t>
            </a:r>
            <a:r>
              <a:rPr sz="2000" dirty="0">
                <a:latin typeface="Times New Roman"/>
                <a:cs typeface="Times New Roman"/>
              </a:rPr>
              <a:t>	:</a:t>
            </a:r>
            <a:r>
              <a:rPr sz="2000" spc="390" dirty="0">
                <a:latin typeface="Times New Roman"/>
                <a:cs typeface="Times New Roman"/>
              </a:rPr>
              <a:t> </a:t>
            </a:r>
            <a:r>
              <a:rPr sz="2000" dirty="0">
                <a:latin typeface="Times New Roman"/>
                <a:cs typeface="Times New Roman"/>
              </a:rPr>
              <a:t>Andre</a:t>
            </a:r>
            <a:r>
              <a:rPr sz="2000" spc="-25" dirty="0">
                <a:latin typeface="Times New Roman"/>
                <a:cs typeface="Times New Roman"/>
              </a:rPr>
              <a:t> </a:t>
            </a:r>
            <a:r>
              <a:rPr sz="2000" dirty="0">
                <a:latin typeface="Times New Roman"/>
                <a:cs typeface="Times New Roman"/>
              </a:rPr>
              <a:t>Conde,</a:t>
            </a:r>
            <a:r>
              <a:rPr sz="2000" spc="-15" dirty="0">
                <a:latin typeface="Times New Roman"/>
                <a:cs typeface="Times New Roman"/>
              </a:rPr>
              <a:t> </a:t>
            </a:r>
            <a:r>
              <a:rPr sz="2000" dirty="0">
                <a:latin typeface="Times New Roman"/>
                <a:cs typeface="Times New Roman"/>
              </a:rPr>
              <a:t>Miguel</a:t>
            </a:r>
            <a:r>
              <a:rPr sz="2000" spc="10" dirty="0">
                <a:latin typeface="Times New Roman"/>
                <a:cs typeface="Times New Roman"/>
              </a:rPr>
              <a:t> </a:t>
            </a:r>
            <a:r>
              <a:rPr sz="2000" dirty="0">
                <a:latin typeface="Times New Roman"/>
                <a:cs typeface="Times New Roman"/>
              </a:rPr>
              <a:t>A.Toledo,</a:t>
            </a:r>
            <a:r>
              <a:rPr sz="2000" spc="-65" dirty="0">
                <a:latin typeface="Times New Roman"/>
                <a:cs typeface="Times New Roman"/>
              </a:rPr>
              <a:t> </a:t>
            </a:r>
            <a:r>
              <a:rPr sz="2000" dirty="0">
                <a:latin typeface="Times New Roman"/>
                <a:cs typeface="Times New Roman"/>
              </a:rPr>
              <a:t>Eduardo</a:t>
            </a:r>
            <a:r>
              <a:rPr sz="2000" spc="-45" dirty="0">
                <a:latin typeface="Times New Roman"/>
                <a:cs typeface="Times New Roman"/>
              </a:rPr>
              <a:t> </a:t>
            </a:r>
            <a:r>
              <a:rPr sz="2000" spc="-10" dirty="0">
                <a:latin typeface="Times New Roman"/>
                <a:cs typeface="Times New Roman"/>
              </a:rPr>
              <a:t>salete</a:t>
            </a:r>
            <a:endParaRPr sz="2000">
              <a:latin typeface="Times New Roman"/>
              <a:cs typeface="Times New Roman"/>
            </a:endParaRPr>
          </a:p>
          <a:p>
            <a:pPr>
              <a:lnSpc>
                <a:spcPct val="100000"/>
              </a:lnSpc>
              <a:spcBef>
                <a:spcPts val="100"/>
              </a:spcBef>
            </a:pPr>
            <a:endParaRPr sz="2000">
              <a:latin typeface="Times New Roman"/>
              <a:cs typeface="Times New Roman"/>
            </a:endParaRPr>
          </a:p>
          <a:p>
            <a:pPr marL="50800">
              <a:lnSpc>
                <a:spcPct val="100000"/>
              </a:lnSpc>
              <a:spcBef>
                <a:spcPts val="5"/>
              </a:spcBef>
            </a:pPr>
            <a:r>
              <a:rPr sz="2000" dirty="0">
                <a:latin typeface="Times New Roman"/>
                <a:cs typeface="Times New Roman"/>
              </a:rPr>
              <a:t>Published</a:t>
            </a:r>
            <a:r>
              <a:rPr sz="2000" spc="-20" dirty="0">
                <a:latin typeface="Times New Roman"/>
                <a:cs typeface="Times New Roman"/>
              </a:rPr>
              <a:t> </a:t>
            </a:r>
            <a:r>
              <a:rPr sz="2000" dirty="0">
                <a:latin typeface="Times New Roman"/>
                <a:cs typeface="Times New Roman"/>
              </a:rPr>
              <a:t>Year</a:t>
            </a:r>
            <a:r>
              <a:rPr sz="2000" spc="-30" dirty="0">
                <a:latin typeface="Times New Roman"/>
                <a:cs typeface="Times New Roman"/>
              </a:rPr>
              <a:t> </a:t>
            </a:r>
            <a:r>
              <a:rPr sz="2000" dirty="0">
                <a:latin typeface="Times New Roman"/>
                <a:cs typeface="Times New Roman"/>
              </a:rPr>
              <a:t>:</a:t>
            </a:r>
            <a:r>
              <a:rPr sz="2000" spc="-40" dirty="0">
                <a:latin typeface="Times New Roman"/>
                <a:cs typeface="Times New Roman"/>
              </a:rPr>
              <a:t> </a:t>
            </a:r>
            <a:r>
              <a:rPr sz="2000" spc="-20" dirty="0">
                <a:latin typeface="Times New Roman"/>
                <a:cs typeface="Times New Roman"/>
              </a:rPr>
              <a:t>2025</a:t>
            </a:r>
            <a:endParaRPr sz="2000">
              <a:latin typeface="Times New Roman"/>
              <a:cs typeface="Times New Roman"/>
            </a:endParaRPr>
          </a:p>
          <a:p>
            <a:pPr>
              <a:lnSpc>
                <a:spcPct val="100000"/>
              </a:lnSpc>
              <a:spcBef>
                <a:spcPts val="100"/>
              </a:spcBef>
            </a:pPr>
            <a:endParaRPr sz="2000">
              <a:latin typeface="Times New Roman"/>
              <a:cs typeface="Times New Roman"/>
            </a:endParaRPr>
          </a:p>
          <a:p>
            <a:pPr marL="50800">
              <a:lnSpc>
                <a:spcPct val="100000"/>
              </a:lnSpc>
            </a:pPr>
            <a:r>
              <a:rPr sz="2000" dirty="0">
                <a:latin typeface="Times New Roman"/>
                <a:cs typeface="Times New Roman"/>
              </a:rPr>
              <a:t>Proposed</a:t>
            </a:r>
            <a:r>
              <a:rPr sz="2000" spc="-75" dirty="0">
                <a:latin typeface="Times New Roman"/>
                <a:cs typeface="Times New Roman"/>
              </a:rPr>
              <a:t> </a:t>
            </a:r>
            <a:r>
              <a:rPr sz="2000" dirty="0">
                <a:latin typeface="Times New Roman"/>
                <a:cs typeface="Times New Roman"/>
              </a:rPr>
              <a:t>method</a:t>
            </a:r>
            <a:r>
              <a:rPr sz="2000" spc="-15" dirty="0">
                <a:latin typeface="Times New Roman"/>
                <a:cs typeface="Times New Roman"/>
              </a:rPr>
              <a:t> </a:t>
            </a:r>
            <a:r>
              <a:rPr sz="2000" dirty="0">
                <a:latin typeface="Times New Roman"/>
                <a:cs typeface="Times New Roman"/>
              </a:rPr>
              <a:t>:</a:t>
            </a:r>
            <a:r>
              <a:rPr sz="2000" spc="-50" dirty="0">
                <a:latin typeface="Times New Roman"/>
                <a:cs typeface="Times New Roman"/>
              </a:rPr>
              <a:t> </a:t>
            </a:r>
            <a:r>
              <a:rPr sz="2000" dirty="0">
                <a:latin typeface="Times New Roman"/>
                <a:cs typeface="Times New Roman"/>
              </a:rPr>
              <a:t>Hydrostatic</a:t>
            </a:r>
            <a:r>
              <a:rPr sz="2000" spc="-25" dirty="0">
                <a:latin typeface="Times New Roman"/>
                <a:cs typeface="Times New Roman"/>
              </a:rPr>
              <a:t> </a:t>
            </a:r>
            <a:r>
              <a:rPr sz="2000" dirty="0">
                <a:latin typeface="Times New Roman"/>
                <a:cs typeface="Times New Roman"/>
              </a:rPr>
              <a:t>pressure</a:t>
            </a:r>
            <a:r>
              <a:rPr sz="2000" spc="-45" dirty="0">
                <a:latin typeface="Times New Roman"/>
                <a:cs typeface="Times New Roman"/>
              </a:rPr>
              <a:t> </a:t>
            </a:r>
            <a:r>
              <a:rPr sz="2000" spc="-10" dirty="0">
                <a:latin typeface="Times New Roman"/>
                <a:cs typeface="Times New Roman"/>
              </a:rPr>
              <a:t>consideration,</a:t>
            </a:r>
            <a:r>
              <a:rPr sz="2000" spc="-65" dirty="0">
                <a:latin typeface="Times New Roman"/>
                <a:cs typeface="Times New Roman"/>
              </a:rPr>
              <a:t> </a:t>
            </a:r>
            <a:r>
              <a:rPr sz="2000" dirty="0">
                <a:latin typeface="Times New Roman"/>
                <a:cs typeface="Times New Roman"/>
              </a:rPr>
              <a:t>Impact</a:t>
            </a:r>
            <a:r>
              <a:rPr sz="2000" spc="-25" dirty="0">
                <a:latin typeface="Times New Roman"/>
                <a:cs typeface="Times New Roman"/>
              </a:rPr>
              <a:t> </a:t>
            </a:r>
            <a:r>
              <a:rPr sz="2000" dirty="0">
                <a:latin typeface="Times New Roman"/>
                <a:cs typeface="Times New Roman"/>
              </a:rPr>
              <a:t>analysis</a:t>
            </a:r>
            <a:r>
              <a:rPr sz="2000" spc="-10" dirty="0">
                <a:latin typeface="Times New Roman"/>
                <a:cs typeface="Times New Roman"/>
              </a:rPr>
              <a:t> </a:t>
            </a:r>
            <a:r>
              <a:rPr sz="2000" spc="-25" dirty="0">
                <a:latin typeface="Times New Roman"/>
                <a:cs typeface="Times New Roman"/>
              </a:rPr>
              <a:t>on</a:t>
            </a:r>
            <a:endParaRPr sz="2000">
              <a:latin typeface="Times New Roman"/>
              <a:cs typeface="Times New Roman"/>
            </a:endParaRPr>
          </a:p>
          <a:p>
            <a:pPr marL="50800">
              <a:lnSpc>
                <a:spcPct val="100000"/>
              </a:lnSpc>
            </a:pPr>
            <a:r>
              <a:rPr sz="2000" dirty="0">
                <a:latin typeface="Times New Roman"/>
                <a:cs typeface="Times New Roman"/>
              </a:rPr>
              <a:t>monitoring</a:t>
            </a:r>
            <a:r>
              <a:rPr sz="2000" spc="-55" dirty="0">
                <a:latin typeface="Times New Roman"/>
                <a:cs typeface="Times New Roman"/>
              </a:rPr>
              <a:t> </a:t>
            </a:r>
            <a:r>
              <a:rPr sz="2000" spc="-10" dirty="0">
                <a:latin typeface="Times New Roman"/>
                <a:cs typeface="Times New Roman"/>
              </a:rPr>
              <a:t>devices</a:t>
            </a:r>
            <a:endParaRPr sz="2000">
              <a:latin typeface="Times New Roman"/>
              <a:cs typeface="Times New Roman"/>
            </a:endParaRPr>
          </a:p>
          <a:p>
            <a:pPr>
              <a:lnSpc>
                <a:spcPct val="100000"/>
              </a:lnSpc>
              <a:spcBef>
                <a:spcPts val="105"/>
              </a:spcBef>
            </a:pPr>
            <a:endParaRPr sz="2000">
              <a:latin typeface="Times New Roman"/>
              <a:cs typeface="Times New Roman"/>
            </a:endParaRPr>
          </a:p>
          <a:p>
            <a:pPr marL="50800">
              <a:lnSpc>
                <a:spcPct val="100000"/>
              </a:lnSpc>
              <a:tabLst>
                <a:tab pos="3640454" algn="l"/>
              </a:tabLst>
            </a:pPr>
            <a:r>
              <a:rPr sz="2000" dirty="0">
                <a:latin typeface="Times New Roman"/>
                <a:cs typeface="Times New Roman"/>
              </a:rPr>
              <a:t>Parameter</a:t>
            </a:r>
            <a:r>
              <a:rPr sz="2000" spc="-35" dirty="0">
                <a:latin typeface="Times New Roman"/>
                <a:cs typeface="Times New Roman"/>
              </a:rPr>
              <a:t> </a:t>
            </a:r>
            <a:r>
              <a:rPr sz="2000" dirty="0">
                <a:latin typeface="Times New Roman"/>
                <a:cs typeface="Times New Roman"/>
              </a:rPr>
              <a:t>used</a:t>
            </a:r>
            <a:r>
              <a:rPr sz="2000" spc="-30" dirty="0">
                <a:latin typeface="Times New Roman"/>
                <a:cs typeface="Times New Roman"/>
              </a:rPr>
              <a:t> </a:t>
            </a:r>
            <a:r>
              <a:rPr sz="2000" dirty="0">
                <a:latin typeface="Times New Roman"/>
                <a:cs typeface="Times New Roman"/>
              </a:rPr>
              <a:t>:</a:t>
            </a:r>
            <a:r>
              <a:rPr sz="2000" spc="-40" dirty="0">
                <a:latin typeface="Times New Roman"/>
                <a:cs typeface="Times New Roman"/>
              </a:rPr>
              <a:t> </a:t>
            </a:r>
            <a:r>
              <a:rPr sz="2000" dirty="0">
                <a:latin typeface="Times New Roman"/>
                <a:cs typeface="Times New Roman"/>
              </a:rPr>
              <a:t>Dam</a:t>
            </a:r>
            <a:r>
              <a:rPr sz="2000" spc="-25" dirty="0">
                <a:latin typeface="Times New Roman"/>
                <a:cs typeface="Times New Roman"/>
              </a:rPr>
              <a:t> </a:t>
            </a:r>
            <a:r>
              <a:rPr sz="2000" dirty="0">
                <a:latin typeface="Times New Roman"/>
                <a:cs typeface="Times New Roman"/>
              </a:rPr>
              <a:t>data,</a:t>
            </a:r>
            <a:r>
              <a:rPr sz="2000" spc="-55" dirty="0">
                <a:latin typeface="Times New Roman"/>
                <a:cs typeface="Times New Roman"/>
              </a:rPr>
              <a:t> </a:t>
            </a:r>
            <a:r>
              <a:rPr sz="2000" spc="-20" dirty="0">
                <a:latin typeface="Times New Roman"/>
                <a:cs typeface="Times New Roman"/>
              </a:rPr>
              <a:t>Crack</a:t>
            </a:r>
            <a:r>
              <a:rPr sz="2000" dirty="0">
                <a:latin typeface="Times New Roman"/>
                <a:cs typeface="Times New Roman"/>
              </a:rPr>
              <a:t>	parameters,</a:t>
            </a:r>
            <a:r>
              <a:rPr sz="2000" spc="-70" dirty="0">
                <a:latin typeface="Times New Roman"/>
                <a:cs typeface="Times New Roman"/>
              </a:rPr>
              <a:t> </a:t>
            </a:r>
            <a:r>
              <a:rPr sz="2000" dirty="0">
                <a:latin typeface="Times New Roman"/>
                <a:cs typeface="Times New Roman"/>
              </a:rPr>
              <a:t>Hydrostatic</a:t>
            </a:r>
            <a:r>
              <a:rPr sz="2000" spc="-50" dirty="0">
                <a:latin typeface="Times New Roman"/>
                <a:cs typeface="Times New Roman"/>
              </a:rPr>
              <a:t> </a:t>
            </a:r>
            <a:r>
              <a:rPr sz="2000" dirty="0">
                <a:latin typeface="Times New Roman"/>
                <a:cs typeface="Times New Roman"/>
              </a:rPr>
              <a:t>pressure,</a:t>
            </a:r>
            <a:r>
              <a:rPr sz="2000" spc="-70" dirty="0">
                <a:latin typeface="Times New Roman"/>
                <a:cs typeface="Times New Roman"/>
              </a:rPr>
              <a:t> </a:t>
            </a:r>
            <a:r>
              <a:rPr sz="2000" spc="-10" dirty="0">
                <a:latin typeface="Times New Roman"/>
                <a:cs typeface="Times New Roman"/>
              </a:rPr>
              <a:t>Reservoir</a:t>
            </a:r>
            <a:endParaRPr sz="2000">
              <a:latin typeface="Times New Roman"/>
              <a:cs typeface="Times New Roman"/>
            </a:endParaRPr>
          </a:p>
          <a:p>
            <a:pPr marL="50800">
              <a:lnSpc>
                <a:spcPct val="100000"/>
              </a:lnSpc>
            </a:pPr>
            <a:r>
              <a:rPr sz="2000" spc="-10" dirty="0">
                <a:latin typeface="Times New Roman"/>
                <a:cs typeface="Times New Roman"/>
              </a:rPr>
              <a:t>levels.</a:t>
            </a:r>
            <a:endParaRPr sz="2000">
              <a:latin typeface="Times New Roman"/>
              <a:cs typeface="Times New Roman"/>
            </a:endParaRPr>
          </a:p>
          <a:p>
            <a:pPr>
              <a:lnSpc>
                <a:spcPct val="100000"/>
              </a:lnSpc>
              <a:spcBef>
                <a:spcPts val="100"/>
              </a:spcBef>
            </a:pPr>
            <a:endParaRPr sz="2000">
              <a:latin typeface="Times New Roman"/>
              <a:cs typeface="Times New Roman"/>
            </a:endParaRPr>
          </a:p>
          <a:p>
            <a:pPr marL="50800">
              <a:lnSpc>
                <a:spcPct val="100000"/>
              </a:lnSpc>
              <a:spcBef>
                <a:spcPts val="5"/>
              </a:spcBef>
            </a:pPr>
            <a:r>
              <a:rPr sz="2000" dirty="0">
                <a:latin typeface="Times New Roman"/>
                <a:cs typeface="Times New Roman"/>
              </a:rPr>
              <a:t>Advantage</a:t>
            </a:r>
            <a:r>
              <a:rPr sz="2000" spc="-5" dirty="0">
                <a:latin typeface="Times New Roman"/>
                <a:cs typeface="Times New Roman"/>
              </a:rPr>
              <a:t> </a:t>
            </a:r>
            <a:r>
              <a:rPr sz="2000" dirty="0">
                <a:latin typeface="Times New Roman"/>
                <a:cs typeface="Times New Roman"/>
              </a:rPr>
              <a:t>:</a:t>
            </a:r>
            <a:r>
              <a:rPr sz="2000" spc="355" dirty="0">
                <a:latin typeface="Times New Roman"/>
                <a:cs typeface="Times New Roman"/>
              </a:rPr>
              <a:t> </a:t>
            </a:r>
            <a:r>
              <a:rPr sz="2000" dirty="0">
                <a:latin typeface="Times New Roman"/>
                <a:cs typeface="Times New Roman"/>
              </a:rPr>
              <a:t>Comprehensive</a:t>
            </a:r>
            <a:r>
              <a:rPr sz="2000" spc="20" dirty="0">
                <a:latin typeface="Times New Roman"/>
                <a:cs typeface="Times New Roman"/>
              </a:rPr>
              <a:t> </a:t>
            </a:r>
            <a:r>
              <a:rPr sz="2000" dirty="0">
                <a:latin typeface="Times New Roman"/>
                <a:cs typeface="Times New Roman"/>
              </a:rPr>
              <a:t>crack</a:t>
            </a:r>
            <a:r>
              <a:rPr sz="2000" spc="-75" dirty="0">
                <a:latin typeface="Times New Roman"/>
                <a:cs typeface="Times New Roman"/>
              </a:rPr>
              <a:t> </a:t>
            </a:r>
            <a:r>
              <a:rPr sz="2000" dirty="0">
                <a:latin typeface="Times New Roman"/>
                <a:cs typeface="Times New Roman"/>
              </a:rPr>
              <a:t>impact</a:t>
            </a:r>
            <a:r>
              <a:rPr sz="2000" spc="-45" dirty="0">
                <a:latin typeface="Times New Roman"/>
                <a:cs typeface="Times New Roman"/>
              </a:rPr>
              <a:t> </a:t>
            </a:r>
            <a:r>
              <a:rPr sz="2000" dirty="0">
                <a:latin typeface="Times New Roman"/>
                <a:cs typeface="Times New Roman"/>
              </a:rPr>
              <a:t>analysis,</a:t>
            </a:r>
            <a:r>
              <a:rPr sz="2000" spc="-25" dirty="0">
                <a:latin typeface="Times New Roman"/>
                <a:cs typeface="Times New Roman"/>
              </a:rPr>
              <a:t> </a:t>
            </a:r>
            <a:r>
              <a:rPr sz="2000" dirty="0">
                <a:latin typeface="Times New Roman"/>
                <a:cs typeface="Times New Roman"/>
              </a:rPr>
              <a:t>Realistic</a:t>
            </a:r>
            <a:r>
              <a:rPr sz="2000" spc="-20" dirty="0">
                <a:latin typeface="Times New Roman"/>
                <a:cs typeface="Times New Roman"/>
              </a:rPr>
              <a:t> </a:t>
            </a:r>
            <a:r>
              <a:rPr sz="2000" spc="-10" dirty="0">
                <a:latin typeface="Times New Roman"/>
                <a:cs typeface="Times New Roman"/>
              </a:rPr>
              <a:t>Hydrostastic</a:t>
            </a:r>
            <a:endParaRPr sz="2000">
              <a:latin typeface="Times New Roman"/>
              <a:cs typeface="Times New Roman"/>
            </a:endParaRPr>
          </a:p>
          <a:p>
            <a:pPr marL="50800">
              <a:lnSpc>
                <a:spcPct val="100000"/>
              </a:lnSpc>
            </a:pPr>
            <a:r>
              <a:rPr sz="2000" dirty="0">
                <a:latin typeface="Times New Roman"/>
                <a:cs typeface="Times New Roman"/>
              </a:rPr>
              <a:t>pressure</a:t>
            </a:r>
            <a:r>
              <a:rPr sz="2000" spc="-45" dirty="0">
                <a:latin typeface="Times New Roman"/>
                <a:cs typeface="Times New Roman"/>
              </a:rPr>
              <a:t> </a:t>
            </a:r>
            <a:r>
              <a:rPr sz="2000" spc="-10" dirty="0">
                <a:latin typeface="Times New Roman"/>
                <a:cs typeface="Times New Roman"/>
              </a:rPr>
              <a:t>modeling.</a:t>
            </a:r>
            <a:endParaRPr sz="2000">
              <a:latin typeface="Times New Roman"/>
              <a:cs typeface="Times New Roman"/>
            </a:endParaRPr>
          </a:p>
          <a:p>
            <a:pPr>
              <a:lnSpc>
                <a:spcPct val="100000"/>
              </a:lnSpc>
              <a:spcBef>
                <a:spcPts val="100"/>
              </a:spcBef>
            </a:pPr>
            <a:endParaRPr sz="2000">
              <a:latin typeface="Times New Roman"/>
              <a:cs typeface="Times New Roman"/>
            </a:endParaRPr>
          </a:p>
          <a:p>
            <a:pPr marL="50800">
              <a:lnSpc>
                <a:spcPct val="100000"/>
              </a:lnSpc>
            </a:pPr>
            <a:r>
              <a:rPr sz="2000" dirty="0">
                <a:latin typeface="Times New Roman"/>
                <a:cs typeface="Times New Roman"/>
              </a:rPr>
              <a:t>Limitation</a:t>
            </a:r>
            <a:r>
              <a:rPr sz="2000" spc="-45" dirty="0">
                <a:latin typeface="Times New Roman"/>
                <a:cs typeface="Times New Roman"/>
              </a:rPr>
              <a:t> </a:t>
            </a:r>
            <a:r>
              <a:rPr sz="2000" dirty="0">
                <a:latin typeface="Times New Roman"/>
                <a:cs typeface="Times New Roman"/>
              </a:rPr>
              <a:t>:</a:t>
            </a:r>
            <a:r>
              <a:rPr sz="2000" spc="-35" dirty="0">
                <a:latin typeface="Times New Roman"/>
                <a:cs typeface="Times New Roman"/>
              </a:rPr>
              <a:t> </a:t>
            </a:r>
            <a:r>
              <a:rPr sz="2000" dirty="0">
                <a:latin typeface="Times New Roman"/>
                <a:cs typeface="Times New Roman"/>
              </a:rPr>
              <a:t>Dependency</a:t>
            </a:r>
            <a:r>
              <a:rPr sz="2000" spc="10" dirty="0">
                <a:latin typeface="Times New Roman"/>
                <a:cs typeface="Times New Roman"/>
              </a:rPr>
              <a:t> </a:t>
            </a:r>
            <a:r>
              <a:rPr sz="2000" dirty="0">
                <a:latin typeface="Times New Roman"/>
                <a:cs typeface="Times New Roman"/>
              </a:rPr>
              <a:t>on</a:t>
            </a:r>
            <a:r>
              <a:rPr sz="2000" spc="-50" dirty="0">
                <a:latin typeface="Times New Roman"/>
                <a:cs typeface="Times New Roman"/>
              </a:rPr>
              <a:t> </a:t>
            </a:r>
            <a:r>
              <a:rPr sz="2000" spc="-40" dirty="0">
                <a:latin typeface="Times New Roman"/>
                <a:cs typeface="Times New Roman"/>
              </a:rPr>
              <a:t>m</a:t>
            </a:r>
            <a:r>
              <a:rPr sz="2000" dirty="0">
                <a:latin typeface="Times New Roman"/>
                <a:cs typeface="Times New Roman"/>
              </a:rPr>
              <a:t>o</a:t>
            </a:r>
            <a:r>
              <a:rPr sz="2000" spc="-25" dirty="0">
                <a:latin typeface="Times New Roman"/>
                <a:cs typeface="Times New Roman"/>
              </a:rPr>
              <a:t>n</a:t>
            </a:r>
            <a:r>
              <a:rPr sz="2000" spc="-5" dirty="0">
                <a:latin typeface="Times New Roman"/>
                <a:cs typeface="Times New Roman"/>
              </a:rPr>
              <a:t>ito</a:t>
            </a:r>
            <a:r>
              <a:rPr sz="2000" spc="-509" dirty="0">
                <a:latin typeface="Times New Roman"/>
                <a:cs typeface="Times New Roman"/>
              </a:rPr>
              <a:t>r</a:t>
            </a:r>
            <a:r>
              <a:rPr sz="1350" spc="-225" baseline="-30864" dirty="0">
                <a:solidFill>
                  <a:srgbClr val="888888"/>
                </a:solidFill>
                <a:latin typeface="Arial MT"/>
                <a:cs typeface="Arial MT"/>
              </a:rPr>
              <a:t>D</a:t>
            </a:r>
            <a:r>
              <a:rPr sz="2000" spc="-430" dirty="0">
                <a:latin typeface="Times New Roman"/>
                <a:cs typeface="Times New Roman"/>
              </a:rPr>
              <a:t>i</a:t>
            </a:r>
            <a:r>
              <a:rPr sz="1350" spc="-52" baseline="-30864" dirty="0">
                <a:solidFill>
                  <a:srgbClr val="888888"/>
                </a:solidFill>
                <a:latin typeface="Arial MT"/>
                <a:cs typeface="Arial MT"/>
              </a:rPr>
              <a:t>e</a:t>
            </a:r>
            <a:r>
              <a:rPr sz="1350" spc="-15" baseline="-30864" dirty="0">
                <a:solidFill>
                  <a:srgbClr val="888888"/>
                </a:solidFill>
                <a:latin typeface="Arial MT"/>
                <a:cs typeface="Arial MT"/>
              </a:rPr>
              <a:t>p</a:t>
            </a:r>
            <a:r>
              <a:rPr sz="1350" spc="-1230" baseline="-30864" dirty="0">
                <a:solidFill>
                  <a:srgbClr val="888888"/>
                </a:solidFill>
                <a:latin typeface="Arial MT"/>
                <a:cs typeface="Arial MT"/>
              </a:rPr>
              <a:t>t</a:t>
            </a:r>
            <a:r>
              <a:rPr sz="2000" spc="-185" dirty="0">
                <a:latin typeface="Times New Roman"/>
                <a:cs typeface="Times New Roman"/>
              </a:rPr>
              <a:t>n</a:t>
            </a:r>
            <a:r>
              <a:rPr sz="1350" spc="-157" baseline="-30864" dirty="0">
                <a:solidFill>
                  <a:srgbClr val="888888"/>
                </a:solidFill>
                <a:latin typeface="Arial MT"/>
                <a:cs typeface="Arial MT"/>
              </a:rPr>
              <a:t>.</a:t>
            </a:r>
            <a:r>
              <a:rPr sz="2000" spc="-670" dirty="0">
                <a:latin typeface="Times New Roman"/>
                <a:cs typeface="Times New Roman"/>
              </a:rPr>
              <a:t>g</a:t>
            </a:r>
            <a:r>
              <a:rPr sz="1350" spc="-15" baseline="-30864" dirty="0">
                <a:solidFill>
                  <a:srgbClr val="888888"/>
                </a:solidFill>
                <a:latin typeface="Arial MT"/>
                <a:cs typeface="Arial MT"/>
              </a:rPr>
              <a:t>o</a:t>
            </a:r>
            <a:r>
              <a:rPr sz="1350" spc="-7" baseline="-30864" dirty="0">
                <a:solidFill>
                  <a:srgbClr val="888888"/>
                </a:solidFill>
                <a:latin typeface="Arial MT"/>
                <a:cs typeface="Arial MT"/>
              </a:rPr>
              <a:t>f </a:t>
            </a:r>
            <a:r>
              <a:rPr sz="1350" spc="-644" baseline="-30864" dirty="0">
                <a:solidFill>
                  <a:srgbClr val="888888"/>
                </a:solidFill>
                <a:latin typeface="Arial MT"/>
                <a:cs typeface="Arial MT"/>
              </a:rPr>
              <a:t>E</a:t>
            </a:r>
            <a:r>
              <a:rPr sz="2000" spc="-590" dirty="0">
                <a:latin typeface="Times New Roman"/>
                <a:cs typeface="Times New Roman"/>
              </a:rPr>
              <a:t>d</a:t>
            </a:r>
            <a:r>
              <a:rPr sz="1350" spc="-15" baseline="-30864" dirty="0">
                <a:solidFill>
                  <a:srgbClr val="888888"/>
                </a:solidFill>
                <a:latin typeface="Arial MT"/>
                <a:cs typeface="Arial MT"/>
              </a:rPr>
              <a:t>C</a:t>
            </a:r>
            <a:r>
              <a:rPr sz="1350" spc="-1005" baseline="-30864" dirty="0">
                <a:solidFill>
                  <a:srgbClr val="888888"/>
                </a:solidFill>
                <a:latin typeface="Arial MT"/>
                <a:cs typeface="Arial MT"/>
              </a:rPr>
              <a:t>E</a:t>
            </a:r>
            <a:r>
              <a:rPr sz="2000" dirty="0">
                <a:latin typeface="Times New Roman"/>
                <a:cs typeface="Times New Roman"/>
              </a:rPr>
              <a:t>e</a:t>
            </a:r>
            <a:r>
              <a:rPr sz="2000" spc="-994" dirty="0">
                <a:latin typeface="Times New Roman"/>
                <a:cs typeface="Times New Roman"/>
              </a:rPr>
              <a:t>v</a:t>
            </a:r>
            <a:r>
              <a:rPr sz="1350" spc="-7" baseline="-30864" dirty="0">
                <a:solidFill>
                  <a:srgbClr val="888888"/>
                </a:solidFill>
                <a:latin typeface="Arial MT"/>
                <a:cs typeface="Arial MT"/>
              </a:rPr>
              <a:t>202</a:t>
            </a:r>
            <a:r>
              <a:rPr sz="1350" spc="-1560" baseline="-30864" dirty="0">
                <a:solidFill>
                  <a:srgbClr val="888888"/>
                </a:solidFill>
                <a:latin typeface="Arial MT"/>
                <a:cs typeface="Arial MT"/>
              </a:rPr>
              <a:t>5</a:t>
            </a:r>
            <a:r>
              <a:rPr sz="2000" dirty="0">
                <a:latin typeface="Times New Roman"/>
                <a:cs typeface="Times New Roman"/>
              </a:rPr>
              <a:t>i</a:t>
            </a:r>
            <a:r>
              <a:rPr sz="2000" spc="-395" dirty="0">
                <a:latin typeface="Times New Roman"/>
                <a:cs typeface="Times New Roman"/>
              </a:rPr>
              <a:t>c</a:t>
            </a:r>
            <a:r>
              <a:rPr sz="1350" spc="7" baseline="-30864" dirty="0">
                <a:solidFill>
                  <a:srgbClr val="888888"/>
                </a:solidFill>
                <a:latin typeface="Arial MT"/>
                <a:cs typeface="Arial MT"/>
              </a:rPr>
              <a:t>-</a:t>
            </a:r>
            <a:r>
              <a:rPr sz="1350" spc="-450" baseline="-30864" dirty="0">
                <a:solidFill>
                  <a:srgbClr val="888888"/>
                </a:solidFill>
                <a:latin typeface="Arial MT"/>
                <a:cs typeface="Arial MT"/>
              </a:rPr>
              <a:t>2</a:t>
            </a:r>
            <a:r>
              <a:rPr sz="2000" spc="-300" dirty="0">
                <a:latin typeface="Times New Roman"/>
                <a:cs typeface="Times New Roman"/>
              </a:rPr>
              <a:t>e</a:t>
            </a:r>
            <a:r>
              <a:rPr sz="1350" spc="-450" baseline="-30864" dirty="0">
                <a:solidFill>
                  <a:srgbClr val="888888"/>
                </a:solidFill>
                <a:latin typeface="Arial MT"/>
                <a:cs typeface="Arial MT"/>
              </a:rPr>
              <a:t>6</a:t>
            </a:r>
            <a:r>
              <a:rPr sz="1350" spc="307" baseline="-30864" dirty="0">
                <a:solidFill>
                  <a:srgbClr val="888888"/>
                </a:solidFill>
                <a:latin typeface="Arial MT"/>
                <a:cs typeface="Arial MT"/>
              </a:rPr>
              <a:t> </a:t>
            </a:r>
            <a:r>
              <a:rPr sz="2000" dirty="0">
                <a:latin typeface="Times New Roman"/>
                <a:cs typeface="Times New Roman"/>
              </a:rPr>
              <a:t>placement,</a:t>
            </a:r>
            <a:r>
              <a:rPr sz="2000" spc="-10" dirty="0">
                <a:latin typeface="Times New Roman"/>
                <a:cs typeface="Times New Roman"/>
              </a:rPr>
              <a:t> </a:t>
            </a:r>
            <a:r>
              <a:rPr sz="2000" dirty="0">
                <a:latin typeface="Times New Roman"/>
                <a:cs typeface="Times New Roman"/>
              </a:rPr>
              <a:t>limited to</a:t>
            </a:r>
            <a:r>
              <a:rPr sz="2000" spc="-45" dirty="0">
                <a:latin typeface="Times New Roman"/>
                <a:cs typeface="Times New Roman"/>
              </a:rPr>
              <a:t> </a:t>
            </a:r>
            <a:r>
              <a:rPr sz="2000" dirty="0">
                <a:latin typeface="Times New Roman"/>
                <a:cs typeface="Times New Roman"/>
              </a:rPr>
              <a:t>arc</a:t>
            </a:r>
            <a:r>
              <a:rPr sz="2000" spc="-30" dirty="0">
                <a:latin typeface="Times New Roman"/>
                <a:cs typeface="Times New Roman"/>
              </a:rPr>
              <a:t> </a:t>
            </a:r>
            <a:r>
              <a:rPr sz="2000" spc="-80" dirty="0">
                <a:latin typeface="Times New Roman"/>
                <a:cs typeface="Times New Roman"/>
              </a:rPr>
              <a:t>dams,</a:t>
            </a:r>
            <a:r>
              <a:rPr sz="1350" spc="-120" baseline="-30864" dirty="0">
                <a:solidFill>
                  <a:srgbClr val="888888"/>
                </a:solidFill>
                <a:latin typeface="Arial MT"/>
                <a:cs typeface="Arial MT"/>
              </a:rPr>
              <a:t>8</a:t>
            </a:r>
            <a:endParaRPr sz="1350" baseline="-30864">
              <a:latin typeface="Arial MT"/>
              <a:cs typeface="Arial MT"/>
            </a:endParaRPr>
          </a:p>
          <a:p>
            <a:pPr marL="50800">
              <a:lnSpc>
                <a:spcPct val="100000"/>
              </a:lnSpc>
              <a:spcBef>
                <a:spcPts val="25"/>
              </a:spcBef>
            </a:pPr>
            <a:r>
              <a:rPr sz="2000" dirty="0">
                <a:latin typeface="Times New Roman"/>
                <a:cs typeface="Times New Roman"/>
              </a:rPr>
              <a:t>Reservoir</a:t>
            </a:r>
            <a:r>
              <a:rPr sz="2000" spc="-75" dirty="0">
                <a:latin typeface="Times New Roman"/>
                <a:cs typeface="Times New Roman"/>
              </a:rPr>
              <a:t> </a:t>
            </a:r>
            <a:r>
              <a:rPr sz="2000" spc="-10" dirty="0">
                <a:latin typeface="Times New Roman"/>
                <a:cs typeface="Times New Roman"/>
              </a:rPr>
              <a:t>influence</a:t>
            </a:r>
            <a:endParaRPr sz="2000">
              <a:latin typeface="Times New Roman"/>
              <a:cs typeface="Times New Roman"/>
            </a:endParaRPr>
          </a:p>
        </p:txBody>
      </p:sp>
      <p:pic>
        <p:nvPicPr>
          <p:cNvPr id="3" name="object 3"/>
          <p:cNvPicPr/>
          <p:nvPr/>
        </p:nvPicPr>
        <p:blipFill>
          <a:blip r:embed="rId2" cstate="print"/>
          <a:stretch>
            <a:fillRect/>
          </a:stretch>
        </p:blipFill>
        <p:spPr>
          <a:xfrm>
            <a:off x="274320" y="103631"/>
            <a:ext cx="981456" cy="1100328"/>
          </a:xfrm>
          <a:prstGeom prst="rect">
            <a:avLst/>
          </a:prstGeom>
        </p:spPr>
      </p:pic>
      <p:pic>
        <p:nvPicPr>
          <p:cNvPr id="4" name="object 4"/>
          <p:cNvPicPr/>
          <p:nvPr/>
        </p:nvPicPr>
        <p:blipFill>
          <a:blip r:embed="rId3" cstate="print"/>
          <a:stretch>
            <a:fillRect/>
          </a:stretch>
        </p:blipFill>
        <p:spPr>
          <a:xfrm>
            <a:off x="7818119" y="103631"/>
            <a:ext cx="1051559" cy="1100328"/>
          </a:xfrm>
          <a:prstGeom prst="rect">
            <a:avLst/>
          </a:prstGeom>
        </p:spPr>
      </p:pic>
      <p:sp>
        <p:nvSpPr>
          <p:cNvPr id="5" name="object 5"/>
          <p:cNvSpPr txBox="1">
            <a:spLocks noGrp="1"/>
          </p:cNvSpPr>
          <p:nvPr>
            <p:ph type="title"/>
          </p:nvPr>
        </p:nvSpPr>
        <p:spPr>
          <a:xfrm>
            <a:off x="2192527" y="666749"/>
            <a:ext cx="4108450" cy="453390"/>
          </a:xfrm>
          <a:prstGeom prst="rect">
            <a:avLst/>
          </a:prstGeom>
        </p:spPr>
        <p:txBody>
          <a:bodyPr vert="horz" wrap="square" lIns="0" tIns="13335" rIns="0" bIns="0" rtlCol="0">
            <a:spAutoFit/>
          </a:bodyPr>
          <a:lstStyle/>
          <a:p>
            <a:pPr marL="12700">
              <a:lnSpc>
                <a:spcPct val="100000"/>
              </a:lnSpc>
              <a:spcBef>
                <a:spcPts val="105"/>
              </a:spcBef>
              <a:tabLst>
                <a:tab pos="2632710" algn="l"/>
              </a:tabLst>
            </a:pPr>
            <a:r>
              <a:rPr sz="2800" spc="-10" dirty="0"/>
              <a:t>LITERATURE</a:t>
            </a:r>
            <a:r>
              <a:rPr sz="2800" dirty="0"/>
              <a:t>	</a:t>
            </a:r>
            <a:r>
              <a:rPr sz="2800" spc="-10" dirty="0"/>
              <a:t>SURVEY</a:t>
            </a:r>
            <a:endParaRPr sz="28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41833" y="1523187"/>
            <a:ext cx="8616315" cy="4904105"/>
          </a:xfrm>
          <a:prstGeom prst="rect">
            <a:avLst/>
          </a:prstGeom>
        </p:spPr>
        <p:txBody>
          <a:bodyPr vert="horz" wrap="square" lIns="0" tIns="12065" rIns="0" bIns="0" rtlCol="0">
            <a:spAutoFit/>
          </a:bodyPr>
          <a:lstStyle/>
          <a:p>
            <a:pPr marL="12700">
              <a:lnSpc>
                <a:spcPct val="100000"/>
              </a:lnSpc>
              <a:spcBef>
                <a:spcPts val="95"/>
              </a:spcBef>
            </a:pPr>
            <a:r>
              <a:rPr sz="2000" b="1" dirty="0">
                <a:latin typeface="Times New Roman"/>
                <a:cs typeface="Times New Roman"/>
              </a:rPr>
              <a:t>[3]Title</a:t>
            </a:r>
            <a:r>
              <a:rPr sz="2000" b="1" spc="-50" dirty="0">
                <a:latin typeface="Times New Roman"/>
                <a:cs typeface="Times New Roman"/>
              </a:rPr>
              <a:t> </a:t>
            </a:r>
            <a:r>
              <a:rPr sz="2000" b="1" dirty="0">
                <a:latin typeface="Times New Roman"/>
                <a:cs typeface="Times New Roman"/>
              </a:rPr>
              <a:t>of</a:t>
            </a:r>
            <a:r>
              <a:rPr sz="2000" b="1" spc="-45" dirty="0">
                <a:latin typeface="Times New Roman"/>
                <a:cs typeface="Times New Roman"/>
              </a:rPr>
              <a:t> </a:t>
            </a:r>
            <a:r>
              <a:rPr sz="2000" b="1" dirty="0">
                <a:latin typeface="Times New Roman"/>
                <a:cs typeface="Times New Roman"/>
              </a:rPr>
              <a:t>the</a:t>
            </a:r>
            <a:r>
              <a:rPr sz="2000" b="1" spc="-35" dirty="0">
                <a:latin typeface="Times New Roman"/>
                <a:cs typeface="Times New Roman"/>
              </a:rPr>
              <a:t> </a:t>
            </a:r>
            <a:r>
              <a:rPr sz="2000" b="1" dirty="0">
                <a:latin typeface="Times New Roman"/>
                <a:cs typeface="Times New Roman"/>
              </a:rPr>
              <a:t>paper:</a:t>
            </a:r>
            <a:r>
              <a:rPr sz="2000" b="1" spc="-30" dirty="0">
                <a:latin typeface="Times New Roman"/>
                <a:cs typeface="Times New Roman"/>
              </a:rPr>
              <a:t> </a:t>
            </a:r>
            <a:r>
              <a:rPr sz="2000" b="1" dirty="0">
                <a:latin typeface="Times New Roman"/>
                <a:cs typeface="Times New Roman"/>
              </a:rPr>
              <a:t>A</a:t>
            </a:r>
            <a:r>
              <a:rPr sz="2000" b="1" spc="-25" dirty="0">
                <a:latin typeface="Times New Roman"/>
                <a:cs typeface="Times New Roman"/>
              </a:rPr>
              <a:t> </a:t>
            </a:r>
            <a:r>
              <a:rPr sz="2000" b="1" dirty="0">
                <a:latin typeface="Times New Roman"/>
                <a:cs typeface="Times New Roman"/>
              </a:rPr>
              <a:t>review</a:t>
            </a:r>
            <a:r>
              <a:rPr sz="2000" b="1" spc="-30" dirty="0">
                <a:latin typeface="Times New Roman"/>
                <a:cs typeface="Times New Roman"/>
              </a:rPr>
              <a:t> </a:t>
            </a:r>
            <a:r>
              <a:rPr sz="2000" b="1" dirty="0">
                <a:latin typeface="Times New Roman"/>
                <a:cs typeface="Times New Roman"/>
              </a:rPr>
              <a:t>of</a:t>
            </a:r>
            <a:r>
              <a:rPr sz="2000" b="1" spc="-45" dirty="0">
                <a:latin typeface="Times New Roman"/>
                <a:cs typeface="Times New Roman"/>
              </a:rPr>
              <a:t> </a:t>
            </a:r>
            <a:r>
              <a:rPr sz="2000" b="1" dirty="0">
                <a:latin typeface="Times New Roman"/>
                <a:cs typeface="Times New Roman"/>
              </a:rPr>
              <a:t>detection</a:t>
            </a:r>
            <a:r>
              <a:rPr sz="2000" b="1" spc="-60" dirty="0">
                <a:latin typeface="Times New Roman"/>
                <a:cs typeface="Times New Roman"/>
              </a:rPr>
              <a:t> </a:t>
            </a:r>
            <a:r>
              <a:rPr sz="2000" b="1" dirty="0">
                <a:latin typeface="Times New Roman"/>
                <a:cs typeface="Times New Roman"/>
              </a:rPr>
              <a:t>technologies</a:t>
            </a:r>
            <a:r>
              <a:rPr sz="2000" b="1" spc="-60" dirty="0">
                <a:latin typeface="Times New Roman"/>
                <a:cs typeface="Times New Roman"/>
              </a:rPr>
              <a:t> </a:t>
            </a:r>
            <a:r>
              <a:rPr sz="2000" b="1" dirty="0">
                <a:latin typeface="Times New Roman"/>
                <a:cs typeface="Times New Roman"/>
              </a:rPr>
              <a:t>for</a:t>
            </a:r>
            <a:r>
              <a:rPr sz="2000" b="1" spc="-45" dirty="0">
                <a:latin typeface="Times New Roman"/>
                <a:cs typeface="Times New Roman"/>
              </a:rPr>
              <a:t> </a:t>
            </a:r>
            <a:r>
              <a:rPr sz="2000" b="1" dirty="0">
                <a:latin typeface="Times New Roman"/>
                <a:cs typeface="Times New Roman"/>
              </a:rPr>
              <a:t>underwater</a:t>
            </a:r>
            <a:r>
              <a:rPr sz="2000" b="1" spc="-30" dirty="0">
                <a:latin typeface="Times New Roman"/>
                <a:cs typeface="Times New Roman"/>
              </a:rPr>
              <a:t> </a:t>
            </a:r>
            <a:r>
              <a:rPr sz="2000" b="1" spc="-10" dirty="0">
                <a:latin typeface="Times New Roman"/>
                <a:cs typeface="Times New Roman"/>
              </a:rPr>
              <a:t>cracks</a:t>
            </a:r>
            <a:endParaRPr sz="2000">
              <a:latin typeface="Times New Roman"/>
              <a:cs typeface="Times New Roman"/>
            </a:endParaRPr>
          </a:p>
          <a:p>
            <a:pPr marL="12700">
              <a:lnSpc>
                <a:spcPct val="100000"/>
              </a:lnSpc>
            </a:pPr>
            <a:r>
              <a:rPr sz="2000" b="1" dirty="0">
                <a:latin typeface="Times New Roman"/>
                <a:cs typeface="Times New Roman"/>
              </a:rPr>
              <a:t>on</a:t>
            </a:r>
            <a:r>
              <a:rPr sz="2000" b="1" spc="-40" dirty="0">
                <a:latin typeface="Times New Roman"/>
                <a:cs typeface="Times New Roman"/>
              </a:rPr>
              <a:t> </a:t>
            </a:r>
            <a:r>
              <a:rPr sz="2000" b="1" dirty="0">
                <a:latin typeface="Times New Roman"/>
                <a:cs typeface="Times New Roman"/>
              </a:rPr>
              <a:t>concrete</a:t>
            </a:r>
            <a:r>
              <a:rPr sz="2000" b="1" spc="-45" dirty="0">
                <a:latin typeface="Times New Roman"/>
                <a:cs typeface="Times New Roman"/>
              </a:rPr>
              <a:t> </a:t>
            </a:r>
            <a:r>
              <a:rPr sz="2000" b="1" dirty="0">
                <a:latin typeface="Times New Roman"/>
                <a:cs typeface="Times New Roman"/>
              </a:rPr>
              <a:t>dam</a:t>
            </a:r>
            <a:r>
              <a:rPr sz="2000" b="1" spc="-35" dirty="0">
                <a:latin typeface="Times New Roman"/>
                <a:cs typeface="Times New Roman"/>
              </a:rPr>
              <a:t> </a:t>
            </a:r>
            <a:r>
              <a:rPr sz="2000" b="1" spc="-10" dirty="0">
                <a:latin typeface="Times New Roman"/>
                <a:cs typeface="Times New Roman"/>
              </a:rPr>
              <a:t>surface</a:t>
            </a:r>
            <a:endParaRPr sz="2000">
              <a:latin typeface="Times New Roman"/>
              <a:cs typeface="Times New Roman"/>
            </a:endParaRPr>
          </a:p>
          <a:p>
            <a:pPr>
              <a:lnSpc>
                <a:spcPct val="100000"/>
              </a:lnSpc>
              <a:spcBef>
                <a:spcPts val="100"/>
              </a:spcBef>
            </a:pPr>
            <a:endParaRPr sz="2000">
              <a:latin typeface="Times New Roman"/>
              <a:cs typeface="Times New Roman"/>
            </a:endParaRPr>
          </a:p>
          <a:p>
            <a:pPr marL="12700" marR="4091940">
              <a:lnSpc>
                <a:spcPct val="100000"/>
              </a:lnSpc>
              <a:spcBef>
                <a:spcPts val="5"/>
              </a:spcBef>
            </a:pPr>
            <a:r>
              <a:rPr sz="2000" dirty="0">
                <a:latin typeface="Times New Roman"/>
                <a:cs typeface="Times New Roman"/>
              </a:rPr>
              <a:t>Author</a:t>
            </a:r>
            <a:r>
              <a:rPr sz="2000" spc="10" dirty="0">
                <a:latin typeface="Times New Roman"/>
                <a:cs typeface="Times New Roman"/>
              </a:rPr>
              <a:t> </a:t>
            </a:r>
            <a:r>
              <a:rPr sz="2000" dirty="0">
                <a:latin typeface="Times New Roman"/>
                <a:cs typeface="Times New Roman"/>
              </a:rPr>
              <a:t>:</a:t>
            </a:r>
            <a:r>
              <a:rPr sz="2000" spc="-40" dirty="0">
                <a:latin typeface="Times New Roman"/>
                <a:cs typeface="Times New Roman"/>
              </a:rPr>
              <a:t> </a:t>
            </a:r>
            <a:r>
              <a:rPr sz="2000" dirty="0">
                <a:latin typeface="Times New Roman"/>
                <a:cs typeface="Times New Roman"/>
              </a:rPr>
              <a:t>Dong</a:t>
            </a:r>
            <a:r>
              <a:rPr sz="2000" spc="-30" dirty="0">
                <a:latin typeface="Times New Roman"/>
                <a:cs typeface="Times New Roman"/>
              </a:rPr>
              <a:t> </a:t>
            </a:r>
            <a:r>
              <a:rPr sz="2000" dirty="0">
                <a:latin typeface="Times New Roman"/>
                <a:cs typeface="Times New Roman"/>
              </a:rPr>
              <a:t>Chen ,</a:t>
            </a:r>
            <a:r>
              <a:rPr sz="2000" spc="-55" dirty="0">
                <a:latin typeface="Times New Roman"/>
                <a:cs typeface="Times New Roman"/>
              </a:rPr>
              <a:t> </a:t>
            </a:r>
            <a:r>
              <a:rPr sz="2000" dirty="0">
                <a:latin typeface="Times New Roman"/>
                <a:cs typeface="Times New Roman"/>
              </a:rPr>
              <a:t>Ben</a:t>
            </a:r>
            <a:r>
              <a:rPr sz="2000" spc="-20" dirty="0">
                <a:latin typeface="Times New Roman"/>
                <a:cs typeface="Times New Roman"/>
              </a:rPr>
              <a:t> </a:t>
            </a:r>
            <a:r>
              <a:rPr sz="2000" dirty="0">
                <a:latin typeface="Times New Roman"/>
                <a:cs typeface="Times New Roman"/>
              </a:rPr>
              <a:t>Huang</a:t>
            </a:r>
            <a:r>
              <a:rPr sz="2000" spc="-5" dirty="0">
                <a:latin typeface="Times New Roman"/>
                <a:cs typeface="Times New Roman"/>
              </a:rPr>
              <a:t> </a:t>
            </a:r>
            <a:r>
              <a:rPr sz="2000" dirty="0">
                <a:latin typeface="Times New Roman"/>
                <a:cs typeface="Times New Roman"/>
              </a:rPr>
              <a:t>,</a:t>
            </a:r>
            <a:r>
              <a:rPr sz="2000" spc="-55" dirty="0">
                <a:latin typeface="Times New Roman"/>
                <a:cs typeface="Times New Roman"/>
              </a:rPr>
              <a:t> </a:t>
            </a:r>
            <a:r>
              <a:rPr sz="2000" dirty="0">
                <a:latin typeface="Times New Roman"/>
                <a:cs typeface="Times New Roman"/>
              </a:rPr>
              <a:t>Fei</a:t>
            </a:r>
            <a:r>
              <a:rPr sz="2000" spc="-20" dirty="0">
                <a:latin typeface="Times New Roman"/>
                <a:cs typeface="Times New Roman"/>
              </a:rPr>
              <a:t> King </a:t>
            </a:r>
            <a:r>
              <a:rPr sz="2000" dirty="0">
                <a:latin typeface="Times New Roman"/>
                <a:cs typeface="Times New Roman"/>
              </a:rPr>
              <a:t>Published</a:t>
            </a:r>
            <a:r>
              <a:rPr sz="2000" spc="-25" dirty="0">
                <a:latin typeface="Times New Roman"/>
                <a:cs typeface="Times New Roman"/>
              </a:rPr>
              <a:t> </a:t>
            </a:r>
            <a:r>
              <a:rPr sz="2000" dirty="0">
                <a:latin typeface="Times New Roman"/>
                <a:cs typeface="Times New Roman"/>
              </a:rPr>
              <a:t>Year</a:t>
            </a:r>
            <a:r>
              <a:rPr sz="2000" spc="-35" dirty="0">
                <a:latin typeface="Times New Roman"/>
                <a:cs typeface="Times New Roman"/>
              </a:rPr>
              <a:t> </a:t>
            </a:r>
            <a:r>
              <a:rPr sz="2000" dirty="0">
                <a:latin typeface="Times New Roman"/>
                <a:cs typeface="Times New Roman"/>
              </a:rPr>
              <a:t>:</a:t>
            </a:r>
            <a:r>
              <a:rPr sz="2000" spc="-20" dirty="0">
                <a:latin typeface="Times New Roman"/>
                <a:cs typeface="Times New Roman"/>
              </a:rPr>
              <a:t> </a:t>
            </a:r>
            <a:r>
              <a:rPr sz="2000" dirty="0">
                <a:latin typeface="Times New Roman"/>
                <a:cs typeface="Times New Roman"/>
              </a:rPr>
              <a:t>10</a:t>
            </a:r>
            <a:r>
              <a:rPr sz="2000" spc="-45" dirty="0">
                <a:latin typeface="Times New Roman"/>
                <a:cs typeface="Times New Roman"/>
              </a:rPr>
              <a:t> </a:t>
            </a:r>
            <a:r>
              <a:rPr sz="2000" dirty="0">
                <a:latin typeface="Times New Roman"/>
                <a:cs typeface="Times New Roman"/>
              </a:rPr>
              <a:t>march</a:t>
            </a:r>
            <a:r>
              <a:rPr sz="2000" spc="-20" dirty="0">
                <a:latin typeface="Times New Roman"/>
                <a:cs typeface="Times New Roman"/>
              </a:rPr>
              <a:t> 2023</a:t>
            </a:r>
            <a:endParaRPr sz="2000">
              <a:latin typeface="Times New Roman"/>
              <a:cs typeface="Times New Roman"/>
            </a:endParaRPr>
          </a:p>
          <a:p>
            <a:pPr>
              <a:lnSpc>
                <a:spcPct val="100000"/>
              </a:lnSpc>
              <a:spcBef>
                <a:spcPts val="100"/>
              </a:spcBef>
            </a:pPr>
            <a:endParaRPr sz="2000">
              <a:latin typeface="Times New Roman"/>
              <a:cs typeface="Times New Roman"/>
            </a:endParaRPr>
          </a:p>
          <a:p>
            <a:pPr marL="12700" marR="5080">
              <a:lnSpc>
                <a:spcPct val="100000"/>
              </a:lnSpc>
            </a:pPr>
            <a:r>
              <a:rPr sz="2000" dirty="0">
                <a:latin typeface="Times New Roman"/>
                <a:cs typeface="Times New Roman"/>
              </a:rPr>
              <a:t>Proposed</a:t>
            </a:r>
            <a:r>
              <a:rPr sz="2000" spc="-75" dirty="0">
                <a:latin typeface="Times New Roman"/>
                <a:cs typeface="Times New Roman"/>
              </a:rPr>
              <a:t> </a:t>
            </a:r>
            <a:r>
              <a:rPr sz="2000" dirty="0">
                <a:latin typeface="Times New Roman"/>
                <a:cs typeface="Times New Roman"/>
              </a:rPr>
              <a:t>method</a:t>
            </a:r>
            <a:r>
              <a:rPr sz="2000" spc="-15" dirty="0">
                <a:latin typeface="Times New Roman"/>
                <a:cs typeface="Times New Roman"/>
              </a:rPr>
              <a:t> </a:t>
            </a:r>
            <a:r>
              <a:rPr sz="2000" dirty="0">
                <a:latin typeface="Times New Roman"/>
                <a:cs typeface="Times New Roman"/>
              </a:rPr>
              <a:t>:</a:t>
            </a:r>
            <a:r>
              <a:rPr sz="2000" spc="-50" dirty="0">
                <a:latin typeface="Times New Roman"/>
                <a:cs typeface="Times New Roman"/>
              </a:rPr>
              <a:t> </a:t>
            </a:r>
            <a:r>
              <a:rPr sz="2000" dirty="0">
                <a:latin typeface="Times New Roman"/>
                <a:cs typeface="Times New Roman"/>
              </a:rPr>
              <a:t>Use</a:t>
            </a:r>
            <a:r>
              <a:rPr sz="2000" spc="-45" dirty="0">
                <a:latin typeface="Times New Roman"/>
                <a:cs typeface="Times New Roman"/>
              </a:rPr>
              <a:t> </a:t>
            </a:r>
            <a:r>
              <a:rPr sz="2000" dirty="0">
                <a:latin typeface="Times New Roman"/>
                <a:cs typeface="Times New Roman"/>
              </a:rPr>
              <a:t>of</a:t>
            </a:r>
            <a:r>
              <a:rPr sz="2000" spc="-60" dirty="0">
                <a:latin typeface="Times New Roman"/>
                <a:cs typeface="Times New Roman"/>
              </a:rPr>
              <a:t> </a:t>
            </a:r>
            <a:r>
              <a:rPr sz="2000" dirty="0">
                <a:latin typeface="Times New Roman"/>
                <a:cs typeface="Times New Roman"/>
              </a:rPr>
              <a:t>underwater</a:t>
            </a:r>
            <a:r>
              <a:rPr sz="2000" spc="30" dirty="0">
                <a:latin typeface="Times New Roman"/>
                <a:cs typeface="Times New Roman"/>
              </a:rPr>
              <a:t> </a:t>
            </a:r>
            <a:r>
              <a:rPr sz="2000" dirty="0">
                <a:latin typeface="Times New Roman"/>
                <a:cs typeface="Times New Roman"/>
              </a:rPr>
              <a:t>robots</a:t>
            </a:r>
            <a:r>
              <a:rPr sz="2000" spc="-95" dirty="0">
                <a:latin typeface="Times New Roman"/>
                <a:cs typeface="Times New Roman"/>
              </a:rPr>
              <a:t> </a:t>
            </a:r>
            <a:r>
              <a:rPr sz="2000" dirty="0">
                <a:latin typeface="Times New Roman"/>
                <a:cs typeface="Times New Roman"/>
              </a:rPr>
              <a:t>equipped</a:t>
            </a:r>
            <a:r>
              <a:rPr sz="2000" spc="-55" dirty="0">
                <a:latin typeface="Times New Roman"/>
                <a:cs typeface="Times New Roman"/>
              </a:rPr>
              <a:t> </a:t>
            </a:r>
            <a:r>
              <a:rPr sz="2000" dirty="0">
                <a:latin typeface="Times New Roman"/>
                <a:cs typeface="Times New Roman"/>
              </a:rPr>
              <a:t>with</a:t>
            </a:r>
            <a:r>
              <a:rPr sz="2000" spc="5" dirty="0">
                <a:latin typeface="Times New Roman"/>
                <a:cs typeface="Times New Roman"/>
              </a:rPr>
              <a:t> </a:t>
            </a:r>
            <a:r>
              <a:rPr sz="2000" dirty="0">
                <a:latin typeface="Times New Roman"/>
                <a:cs typeface="Times New Roman"/>
              </a:rPr>
              <a:t>cameras</a:t>
            </a:r>
            <a:r>
              <a:rPr sz="2000" spc="-30" dirty="0">
                <a:latin typeface="Times New Roman"/>
                <a:cs typeface="Times New Roman"/>
              </a:rPr>
              <a:t> </a:t>
            </a:r>
            <a:r>
              <a:rPr sz="2000" dirty="0">
                <a:latin typeface="Times New Roman"/>
                <a:cs typeface="Times New Roman"/>
              </a:rPr>
              <a:t>or</a:t>
            </a:r>
            <a:r>
              <a:rPr sz="2000" spc="-40" dirty="0">
                <a:latin typeface="Times New Roman"/>
                <a:cs typeface="Times New Roman"/>
              </a:rPr>
              <a:t> </a:t>
            </a:r>
            <a:r>
              <a:rPr sz="2000" dirty="0">
                <a:latin typeface="Times New Roman"/>
                <a:cs typeface="Times New Roman"/>
              </a:rPr>
              <a:t>sonar</a:t>
            </a:r>
            <a:r>
              <a:rPr sz="2000" spc="-40" dirty="0">
                <a:latin typeface="Times New Roman"/>
                <a:cs typeface="Times New Roman"/>
              </a:rPr>
              <a:t> </a:t>
            </a:r>
            <a:r>
              <a:rPr sz="2000" spc="-25" dirty="0">
                <a:latin typeface="Times New Roman"/>
                <a:cs typeface="Times New Roman"/>
              </a:rPr>
              <a:t>for </a:t>
            </a:r>
            <a:r>
              <a:rPr sz="2000" dirty="0">
                <a:latin typeface="Times New Roman"/>
                <a:cs typeface="Times New Roman"/>
              </a:rPr>
              <a:t>crack</a:t>
            </a:r>
            <a:r>
              <a:rPr sz="2000" spc="-55" dirty="0">
                <a:latin typeface="Times New Roman"/>
                <a:cs typeface="Times New Roman"/>
              </a:rPr>
              <a:t> </a:t>
            </a:r>
            <a:r>
              <a:rPr sz="2000" dirty="0">
                <a:latin typeface="Times New Roman"/>
                <a:cs typeface="Times New Roman"/>
              </a:rPr>
              <a:t>detection</a:t>
            </a:r>
            <a:r>
              <a:rPr sz="2000" spc="-55" dirty="0">
                <a:latin typeface="Times New Roman"/>
                <a:cs typeface="Times New Roman"/>
              </a:rPr>
              <a:t> </a:t>
            </a:r>
            <a:r>
              <a:rPr sz="2000" dirty="0">
                <a:latin typeface="Times New Roman"/>
                <a:cs typeface="Times New Roman"/>
              </a:rPr>
              <a:t>on</a:t>
            </a:r>
            <a:r>
              <a:rPr sz="2000" spc="-60" dirty="0">
                <a:latin typeface="Times New Roman"/>
                <a:cs typeface="Times New Roman"/>
              </a:rPr>
              <a:t> </a:t>
            </a:r>
            <a:r>
              <a:rPr sz="2000" dirty="0">
                <a:latin typeface="Times New Roman"/>
                <a:cs typeface="Times New Roman"/>
              </a:rPr>
              <a:t>dam</a:t>
            </a:r>
            <a:r>
              <a:rPr sz="2000" spc="-55" dirty="0">
                <a:latin typeface="Times New Roman"/>
                <a:cs typeface="Times New Roman"/>
              </a:rPr>
              <a:t> </a:t>
            </a:r>
            <a:r>
              <a:rPr sz="2000" dirty="0">
                <a:latin typeface="Times New Roman"/>
                <a:cs typeface="Times New Roman"/>
              </a:rPr>
              <a:t>surfaces.</a:t>
            </a:r>
            <a:r>
              <a:rPr sz="2000" spc="-15" dirty="0">
                <a:latin typeface="Times New Roman"/>
                <a:cs typeface="Times New Roman"/>
              </a:rPr>
              <a:t> </a:t>
            </a:r>
            <a:r>
              <a:rPr sz="2000" dirty="0">
                <a:latin typeface="Times New Roman"/>
                <a:cs typeface="Times New Roman"/>
              </a:rPr>
              <a:t>Application</a:t>
            </a:r>
            <a:r>
              <a:rPr sz="2000" spc="-60" dirty="0">
                <a:latin typeface="Times New Roman"/>
                <a:cs typeface="Times New Roman"/>
              </a:rPr>
              <a:t> </a:t>
            </a:r>
            <a:r>
              <a:rPr sz="2000" dirty="0">
                <a:latin typeface="Times New Roman"/>
                <a:cs typeface="Times New Roman"/>
              </a:rPr>
              <a:t>of</a:t>
            </a:r>
            <a:r>
              <a:rPr sz="2000" spc="-30" dirty="0">
                <a:latin typeface="Times New Roman"/>
                <a:cs typeface="Times New Roman"/>
              </a:rPr>
              <a:t> </a:t>
            </a:r>
            <a:r>
              <a:rPr sz="2000" dirty="0">
                <a:latin typeface="Times New Roman"/>
                <a:cs typeface="Times New Roman"/>
              </a:rPr>
              <a:t>digital</a:t>
            </a:r>
            <a:r>
              <a:rPr sz="2000" spc="-70" dirty="0">
                <a:latin typeface="Times New Roman"/>
                <a:cs typeface="Times New Roman"/>
              </a:rPr>
              <a:t> </a:t>
            </a:r>
            <a:r>
              <a:rPr sz="2000" dirty="0">
                <a:latin typeface="Times New Roman"/>
                <a:cs typeface="Times New Roman"/>
              </a:rPr>
              <a:t>image</a:t>
            </a:r>
            <a:r>
              <a:rPr sz="2000" spc="5" dirty="0">
                <a:latin typeface="Times New Roman"/>
                <a:cs typeface="Times New Roman"/>
              </a:rPr>
              <a:t> </a:t>
            </a:r>
            <a:r>
              <a:rPr sz="2000" dirty="0">
                <a:latin typeface="Times New Roman"/>
                <a:cs typeface="Times New Roman"/>
              </a:rPr>
              <a:t>processing</a:t>
            </a:r>
            <a:r>
              <a:rPr sz="2000" spc="-30" dirty="0">
                <a:latin typeface="Times New Roman"/>
                <a:cs typeface="Times New Roman"/>
              </a:rPr>
              <a:t> </a:t>
            </a:r>
            <a:r>
              <a:rPr sz="2000" spc="-10" dirty="0">
                <a:latin typeface="Times New Roman"/>
                <a:cs typeface="Times New Roman"/>
              </a:rPr>
              <a:t>techniques. </a:t>
            </a:r>
            <a:r>
              <a:rPr sz="2000" dirty="0">
                <a:latin typeface="Times New Roman"/>
                <a:cs typeface="Times New Roman"/>
              </a:rPr>
              <a:t>Development</a:t>
            </a:r>
            <a:r>
              <a:rPr sz="2000" spc="-20" dirty="0">
                <a:latin typeface="Times New Roman"/>
                <a:cs typeface="Times New Roman"/>
              </a:rPr>
              <a:t> </a:t>
            </a:r>
            <a:r>
              <a:rPr sz="2000" dirty="0">
                <a:latin typeface="Times New Roman"/>
                <a:cs typeface="Times New Roman"/>
              </a:rPr>
              <a:t>of</a:t>
            </a:r>
            <a:r>
              <a:rPr sz="2000" spc="-70" dirty="0">
                <a:latin typeface="Times New Roman"/>
                <a:cs typeface="Times New Roman"/>
              </a:rPr>
              <a:t> </a:t>
            </a:r>
            <a:r>
              <a:rPr sz="2000" dirty="0">
                <a:latin typeface="Times New Roman"/>
                <a:cs typeface="Times New Roman"/>
              </a:rPr>
              <a:t>deep</a:t>
            </a:r>
            <a:r>
              <a:rPr sz="2000" spc="-45" dirty="0">
                <a:latin typeface="Times New Roman"/>
                <a:cs typeface="Times New Roman"/>
              </a:rPr>
              <a:t> </a:t>
            </a:r>
            <a:r>
              <a:rPr sz="2000" dirty="0">
                <a:latin typeface="Times New Roman"/>
                <a:cs typeface="Times New Roman"/>
              </a:rPr>
              <a:t>learning</a:t>
            </a:r>
            <a:r>
              <a:rPr sz="2000" spc="-50" dirty="0">
                <a:latin typeface="Times New Roman"/>
                <a:cs typeface="Times New Roman"/>
              </a:rPr>
              <a:t> </a:t>
            </a:r>
            <a:r>
              <a:rPr sz="2000" dirty="0">
                <a:latin typeface="Times New Roman"/>
                <a:cs typeface="Times New Roman"/>
              </a:rPr>
              <a:t>based</a:t>
            </a:r>
            <a:r>
              <a:rPr sz="2000" spc="-65" dirty="0">
                <a:latin typeface="Times New Roman"/>
                <a:cs typeface="Times New Roman"/>
              </a:rPr>
              <a:t> </a:t>
            </a:r>
            <a:r>
              <a:rPr sz="2000" dirty="0">
                <a:latin typeface="Times New Roman"/>
                <a:cs typeface="Times New Roman"/>
              </a:rPr>
              <a:t>methods</a:t>
            </a:r>
            <a:r>
              <a:rPr sz="2000" spc="-20" dirty="0">
                <a:latin typeface="Times New Roman"/>
                <a:cs typeface="Times New Roman"/>
              </a:rPr>
              <a:t> </a:t>
            </a:r>
            <a:r>
              <a:rPr sz="2000" dirty="0">
                <a:latin typeface="Times New Roman"/>
                <a:cs typeface="Times New Roman"/>
              </a:rPr>
              <a:t>for</a:t>
            </a:r>
            <a:r>
              <a:rPr sz="2000" spc="-70" dirty="0">
                <a:latin typeface="Times New Roman"/>
                <a:cs typeface="Times New Roman"/>
              </a:rPr>
              <a:t> </a:t>
            </a:r>
            <a:r>
              <a:rPr sz="2000" dirty="0">
                <a:latin typeface="Times New Roman"/>
                <a:cs typeface="Times New Roman"/>
              </a:rPr>
              <a:t>automatic</a:t>
            </a:r>
            <a:r>
              <a:rPr sz="2000" spc="-10" dirty="0">
                <a:latin typeface="Times New Roman"/>
                <a:cs typeface="Times New Roman"/>
              </a:rPr>
              <a:t> </a:t>
            </a:r>
            <a:r>
              <a:rPr sz="2000" dirty="0">
                <a:latin typeface="Times New Roman"/>
                <a:cs typeface="Times New Roman"/>
              </a:rPr>
              <a:t>crack</a:t>
            </a:r>
            <a:r>
              <a:rPr sz="2000" spc="-65" dirty="0">
                <a:latin typeface="Times New Roman"/>
                <a:cs typeface="Times New Roman"/>
              </a:rPr>
              <a:t> </a:t>
            </a:r>
            <a:r>
              <a:rPr sz="2000" spc="-10" dirty="0">
                <a:latin typeface="Times New Roman"/>
                <a:cs typeface="Times New Roman"/>
              </a:rPr>
              <a:t>identification.</a:t>
            </a:r>
            <a:endParaRPr sz="2000">
              <a:latin typeface="Times New Roman"/>
              <a:cs typeface="Times New Roman"/>
            </a:endParaRPr>
          </a:p>
          <a:p>
            <a:pPr>
              <a:lnSpc>
                <a:spcPct val="100000"/>
              </a:lnSpc>
              <a:spcBef>
                <a:spcPts val="105"/>
              </a:spcBef>
            </a:pPr>
            <a:endParaRPr sz="2000">
              <a:latin typeface="Times New Roman"/>
              <a:cs typeface="Times New Roman"/>
            </a:endParaRPr>
          </a:p>
          <a:p>
            <a:pPr marL="12700">
              <a:lnSpc>
                <a:spcPct val="100000"/>
              </a:lnSpc>
            </a:pPr>
            <a:r>
              <a:rPr sz="2000" dirty="0">
                <a:latin typeface="Times New Roman"/>
                <a:cs typeface="Times New Roman"/>
              </a:rPr>
              <a:t>Parameter</a:t>
            </a:r>
            <a:r>
              <a:rPr sz="2000" spc="-50" dirty="0">
                <a:latin typeface="Times New Roman"/>
                <a:cs typeface="Times New Roman"/>
              </a:rPr>
              <a:t> </a:t>
            </a:r>
            <a:r>
              <a:rPr sz="2000" dirty="0">
                <a:latin typeface="Times New Roman"/>
                <a:cs typeface="Times New Roman"/>
              </a:rPr>
              <a:t>used:</a:t>
            </a:r>
            <a:r>
              <a:rPr sz="2000" spc="-60" dirty="0">
                <a:latin typeface="Times New Roman"/>
                <a:cs typeface="Times New Roman"/>
              </a:rPr>
              <a:t> </a:t>
            </a:r>
            <a:r>
              <a:rPr sz="2000" dirty="0">
                <a:latin typeface="Times New Roman"/>
                <a:cs typeface="Times New Roman"/>
              </a:rPr>
              <a:t>Sonar</a:t>
            </a:r>
            <a:r>
              <a:rPr sz="2000" spc="-45" dirty="0">
                <a:latin typeface="Times New Roman"/>
                <a:cs typeface="Times New Roman"/>
              </a:rPr>
              <a:t> </a:t>
            </a:r>
            <a:r>
              <a:rPr sz="2000" dirty="0">
                <a:latin typeface="Times New Roman"/>
                <a:cs typeface="Times New Roman"/>
              </a:rPr>
              <a:t>image</a:t>
            </a:r>
            <a:r>
              <a:rPr sz="2000" spc="-10" dirty="0">
                <a:latin typeface="Times New Roman"/>
                <a:cs typeface="Times New Roman"/>
              </a:rPr>
              <a:t> </a:t>
            </a:r>
            <a:r>
              <a:rPr sz="2000" dirty="0">
                <a:latin typeface="Times New Roman"/>
                <a:cs typeface="Times New Roman"/>
              </a:rPr>
              <a:t>properties,</a:t>
            </a:r>
            <a:r>
              <a:rPr sz="2000" spc="-90" dirty="0">
                <a:latin typeface="Times New Roman"/>
                <a:cs typeface="Times New Roman"/>
              </a:rPr>
              <a:t> </a:t>
            </a:r>
            <a:r>
              <a:rPr sz="2000" dirty="0">
                <a:latin typeface="Times New Roman"/>
                <a:cs typeface="Times New Roman"/>
              </a:rPr>
              <a:t>Optical</a:t>
            </a:r>
            <a:r>
              <a:rPr sz="2000" spc="-60" dirty="0">
                <a:latin typeface="Times New Roman"/>
                <a:cs typeface="Times New Roman"/>
              </a:rPr>
              <a:t> </a:t>
            </a:r>
            <a:r>
              <a:rPr sz="2000" dirty="0">
                <a:latin typeface="Times New Roman"/>
                <a:cs typeface="Times New Roman"/>
              </a:rPr>
              <a:t>image</a:t>
            </a:r>
            <a:r>
              <a:rPr sz="2000" spc="-10" dirty="0">
                <a:latin typeface="Times New Roman"/>
                <a:cs typeface="Times New Roman"/>
              </a:rPr>
              <a:t> </a:t>
            </a:r>
            <a:r>
              <a:rPr sz="2000" dirty="0">
                <a:latin typeface="Times New Roman"/>
                <a:cs typeface="Times New Roman"/>
              </a:rPr>
              <a:t>parameters,</a:t>
            </a:r>
            <a:r>
              <a:rPr sz="2000" spc="-50" dirty="0">
                <a:latin typeface="Times New Roman"/>
                <a:cs typeface="Times New Roman"/>
              </a:rPr>
              <a:t> </a:t>
            </a:r>
            <a:r>
              <a:rPr sz="2000" dirty="0">
                <a:latin typeface="Times New Roman"/>
                <a:cs typeface="Times New Roman"/>
              </a:rPr>
              <a:t>Deep</a:t>
            </a:r>
            <a:r>
              <a:rPr sz="2000" spc="-45" dirty="0">
                <a:latin typeface="Times New Roman"/>
                <a:cs typeface="Times New Roman"/>
              </a:rPr>
              <a:t> </a:t>
            </a:r>
            <a:r>
              <a:rPr sz="2000" spc="-10" dirty="0">
                <a:latin typeface="Times New Roman"/>
                <a:cs typeface="Times New Roman"/>
              </a:rPr>
              <a:t>learning</a:t>
            </a:r>
            <a:endParaRPr sz="2000">
              <a:latin typeface="Times New Roman"/>
              <a:cs typeface="Times New Roman"/>
            </a:endParaRPr>
          </a:p>
          <a:p>
            <a:pPr marL="12700">
              <a:lnSpc>
                <a:spcPct val="100000"/>
              </a:lnSpc>
            </a:pPr>
            <a:r>
              <a:rPr sz="2000" dirty="0">
                <a:latin typeface="Times New Roman"/>
                <a:cs typeface="Times New Roman"/>
              </a:rPr>
              <a:t>models,</a:t>
            </a:r>
            <a:r>
              <a:rPr sz="2000" spc="-45" dirty="0">
                <a:latin typeface="Times New Roman"/>
                <a:cs typeface="Times New Roman"/>
              </a:rPr>
              <a:t> </a:t>
            </a:r>
            <a:r>
              <a:rPr sz="2000" dirty="0">
                <a:latin typeface="Times New Roman"/>
                <a:cs typeface="Times New Roman"/>
              </a:rPr>
              <a:t>Physical</a:t>
            </a:r>
            <a:r>
              <a:rPr sz="2000" spc="-50" dirty="0">
                <a:latin typeface="Times New Roman"/>
                <a:cs typeface="Times New Roman"/>
              </a:rPr>
              <a:t> </a:t>
            </a:r>
            <a:r>
              <a:rPr sz="2000" spc="-10" dirty="0">
                <a:latin typeface="Times New Roman"/>
                <a:cs typeface="Times New Roman"/>
              </a:rPr>
              <a:t>constraints.</a:t>
            </a:r>
            <a:endParaRPr sz="2000">
              <a:latin typeface="Times New Roman"/>
              <a:cs typeface="Times New Roman"/>
            </a:endParaRPr>
          </a:p>
          <a:p>
            <a:pPr marL="12700" marR="43180">
              <a:lnSpc>
                <a:spcPct val="200100"/>
              </a:lnSpc>
            </a:pPr>
            <a:r>
              <a:rPr sz="2000" dirty="0">
                <a:latin typeface="Times New Roman"/>
                <a:cs typeface="Times New Roman"/>
              </a:rPr>
              <a:t>Advantage:</a:t>
            </a:r>
            <a:r>
              <a:rPr sz="2000" spc="-10" dirty="0">
                <a:latin typeface="Times New Roman"/>
                <a:cs typeface="Times New Roman"/>
              </a:rPr>
              <a:t> </a:t>
            </a:r>
            <a:r>
              <a:rPr sz="2000" spc="-20" dirty="0">
                <a:latin typeface="Times New Roman"/>
                <a:cs typeface="Times New Roman"/>
              </a:rPr>
              <a:t>Non-</a:t>
            </a:r>
            <a:r>
              <a:rPr sz="2000" dirty="0">
                <a:latin typeface="Times New Roman"/>
                <a:cs typeface="Times New Roman"/>
              </a:rPr>
              <a:t>contact</a:t>
            </a:r>
            <a:r>
              <a:rPr sz="2000" spc="-50" dirty="0">
                <a:latin typeface="Times New Roman"/>
                <a:cs typeface="Times New Roman"/>
              </a:rPr>
              <a:t> </a:t>
            </a:r>
            <a:r>
              <a:rPr sz="2000" dirty="0">
                <a:latin typeface="Times New Roman"/>
                <a:cs typeface="Times New Roman"/>
              </a:rPr>
              <a:t>and</a:t>
            </a:r>
            <a:r>
              <a:rPr sz="2000" spc="-60" dirty="0">
                <a:latin typeface="Times New Roman"/>
                <a:cs typeface="Times New Roman"/>
              </a:rPr>
              <a:t> </a:t>
            </a:r>
            <a:r>
              <a:rPr sz="2000" spc="-20" dirty="0">
                <a:latin typeface="Times New Roman"/>
                <a:cs typeface="Times New Roman"/>
              </a:rPr>
              <a:t>non-</a:t>
            </a:r>
            <a:r>
              <a:rPr sz="2000" dirty="0">
                <a:latin typeface="Times New Roman"/>
                <a:cs typeface="Times New Roman"/>
              </a:rPr>
              <a:t>destructive,</a:t>
            </a:r>
            <a:r>
              <a:rPr sz="2000" spc="-25" dirty="0">
                <a:latin typeface="Times New Roman"/>
                <a:cs typeface="Times New Roman"/>
              </a:rPr>
              <a:t> </a:t>
            </a:r>
            <a:r>
              <a:rPr sz="2000" dirty="0">
                <a:latin typeface="Times New Roman"/>
                <a:cs typeface="Times New Roman"/>
              </a:rPr>
              <a:t>High</a:t>
            </a:r>
            <a:r>
              <a:rPr sz="2000" spc="-60" dirty="0">
                <a:latin typeface="Times New Roman"/>
                <a:cs typeface="Times New Roman"/>
              </a:rPr>
              <a:t> </a:t>
            </a:r>
            <a:r>
              <a:rPr sz="2000" dirty="0">
                <a:latin typeface="Times New Roman"/>
                <a:cs typeface="Times New Roman"/>
              </a:rPr>
              <a:t>efficiency, Enhanced</a:t>
            </a:r>
            <a:r>
              <a:rPr sz="2000" spc="-15" dirty="0">
                <a:latin typeface="Times New Roman"/>
                <a:cs typeface="Times New Roman"/>
              </a:rPr>
              <a:t> </a:t>
            </a:r>
            <a:r>
              <a:rPr sz="2000" spc="-10" dirty="0">
                <a:latin typeface="Times New Roman"/>
                <a:cs typeface="Times New Roman"/>
              </a:rPr>
              <a:t>accuracy. </a:t>
            </a:r>
            <a:r>
              <a:rPr sz="2000" dirty="0">
                <a:latin typeface="Times New Roman"/>
                <a:cs typeface="Times New Roman"/>
              </a:rPr>
              <a:t>Limitation</a:t>
            </a:r>
            <a:r>
              <a:rPr sz="2000" spc="-65" dirty="0">
                <a:latin typeface="Times New Roman"/>
                <a:cs typeface="Times New Roman"/>
              </a:rPr>
              <a:t> </a:t>
            </a:r>
            <a:r>
              <a:rPr sz="2000" dirty="0">
                <a:latin typeface="Times New Roman"/>
                <a:cs typeface="Times New Roman"/>
              </a:rPr>
              <a:t>:</a:t>
            </a:r>
            <a:r>
              <a:rPr sz="2000" spc="-95" dirty="0">
                <a:latin typeface="Times New Roman"/>
                <a:cs typeface="Times New Roman"/>
              </a:rPr>
              <a:t> </a:t>
            </a:r>
            <a:r>
              <a:rPr sz="2000" dirty="0">
                <a:latin typeface="Times New Roman"/>
                <a:cs typeface="Times New Roman"/>
              </a:rPr>
              <a:t>Complex</a:t>
            </a:r>
            <a:r>
              <a:rPr sz="2000" spc="-65" dirty="0">
                <a:latin typeface="Times New Roman"/>
                <a:cs typeface="Times New Roman"/>
              </a:rPr>
              <a:t> </a:t>
            </a:r>
            <a:r>
              <a:rPr sz="2000" dirty="0">
                <a:latin typeface="Times New Roman"/>
                <a:cs typeface="Times New Roman"/>
              </a:rPr>
              <a:t>underwater</a:t>
            </a:r>
            <a:r>
              <a:rPr sz="2000" spc="-45" dirty="0">
                <a:latin typeface="Times New Roman"/>
                <a:cs typeface="Times New Roman"/>
              </a:rPr>
              <a:t> </a:t>
            </a:r>
            <a:r>
              <a:rPr sz="2000" dirty="0">
                <a:latin typeface="Times New Roman"/>
                <a:cs typeface="Times New Roman"/>
              </a:rPr>
              <a:t>environment,</a:t>
            </a:r>
            <a:r>
              <a:rPr sz="2000" spc="-30" dirty="0">
                <a:latin typeface="Times New Roman"/>
                <a:cs typeface="Times New Roman"/>
              </a:rPr>
              <a:t> </a:t>
            </a:r>
            <a:r>
              <a:rPr sz="2000" dirty="0">
                <a:latin typeface="Times New Roman"/>
                <a:cs typeface="Times New Roman"/>
              </a:rPr>
              <a:t>Computational</a:t>
            </a:r>
            <a:r>
              <a:rPr sz="2000" spc="15" dirty="0">
                <a:latin typeface="Times New Roman"/>
                <a:cs typeface="Times New Roman"/>
              </a:rPr>
              <a:t> </a:t>
            </a:r>
            <a:r>
              <a:rPr sz="2000" dirty="0">
                <a:latin typeface="Times New Roman"/>
                <a:cs typeface="Times New Roman"/>
              </a:rPr>
              <a:t>challenges,Real</a:t>
            </a:r>
            <a:r>
              <a:rPr sz="2000" spc="-40" dirty="0">
                <a:latin typeface="Times New Roman"/>
                <a:cs typeface="Times New Roman"/>
              </a:rPr>
              <a:t> </a:t>
            </a:r>
            <a:r>
              <a:rPr sz="2000" spc="-20" dirty="0">
                <a:latin typeface="Times New Roman"/>
                <a:cs typeface="Times New Roman"/>
              </a:rPr>
              <a:t>time</a:t>
            </a:r>
            <a:endParaRPr sz="2000">
              <a:latin typeface="Times New Roman"/>
              <a:cs typeface="Times New Roman"/>
            </a:endParaRPr>
          </a:p>
        </p:txBody>
      </p:sp>
      <p:sp>
        <p:nvSpPr>
          <p:cNvPr id="3" name="object 3"/>
          <p:cNvSpPr txBox="1"/>
          <p:nvPr/>
        </p:nvSpPr>
        <p:spPr>
          <a:xfrm>
            <a:off x="141833" y="6402730"/>
            <a:ext cx="2312670" cy="329565"/>
          </a:xfrm>
          <a:prstGeom prst="rect">
            <a:avLst/>
          </a:prstGeom>
        </p:spPr>
        <p:txBody>
          <a:bodyPr vert="horz" wrap="square" lIns="0" tIns="11430" rIns="0" bIns="0" rtlCol="0">
            <a:spAutoFit/>
          </a:bodyPr>
          <a:lstStyle/>
          <a:p>
            <a:pPr marL="12700">
              <a:lnSpc>
                <a:spcPct val="100000"/>
              </a:lnSpc>
              <a:spcBef>
                <a:spcPts val="90"/>
              </a:spcBef>
            </a:pPr>
            <a:r>
              <a:rPr sz="2000" dirty="0">
                <a:latin typeface="Times New Roman"/>
                <a:cs typeface="Times New Roman"/>
              </a:rPr>
              <a:t>processing</a:t>
            </a:r>
            <a:r>
              <a:rPr sz="2000" spc="-60" dirty="0">
                <a:latin typeface="Times New Roman"/>
                <a:cs typeface="Times New Roman"/>
              </a:rPr>
              <a:t> </a:t>
            </a:r>
            <a:r>
              <a:rPr sz="2000" spc="-10" dirty="0">
                <a:latin typeface="Times New Roman"/>
                <a:cs typeface="Times New Roman"/>
              </a:rPr>
              <a:t>limitations.</a:t>
            </a:r>
            <a:endParaRPr sz="2000">
              <a:latin typeface="Times New Roman"/>
              <a:cs typeface="Times New Roman"/>
            </a:endParaRPr>
          </a:p>
        </p:txBody>
      </p:sp>
      <p:pic>
        <p:nvPicPr>
          <p:cNvPr id="4" name="object 4"/>
          <p:cNvPicPr/>
          <p:nvPr/>
        </p:nvPicPr>
        <p:blipFill>
          <a:blip r:embed="rId2" cstate="print"/>
          <a:stretch>
            <a:fillRect/>
          </a:stretch>
        </p:blipFill>
        <p:spPr>
          <a:xfrm>
            <a:off x="7757159" y="124968"/>
            <a:ext cx="1051559" cy="1100327"/>
          </a:xfrm>
          <a:prstGeom prst="rect">
            <a:avLst/>
          </a:prstGeom>
        </p:spPr>
      </p:pic>
      <p:pic>
        <p:nvPicPr>
          <p:cNvPr id="5" name="object 5"/>
          <p:cNvPicPr/>
          <p:nvPr/>
        </p:nvPicPr>
        <p:blipFill>
          <a:blip r:embed="rId3" cstate="print"/>
          <a:stretch>
            <a:fillRect/>
          </a:stretch>
        </p:blipFill>
        <p:spPr>
          <a:xfrm>
            <a:off x="323088" y="124968"/>
            <a:ext cx="981456" cy="1100327"/>
          </a:xfrm>
          <a:prstGeom prst="rect">
            <a:avLst/>
          </a:prstGeom>
        </p:spPr>
      </p:pic>
      <p:sp>
        <p:nvSpPr>
          <p:cNvPr id="6" name="object 6"/>
          <p:cNvSpPr txBox="1"/>
          <p:nvPr/>
        </p:nvSpPr>
        <p:spPr>
          <a:xfrm>
            <a:off x="3810761" y="6434734"/>
            <a:ext cx="4628515" cy="208279"/>
          </a:xfrm>
          <a:prstGeom prst="rect">
            <a:avLst/>
          </a:prstGeom>
        </p:spPr>
        <p:txBody>
          <a:bodyPr vert="horz" wrap="square" lIns="0" tIns="12700" rIns="0" bIns="0" rtlCol="0">
            <a:spAutoFit/>
          </a:bodyPr>
          <a:lstStyle/>
          <a:p>
            <a:pPr marL="12700">
              <a:lnSpc>
                <a:spcPct val="100000"/>
              </a:lnSpc>
              <a:spcBef>
                <a:spcPts val="100"/>
              </a:spcBef>
              <a:tabLst>
                <a:tab pos="4530090" algn="l"/>
              </a:tabLst>
            </a:pPr>
            <a:r>
              <a:rPr sz="1200" dirty="0">
                <a:latin typeface="Arial MT"/>
                <a:cs typeface="Arial MT"/>
              </a:rPr>
              <a:t>Dept.</a:t>
            </a:r>
            <a:r>
              <a:rPr sz="1200" spc="-25" dirty="0">
                <a:latin typeface="Arial MT"/>
                <a:cs typeface="Arial MT"/>
              </a:rPr>
              <a:t> </a:t>
            </a:r>
            <a:r>
              <a:rPr sz="1200" dirty="0">
                <a:latin typeface="Arial MT"/>
                <a:cs typeface="Arial MT"/>
              </a:rPr>
              <a:t>of</a:t>
            </a:r>
            <a:r>
              <a:rPr sz="1200" spc="-5" dirty="0">
                <a:latin typeface="Arial MT"/>
                <a:cs typeface="Arial MT"/>
              </a:rPr>
              <a:t> </a:t>
            </a:r>
            <a:r>
              <a:rPr sz="1200" dirty="0">
                <a:latin typeface="Arial MT"/>
                <a:cs typeface="Arial MT"/>
              </a:rPr>
              <a:t>ECE</a:t>
            </a:r>
            <a:r>
              <a:rPr sz="1200" spc="5" dirty="0">
                <a:latin typeface="Arial MT"/>
                <a:cs typeface="Arial MT"/>
              </a:rPr>
              <a:t> </a:t>
            </a:r>
            <a:r>
              <a:rPr sz="1200" dirty="0">
                <a:latin typeface="Arial MT"/>
                <a:cs typeface="Arial MT"/>
              </a:rPr>
              <a:t>2025-</a:t>
            </a:r>
            <a:r>
              <a:rPr sz="1200" spc="-25" dirty="0">
                <a:latin typeface="Arial MT"/>
                <a:cs typeface="Arial MT"/>
              </a:rPr>
              <a:t>26</a:t>
            </a:r>
            <a:r>
              <a:rPr sz="1200" dirty="0">
                <a:latin typeface="Arial MT"/>
                <a:cs typeface="Arial MT"/>
              </a:rPr>
              <a:t>	</a:t>
            </a:r>
            <a:r>
              <a:rPr sz="1200" spc="-50" dirty="0">
                <a:latin typeface="Arial MT"/>
                <a:cs typeface="Arial MT"/>
              </a:rPr>
              <a:t>9</a:t>
            </a:r>
            <a:endParaRPr sz="1200">
              <a:latin typeface="Arial MT"/>
              <a:cs typeface="Arial MT"/>
            </a:endParaRPr>
          </a:p>
        </p:txBody>
      </p:sp>
      <p:sp>
        <p:nvSpPr>
          <p:cNvPr id="7" name="object 7"/>
          <p:cNvSpPr txBox="1">
            <a:spLocks noGrp="1"/>
          </p:cNvSpPr>
          <p:nvPr>
            <p:ph type="title"/>
          </p:nvPr>
        </p:nvSpPr>
        <p:spPr>
          <a:prstGeom prst="rect">
            <a:avLst/>
          </a:prstGeom>
        </p:spPr>
        <p:txBody>
          <a:bodyPr vert="horz" wrap="square" lIns="0" tIns="181990" rIns="0" bIns="0" rtlCol="0">
            <a:spAutoFit/>
          </a:bodyPr>
          <a:lstStyle/>
          <a:p>
            <a:pPr marL="1151255">
              <a:lnSpc>
                <a:spcPct val="100000"/>
              </a:lnSpc>
              <a:spcBef>
                <a:spcPts val="110"/>
              </a:spcBef>
            </a:pPr>
            <a:r>
              <a:rPr sz="2800" dirty="0"/>
              <a:t>LITERATURE</a:t>
            </a:r>
            <a:r>
              <a:rPr sz="2800" spc="-100" dirty="0"/>
              <a:t> </a:t>
            </a:r>
            <a:r>
              <a:rPr sz="2800" spc="-10" dirty="0"/>
              <a:t>SURVEY</a:t>
            </a:r>
            <a:endParaRPr sz="28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47599" y="1523441"/>
            <a:ext cx="8416290" cy="5095875"/>
          </a:xfrm>
          <a:prstGeom prst="rect">
            <a:avLst/>
          </a:prstGeom>
        </p:spPr>
        <p:txBody>
          <a:bodyPr vert="horz" wrap="square" lIns="0" tIns="12065" rIns="0" bIns="0" rtlCol="0">
            <a:spAutoFit/>
          </a:bodyPr>
          <a:lstStyle/>
          <a:p>
            <a:pPr marL="12700">
              <a:lnSpc>
                <a:spcPct val="100000"/>
              </a:lnSpc>
              <a:spcBef>
                <a:spcPts val="95"/>
              </a:spcBef>
              <a:tabLst>
                <a:tab pos="7614920" algn="l"/>
              </a:tabLst>
            </a:pPr>
            <a:r>
              <a:rPr sz="2000" dirty="0">
                <a:latin typeface="Times New Roman"/>
                <a:cs typeface="Times New Roman"/>
              </a:rPr>
              <a:t>[</a:t>
            </a:r>
            <a:r>
              <a:rPr sz="2000" b="1" dirty="0">
                <a:latin typeface="Times New Roman"/>
                <a:cs typeface="Times New Roman"/>
              </a:rPr>
              <a:t>4]Title</a:t>
            </a:r>
            <a:r>
              <a:rPr sz="2000" b="1" spc="425" dirty="0">
                <a:latin typeface="Times New Roman"/>
                <a:cs typeface="Times New Roman"/>
              </a:rPr>
              <a:t> </a:t>
            </a:r>
            <a:r>
              <a:rPr sz="2000" b="1" dirty="0">
                <a:latin typeface="Times New Roman"/>
                <a:cs typeface="Times New Roman"/>
              </a:rPr>
              <a:t>of</a:t>
            </a:r>
            <a:r>
              <a:rPr sz="2000" b="1" spc="-40" dirty="0">
                <a:latin typeface="Times New Roman"/>
                <a:cs typeface="Times New Roman"/>
              </a:rPr>
              <a:t> </a:t>
            </a:r>
            <a:r>
              <a:rPr sz="2000" b="1" dirty="0">
                <a:latin typeface="Times New Roman"/>
                <a:cs typeface="Times New Roman"/>
              </a:rPr>
              <a:t>the</a:t>
            </a:r>
            <a:r>
              <a:rPr sz="2000" b="1" spc="-35" dirty="0">
                <a:latin typeface="Times New Roman"/>
                <a:cs typeface="Times New Roman"/>
              </a:rPr>
              <a:t> </a:t>
            </a:r>
            <a:r>
              <a:rPr sz="2000" b="1" dirty="0">
                <a:latin typeface="Times New Roman"/>
                <a:cs typeface="Times New Roman"/>
              </a:rPr>
              <a:t>paper:</a:t>
            </a:r>
            <a:r>
              <a:rPr sz="2000" b="1" spc="-40" dirty="0">
                <a:latin typeface="Times New Roman"/>
                <a:cs typeface="Times New Roman"/>
              </a:rPr>
              <a:t> </a:t>
            </a:r>
            <a:r>
              <a:rPr sz="2000" b="1" dirty="0">
                <a:latin typeface="Times New Roman"/>
                <a:cs typeface="Times New Roman"/>
              </a:rPr>
              <a:t>Intelligent</a:t>
            </a:r>
            <a:r>
              <a:rPr sz="2000" b="1" spc="-25" dirty="0">
                <a:latin typeface="Times New Roman"/>
                <a:cs typeface="Times New Roman"/>
              </a:rPr>
              <a:t> </a:t>
            </a:r>
            <a:r>
              <a:rPr sz="2000" b="1" dirty="0">
                <a:latin typeface="Times New Roman"/>
                <a:cs typeface="Times New Roman"/>
              </a:rPr>
              <a:t>Detection</a:t>
            </a:r>
            <a:r>
              <a:rPr sz="2000" b="1" spc="-55" dirty="0">
                <a:latin typeface="Times New Roman"/>
                <a:cs typeface="Times New Roman"/>
              </a:rPr>
              <a:t> </a:t>
            </a:r>
            <a:r>
              <a:rPr sz="2000" b="1" dirty="0">
                <a:latin typeface="Times New Roman"/>
                <a:cs typeface="Times New Roman"/>
              </a:rPr>
              <a:t>Method</a:t>
            </a:r>
            <a:r>
              <a:rPr sz="2000" b="1" spc="-45" dirty="0">
                <a:latin typeface="Times New Roman"/>
                <a:cs typeface="Times New Roman"/>
              </a:rPr>
              <a:t> </a:t>
            </a:r>
            <a:r>
              <a:rPr sz="2000" b="1" dirty="0">
                <a:latin typeface="Times New Roman"/>
                <a:cs typeface="Times New Roman"/>
              </a:rPr>
              <a:t>for</a:t>
            </a:r>
            <a:r>
              <a:rPr sz="2000" b="1" spc="-45" dirty="0">
                <a:latin typeface="Times New Roman"/>
                <a:cs typeface="Times New Roman"/>
              </a:rPr>
              <a:t> </a:t>
            </a:r>
            <a:r>
              <a:rPr sz="2000" b="1" dirty="0">
                <a:latin typeface="Times New Roman"/>
                <a:cs typeface="Times New Roman"/>
              </a:rPr>
              <a:t>Concrete</a:t>
            </a:r>
            <a:r>
              <a:rPr sz="2000" b="1" spc="-50" dirty="0">
                <a:latin typeface="Times New Roman"/>
                <a:cs typeface="Times New Roman"/>
              </a:rPr>
              <a:t> </a:t>
            </a:r>
            <a:r>
              <a:rPr sz="2000" b="1" spc="-25" dirty="0">
                <a:latin typeface="Times New Roman"/>
                <a:cs typeface="Times New Roman"/>
              </a:rPr>
              <a:t>dam</a:t>
            </a:r>
            <a:r>
              <a:rPr sz="2000" b="1" dirty="0">
                <a:latin typeface="Times New Roman"/>
                <a:cs typeface="Times New Roman"/>
              </a:rPr>
              <a:t>	</a:t>
            </a:r>
            <a:r>
              <a:rPr sz="2000" b="1" spc="-10" dirty="0">
                <a:latin typeface="Times New Roman"/>
                <a:cs typeface="Times New Roman"/>
              </a:rPr>
              <a:t>surface</a:t>
            </a:r>
            <a:endParaRPr sz="2000">
              <a:latin typeface="Times New Roman"/>
              <a:cs typeface="Times New Roman"/>
            </a:endParaRPr>
          </a:p>
          <a:p>
            <a:pPr marL="12700">
              <a:lnSpc>
                <a:spcPct val="100000"/>
              </a:lnSpc>
            </a:pPr>
            <a:r>
              <a:rPr sz="2000" b="1" dirty="0">
                <a:latin typeface="Times New Roman"/>
                <a:cs typeface="Times New Roman"/>
              </a:rPr>
              <a:t>Cracks</a:t>
            </a:r>
            <a:r>
              <a:rPr sz="2000" b="1" spc="5" dirty="0">
                <a:latin typeface="Times New Roman"/>
                <a:cs typeface="Times New Roman"/>
              </a:rPr>
              <a:t> </a:t>
            </a:r>
            <a:r>
              <a:rPr sz="2000" b="1" dirty="0">
                <a:latin typeface="Times New Roman"/>
                <a:cs typeface="Times New Roman"/>
              </a:rPr>
              <a:t>based</a:t>
            </a:r>
            <a:r>
              <a:rPr sz="2000" b="1" spc="-30" dirty="0">
                <a:latin typeface="Times New Roman"/>
                <a:cs typeface="Times New Roman"/>
              </a:rPr>
              <a:t> </a:t>
            </a:r>
            <a:r>
              <a:rPr sz="2000" b="1" dirty="0">
                <a:latin typeface="Times New Roman"/>
                <a:cs typeface="Times New Roman"/>
              </a:rPr>
              <a:t>on</a:t>
            </a:r>
            <a:r>
              <a:rPr sz="2000" b="1" spc="-30" dirty="0">
                <a:latin typeface="Times New Roman"/>
                <a:cs typeface="Times New Roman"/>
              </a:rPr>
              <a:t> </a:t>
            </a:r>
            <a:r>
              <a:rPr sz="2000" b="1" dirty="0">
                <a:latin typeface="Times New Roman"/>
                <a:cs typeface="Times New Roman"/>
              </a:rPr>
              <a:t>two</a:t>
            </a:r>
            <a:r>
              <a:rPr sz="2000" b="1" spc="-65" dirty="0">
                <a:latin typeface="Times New Roman"/>
                <a:cs typeface="Times New Roman"/>
              </a:rPr>
              <a:t> </a:t>
            </a:r>
            <a:r>
              <a:rPr sz="2000" b="1" dirty="0">
                <a:latin typeface="Times New Roman"/>
                <a:cs typeface="Times New Roman"/>
              </a:rPr>
              <a:t>stage</a:t>
            </a:r>
            <a:r>
              <a:rPr sz="2000" b="1" spc="-45" dirty="0">
                <a:latin typeface="Times New Roman"/>
                <a:cs typeface="Times New Roman"/>
              </a:rPr>
              <a:t> </a:t>
            </a:r>
            <a:r>
              <a:rPr sz="2000" b="1" dirty="0">
                <a:latin typeface="Times New Roman"/>
                <a:cs typeface="Times New Roman"/>
              </a:rPr>
              <a:t>transfer</a:t>
            </a:r>
            <a:r>
              <a:rPr sz="2000" b="1" spc="-25" dirty="0">
                <a:latin typeface="Times New Roman"/>
                <a:cs typeface="Times New Roman"/>
              </a:rPr>
              <a:t> </a:t>
            </a:r>
            <a:r>
              <a:rPr sz="2000" b="1" spc="-10" dirty="0">
                <a:latin typeface="Times New Roman"/>
                <a:cs typeface="Times New Roman"/>
              </a:rPr>
              <a:t>learning</a:t>
            </a:r>
            <a:endParaRPr sz="2000">
              <a:latin typeface="Times New Roman"/>
              <a:cs typeface="Times New Roman"/>
            </a:endParaRPr>
          </a:p>
          <a:p>
            <a:pPr marL="12700" marR="2315210">
              <a:lnSpc>
                <a:spcPct val="200100"/>
              </a:lnSpc>
              <a:tabLst>
                <a:tab pos="858519" algn="l"/>
              </a:tabLst>
            </a:pPr>
            <a:r>
              <a:rPr sz="2000" spc="-10" dirty="0">
                <a:latin typeface="Times New Roman"/>
                <a:cs typeface="Times New Roman"/>
              </a:rPr>
              <a:t>Author</a:t>
            </a:r>
            <a:r>
              <a:rPr sz="2000" dirty="0">
                <a:latin typeface="Times New Roman"/>
                <a:cs typeface="Times New Roman"/>
              </a:rPr>
              <a:t>	:</a:t>
            </a:r>
            <a:r>
              <a:rPr sz="2000" spc="-60" dirty="0">
                <a:latin typeface="Times New Roman"/>
                <a:cs typeface="Times New Roman"/>
              </a:rPr>
              <a:t> </a:t>
            </a:r>
            <a:r>
              <a:rPr sz="2000" dirty="0">
                <a:latin typeface="Times New Roman"/>
                <a:cs typeface="Times New Roman"/>
              </a:rPr>
              <a:t>Jianyuan</a:t>
            </a:r>
            <a:r>
              <a:rPr sz="2000" spc="15" dirty="0">
                <a:latin typeface="Times New Roman"/>
                <a:cs typeface="Times New Roman"/>
              </a:rPr>
              <a:t> </a:t>
            </a:r>
            <a:r>
              <a:rPr sz="2000" dirty="0">
                <a:latin typeface="Times New Roman"/>
                <a:cs typeface="Times New Roman"/>
              </a:rPr>
              <a:t>Li,</a:t>
            </a:r>
            <a:r>
              <a:rPr sz="2000" spc="-20" dirty="0">
                <a:latin typeface="Times New Roman"/>
                <a:cs typeface="Times New Roman"/>
              </a:rPr>
              <a:t> </a:t>
            </a:r>
            <a:r>
              <a:rPr sz="2000" dirty="0">
                <a:latin typeface="Times New Roman"/>
                <a:cs typeface="Times New Roman"/>
              </a:rPr>
              <a:t>Xiaochun</a:t>
            </a:r>
            <a:r>
              <a:rPr sz="2000" spc="-30" dirty="0">
                <a:latin typeface="Times New Roman"/>
                <a:cs typeface="Times New Roman"/>
              </a:rPr>
              <a:t> </a:t>
            </a:r>
            <a:r>
              <a:rPr sz="2000" dirty="0">
                <a:latin typeface="Times New Roman"/>
                <a:cs typeface="Times New Roman"/>
              </a:rPr>
              <a:t>Lu</a:t>
            </a:r>
            <a:r>
              <a:rPr sz="2000" spc="-15" dirty="0">
                <a:latin typeface="Times New Roman"/>
                <a:cs typeface="Times New Roman"/>
              </a:rPr>
              <a:t> </a:t>
            </a:r>
            <a:r>
              <a:rPr sz="2000" dirty="0">
                <a:latin typeface="Times New Roman"/>
                <a:cs typeface="Times New Roman"/>
              </a:rPr>
              <a:t>,</a:t>
            </a:r>
            <a:r>
              <a:rPr sz="2000" spc="-40" dirty="0">
                <a:latin typeface="Times New Roman"/>
                <a:cs typeface="Times New Roman"/>
              </a:rPr>
              <a:t> </a:t>
            </a:r>
            <a:r>
              <a:rPr sz="2000" dirty="0">
                <a:latin typeface="Times New Roman"/>
                <a:cs typeface="Times New Roman"/>
              </a:rPr>
              <a:t>Ping</a:t>
            </a:r>
            <a:r>
              <a:rPr sz="2000" spc="-45" dirty="0">
                <a:latin typeface="Times New Roman"/>
                <a:cs typeface="Times New Roman"/>
              </a:rPr>
              <a:t> </a:t>
            </a:r>
            <a:r>
              <a:rPr sz="2000" dirty="0">
                <a:latin typeface="Times New Roman"/>
                <a:cs typeface="Times New Roman"/>
              </a:rPr>
              <a:t>zhang</a:t>
            </a:r>
            <a:r>
              <a:rPr sz="2000" spc="-5" dirty="0">
                <a:latin typeface="Times New Roman"/>
                <a:cs typeface="Times New Roman"/>
              </a:rPr>
              <a:t> </a:t>
            </a:r>
            <a:r>
              <a:rPr sz="2000" spc="-10" dirty="0">
                <a:latin typeface="Times New Roman"/>
                <a:cs typeface="Times New Roman"/>
              </a:rPr>
              <a:t>,Qingquan </a:t>
            </a:r>
            <a:r>
              <a:rPr sz="2000" dirty="0">
                <a:latin typeface="Times New Roman"/>
                <a:cs typeface="Times New Roman"/>
              </a:rPr>
              <a:t>Published</a:t>
            </a:r>
            <a:r>
              <a:rPr sz="2000" spc="-25" dirty="0">
                <a:latin typeface="Times New Roman"/>
                <a:cs typeface="Times New Roman"/>
              </a:rPr>
              <a:t> </a:t>
            </a:r>
            <a:r>
              <a:rPr sz="2000" dirty="0">
                <a:latin typeface="Times New Roman"/>
                <a:cs typeface="Times New Roman"/>
              </a:rPr>
              <a:t>Year</a:t>
            </a:r>
            <a:r>
              <a:rPr sz="2000" spc="-30" dirty="0">
                <a:latin typeface="Times New Roman"/>
                <a:cs typeface="Times New Roman"/>
              </a:rPr>
              <a:t> </a:t>
            </a:r>
            <a:r>
              <a:rPr sz="2000" dirty="0">
                <a:latin typeface="Times New Roman"/>
                <a:cs typeface="Times New Roman"/>
              </a:rPr>
              <a:t>:</a:t>
            </a:r>
            <a:r>
              <a:rPr sz="2000" spc="-45" dirty="0">
                <a:latin typeface="Times New Roman"/>
                <a:cs typeface="Times New Roman"/>
              </a:rPr>
              <a:t> </a:t>
            </a:r>
            <a:r>
              <a:rPr sz="2000" dirty="0">
                <a:latin typeface="Times New Roman"/>
                <a:cs typeface="Times New Roman"/>
              </a:rPr>
              <a:t>31</a:t>
            </a:r>
            <a:r>
              <a:rPr sz="2000" spc="-45" dirty="0">
                <a:latin typeface="Times New Roman"/>
                <a:cs typeface="Times New Roman"/>
              </a:rPr>
              <a:t> </a:t>
            </a:r>
            <a:r>
              <a:rPr sz="2000" dirty="0">
                <a:latin typeface="Times New Roman"/>
                <a:cs typeface="Times New Roman"/>
              </a:rPr>
              <a:t>may </a:t>
            </a:r>
            <a:r>
              <a:rPr sz="2000" spc="-20" dirty="0">
                <a:latin typeface="Times New Roman"/>
                <a:cs typeface="Times New Roman"/>
              </a:rPr>
              <a:t>2023</a:t>
            </a:r>
            <a:endParaRPr sz="2000">
              <a:latin typeface="Times New Roman"/>
              <a:cs typeface="Times New Roman"/>
            </a:endParaRPr>
          </a:p>
          <a:p>
            <a:pPr>
              <a:lnSpc>
                <a:spcPct val="100000"/>
              </a:lnSpc>
              <a:spcBef>
                <a:spcPts val="100"/>
              </a:spcBef>
            </a:pPr>
            <a:endParaRPr sz="2000">
              <a:latin typeface="Times New Roman"/>
              <a:cs typeface="Times New Roman"/>
            </a:endParaRPr>
          </a:p>
          <a:p>
            <a:pPr marL="12700" marR="627380">
              <a:lnSpc>
                <a:spcPct val="100000"/>
              </a:lnSpc>
              <a:spcBef>
                <a:spcPts val="5"/>
              </a:spcBef>
              <a:tabLst>
                <a:tab pos="2039620" algn="l"/>
              </a:tabLst>
            </a:pPr>
            <a:r>
              <a:rPr sz="2000" dirty="0">
                <a:latin typeface="Times New Roman"/>
                <a:cs typeface="Times New Roman"/>
              </a:rPr>
              <a:t>Proposed</a:t>
            </a:r>
            <a:r>
              <a:rPr sz="2000" spc="-90" dirty="0">
                <a:latin typeface="Times New Roman"/>
                <a:cs typeface="Times New Roman"/>
              </a:rPr>
              <a:t> </a:t>
            </a:r>
            <a:r>
              <a:rPr sz="2000" dirty="0">
                <a:latin typeface="Times New Roman"/>
                <a:cs typeface="Times New Roman"/>
              </a:rPr>
              <a:t>method</a:t>
            </a:r>
            <a:r>
              <a:rPr sz="2000" spc="-25" dirty="0">
                <a:latin typeface="Times New Roman"/>
                <a:cs typeface="Times New Roman"/>
              </a:rPr>
              <a:t> </a:t>
            </a:r>
            <a:r>
              <a:rPr sz="2000" spc="-50" dirty="0">
                <a:latin typeface="Times New Roman"/>
                <a:cs typeface="Times New Roman"/>
              </a:rPr>
              <a:t>:</a:t>
            </a:r>
            <a:r>
              <a:rPr sz="2000" dirty="0">
                <a:latin typeface="Times New Roman"/>
                <a:cs typeface="Times New Roman"/>
              </a:rPr>
              <a:t>	Two</a:t>
            </a:r>
            <a:r>
              <a:rPr sz="2000" spc="-40" dirty="0">
                <a:latin typeface="Times New Roman"/>
                <a:cs typeface="Times New Roman"/>
              </a:rPr>
              <a:t> </a:t>
            </a:r>
            <a:r>
              <a:rPr sz="2000" dirty="0">
                <a:latin typeface="Times New Roman"/>
                <a:cs typeface="Times New Roman"/>
              </a:rPr>
              <a:t>stage</a:t>
            </a:r>
            <a:r>
              <a:rPr sz="2000" spc="-60" dirty="0">
                <a:latin typeface="Times New Roman"/>
                <a:cs typeface="Times New Roman"/>
              </a:rPr>
              <a:t> </a:t>
            </a:r>
            <a:r>
              <a:rPr sz="2000" dirty="0">
                <a:latin typeface="Times New Roman"/>
                <a:cs typeface="Times New Roman"/>
              </a:rPr>
              <a:t>transfer</a:t>
            </a:r>
            <a:r>
              <a:rPr sz="2000" spc="-40" dirty="0">
                <a:latin typeface="Times New Roman"/>
                <a:cs typeface="Times New Roman"/>
              </a:rPr>
              <a:t> </a:t>
            </a:r>
            <a:r>
              <a:rPr sz="2000" dirty="0">
                <a:latin typeface="Times New Roman"/>
                <a:cs typeface="Times New Roman"/>
              </a:rPr>
              <a:t>learning,</a:t>
            </a:r>
            <a:r>
              <a:rPr sz="2000" spc="-45" dirty="0">
                <a:latin typeface="Times New Roman"/>
                <a:cs typeface="Times New Roman"/>
              </a:rPr>
              <a:t> </a:t>
            </a:r>
            <a:r>
              <a:rPr sz="2000" dirty="0">
                <a:latin typeface="Times New Roman"/>
                <a:cs typeface="Times New Roman"/>
              </a:rPr>
              <a:t>Multilayer</a:t>
            </a:r>
            <a:r>
              <a:rPr sz="2000" spc="-35" dirty="0">
                <a:latin typeface="Times New Roman"/>
                <a:cs typeface="Times New Roman"/>
              </a:rPr>
              <a:t> </a:t>
            </a:r>
            <a:r>
              <a:rPr sz="2000" dirty="0">
                <a:latin typeface="Times New Roman"/>
                <a:cs typeface="Times New Roman"/>
              </a:rPr>
              <a:t>parallel</a:t>
            </a:r>
            <a:r>
              <a:rPr sz="2000" spc="-85" dirty="0">
                <a:latin typeface="Times New Roman"/>
                <a:cs typeface="Times New Roman"/>
              </a:rPr>
              <a:t> </a:t>
            </a:r>
            <a:r>
              <a:rPr sz="2000" spc="-10" dirty="0">
                <a:latin typeface="Times New Roman"/>
                <a:cs typeface="Times New Roman"/>
              </a:rPr>
              <a:t>Residual Attention.</a:t>
            </a:r>
            <a:endParaRPr sz="2000">
              <a:latin typeface="Times New Roman"/>
              <a:cs typeface="Times New Roman"/>
            </a:endParaRPr>
          </a:p>
          <a:p>
            <a:pPr>
              <a:lnSpc>
                <a:spcPct val="100000"/>
              </a:lnSpc>
              <a:spcBef>
                <a:spcPts val="100"/>
              </a:spcBef>
            </a:pPr>
            <a:endParaRPr sz="2000">
              <a:latin typeface="Times New Roman"/>
              <a:cs typeface="Times New Roman"/>
            </a:endParaRPr>
          </a:p>
          <a:p>
            <a:pPr marL="12700">
              <a:lnSpc>
                <a:spcPct val="100000"/>
              </a:lnSpc>
            </a:pPr>
            <a:r>
              <a:rPr sz="2000" dirty="0">
                <a:latin typeface="Times New Roman"/>
                <a:cs typeface="Times New Roman"/>
              </a:rPr>
              <a:t>Parameter</a:t>
            </a:r>
            <a:r>
              <a:rPr sz="2000" spc="-45" dirty="0">
                <a:latin typeface="Times New Roman"/>
                <a:cs typeface="Times New Roman"/>
              </a:rPr>
              <a:t> </a:t>
            </a:r>
            <a:r>
              <a:rPr sz="2000" dirty="0">
                <a:latin typeface="Times New Roman"/>
                <a:cs typeface="Times New Roman"/>
              </a:rPr>
              <a:t>used</a:t>
            </a:r>
            <a:r>
              <a:rPr sz="2000" spc="-35" dirty="0">
                <a:latin typeface="Times New Roman"/>
                <a:cs typeface="Times New Roman"/>
              </a:rPr>
              <a:t> </a:t>
            </a:r>
            <a:r>
              <a:rPr sz="2000" dirty="0">
                <a:latin typeface="Times New Roman"/>
                <a:cs typeface="Times New Roman"/>
              </a:rPr>
              <a:t>:</a:t>
            </a:r>
            <a:r>
              <a:rPr sz="2000" spc="-60" dirty="0">
                <a:latin typeface="Times New Roman"/>
                <a:cs typeface="Times New Roman"/>
              </a:rPr>
              <a:t> </a:t>
            </a:r>
            <a:r>
              <a:rPr sz="2000" dirty="0">
                <a:latin typeface="Times New Roman"/>
                <a:cs typeface="Times New Roman"/>
              </a:rPr>
              <a:t>Model</a:t>
            </a:r>
            <a:r>
              <a:rPr sz="2000" spc="-65" dirty="0">
                <a:latin typeface="Times New Roman"/>
                <a:cs typeface="Times New Roman"/>
              </a:rPr>
              <a:t> </a:t>
            </a:r>
            <a:r>
              <a:rPr sz="2000" dirty="0">
                <a:latin typeface="Times New Roman"/>
                <a:cs typeface="Times New Roman"/>
              </a:rPr>
              <a:t>architecture,</a:t>
            </a:r>
            <a:r>
              <a:rPr sz="2000" spc="-45" dirty="0">
                <a:latin typeface="Times New Roman"/>
                <a:cs typeface="Times New Roman"/>
              </a:rPr>
              <a:t> </a:t>
            </a:r>
            <a:r>
              <a:rPr sz="2000" dirty="0">
                <a:latin typeface="Times New Roman"/>
                <a:cs typeface="Times New Roman"/>
              </a:rPr>
              <a:t>dataset,</a:t>
            </a:r>
            <a:r>
              <a:rPr sz="2000" spc="-70" dirty="0">
                <a:latin typeface="Times New Roman"/>
                <a:cs typeface="Times New Roman"/>
              </a:rPr>
              <a:t> </a:t>
            </a:r>
            <a:r>
              <a:rPr sz="2000" spc="-10" dirty="0">
                <a:latin typeface="Times New Roman"/>
                <a:cs typeface="Times New Roman"/>
              </a:rPr>
              <a:t>Optimization.</a:t>
            </a:r>
            <a:endParaRPr sz="2000">
              <a:latin typeface="Times New Roman"/>
              <a:cs typeface="Times New Roman"/>
            </a:endParaRPr>
          </a:p>
          <a:p>
            <a:pPr>
              <a:lnSpc>
                <a:spcPct val="100000"/>
              </a:lnSpc>
              <a:spcBef>
                <a:spcPts val="100"/>
              </a:spcBef>
            </a:pPr>
            <a:endParaRPr sz="2000">
              <a:latin typeface="Times New Roman"/>
              <a:cs typeface="Times New Roman"/>
            </a:endParaRPr>
          </a:p>
          <a:p>
            <a:pPr marL="12700">
              <a:lnSpc>
                <a:spcPct val="100000"/>
              </a:lnSpc>
              <a:spcBef>
                <a:spcPts val="5"/>
              </a:spcBef>
            </a:pPr>
            <a:r>
              <a:rPr sz="2000" dirty="0">
                <a:latin typeface="Times New Roman"/>
                <a:cs typeface="Times New Roman"/>
              </a:rPr>
              <a:t>Advantage</a:t>
            </a:r>
            <a:r>
              <a:rPr sz="2000" spc="5" dirty="0">
                <a:latin typeface="Times New Roman"/>
                <a:cs typeface="Times New Roman"/>
              </a:rPr>
              <a:t> </a:t>
            </a:r>
            <a:r>
              <a:rPr sz="2000" dirty="0">
                <a:latin typeface="Times New Roman"/>
                <a:cs typeface="Times New Roman"/>
              </a:rPr>
              <a:t>:</a:t>
            </a:r>
            <a:r>
              <a:rPr sz="2000" spc="-60" dirty="0">
                <a:latin typeface="Times New Roman"/>
                <a:cs typeface="Times New Roman"/>
              </a:rPr>
              <a:t> </a:t>
            </a:r>
            <a:r>
              <a:rPr sz="2000" dirty="0">
                <a:latin typeface="Times New Roman"/>
                <a:cs typeface="Times New Roman"/>
              </a:rPr>
              <a:t>High</a:t>
            </a:r>
            <a:r>
              <a:rPr sz="2000" spc="-50" dirty="0">
                <a:latin typeface="Times New Roman"/>
                <a:cs typeface="Times New Roman"/>
              </a:rPr>
              <a:t> </a:t>
            </a:r>
            <a:r>
              <a:rPr sz="2000" dirty="0">
                <a:latin typeface="Times New Roman"/>
                <a:cs typeface="Times New Roman"/>
              </a:rPr>
              <a:t>accuracy,</a:t>
            </a:r>
            <a:r>
              <a:rPr sz="2000" spc="-10" dirty="0">
                <a:latin typeface="Times New Roman"/>
                <a:cs typeface="Times New Roman"/>
              </a:rPr>
              <a:t> </a:t>
            </a:r>
            <a:r>
              <a:rPr sz="2000" dirty="0">
                <a:latin typeface="Times New Roman"/>
                <a:cs typeface="Times New Roman"/>
              </a:rPr>
              <a:t>Robustness</a:t>
            </a:r>
            <a:r>
              <a:rPr sz="2000" spc="-30" dirty="0">
                <a:latin typeface="Times New Roman"/>
                <a:cs typeface="Times New Roman"/>
              </a:rPr>
              <a:t> </a:t>
            </a:r>
            <a:r>
              <a:rPr sz="2000" dirty="0">
                <a:latin typeface="Times New Roman"/>
                <a:cs typeface="Times New Roman"/>
              </a:rPr>
              <a:t>,</a:t>
            </a:r>
            <a:r>
              <a:rPr sz="2000" spc="-75" dirty="0">
                <a:latin typeface="Times New Roman"/>
                <a:cs typeface="Times New Roman"/>
              </a:rPr>
              <a:t> </a:t>
            </a:r>
            <a:r>
              <a:rPr sz="2000" dirty="0">
                <a:latin typeface="Times New Roman"/>
                <a:cs typeface="Times New Roman"/>
              </a:rPr>
              <a:t>Improved</a:t>
            </a:r>
            <a:r>
              <a:rPr sz="2000" spc="-45" dirty="0">
                <a:latin typeface="Times New Roman"/>
                <a:cs typeface="Times New Roman"/>
              </a:rPr>
              <a:t> </a:t>
            </a:r>
            <a:r>
              <a:rPr sz="2000" dirty="0">
                <a:latin typeface="Times New Roman"/>
                <a:cs typeface="Times New Roman"/>
              </a:rPr>
              <a:t>Crack</a:t>
            </a:r>
            <a:r>
              <a:rPr sz="2000" spc="-45" dirty="0">
                <a:latin typeface="Times New Roman"/>
                <a:cs typeface="Times New Roman"/>
              </a:rPr>
              <a:t> </a:t>
            </a:r>
            <a:r>
              <a:rPr sz="2000" dirty="0">
                <a:latin typeface="Times New Roman"/>
                <a:cs typeface="Times New Roman"/>
              </a:rPr>
              <a:t>Edge</a:t>
            </a:r>
            <a:r>
              <a:rPr sz="2000" spc="-55" dirty="0">
                <a:latin typeface="Times New Roman"/>
                <a:cs typeface="Times New Roman"/>
              </a:rPr>
              <a:t> </a:t>
            </a:r>
            <a:r>
              <a:rPr sz="2000" dirty="0">
                <a:latin typeface="Times New Roman"/>
                <a:cs typeface="Times New Roman"/>
              </a:rPr>
              <a:t>,</a:t>
            </a:r>
            <a:r>
              <a:rPr sz="2000" spc="-55" dirty="0">
                <a:latin typeface="Times New Roman"/>
                <a:cs typeface="Times New Roman"/>
              </a:rPr>
              <a:t> </a:t>
            </a:r>
            <a:r>
              <a:rPr sz="2000" spc="-10" dirty="0">
                <a:latin typeface="Times New Roman"/>
                <a:cs typeface="Times New Roman"/>
              </a:rPr>
              <a:t>Reduced</a:t>
            </a:r>
            <a:endParaRPr sz="2000">
              <a:latin typeface="Times New Roman"/>
              <a:cs typeface="Times New Roman"/>
            </a:endParaRPr>
          </a:p>
          <a:p>
            <a:pPr marL="12700">
              <a:lnSpc>
                <a:spcPct val="100000"/>
              </a:lnSpc>
            </a:pPr>
            <a:r>
              <a:rPr sz="2000" dirty="0">
                <a:latin typeface="Times New Roman"/>
                <a:cs typeface="Times New Roman"/>
              </a:rPr>
              <a:t>computation</a:t>
            </a:r>
            <a:r>
              <a:rPr sz="2000" spc="-65" dirty="0">
                <a:latin typeface="Times New Roman"/>
                <a:cs typeface="Times New Roman"/>
              </a:rPr>
              <a:t> </a:t>
            </a:r>
            <a:r>
              <a:rPr sz="2000" spc="-10" dirty="0">
                <a:latin typeface="Times New Roman"/>
                <a:cs typeface="Times New Roman"/>
              </a:rPr>
              <a:t>costs.</a:t>
            </a:r>
            <a:endParaRPr sz="2000">
              <a:latin typeface="Times New Roman"/>
              <a:cs typeface="Times New Roman"/>
            </a:endParaRPr>
          </a:p>
          <a:p>
            <a:pPr>
              <a:lnSpc>
                <a:spcPct val="100000"/>
              </a:lnSpc>
              <a:spcBef>
                <a:spcPts val="125"/>
              </a:spcBef>
            </a:pPr>
            <a:endParaRPr sz="2000">
              <a:latin typeface="Times New Roman"/>
              <a:cs typeface="Times New Roman"/>
            </a:endParaRPr>
          </a:p>
          <a:p>
            <a:pPr marL="12700">
              <a:lnSpc>
                <a:spcPct val="100000"/>
              </a:lnSpc>
            </a:pPr>
            <a:r>
              <a:rPr sz="2000" dirty="0">
                <a:latin typeface="Times New Roman"/>
                <a:cs typeface="Times New Roman"/>
              </a:rPr>
              <a:t>Limitation</a:t>
            </a:r>
            <a:r>
              <a:rPr sz="2000" spc="-40" dirty="0">
                <a:latin typeface="Times New Roman"/>
                <a:cs typeface="Times New Roman"/>
              </a:rPr>
              <a:t> </a:t>
            </a:r>
            <a:r>
              <a:rPr sz="2000" dirty="0">
                <a:latin typeface="Times New Roman"/>
                <a:cs typeface="Times New Roman"/>
              </a:rPr>
              <a:t>:</a:t>
            </a:r>
            <a:r>
              <a:rPr sz="2000" spc="-75" dirty="0">
                <a:latin typeface="Times New Roman"/>
                <a:cs typeface="Times New Roman"/>
              </a:rPr>
              <a:t> </a:t>
            </a:r>
            <a:r>
              <a:rPr sz="2000" dirty="0">
                <a:latin typeface="Times New Roman"/>
                <a:cs typeface="Times New Roman"/>
              </a:rPr>
              <a:t>Dataset</a:t>
            </a:r>
            <a:r>
              <a:rPr sz="2000" spc="-75" dirty="0">
                <a:latin typeface="Times New Roman"/>
                <a:cs typeface="Times New Roman"/>
              </a:rPr>
              <a:t> </a:t>
            </a:r>
            <a:r>
              <a:rPr sz="2000" dirty="0">
                <a:latin typeface="Times New Roman"/>
                <a:cs typeface="Times New Roman"/>
              </a:rPr>
              <a:t>Constraints,</a:t>
            </a:r>
            <a:r>
              <a:rPr sz="2000" spc="-25" dirty="0">
                <a:latin typeface="Times New Roman"/>
                <a:cs typeface="Times New Roman"/>
              </a:rPr>
              <a:t> </a:t>
            </a:r>
            <a:r>
              <a:rPr sz="2000" dirty="0">
                <a:latin typeface="Times New Roman"/>
                <a:cs typeface="Times New Roman"/>
              </a:rPr>
              <a:t>Environmental</a:t>
            </a:r>
            <a:r>
              <a:rPr sz="2000" spc="-10" dirty="0">
                <a:latin typeface="Times New Roman"/>
                <a:cs typeface="Times New Roman"/>
              </a:rPr>
              <a:t> </a:t>
            </a:r>
            <a:r>
              <a:rPr sz="2000" dirty="0">
                <a:latin typeface="Times New Roman"/>
                <a:cs typeface="Times New Roman"/>
              </a:rPr>
              <a:t>Interference,</a:t>
            </a:r>
            <a:r>
              <a:rPr sz="2000" spc="-65" dirty="0">
                <a:latin typeface="Times New Roman"/>
                <a:cs typeface="Times New Roman"/>
              </a:rPr>
              <a:t> </a:t>
            </a:r>
            <a:r>
              <a:rPr sz="2000" dirty="0">
                <a:latin typeface="Times New Roman"/>
                <a:cs typeface="Times New Roman"/>
              </a:rPr>
              <a:t>Edge</a:t>
            </a:r>
            <a:r>
              <a:rPr sz="2000" spc="-70" dirty="0">
                <a:latin typeface="Times New Roman"/>
                <a:cs typeface="Times New Roman"/>
              </a:rPr>
              <a:t> </a:t>
            </a:r>
            <a:r>
              <a:rPr sz="2000" dirty="0">
                <a:latin typeface="Times New Roman"/>
                <a:cs typeface="Times New Roman"/>
              </a:rPr>
              <a:t>case</a:t>
            </a:r>
            <a:r>
              <a:rPr sz="2000" spc="-70" dirty="0">
                <a:latin typeface="Times New Roman"/>
                <a:cs typeface="Times New Roman"/>
              </a:rPr>
              <a:t> </a:t>
            </a:r>
            <a:r>
              <a:rPr sz="2000" spc="-10" dirty="0">
                <a:latin typeface="Times New Roman"/>
                <a:cs typeface="Times New Roman"/>
              </a:rPr>
              <a:t>handling.</a:t>
            </a:r>
            <a:endParaRPr sz="2000">
              <a:latin typeface="Times New Roman"/>
              <a:cs typeface="Times New Roman"/>
            </a:endParaRPr>
          </a:p>
          <a:p>
            <a:pPr marL="3764279">
              <a:lnSpc>
                <a:spcPct val="100000"/>
              </a:lnSpc>
              <a:spcBef>
                <a:spcPts val="405"/>
              </a:spcBef>
              <a:tabLst>
                <a:tab pos="8050530" algn="l"/>
              </a:tabLst>
            </a:pPr>
            <a:r>
              <a:rPr sz="900" dirty="0">
                <a:solidFill>
                  <a:srgbClr val="888888"/>
                </a:solidFill>
                <a:latin typeface="Arial MT"/>
                <a:cs typeface="Arial MT"/>
              </a:rPr>
              <a:t>Dept.</a:t>
            </a:r>
            <a:r>
              <a:rPr sz="900" spc="-10" dirty="0">
                <a:solidFill>
                  <a:srgbClr val="888888"/>
                </a:solidFill>
                <a:latin typeface="Arial MT"/>
                <a:cs typeface="Arial MT"/>
              </a:rPr>
              <a:t> </a:t>
            </a:r>
            <a:r>
              <a:rPr sz="900" dirty="0">
                <a:solidFill>
                  <a:srgbClr val="888888"/>
                </a:solidFill>
                <a:latin typeface="Arial MT"/>
                <a:cs typeface="Arial MT"/>
              </a:rPr>
              <a:t>of</a:t>
            </a:r>
            <a:r>
              <a:rPr sz="900" spc="-5" dirty="0">
                <a:solidFill>
                  <a:srgbClr val="888888"/>
                </a:solidFill>
                <a:latin typeface="Arial MT"/>
                <a:cs typeface="Arial MT"/>
              </a:rPr>
              <a:t> </a:t>
            </a:r>
            <a:r>
              <a:rPr sz="900" dirty="0">
                <a:solidFill>
                  <a:srgbClr val="888888"/>
                </a:solidFill>
                <a:latin typeface="Arial MT"/>
                <a:cs typeface="Arial MT"/>
              </a:rPr>
              <a:t>ECE</a:t>
            </a:r>
            <a:r>
              <a:rPr sz="900" spc="-20" dirty="0">
                <a:solidFill>
                  <a:srgbClr val="888888"/>
                </a:solidFill>
                <a:latin typeface="Arial MT"/>
                <a:cs typeface="Arial MT"/>
              </a:rPr>
              <a:t> </a:t>
            </a:r>
            <a:r>
              <a:rPr sz="900" dirty="0">
                <a:solidFill>
                  <a:srgbClr val="888888"/>
                </a:solidFill>
                <a:latin typeface="Arial MT"/>
                <a:cs typeface="Arial MT"/>
              </a:rPr>
              <a:t>2025-</a:t>
            </a:r>
            <a:r>
              <a:rPr sz="900" spc="-25" dirty="0">
                <a:solidFill>
                  <a:srgbClr val="888888"/>
                </a:solidFill>
                <a:latin typeface="Arial MT"/>
                <a:cs typeface="Arial MT"/>
              </a:rPr>
              <a:t>26</a:t>
            </a:r>
            <a:r>
              <a:rPr sz="900" dirty="0">
                <a:solidFill>
                  <a:srgbClr val="888888"/>
                </a:solidFill>
                <a:latin typeface="Arial MT"/>
                <a:cs typeface="Arial MT"/>
              </a:rPr>
              <a:t>	</a:t>
            </a:r>
            <a:r>
              <a:rPr sz="900" spc="-25" dirty="0">
                <a:solidFill>
                  <a:srgbClr val="888888"/>
                </a:solidFill>
                <a:latin typeface="Arial MT"/>
                <a:cs typeface="Arial MT"/>
              </a:rPr>
              <a:t>10</a:t>
            </a:r>
            <a:endParaRPr sz="900">
              <a:latin typeface="Arial MT"/>
              <a:cs typeface="Arial MT"/>
            </a:endParaRPr>
          </a:p>
        </p:txBody>
      </p:sp>
      <p:pic>
        <p:nvPicPr>
          <p:cNvPr id="3" name="object 3"/>
          <p:cNvPicPr/>
          <p:nvPr/>
        </p:nvPicPr>
        <p:blipFill>
          <a:blip r:embed="rId2" cstate="print"/>
          <a:stretch>
            <a:fillRect/>
          </a:stretch>
        </p:blipFill>
        <p:spPr>
          <a:xfrm>
            <a:off x="274320" y="103631"/>
            <a:ext cx="981456" cy="1100328"/>
          </a:xfrm>
          <a:prstGeom prst="rect">
            <a:avLst/>
          </a:prstGeom>
        </p:spPr>
      </p:pic>
      <p:pic>
        <p:nvPicPr>
          <p:cNvPr id="4" name="object 4"/>
          <p:cNvPicPr/>
          <p:nvPr/>
        </p:nvPicPr>
        <p:blipFill>
          <a:blip r:embed="rId3" cstate="print"/>
          <a:stretch>
            <a:fillRect/>
          </a:stretch>
        </p:blipFill>
        <p:spPr>
          <a:xfrm>
            <a:off x="7818119" y="103631"/>
            <a:ext cx="1051559" cy="1100328"/>
          </a:xfrm>
          <a:prstGeom prst="rect">
            <a:avLst/>
          </a:prstGeom>
        </p:spPr>
      </p:pic>
      <p:sp>
        <p:nvSpPr>
          <p:cNvPr id="5" name="object 5"/>
          <p:cNvSpPr txBox="1">
            <a:spLocks noGrp="1"/>
          </p:cNvSpPr>
          <p:nvPr>
            <p:ph type="title"/>
          </p:nvPr>
        </p:nvSpPr>
        <p:spPr>
          <a:prstGeom prst="rect">
            <a:avLst/>
          </a:prstGeom>
        </p:spPr>
        <p:txBody>
          <a:bodyPr vert="horz" wrap="square" lIns="0" tIns="413638" rIns="0" bIns="0" rtlCol="0">
            <a:spAutoFit/>
          </a:bodyPr>
          <a:lstStyle/>
          <a:p>
            <a:pPr marL="871855">
              <a:lnSpc>
                <a:spcPct val="100000"/>
              </a:lnSpc>
              <a:spcBef>
                <a:spcPts val="110"/>
              </a:spcBef>
            </a:pPr>
            <a:r>
              <a:rPr sz="2800" dirty="0"/>
              <a:t>LITERATURE</a:t>
            </a:r>
            <a:r>
              <a:rPr sz="2800" spc="-100" dirty="0"/>
              <a:t> </a:t>
            </a:r>
            <a:r>
              <a:rPr sz="2800" spc="-10" dirty="0"/>
              <a:t>SURVEY</a:t>
            </a:r>
            <a:endParaRPr sz="28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52755" y="1228801"/>
            <a:ext cx="8301990" cy="4598670"/>
          </a:xfrm>
          <a:prstGeom prst="rect">
            <a:avLst/>
          </a:prstGeom>
        </p:spPr>
        <p:txBody>
          <a:bodyPr vert="horz" wrap="square" lIns="0" tIns="12065" rIns="0" bIns="0" rtlCol="0">
            <a:spAutoFit/>
          </a:bodyPr>
          <a:lstStyle/>
          <a:p>
            <a:pPr marL="12700">
              <a:lnSpc>
                <a:spcPct val="100000"/>
              </a:lnSpc>
              <a:spcBef>
                <a:spcPts val="95"/>
              </a:spcBef>
            </a:pPr>
            <a:r>
              <a:rPr sz="1600" b="1" dirty="0">
                <a:latin typeface="Times New Roman"/>
                <a:cs typeface="Times New Roman"/>
              </a:rPr>
              <a:t>[</a:t>
            </a:r>
            <a:r>
              <a:rPr sz="2000" b="1" dirty="0">
                <a:latin typeface="Times New Roman"/>
                <a:cs typeface="Times New Roman"/>
              </a:rPr>
              <a:t>5]Title</a:t>
            </a:r>
            <a:r>
              <a:rPr sz="2000" b="1" spc="425" dirty="0">
                <a:latin typeface="Times New Roman"/>
                <a:cs typeface="Times New Roman"/>
              </a:rPr>
              <a:t> </a:t>
            </a:r>
            <a:r>
              <a:rPr sz="2000" b="1" dirty="0">
                <a:latin typeface="Times New Roman"/>
                <a:cs typeface="Times New Roman"/>
              </a:rPr>
              <a:t>of</a:t>
            </a:r>
            <a:r>
              <a:rPr sz="2000" b="1" spc="-25" dirty="0">
                <a:latin typeface="Times New Roman"/>
                <a:cs typeface="Times New Roman"/>
              </a:rPr>
              <a:t> </a:t>
            </a:r>
            <a:r>
              <a:rPr sz="2000" b="1" dirty="0">
                <a:latin typeface="Times New Roman"/>
                <a:cs typeface="Times New Roman"/>
              </a:rPr>
              <a:t>the</a:t>
            </a:r>
            <a:r>
              <a:rPr sz="2000" b="1" spc="-40" dirty="0">
                <a:latin typeface="Times New Roman"/>
                <a:cs typeface="Times New Roman"/>
              </a:rPr>
              <a:t> </a:t>
            </a:r>
            <a:r>
              <a:rPr sz="2000" b="1" dirty="0">
                <a:latin typeface="Times New Roman"/>
                <a:cs typeface="Times New Roman"/>
              </a:rPr>
              <a:t>paper:A</a:t>
            </a:r>
            <a:r>
              <a:rPr sz="2000" b="1" spc="-10" dirty="0">
                <a:latin typeface="Times New Roman"/>
                <a:cs typeface="Times New Roman"/>
              </a:rPr>
              <a:t> </a:t>
            </a:r>
            <a:r>
              <a:rPr sz="2000" b="1" dirty="0">
                <a:latin typeface="Times New Roman"/>
                <a:cs typeface="Times New Roman"/>
              </a:rPr>
              <a:t>Digital</a:t>
            </a:r>
            <a:r>
              <a:rPr sz="2000" b="1" spc="-75" dirty="0">
                <a:latin typeface="Times New Roman"/>
                <a:cs typeface="Times New Roman"/>
              </a:rPr>
              <a:t> </a:t>
            </a:r>
            <a:r>
              <a:rPr sz="2000" b="1" dirty="0">
                <a:latin typeface="Times New Roman"/>
                <a:cs typeface="Times New Roman"/>
              </a:rPr>
              <a:t>Twin</a:t>
            </a:r>
            <a:r>
              <a:rPr sz="2000" b="1" spc="-10" dirty="0">
                <a:latin typeface="Times New Roman"/>
                <a:cs typeface="Times New Roman"/>
              </a:rPr>
              <a:t> </a:t>
            </a:r>
            <a:r>
              <a:rPr sz="2000" b="1" dirty="0">
                <a:latin typeface="Times New Roman"/>
                <a:cs typeface="Times New Roman"/>
              </a:rPr>
              <a:t>dam</a:t>
            </a:r>
            <a:r>
              <a:rPr sz="2000" b="1" spc="-30" dirty="0">
                <a:latin typeface="Times New Roman"/>
                <a:cs typeface="Times New Roman"/>
              </a:rPr>
              <a:t> </a:t>
            </a:r>
            <a:r>
              <a:rPr sz="2000" b="1" dirty="0">
                <a:latin typeface="Times New Roman"/>
                <a:cs typeface="Times New Roman"/>
              </a:rPr>
              <a:t>and</a:t>
            </a:r>
            <a:r>
              <a:rPr sz="2000" b="1" spc="-40" dirty="0">
                <a:latin typeface="Times New Roman"/>
                <a:cs typeface="Times New Roman"/>
              </a:rPr>
              <a:t> </a:t>
            </a:r>
            <a:r>
              <a:rPr sz="2000" b="1" dirty="0">
                <a:latin typeface="Times New Roman"/>
                <a:cs typeface="Times New Roman"/>
              </a:rPr>
              <a:t>Watershed</a:t>
            </a:r>
            <a:r>
              <a:rPr sz="2000" b="1" spc="-35" dirty="0">
                <a:latin typeface="Times New Roman"/>
                <a:cs typeface="Times New Roman"/>
              </a:rPr>
              <a:t> </a:t>
            </a:r>
            <a:r>
              <a:rPr sz="2000" b="1" spc="-10" dirty="0">
                <a:latin typeface="Times New Roman"/>
                <a:cs typeface="Times New Roman"/>
              </a:rPr>
              <a:t>Management</a:t>
            </a:r>
            <a:endParaRPr sz="2000">
              <a:latin typeface="Times New Roman"/>
              <a:cs typeface="Times New Roman"/>
            </a:endParaRPr>
          </a:p>
          <a:p>
            <a:pPr marL="12700">
              <a:lnSpc>
                <a:spcPct val="100000"/>
              </a:lnSpc>
              <a:spcBef>
                <a:spcPts val="25"/>
              </a:spcBef>
            </a:pPr>
            <a:r>
              <a:rPr sz="2000" b="1" spc="-10" dirty="0">
                <a:latin typeface="Times New Roman"/>
                <a:cs typeface="Times New Roman"/>
              </a:rPr>
              <a:t>Platform</a:t>
            </a:r>
            <a:endParaRPr sz="2000">
              <a:latin typeface="Times New Roman"/>
              <a:cs typeface="Times New Roman"/>
            </a:endParaRPr>
          </a:p>
          <a:p>
            <a:pPr>
              <a:lnSpc>
                <a:spcPct val="100000"/>
              </a:lnSpc>
              <a:spcBef>
                <a:spcPts val="75"/>
              </a:spcBef>
            </a:pPr>
            <a:endParaRPr sz="2000">
              <a:latin typeface="Times New Roman"/>
              <a:cs typeface="Times New Roman"/>
            </a:endParaRPr>
          </a:p>
          <a:p>
            <a:pPr marL="12700">
              <a:lnSpc>
                <a:spcPct val="100000"/>
              </a:lnSpc>
              <a:tabLst>
                <a:tab pos="858519" algn="l"/>
              </a:tabLst>
            </a:pPr>
            <a:r>
              <a:rPr sz="2000" spc="-10" dirty="0">
                <a:latin typeface="Times New Roman"/>
                <a:cs typeface="Times New Roman"/>
              </a:rPr>
              <a:t>Author</a:t>
            </a:r>
            <a:r>
              <a:rPr sz="2000" dirty="0">
                <a:latin typeface="Times New Roman"/>
                <a:cs typeface="Times New Roman"/>
              </a:rPr>
              <a:t>	:</a:t>
            </a:r>
            <a:r>
              <a:rPr sz="2000" spc="-45" dirty="0">
                <a:latin typeface="Times New Roman"/>
                <a:cs typeface="Times New Roman"/>
              </a:rPr>
              <a:t> </a:t>
            </a:r>
            <a:r>
              <a:rPr sz="2000" dirty="0">
                <a:latin typeface="Times New Roman"/>
                <a:cs typeface="Times New Roman"/>
              </a:rPr>
              <a:t>DongSoon</a:t>
            </a:r>
            <a:r>
              <a:rPr sz="2000" spc="20" dirty="0">
                <a:latin typeface="Times New Roman"/>
                <a:cs typeface="Times New Roman"/>
              </a:rPr>
              <a:t> </a:t>
            </a:r>
            <a:r>
              <a:rPr sz="2000" dirty="0">
                <a:latin typeface="Times New Roman"/>
                <a:cs typeface="Times New Roman"/>
              </a:rPr>
              <a:t>Par,</a:t>
            </a:r>
            <a:r>
              <a:rPr sz="2000" spc="440" dirty="0">
                <a:latin typeface="Times New Roman"/>
                <a:cs typeface="Times New Roman"/>
              </a:rPr>
              <a:t> </a:t>
            </a:r>
            <a:r>
              <a:rPr sz="2000" dirty="0">
                <a:latin typeface="Times New Roman"/>
                <a:cs typeface="Times New Roman"/>
              </a:rPr>
              <a:t>Hojun</a:t>
            </a:r>
            <a:r>
              <a:rPr sz="2000" spc="-30" dirty="0">
                <a:latin typeface="Times New Roman"/>
                <a:cs typeface="Times New Roman"/>
              </a:rPr>
              <a:t> </a:t>
            </a:r>
            <a:r>
              <a:rPr sz="2000" spc="-25" dirty="0">
                <a:latin typeface="Times New Roman"/>
                <a:cs typeface="Times New Roman"/>
              </a:rPr>
              <a:t>You</a:t>
            </a:r>
            <a:endParaRPr sz="2000">
              <a:latin typeface="Times New Roman"/>
              <a:cs typeface="Times New Roman"/>
            </a:endParaRPr>
          </a:p>
          <a:p>
            <a:pPr>
              <a:lnSpc>
                <a:spcPct val="100000"/>
              </a:lnSpc>
              <a:spcBef>
                <a:spcPts val="100"/>
              </a:spcBef>
            </a:pPr>
            <a:endParaRPr sz="2000">
              <a:latin typeface="Times New Roman"/>
              <a:cs typeface="Times New Roman"/>
            </a:endParaRPr>
          </a:p>
          <a:p>
            <a:pPr marL="12700">
              <a:lnSpc>
                <a:spcPct val="100000"/>
              </a:lnSpc>
            </a:pPr>
            <a:r>
              <a:rPr sz="2000" dirty="0">
                <a:latin typeface="Times New Roman"/>
                <a:cs typeface="Times New Roman"/>
              </a:rPr>
              <a:t>Published</a:t>
            </a:r>
            <a:r>
              <a:rPr sz="2000" spc="-30" dirty="0">
                <a:latin typeface="Times New Roman"/>
                <a:cs typeface="Times New Roman"/>
              </a:rPr>
              <a:t> </a:t>
            </a:r>
            <a:r>
              <a:rPr sz="2000" dirty="0">
                <a:latin typeface="Times New Roman"/>
                <a:cs typeface="Times New Roman"/>
              </a:rPr>
              <a:t>Year</a:t>
            </a:r>
            <a:r>
              <a:rPr sz="2000" spc="-30" dirty="0">
                <a:latin typeface="Times New Roman"/>
                <a:cs typeface="Times New Roman"/>
              </a:rPr>
              <a:t> </a:t>
            </a:r>
            <a:r>
              <a:rPr sz="2000" dirty="0">
                <a:latin typeface="Times New Roman"/>
                <a:cs typeface="Times New Roman"/>
              </a:rPr>
              <a:t>:</a:t>
            </a:r>
            <a:r>
              <a:rPr sz="2000" spc="-15" dirty="0">
                <a:latin typeface="Times New Roman"/>
                <a:cs typeface="Times New Roman"/>
              </a:rPr>
              <a:t> </a:t>
            </a:r>
            <a:r>
              <a:rPr sz="2000" dirty="0">
                <a:latin typeface="Times New Roman"/>
                <a:cs typeface="Times New Roman"/>
              </a:rPr>
              <a:t>1</a:t>
            </a:r>
            <a:r>
              <a:rPr sz="2000" spc="-45" dirty="0">
                <a:latin typeface="Times New Roman"/>
                <a:cs typeface="Times New Roman"/>
              </a:rPr>
              <a:t> </a:t>
            </a:r>
            <a:r>
              <a:rPr sz="2000" dirty="0">
                <a:latin typeface="Times New Roman"/>
                <a:cs typeface="Times New Roman"/>
              </a:rPr>
              <a:t>June</a:t>
            </a:r>
            <a:r>
              <a:rPr sz="2000" spc="-25" dirty="0">
                <a:latin typeface="Times New Roman"/>
                <a:cs typeface="Times New Roman"/>
              </a:rPr>
              <a:t> </a:t>
            </a:r>
            <a:r>
              <a:rPr sz="2000" spc="-20" dirty="0">
                <a:latin typeface="Times New Roman"/>
                <a:cs typeface="Times New Roman"/>
              </a:rPr>
              <a:t>2023</a:t>
            </a:r>
            <a:endParaRPr sz="2000">
              <a:latin typeface="Times New Roman"/>
              <a:cs typeface="Times New Roman"/>
            </a:endParaRPr>
          </a:p>
          <a:p>
            <a:pPr>
              <a:lnSpc>
                <a:spcPct val="100000"/>
              </a:lnSpc>
              <a:spcBef>
                <a:spcPts val="105"/>
              </a:spcBef>
            </a:pPr>
            <a:endParaRPr sz="2000">
              <a:latin typeface="Times New Roman"/>
              <a:cs typeface="Times New Roman"/>
            </a:endParaRPr>
          </a:p>
          <a:p>
            <a:pPr marL="12700">
              <a:lnSpc>
                <a:spcPct val="100000"/>
              </a:lnSpc>
            </a:pPr>
            <a:r>
              <a:rPr sz="2000" dirty="0">
                <a:latin typeface="Times New Roman"/>
                <a:cs typeface="Times New Roman"/>
              </a:rPr>
              <a:t>Proposed</a:t>
            </a:r>
            <a:r>
              <a:rPr sz="2000" spc="-90" dirty="0">
                <a:latin typeface="Times New Roman"/>
                <a:cs typeface="Times New Roman"/>
              </a:rPr>
              <a:t> </a:t>
            </a:r>
            <a:r>
              <a:rPr sz="2000" dirty="0">
                <a:latin typeface="Times New Roman"/>
                <a:cs typeface="Times New Roman"/>
              </a:rPr>
              <a:t>method</a:t>
            </a:r>
            <a:r>
              <a:rPr sz="2000" spc="-30" dirty="0">
                <a:latin typeface="Times New Roman"/>
                <a:cs typeface="Times New Roman"/>
              </a:rPr>
              <a:t> </a:t>
            </a:r>
            <a:r>
              <a:rPr sz="2000" dirty="0">
                <a:latin typeface="Times New Roman"/>
                <a:cs typeface="Times New Roman"/>
              </a:rPr>
              <a:t>:</a:t>
            </a:r>
            <a:r>
              <a:rPr sz="2000" spc="-65" dirty="0">
                <a:latin typeface="Times New Roman"/>
                <a:cs typeface="Times New Roman"/>
              </a:rPr>
              <a:t> </a:t>
            </a:r>
            <a:r>
              <a:rPr sz="2000" dirty="0">
                <a:latin typeface="Times New Roman"/>
                <a:cs typeface="Times New Roman"/>
              </a:rPr>
              <a:t>Digital</a:t>
            </a:r>
            <a:r>
              <a:rPr sz="2000" spc="-60" dirty="0">
                <a:latin typeface="Times New Roman"/>
                <a:cs typeface="Times New Roman"/>
              </a:rPr>
              <a:t> </a:t>
            </a:r>
            <a:r>
              <a:rPr sz="2000" dirty="0">
                <a:latin typeface="Times New Roman"/>
                <a:cs typeface="Times New Roman"/>
              </a:rPr>
              <a:t>Twin</a:t>
            </a:r>
            <a:r>
              <a:rPr sz="2000" spc="-30" dirty="0">
                <a:latin typeface="Times New Roman"/>
                <a:cs typeface="Times New Roman"/>
              </a:rPr>
              <a:t> </a:t>
            </a:r>
            <a:r>
              <a:rPr sz="2000" dirty="0">
                <a:latin typeface="Times New Roman"/>
                <a:cs typeface="Times New Roman"/>
              </a:rPr>
              <a:t>Technology,</a:t>
            </a:r>
            <a:r>
              <a:rPr sz="2000" spc="-15" dirty="0">
                <a:latin typeface="Times New Roman"/>
                <a:cs typeface="Times New Roman"/>
              </a:rPr>
              <a:t> </a:t>
            </a:r>
            <a:r>
              <a:rPr sz="2000" dirty="0">
                <a:latin typeface="Times New Roman"/>
                <a:cs typeface="Times New Roman"/>
              </a:rPr>
              <a:t>Combines</a:t>
            </a:r>
            <a:r>
              <a:rPr sz="2000" spc="-20" dirty="0">
                <a:latin typeface="Times New Roman"/>
                <a:cs typeface="Times New Roman"/>
              </a:rPr>
              <a:t> </a:t>
            </a:r>
            <a:r>
              <a:rPr sz="2000" dirty="0">
                <a:latin typeface="Times New Roman"/>
                <a:cs typeface="Times New Roman"/>
              </a:rPr>
              <a:t>GIS</a:t>
            </a:r>
            <a:r>
              <a:rPr sz="2000" spc="-65" dirty="0">
                <a:latin typeface="Times New Roman"/>
                <a:cs typeface="Times New Roman"/>
              </a:rPr>
              <a:t> </a:t>
            </a:r>
            <a:r>
              <a:rPr sz="2000" dirty="0">
                <a:latin typeface="Times New Roman"/>
                <a:cs typeface="Times New Roman"/>
              </a:rPr>
              <a:t>based</a:t>
            </a:r>
            <a:r>
              <a:rPr sz="2000" spc="-55" dirty="0">
                <a:latin typeface="Times New Roman"/>
                <a:cs typeface="Times New Roman"/>
              </a:rPr>
              <a:t> </a:t>
            </a:r>
            <a:r>
              <a:rPr sz="2000" spc="-10" dirty="0">
                <a:latin typeface="Times New Roman"/>
                <a:cs typeface="Times New Roman"/>
              </a:rPr>
              <a:t>geospatial</a:t>
            </a:r>
            <a:endParaRPr sz="2000">
              <a:latin typeface="Times New Roman"/>
              <a:cs typeface="Times New Roman"/>
            </a:endParaRPr>
          </a:p>
          <a:p>
            <a:pPr marL="12700">
              <a:lnSpc>
                <a:spcPct val="100000"/>
              </a:lnSpc>
            </a:pPr>
            <a:r>
              <a:rPr sz="2000" dirty="0">
                <a:latin typeface="Times New Roman"/>
                <a:cs typeface="Times New Roman"/>
              </a:rPr>
              <a:t>data,Flood</a:t>
            </a:r>
            <a:r>
              <a:rPr sz="2000" spc="-100" dirty="0">
                <a:latin typeface="Times New Roman"/>
                <a:cs typeface="Times New Roman"/>
              </a:rPr>
              <a:t> </a:t>
            </a:r>
            <a:r>
              <a:rPr sz="2000" dirty="0">
                <a:latin typeface="Times New Roman"/>
                <a:cs typeface="Times New Roman"/>
              </a:rPr>
              <a:t>Response</a:t>
            </a:r>
            <a:r>
              <a:rPr sz="2000" spc="-30" dirty="0">
                <a:latin typeface="Times New Roman"/>
                <a:cs typeface="Times New Roman"/>
              </a:rPr>
              <a:t> </a:t>
            </a:r>
            <a:r>
              <a:rPr sz="2000" dirty="0">
                <a:latin typeface="Times New Roman"/>
                <a:cs typeface="Times New Roman"/>
              </a:rPr>
              <a:t>and</a:t>
            </a:r>
            <a:r>
              <a:rPr sz="2000" spc="-65" dirty="0">
                <a:latin typeface="Times New Roman"/>
                <a:cs typeface="Times New Roman"/>
              </a:rPr>
              <a:t> </a:t>
            </a:r>
            <a:r>
              <a:rPr sz="2000" dirty="0">
                <a:latin typeface="Times New Roman"/>
                <a:cs typeface="Times New Roman"/>
              </a:rPr>
              <a:t>water</a:t>
            </a:r>
            <a:r>
              <a:rPr sz="2000" spc="-45" dirty="0">
                <a:latin typeface="Times New Roman"/>
                <a:cs typeface="Times New Roman"/>
              </a:rPr>
              <a:t> </a:t>
            </a:r>
            <a:r>
              <a:rPr sz="2000" dirty="0">
                <a:latin typeface="Times New Roman"/>
                <a:cs typeface="Times New Roman"/>
              </a:rPr>
              <a:t>management,</a:t>
            </a:r>
            <a:r>
              <a:rPr sz="2000" spc="10" dirty="0">
                <a:latin typeface="Times New Roman"/>
                <a:cs typeface="Times New Roman"/>
              </a:rPr>
              <a:t> </a:t>
            </a:r>
            <a:r>
              <a:rPr sz="2000" dirty="0">
                <a:latin typeface="Times New Roman"/>
                <a:cs typeface="Times New Roman"/>
              </a:rPr>
              <a:t>AI</a:t>
            </a:r>
            <a:r>
              <a:rPr sz="2000" spc="-50" dirty="0">
                <a:latin typeface="Times New Roman"/>
                <a:cs typeface="Times New Roman"/>
              </a:rPr>
              <a:t> </a:t>
            </a:r>
            <a:r>
              <a:rPr sz="2000" dirty="0">
                <a:latin typeface="Times New Roman"/>
                <a:cs typeface="Times New Roman"/>
              </a:rPr>
              <a:t>powered</a:t>
            </a:r>
            <a:r>
              <a:rPr sz="2000" spc="-45" dirty="0">
                <a:latin typeface="Times New Roman"/>
                <a:cs typeface="Times New Roman"/>
              </a:rPr>
              <a:t> </a:t>
            </a:r>
            <a:r>
              <a:rPr sz="2000" dirty="0">
                <a:latin typeface="Times New Roman"/>
                <a:cs typeface="Times New Roman"/>
              </a:rPr>
              <a:t>CCTV</a:t>
            </a:r>
            <a:r>
              <a:rPr sz="2000" spc="-55" dirty="0">
                <a:latin typeface="Times New Roman"/>
                <a:cs typeface="Times New Roman"/>
              </a:rPr>
              <a:t> </a:t>
            </a:r>
            <a:r>
              <a:rPr sz="2000" spc="-10" dirty="0">
                <a:latin typeface="Times New Roman"/>
                <a:cs typeface="Times New Roman"/>
              </a:rPr>
              <a:t>monitoring.</a:t>
            </a:r>
            <a:endParaRPr sz="2000">
              <a:latin typeface="Times New Roman"/>
              <a:cs typeface="Times New Roman"/>
            </a:endParaRPr>
          </a:p>
          <a:p>
            <a:pPr>
              <a:lnSpc>
                <a:spcPct val="100000"/>
              </a:lnSpc>
              <a:spcBef>
                <a:spcPts val="105"/>
              </a:spcBef>
            </a:pPr>
            <a:endParaRPr sz="2000">
              <a:latin typeface="Times New Roman"/>
              <a:cs typeface="Times New Roman"/>
            </a:endParaRPr>
          </a:p>
          <a:p>
            <a:pPr marL="12700">
              <a:lnSpc>
                <a:spcPct val="100000"/>
              </a:lnSpc>
            </a:pPr>
            <a:r>
              <a:rPr sz="2000" dirty="0">
                <a:latin typeface="Times New Roman"/>
                <a:cs typeface="Times New Roman"/>
              </a:rPr>
              <a:t>Parameter</a:t>
            </a:r>
            <a:r>
              <a:rPr sz="2000" spc="-40" dirty="0">
                <a:latin typeface="Times New Roman"/>
                <a:cs typeface="Times New Roman"/>
              </a:rPr>
              <a:t> </a:t>
            </a:r>
            <a:r>
              <a:rPr sz="2000" dirty="0">
                <a:latin typeface="Times New Roman"/>
                <a:cs typeface="Times New Roman"/>
              </a:rPr>
              <a:t>used</a:t>
            </a:r>
            <a:r>
              <a:rPr sz="2000" spc="-30" dirty="0">
                <a:latin typeface="Times New Roman"/>
                <a:cs typeface="Times New Roman"/>
              </a:rPr>
              <a:t> </a:t>
            </a:r>
            <a:r>
              <a:rPr sz="2000" dirty="0">
                <a:latin typeface="Times New Roman"/>
                <a:cs typeface="Times New Roman"/>
              </a:rPr>
              <a:t>:</a:t>
            </a:r>
            <a:r>
              <a:rPr sz="2000" spc="-55" dirty="0">
                <a:latin typeface="Times New Roman"/>
                <a:cs typeface="Times New Roman"/>
              </a:rPr>
              <a:t> </a:t>
            </a:r>
            <a:r>
              <a:rPr sz="2000" dirty="0">
                <a:latin typeface="Times New Roman"/>
                <a:cs typeface="Times New Roman"/>
              </a:rPr>
              <a:t>Geospatial</a:t>
            </a:r>
            <a:r>
              <a:rPr sz="2000" spc="-45" dirty="0">
                <a:latin typeface="Times New Roman"/>
                <a:cs typeface="Times New Roman"/>
              </a:rPr>
              <a:t> </a:t>
            </a:r>
            <a:r>
              <a:rPr sz="2000" dirty="0">
                <a:latin typeface="Times New Roman"/>
                <a:cs typeface="Times New Roman"/>
              </a:rPr>
              <a:t>Data,</a:t>
            </a:r>
            <a:r>
              <a:rPr sz="2000" spc="-40" dirty="0">
                <a:latin typeface="Times New Roman"/>
                <a:cs typeface="Times New Roman"/>
              </a:rPr>
              <a:t> </a:t>
            </a:r>
            <a:r>
              <a:rPr sz="2000" dirty="0">
                <a:latin typeface="Times New Roman"/>
                <a:cs typeface="Times New Roman"/>
              </a:rPr>
              <a:t>Hydrological</a:t>
            </a:r>
            <a:r>
              <a:rPr sz="2000" spc="-45" dirty="0">
                <a:latin typeface="Times New Roman"/>
                <a:cs typeface="Times New Roman"/>
              </a:rPr>
              <a:t> </a:t>
            </a:r>
            <a:r>
              <a:rPr sz="2000" dirty="0">
                <a:latin typeface="Times New Roman"/>
                <a:cs typeface="Times New Roman"/>
              </a:rPr>
              <a:t>data</a:t>
            </a:r>
            <a:r>
              <a:rPr sz="2000" spc="-40" dirty="0">
                <a:latin typeface="Times New Roman"/>
                <a:cs typeface="Times New Roman"/>
              </a:rPr>
              <a:t> </a:t>
            </a:r>
            <a:r>
              <a:rPr sz="2000" dirty="0">
                <a:latin typeface="Times New Roman"/>
                <a:cs typeface="Times New Roman"/>
              </a:rPr>
              <a:t>,</a:t>
            </a:r>
            <a:r>
              <a:rPr sz="2000" spc="-65" dirty="0">
                <a:latin typeface="Times New Roman"/>
                <a:cs typeface="Times New Roman"/>
              </a:rPr>
              <a:t> </a:t>
            </a:r>
            <a:r>
              <a:rPr sz="2000" dirty="0">
                <a:latin typeface="Times New Roman"/>
                <a:cs typeface="Times New Roman"/>
              </a:rPr>
              <a:t>AI</a:t>
            </a:r>
            <a:r>
              <a:rPr sz="2000" spc="-20" dirty="0">
                <a:latin typeface="Times New Roman"/>
                <a:cs typeface="Times New Roman"/>
              </a:rPr>
              <a:t> </a:t>
            </a:r>
            <a:r>
              <a:rPr sz="2000" dirty="0">
                <a:latin typeface="Times New Roman"/>
                <a:cs typeface="Times New Roman"/>
              </a:rPr>
              <a:t>and</a:t>
            </a:r>
            <a:r>
              <a:rPr sz="2000" spc="-35" dirty="0">
                <a:latin typeface="Times New Roman"/>
                <a:cs typeface="Times New Roman"/>
              </a:rPr>
              <a:t> </a:t>
            </a:r>
            <a:r>
              <a:rPr sz="2000" dirty="0">
                <a:latin typeface="Times New Roman"/>
                <a:cs typeface="Times New Roman"/>
              </a:rPr>
              <a:t>Simulation</a:t>
            </a:r>
            <a:r>
              <a:rPr sz="2000" spc="10" dirty="0">
                <a:latin typeface="Times New Roman"/>
                <a:cs typeface="Times New Roman"/>
              </a:rPr>
              <a:t> </a:t>
            </a:r>
            <a:r>
              <a:rPr sz="2000" spc="-10" dirty="0">
                <a:latin typeface="Times New Roman"/>
                <a:cs typeface="Times New Roman"/>
              </a:rPr>
              <a:t>Models,</a:t>
            </a:r>
            <a:endParaRPr sz="2000">
              <a:latin typeface="Times New Roman"/>
              <a:cs typeface="Times New Roman"/>
            </a:endParaRPr>
          </a:p>
          <a:p>
            <a:pPr marL="12700">
              <a:lnSpc>
                <a:spcPct val="100000"/>
              </a:lnSpc>
            </a:pPr>
            <a:r>
              <a:rPr sz="2000" dirty="0">
                <a:latin typeface="Times New Roman"/>
                <a:cs typeface="Times New Roman"/>
              </a:rPr>
              <a:t>CCTV</a:t>
            </a:r>
            <a:r>
              <a:rPr sz="2000" spc="-50" dirty="0">
                <a:latin typeface="Times New Roman"/>
                <a:cs typeface="Times New Roman"/>
              </a:rPr>
              <a:t> </a:t>
            </a:r>
            <a:r>
              <a:rPr sz="2000" dirty="0">
                <a:latin typeface="Times New Roman"/>
                <a:cs typeface="Times New Roman"/>
              </a:rPr>
              <a:t>analysis</a:t>
            </a:r>
            <a:r>
              <a:rPr sz="2000" spc="-40" dirty="0">
                <a:latin typeface="Times New Roman"/>
                <a:cs typeface="Times New Roman"/>
              </a:rPr>
              <a:t> </a:t>
            </a:r>
            <a:r>
              <a:rPr sz="2000" spc="-10" dirty="0">
                <a:latin typeface="Times New Roman"/>
                <a:cs typeface="Times New Roman"/>
              </a:rPr>
              <a:t>variables.</a:t>
            </a:r>
            <a:endParaRPr sz="2000">
              <a:latin typeface="Times New Roman"/>
              <a:cs typeface="Times New Roman"/>
            </a:endParaRPr>
          </a:p>
          <a:p>
            <a:pPr>
              <a:lnSpc>
                <a:spcPct val="100000"/>
              </a:lnSpc>
              <a:spcBef>
                <a:spcPts val="100"/>
              </a:spcBef>
            </a:pPr>
            <a:endParaRPr sz="2000">
              <a:latin typeface="Times New Roman"/>
              <a:cs typeface="Times New Roman"/>
            </a:endParaRPr>
          </a:p>
          <a:p>
            <a:pPr marL="12700">
              <a:lnSpc>
                <a:spcPct val="100000"/>
              </a:lnSpc>
              <a:spcBef>
                <a:spcPts val="5"/>
              </a:spcBef>
            </a:pPr>
            <a:r>
              <a:rPr sz="2000" dirty="0">
                <a:latin typeface="Times New Roman"/>
                <a:cs typeface="Times New Roman"/>
              </a:rPr>
              <a:t>Advantage</a:t>
            </a:r>
            <a:r>
              <a:rPr sz="2000" spc="-15" dirty="0">
                <a:latin typeface="Times New Roman"/>
                <a:cs typeface="Times New Roman"/>
              </a:rPr>
              <a:t> </a:t>
            </a:r>
            <a:r>
              <a:rPr sz="2000" dirty="0">
                <a:latin typeface="Times New Roman"/>
                <a:cs typeface="Times New Roman"/>
              </a:rPr>
              <a:t>:</a:t>
            </a:r>
            <a:r>
              <a:rPr sz="2000" spc="-75" dirty="0">
                <a:latin typeface="Times New Roman"/>
                <a:cs typeface="Times New Roman"/>
              </a:rPr>
              <a:t> </a:t>
            </a:r>
            <a:r>
              <a:rPr sz="2000" dirty="0">
                <a:latin typeface="Times New Roman"/>
                <a:cs typeface="Times New Roman"/>
              </a:rPr>
              <a:t>Enhanced</a:t>
            </a:r>
            <a:r>
              <a:rPr sz="2000" spc="-40" dirty="0">
                <a:latin typeface="Times New Roman"/>
                <a:cs typeface="Times New Roman"/>
              </a:rPr>
              <a:t> </a:t>
            </a:r>
            <a:r>
              <a:rPr sz="2000" dirty="0">
                <a:latin typeface="Times New Roman"/>
                <a:cs typeface="Times New Roman"/>
              </a:rPr>
              <a:t>decision</a:t>
            </a:r>
            <a:r>
              <a:rPr sz="2000" spc="-95" dirty="0">
                <a:latin typeface="Times New Roman"/>
                <a:cs typeface="Times New Roman"/>
              </a:rPr>
              <a:t> </a:t>
            </a:r>
            <a:r>
              <a:rPr sz="2000" dirty="0">
                <a:latin typeface="Times New Roman"/>
                <a:cs typeface="Times New Roman"/>
              </a:rPr>
              <a:t>making,</a:t>
            </a:r>
            <a:r>
              <a:rPr sz="2000" spc="-5" dirty="0">
                <a:latin typeface="Times New Roman"/>
                <a:cs typeface="Times New Roman"/>
              </a:rPr>
              <a:t> </a:t>
            </a:r>
            <a:r>
              <a:rPr sz="2000" dirty="0">
                <a:latin typeface="Times New Roman"/>
                <a:cs typeface="Times New Roman"/>
              </a:rPr>
              <a:t>High</a:t>
            </a:r>
            <a:r>
              <a:rPr sz="2000" spc="-45" dirty="0">
                <a:latin typeface="Times New Roman"/>
                <a:cs typeface="Times New Roman"/>
              </a:rPr>
              <a:t> </a:t>
            </a:r>
            <a:r>
              <a:rPr sz="2000" dirty="0">
                <a:latin typeface="Times New Roman"/>
                <a:cs typeface="Times New Roman"/>
              </a:rPr>
              <a:t>accuracy,</a:t>
            </a:r>
            <a:r>
              <a:rPr sz="2000" spc="-50" dirty="0">
                <a:latin typeface="Times New Roman"/>
                <a:cs typeface="Times New Roman"/>
              </a:rPr>
              <a:t> </a:t>
            </a:r>
            <a:r>
              <a:rPr sz="2000" dirty="0">
                <a:latin typeface="Times New Roman"/>
                <a:cs typeface="Times New Roman"/>
              </a:rPr>
              <a:t>Efficient</a:t>
            </a:r>
            <a:r>
              <a:rPr sz="2000" spc="-35" dirty="0">
                <a:latin typeface="Times New Roman"/>
                <a:cs typeface="Times New Roman"/>
              </a:rPr>
              <a:t> </a:t>
            </a:r>
            <a:r>
              <a:rPr sz="2000" spc="-10" dirty="0">
                <a:latin typeface="Times New Roman"/>
                <a:cs typeface="Times New Roman"/>
              </a:rPr>
              <a:t>monitoring,</a:t>
            </a:r>
            <a:endParaRPr sz="2000">
              <a:latin typeface="Times New Roman"/>
              <a:cs typeface="Times New Roman"/>
            </a:endParaRPr>
          </a:p>
          <a:p>
            <a:pPr marL="12700">
              <a:lnSpc>
                <a:spcPct val="100000"/>
              </a:lnSpc>
            </a:pPr>
            <a:r>
              <a:rPr sz="2000" spc="-10" dirty="0">
                <a:latin typeface="Times New Roman"/>
                <a:cs typeface="Times New Roman"/>
              </a:rPr>
              <a:t>Scalability.</a:t>
            </a:r>
            <a:endParaRPr sz="2000">
              <a:latin typeface="Times New Roman"/>
              <a:cs typeface="Times New Roman"/>
            </a:endParaRPr>
          </a:p>
        </p:txBody>
      </p:sp>
      <p:sp>
        <p:nvSpPr>
          <p:cNvPr id="3" name="object 3"/>
          <p:cNvSpPr txBox="1"/>
          <p:nvPr/>
        </p:nvSpPr>
        <p:spPr>
          <a:xfrm>
            <a:off x="352755" y="6078453"/>
            <a:ext cx="7792084" cy="565150"/>
          </a:xfrm>
          <a:prstGeom prst="rect">
            <a:avLst/>
          </a:prstGeom>
        </p:spPr>
        <p:txBody>
          <a:bodyPr vert="horz" wrap="square" lIns="0" tIns="44450" rIns="0" bIns="0" rtlCol="0">
            <a:spAutoFit/>
          </a:bodyPr>
          <a:lstStyle/>
          <a:p>
            <a:pPr marL="12700">
              <a:lnSpc>
                <a:spcPct val="100000"/>
              </a:lnSpc>
              <a:spcBef>
                <a:spcPts val="350"/>
              </a:spcBef>
            </a:pPr>
            <a:r>
              <a:rPr sz="2000" dirty="0">
                <a:latin typeface="Times New Roman"/>
                <a:cs typeface="Times New Roman"/>
              </a:rPr>
              <a:t>Limitation</a:t>
            </a:r>
            <a:r>
              <a:rPr sz="2000" spc="-30" dirty="0">
                <a:latin typeface="Times New Roman"/>
                <a:cs typeface="Times New Roman"/>
              </a:rPr>
              <a:t> </a:t>
            </a:r>
            <a:r>
              <a:rPr sz="2000" dirty="0">
                <a:latin typeface="Times New Roman"/>
                <a:cs typeface="Times New Roman"/>
              </a:rPr>
              <a:t>:</a:t>
            </a:r>
            <a:r>
              <a:rPr sz="2000" spc="-60" dirty="0">
                <a:latin typeface="Times New Roman"/>
                <a:cs typeface="Times New Roman"/>
              </a:rPr>
              <a:t> </a:t>
            </a:r>
            <a:r>
              <a:rPr sz="2000" dirty="0">
                <a:latin typeface="Times New Roman"/>
                <a:cs typeface="Times New Roman"/>
              </a:rPr>
              <a:t>Weather</a:t>
            </a:r>
            <a:r>
              <a:rPr sz="2000" spc="-50" dirty="0">
                <a:latin typeface="Times New Roman"/>
                <a:cs typeface="Times New Roman"/>
              </a:rPr>
              <a:t> </a:t>
            </a:r>
            <a:r>
              <a:rPr sz="2000" dirty="0">
                <a:latin typeface="Times New Roman"/>
                <a:cs typeface="Times New Roman"/>
              </a:rPr>
              <a:t>Constraints,</a:t>
            </a:r>
            <a:r>
              <a:rPr sz="2000" spc="-35" dirty="0">
                <a:latin typeface="Times New Roman"/>
                <a:cs typeface="Times New Roman"/>
              </a:rPr>
              <a:t> </a:t>
            </a:r>
            <a:r>
              <a:rPr sz="2000" dirty="0">
                <a:latin typeface="Times New Roman"/>
                <a:cs typeface="Times New Roman"/>
              </a:rPr>
              <a:t>Computational</a:t>
            </a:r>
            <a:r>
              <a:rPr sz="2000" spc="-15" dirty="0">
                <a:latin typeface="Times New Roman"/>
                <a:cs typeface="Times New Roman"/>
              </a:rPr>
              <a:t> </a:t>
            </a:r>
            <a:r>
              <a:rPr sz="2000" dirty="0">
                <a:latin typeface="Times New Roman"/>
                <a:cs typeface="Times New Roman"/>
              </a:rPr>
              <a:t>load,</a:t>
            </a:r>
            <a:r>
              <a:rPr sz="2000" spc="-75" dirty="0">
                <a:latin typeface="Times New Roman"/>
                <a:cs typeface="Times New Roman"/>
              </a:rPr>
              <a:t> </a:t>
            </a:r>
            <a:r>
              <a:rPr sz="2000" dirty="0">
                <a:latin typeface="Times New Roman"/>
                <a:cs typeface="Times New Roman"/>
              </a:rPr>
              <a:t>Real</a:t>
            </a:r>
            <a:r>
              <a:rPr sz="2000" spc="-65" dirty="0">
                <a:latin typeface="Times New Roman"/>
                <a:cs typeface="Times New Roman"/>
              </a:rPr>
              <a:t> </a:t>
            </a:r>
            <a:r>
              <a:rPr sz="2000" dirty="0">
                <a:latin typeface="Times New Roman"/>
                <a:cs typeface="Times New Roman"/>
              </a:rPr>
              <a:t>time</a:t>
            </a:r>
            <a:r>
              <a:rPr sz="2000" spc="-15" dirty="0">
                <a:latin typeface="Times New Roman"/>
                <a:cs typeface="Times New Roman"/>
              </a:rPr>
              <a:t> </a:t>
            </a:r>
            <a:r>
              <a:rPr sz="2000" spc="-10" dirty="0">
                <a:latin typeface="Times New Roman"/>
                <a:cs typeface="Times New Roman"/>
              </a:rPr>
              <a:t>challenges.</a:t>
            </a:r>
            <a:endParaRPr sz="2000">
              <a:latin typeface="Times New Roman"/>
              <a:cs typeface="Times New Roman"/>
            </a:endParaRPr>
          </a:p>
          <a:p>
            <a:pPr marL="646430" algn="ctr">
              <a:lnSpc>
                <a:spcPct val="100000"/>
              </a:lnSpc>
              <a:spcBef>
                <a:spcPts val="155"/>
              </a:spcBef>
            </a:pPr>
            <a:r>
              <a:rPr sz="1200" dirty="0">
                <a:latin typeface="Arial MT"/>
                <a:cs typeface="Arial MT"/>
              </a:rPr>
              <a:t>Dept.</a:t>
            </a:r>
            <a:r>
              <a:rPr sz="1200" spc="-25" dirty="0">
                <a:latin typeface="Arial MT"/>
                <a:cs typeface="Arial MT"/>
              </a:rPr>
              <a:t> </a:t>
            </a:r>
            <a:r>
              <a:rPr sz="1200" dirty="0">
                <a:latin typeface="Arial MT"/>
                <a:cs typeface="Arial MT"/>
              </a:rPr>
              <a:t>of</a:t>
            </a:r>
            <a:r>
              <a:rPr sz="1200" spc="-5" dirty="0">
                <a:latin typeface="Arial MT"/>
                <a:cs typeface="Arial MT"/>
              </a:rPr>
              <a:t> </a:t>
            </a:r>
            <a:r>
              <a:rPr sz="1200" dirty="0">
                <a:latin typeface="Arial MT"/>
                <a:cs typeface="Arial MT"/>
              </a:rPr>
              <a:t>ECE</a:t>
            </a:r>
            <a:r>
              <a:rPr sz="1200" spc="5" dirty="0">
                <a:latin typeface="Arial MT"/>
                <a:cs typeface="Arial MT"/>
              </a:rPr>
              <a:t> </a:t>
            </a:r>
            <a:r>
              <a:rPr sz="1200" dirty="0">
                <a:latin typeface="Arial MT"/>
                <a:cs typeface="Arial MT"/>
              </a:rPr>
              <a:t>2025-</a:t>
            </a:r>
            <a:r>
              <a:rPr sz="1200" spc="-25" dirty="0">
                <a:latin typeface="Arial MT"/>
                <a:cs typeface="Arial MT"/>
              </a:rPr>
              <a:t>26</a:t>
            </a:r>
            <a:endParaRPr sz="1200">
              <a:latin typeface="Arial MT"/>
              <a:cs typeface="Arial MT"/>
            </a:endParaRPr>
          </a:p>
        </p:txBody>
      </p:sp>
      <p:pic>
        <p:nvPicPr>
          <p:cNvPr id="4" name="object 4"/>
          <p:cNvPicPr/>
          <p:nvPr/>
        </p:nvPicPr>
        <p:blipFill>
          <a:blip r:embed="rId2" cstate="print"/>
          <a:stretch>
            <a:fillRect/>
          </a:stretch>
        </p:blipFill>
        <p:spPr>
          <a:xfrm>
            <a:off x="7818119" y="103631"/>
            <a:ext cx="1051559" cy="1100328"/>
          </a:xfrm>
          <a:prstGeom prst="rect">
            <a:avLst/>
          </a:prstGeom>
        </p:spPr>
      </p:pic>
      <p:pic>
        <p:nvPicPr>
          <p:cNvPr id="5" name="object 5"/>
          <p:cNvPicPr/>
          <p:nvPr/>
        </p:nvPicPr>
        <p:blipFill>
          <a:blip r:embed="rId3" cstate="print"/>
          <a:stretch>
            <a:fillRect/>
          </a:stretch>
        </p:blipFill>
        <p:spPr>
          <a:xfrm>
            <a:off x="274320" y="103631"/>
            <a:ext cx="981456" cy="1100328"/>
          </a:xfrm>
          <a:prstGeom prst="rect">
            <a:avLst/>
          </a:prstGeom>
        </p:spPr>
      </p:pic>
      <p:sp>
        <p:nvSpPr>
          <p:cNvPr id="6" name="object 6"/>
          <p:cNvSpPr txBox="1"/>
          <p:nvPr/>
        </p:nvSpPr>
        <p:spPr>
          <a:xfrm>
            <a:off x="8243443" y="6434734"/>
            <a:ext cx="196215" cy="208279"/>
          </a:xfrm>
          <a:prstGeom prst="rect">
            <a:avLst/>
          </a:prstGeom>
        </p:spPr>
        <p:txBody>
          <a:bodyPr vert="horz" wrap="square" lIns="0" tIns="12700" rIns="0" bIns="0" rtlCol="0">
            <a:spAutoFit/>
          </a:bodyPr>
          <a:lstStyle/>
          <a:p>
            <a:pPr marL="12700">
              <a:lnSpc>
                <a:spcPct val="100000"/>
              </a:lnSpc>
              <a:spcBef>
                <a:spcPts val="100"/>
              </a:spcBef>
            </a:pPr>
            <a:r>
              <a:rPr sz="1200" spc="-25" dirty="0">
                <a:latin typeface="Arial MT"/>
                <a:cs typeface="Arial MT"/>
              </a:rPr>
              <a:t>11</a:t>
            </a:r>
            <a:endParaRPr sz="1200">
              <a:latin typeface="Arial MT"/>
              <a:cs typeface="Arial MT"/>
            </a:endParaRPr>
          </a:p>
        </p:txBody>
      </p:sp>
      <p:sp>
        <p:nvSpPr>
          <p:cNvPr id="7" name="object 7"/>
          <p:cNvSpPr txBox="1">
            <a:spLocks noGrp="1"/>
          </p:cNvSpPr>
          <p:nvPr>
            <p:ph type="title"/>
          </p:nvPr>
        </p:nvSpPr>
        <p:spPr>
          <a:xfrm>
            <a:off x="2298954" y="424942"/>
            <a:ext cx="3926204" cy="453390"/>
          </a:xfrm>
          <a:prstGeom prst="rect">
            <a:avLst/>
          </a:prstGeom>
        </p:spPr>
        <p:txBody>
          <a:bodyPr vert="horz" wrap="square" lIns="0" tIns="13335" rIns="0" bIns="0" rtlCol="0">
            <a:spAutoFit/>
          </a:bodyPr>
          <a:lstStyle/>
          <a:p>
            <a:pPr marL="12700">
              <a:lnSpc>
                <a:spcPct val="100000"/>
              </a:lnSpc>
              <a:spcBef>
                <a:spcPts val="105"/>
              </a:spcBef>
            </a:pPr>
            <a:r>
              <a:rPr sz="2800" dirty="0"/>
              <a:t>LITERATURE</a:t>
            </a:r>
            <a:r>
              <a:rPr sz="2800" spc="-85" dirty="0"/>
              <a:t> </a:t>
            </a:r>
            <a:r>
              <a:rPr sz="2800" spc="-10" dirty="0"/>
              <a:t>SURVEY</a:t>
            </a:r>
            <a:endParaRPr sz="28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286115" y="6454546"/>
            <a:ext cx="153670" cy="164465"/>
          </a:xfrm>
          <a:prstGeom prst="rect">
            <a:avLst/>
          </a:prstGeom>
        </p:spPr>
        <p:txBody>
          <a:bodyPr vert="horz" wrap="square" lIns="0" tIns="13970" rIns="0" bIns="0" rtlCol="0">
            <a:spAutoFit/>
          </a:bodyPr>
          <a:lstStyle/>
          <a:p>
            <a:pPr marL="12700">
              <a:lnSpc>
                <a:spcPct val="100000"/>
              </a:lnSpc>
              <a:spcBef>
                <a:spcPts val="110"/>
              </a:spcBef>
            </a:pPr>
            <a:r>
              <a:rPr sz="900" spc="-25" dirty="0">
                <a:solidFill>
                  <a:srgbClr val="888888"/>
                </a:solidFill>
                <a:latin typeface="Arial MT"/>
                <a:cs typeface="Arial MT"/>
              </a:rPr>
              <a:t>12</a:t>
            </a:r>
            <a:endParaRPr sz="900">
              <a:latin typeface="Arial MT"/>
              <a:cs typeface="Arial MT"/>
            </a:endParaRPr>
          </a:p>
        </p:txBody>
      </p:sp>
      <p:pic>
        <p:nvPicPr>
          <p:cNvPr id="3" name="object 3"/>
          <p:cNvPicPr/>
          <p:nvPr/>
        </p:nvPicPr>
        <p:blipFill>
          <a:blip r:embed="rId2" cstate="print"/>
          <a:stretch>
            <a:fillRect/>
          </a:stretch>
        </p:blipFill>
        <p:spPr>
          <a:xfrm>
            <a:off x="274320" y="103631"/>
            <a:ext cx="981456" cy="1100328"/>
          </a:xfrm>
          <a:prstGeom prst="rect">
            <a:avLst/>
          </a:prstGeom>
        </p:spPr>
      </p:pic>
      <p:pic>
        <p:nvPicPr>
          <p:cNvPr id="4" name="object 4"/>
          <p:cNvPicPr/>
          <p:nvPr/>
        </p:nvPicPr>
        <p:blipFill>
          <a:blip r:embed="rId3" cstate="print"/>
          <a:stretch>
            <a:fillRect/>
          </a:stretch>
        </p:blipFill>
        <p:spPr>
          <a:xfrm>
            <a:off x="7818119" y="103631"/>
            <a:ext cx="1051559" cy="1100328"/>
          </a:xfrm>
          <a:prstGeom prst="rect">
            <a:avLst/>
          </a:prstGeom>
        </p:spPr>
      </p:pic>
      <p:sp>
        <p:nvSpPr>
          <p:cNvPr id="5" name="object 5"/>
          <p:cNvSpPr txBox="1">
            <a:spLocks noGrp="1"/>
          </p:cNvSpPr>
          <p:nvPr>
            <p:ph type="title"/>
          </p:nvPr>
        </p:nvSpPr>
        <p:spPr>
          <a:xfrm>
            <a:off x="2207132" y="423418"/>
            <a:ext cx="3926204" cy="453390"/>
          </a:xfrm>
          <a:prstGeom prst="rect">
            <a:avLst/>
          </a:prstGeom>
        </p:spPr>
        <p:txBody>
          <a:bodyPr vert="horz" wrap="square" lIns="0" tIns="13335" rIns="0" bIns="0" rtlCol="0">
            <a:spAutoFit/>
          </a:bodyPr>
          <a:lstStyle/>
          <a:p>
            <a:pPr marL="12700">
              <a:lnSpc>
                <a:spcPct val="100000"/>
              </a:lnSpc>
              <a:spcBef>
                <a:spcPts val="105"/>
              </a:spcBef>
            </a:pPr>
            <a:r>
              <a:rPr sz="2800" dirty="0"/>
              <a:t>LITERATURE</a:t>
            </a:r>
            <a:r>
              <a:rPr sz="2800" spc="-85" dirty="0"/>
              <a:t> </a:t>
            </a:r>
            <a:r>
              <a:rPr sz="2800" spc="-10" dirty="0"/>
              <a:t>SURVEY</a:t>
            </a:r>
            <a:endParaRPr sz="2800"/>
          </a:p>
        </p:txBody>
      </p:sp>
      <p:sp>
        <p:nvSpPr>
          <p:cNvPr id="6" name="object 6"/>
          <p:cNvSpPr txBox="1"/>
          <p:nvPr/>
        </p:nvSpPr>
        <p:spPr>
          <a:xfrm>
            <a:off x="352755" y="1444193"/>
            <a:ext cx="8374380" cy="4694555"/>
          </a:xfrm>
          <a:prstGeom prst="rect">
            <a:avLst/>
          </a:prstGeom>
        </p:spPr>
        <p:txBody>
          <a:bodyPr vert="horz" wrap="square" lIns="0" tIns="12700" rIns="0" bIns="0" rtlCol="0">
            <a:spAutoFit/>
          </a:bodyPr>
          <a:lstStyle/>
          <a:p>
            <a:pPr marL="12700">
              <a:lnSpc>
                <a:spcPct val="100000"/>
              </a:lnSpc>
              <a:spcBef>
                <a:spcPts val="100"/>
              </a:spcBef>
            </a:pPr>
            <a:r>
              <a:rPr sz="1800" b="1" dirty="0">
                <a:latin typeface="Times New Roman"/>
                <a:cs typeface="Times New Roman"/>
              </a:rPr>
              <a:t>[6]Title</a:t>
            </a:r>
            <a:r>
              <a:rPr sz="1800" b="1" spc="325" dirty="0">
                <a:latin typeface="Times New Roman"/>
                <a:cs typeface="Times New Roman"/>
              </a:rPr>
              <a:t> </a:t>
            </a:r>
            <a:r>
              <a:rPr sz="1800" b="1" dirty="0">
                <a:latin typeface="Times New Roman"/>
                <a:cs typeface="Times New Roman"/>
              </a:rPr>
              <a:t>of</a:t>
            </a:r>
            <a:r>
              <a:rPr sz="1800" b="1" spc="-50" dirty="0">
                <a:latin typeface="Times New Roman"/>
                <a:cs typeface="Times New Roman"/>
              </a:rPr>
              <a:t> </a:t>
            </a:r>
            <a:r>
              <a:rPr sz="1800" b="1" dirty="0">
                <a:latin typeface="Times New Roman"/>
                <a:cs typeface="Times New Roman"/>
              </a:rPr>
              <a:t>the</a:t>
            </a:r>
            <a:r>
              <a:rPr sz="1800" b="1" spc="-45" dirty="0">
                <a:latin typeface="Times New Roman"/>
                <a:cs typeface="Times New Roman"/>
              </a:rPr>
              <a:t> </a:t>
            </a:r>
            <a:r>
              <a:rPr sz="1800" b="1" dirty="0">
                <a:latin typeface="Times New Roman"/>
                <a:cs typeface="Times New Roman"/>
              </a:rPr>
              <a:t>paper:</a:t>
            </a:r>
            <a:r>
              <a:rPr sz="1800" b="1" spc="-5" dirty="0">
                <a:latin typeface="Times New Roman"/>
                <a:cs typeface="Times New Roman"/>
              </a:rPr>
              <a:t> </a:t>
            </a:r>
            <a:r>
              <a:rPr sz="1800" b="1" dirty="0">
                <a:latin typeface="Times New Roman"/>
                <a:cs typeface="Times New Roman"/>
              </a:rPr>
              <a:t>Automatic</a:t>
            </a:r>
            <a:r>
              <a:rPr sz="1800" b="1" spc="50" dirty="0">
                <a:latin typeface="Times New Roman"/>
                <a:cs typeface="Times New Roman"/>
              </a:rPr>
              <a:t> </a:t>
            </a:r>
            <a:r>
              <a:rPr sz="1800" b="1" dirty="0">
                <a:latin typeface="Times New Roman"/>
                <a:cs typeface="Times New Roman"/>
              </a:rPr>
              <a:t>Concrete</a:t>
            </a:r>
            <a:r>
              <a:rPr sz="1800" b="1" spc="-15" dirty="0">
                <a:latin typeface="Times New Roman"/>
                <a:cs typeface="Times New Roman"/>
              </a:rPr>
              <a:t> </a:t>
            </a:r>
            <a:r>
              <a:rPr sz="1800" b="1" dirty="0">
                <a:latin typeface="Times New Roman"/>
                <a:cs typeface="Times New Roman"/>
              </a:rPr>
              <a:t>Dam</a:t>
            </a:r>
            <a:r>
              <a:rPr sz="1800" b="1" spc="-35" dirty="0">
                <a:latin typeface="Times New Roman"/>
                <a:cs typeface="Times New Roman"/>
              </a:rPr>
              <a:t> </a:t>
            </a:r>
            <a:r>
              <a:rPr sz="1800" b="1" dirty="0">
                <a:latin typeface="Times New Roman"/>
                <a:cs typeface="Times New Roman"/>
              </a:rPr>
              <a:t>Deformation</a:t>
            </a:r>
            <a:r>
              <a:rPr sz="1800" b="1" spc="40" dirty="0">
                <a:latin typeface="Times New Roman"/>
                <a:cs typeface="Times New Roman"/>
              </a:rPr>
              <a:t> </a:t>
            </a:r>
            <a:r>
              <a:rPr sz="1800" b="1" dirty="0">
                <a:latin typeface="Times New Roman"/>
                <a:cs typeface="Times New Roman"/>
              </a:rPr>
              <a:t>Prediction</a:t>
            </a:r>
            <a:r>
              <a:rPr sz="1800" b="1" spc="-25" dirty="0">
                <a:latin typeface="Times New Roman"/>
                <a:cs typeface="Times New Roman"/>
              </a:rPr>
              <a:t> </a:t>
            </a:r>
            <a:r>
              <a:rPr sz="1800" b="1" dirty="0">
                <a:latin typeface="Times New Roman"/>
                <a:cs typeface="Times New Roman"/>
              </a:rPr>
              <a:t>Model</a:t>
            </a:r>
            <a:r>
              <a:rPr sz="1800" b="1" spc="-45" dirty="0">
                <a:latin typeface="Times New Roman"/>
                <a:cs typeface="Times New Roman"/>
              </a:rPr>
              <a:t> </a:t>
            </a:r>
            <a:r>
              <a:rPr sz="1800" b="1" spc="-10" dirty="0">
                <a:latin typeface="Times New Roman"/>
                <a:cs typeface="Times New Roman"/>
              </a:rPr>
              <a:t>Based</a:t>
            </a:r>
            <a:endParaRPr sz="1800">
              <a:latin typeface="Times New Roman"/>
              <a:cs typeface="Times New Roman"/>
            </a:endParaRPr>
          </a:p>
          <a:p>
            <a:pPr marL="12700">
              <a:lnSpc>
                <a:spcPct val="100000"/>
              </a:lnSpc>
              <a:spcBef>
                <a:spcPts val="5"/>
              </a:spcBef>
            </a:pPr>
            <a:r>
              <a:rPr sz="1800" b="1" dirty="0">
                <a:latin typeface="Times New Roman"/>
                <a:cs typeface="Times New Roman"/>
              </a:rPr>
              <a:t>on</a:t>
            </a:r>
            <a:r>
              <a:rPr sz="1800" b="1" spc="70" dirty="0">
                <a:latin typeface="Times New Roman"/>
                <a:cs typeface="Times New Roman"/>
              </a:rPr>
              <a:t> </a:t>
            </a:r>
            <a:r>
              <a:rPr sz="1800" b="1" spc="-10" dirty="0">
                <a:latin typeface="Times New Roman"/>
                <a:cs typeface="Times New Roman"/>
              </a:rPr>
              <a:t>TPE-STL-</a:t>
            </a:r>
            <a:r>
              <a:rPr sz="1800" b="1" spc="-20" dirty="0">
                <a:latin typeface="Times New Roman"/>
                <a:cs typeface="Times New Roman"/>
              </a:rPr>
              <a:t>LSTM</a:t>
            </a:r>
            <a:endParaRPr sz="1800">
              <a:latin typeface="Times New Roman"/>
              <a:cs typeface="Times New Roman"/>
            </a:endParaRPr>
          </a:p>
          <a:p>
            <a:pPr>
              <a:lnSpc>
                <a:spcPct val="100000"/>
              </a:lnSpc>
              <a:spcBef>
                <a:spcPts val="90"/>
              </a:spcBef>
            </a:pPr>
            <a:endParaRPr sz="1800">
              <a:latin typeface="Times New Roman"/>
              <a:cs typeface="Times New Roman"/>
            </a:endParaRPr>
          </a:p>
          <a:p>
            <a:pPr marL="12700">
              <a:lnSpc>
                <a:spcPct val="100000"/>
              </a:lnSpc>
            </a:pPr>
            <a:r>
              <a:rPr sz="1800" dirty="0">
                <a:latin typeface="Times New Roman"/>
                <a:cs typeface="Times New Roman"/>
              </a:rPr>
              <a:t>Author</a:t>
            </a:r>
            <a:r>
              <a:rPr sz="1800" spc="409" dirty="0">
                <a:latin typeface="Times New Roman"/>
                <a:cs typeface="Times New Roman"/>
              </a:rPr>
              <a:t> </a:t>
            </a:r>
            <a:r>
              <a:rPr sz="1800" dirty="0">
                <a:latin typeface="Times New Roman"/>
                <a:cs typeface="Times New Roman"/>
              </a:rPr>
              <a:t>: Sihan</a:t>
            </a:r>
            <a:r>
              <a:rPr sz="1800" spc="-40" dirty="0">
                <a:latin typeface="Times New Roman"/>
                <a:cs typeface="Times New Roman"/>
              </a:rPr>
              <a:t> </a:t>
            </a:r>
            <a:r>
              <a:rPr sz="1800" dirty="0">
                <a:latin typeface="Times New Roman"/>
                <a:cs typeface="Times New Roman"/>
              </a:rPr>
              <a:t>Song, Qiujing</a:t>
            </a:r>
            <a:r>
              <a:rPr sz="1800" spc="-35" dirty="0">
                <a:latin typeface="Times New Roman"/>
                <a:cs typeface="Times New Roman"/>
              </a:rPr>
              <a:t> </a:t>
            </a:r>
            <a:r>
              <a:rPr sz="1800" dirty="0">
                <a:latin typeface="Times New Roman"/>
                <a:cs typeface="Times New Roman"/>
              </a:rPr>
              <a:t>Zhou,</a:t>
            </a:r>
            <a:r>
              <a:rPr sz="1800" spc="-45" dirty="0">
                <a:latin typeface="Times New Roman"/>
                <a:cs typeface="Times New Roman"/>
              </a:rPr>
              <a:t> </a:t>
            </a:r>
            <a:r>
              <a:rPr sz="1800" dirty="0">
                <a:latin typeface="Times New Roman"/>
                <a:cs typeface="Times New Roman"/>
              </a:rPr>
              <a:t>Tao</a:t>
            </a:r>
            <a:r>
              <a:rPr sz="1800" spc="5" dirty="0">
                <a:latin typeface="Times New Roman"/>
                <a:cs typeface="Times New Roman"/>
              </a:rPr>
              <a:t> </a:t>
            </a:r>
            <a:r>
              <a:rPr sz="1800" dirty="0">
                <a:latin typeface="Times New Roman"/>
                <a:cs typeface="Times New Roman"/>
              </a:rPr>
              <a:t>Zhang</a:t>
            </a:r>
            <a:r>
              <a:rPr sz="1800" spc="-40" dirty="0">
                <a:latin typeface="Times New Roman"/>
                <a:cs typeface="Times New Roman"/>
              </a:rPr>
              <a:t> </a:t>
            </a:r>
            <a:r>
              <a:rPr sz="1800" dirty="0">
                <a:latin typeface="Times New Roman"/>
                <a:cs typeface="Times New Roman"/>
              </a:rPr>
              <a:t>,</a:t>
            </a:r>
            <a:r>
              <a:rPr sz="1800" spc="25" dirty="0">
                <a:latin typeface="Times New Roman"/>
                <a:cs typeface="Times New Roman"/>
              </a:rPr>
              <a:t> </a:t>
            </a:r>
            <a:r>
              <a:rPr sz="1800" dirty="0">
                <a:latin typeface="Times New Roman"/>
                <a:cs typeface="Times New Roman"/>
              </a:rPr>
              <a:t>Yintao</a:t>
            </a:r>
            <a:r>
              <a:rPr sz="1800" spc="-15" dirty="0">
                <a:latin typeface="Times New Roman"/>
                <a:cs typeface="Times New Roman"/>
              </a:rPr>
              <a:t> </a:t>
            </a:r>
            <a:r>
              <a:rPr sz="1800" spc="-25" dirty="0">
                <a:latin typeface="Times New Roman"/>
                <a:cs typeface="Times New Roman"/>
              </a:rPr>
              <a:t>Hu</a:t>
            </a:r>
            <a:endParaRPr sz="1800">
              <a:latin typeface="Times New Roman"/>
              <a:cs typeface="Times New Roman"/>
            </a:endParaRPr>
          </a:p>
          <a:p>
            <a:pPr>
              <a:lnSpc>
                <a:spcPct val="100000"/>
              </a:lnSpc>
              <a:spcBef>
                <a:spcPts val="90"/>
              </a:spcBef>
            </a:pPr>
            <a:endParaRPr sz="1800">
              <a:latin typeface="Times New Roman"/>
              <a:cs typeface="Times New Roman"/>
            </a:endParaRPr>
          </a:p>
          <a:p>
            <a:pPr marL="12700">
              <a:lnSpc>
                <a:spcPct val="100000"/>
              </a:lnSpc>
            </a:pPr>
            <a:r>
              <a:rPr sz="1800" dirty="0">
                <a:latin typeface="Times New Roman"/>
                <a:cs typeface="Times New Roman"/>
              </a:rPr>
              <a:t>Published</a:t>
            </a:r>
            <a:r>
              <a:rPr sz="1800" spc="-65" dirty="0">
                <a:latin typeface="Times New Roman"/>
                <a:cs typeface="Times New Roman"/>
              </a:rPr>
              <a:t> </a:t>
            </a:r>
            <a:r>
              <a:rPr sz="1800" dirty="0">
                <a:latin typeface="Times New Roman"/>
                <a:cs typeface="Times New Roman"/>
              </a:rPr>
              <a:t>Year</a:t>
            </a:r>
            <a:r>
              <a:rPr sz="1800" spc="-5" dirty="0">
                <a:latin typeface="Times New Roman"/>
                <a:cs typeface="Times New Roman"/>
              </a:rPr>
              <a:t> </a:t>
            </a:r>
            <a:r>
              <a:rPr sz="1800" dirty="0">
                <a:latin typeface="Times New Roman"/>
                <a:cs typeface="Times New Roman"/>
              </a:rPr>
              <a:t>: 1</a:t>
            </a:r>
            <a:r>
              <a:rPr sz="1800" spc="-5" dirty="0">
                <a:latin typeface="Times New Roman"/>
                <a:cs typeface="Times New Roman"/>
              </a:rPr>
              <a:t> </a:t>
            </a:r>
            <a:r>
              <a:rPr sz="1800" dirty="0">
                <a:latin typeface="Times New Roman"/>
                <a:cs typeface="Times New Roman"/>
              </a:rPr>
              <a:t>June</a:t>
            </a:r>
            <a:r>
              <a:rPr sz="1800" spc="-40" dirty="0">
                <a:latin typeface="Times New Roman"/>
                <a:cs typeface="Times New Roman"/>
              </a:rPr>
              <a:t> </a:t>
            </a:r>
            <a:r>
              <a:rPr sz="1800" spc="-20" dirty="0">
                <a:latin typeface="Times New Roman"/>
                <a:cs typeface="Times New Roman"/>
              </a:rPr>
              <a:t>2023</a:t>
            </a:r>
            <a:endParaRPr sz="1800">
              <a:latin typeface="Times New Roman"/>
              <a:cs typeface="Times New Roman"/>
            </a:endParaRPr>
          </a:p>
          <a:p>
            <a:pPr>
              <a:lnSpc>
                <a:spcPct val="100000"/>
              </a:lnSpc>
              <a:spcBef>
                <a:spcPts val="95"/>
              </a:spcBef>
            </a:pPr>
            <a:endParaRPr sz="1800">
              <a:latin typeface="Times New Roman"/>
              <a:cs typeface="Times New Roman"/>
            </a:endParaRPr>
          </a:p>
          <a:p>
            <a:pPr marL="12700">
              <a:lnSpc>
                <a:spcPct val="100000"/>
              </a:lnSpc>
            </a:pPr>
            <a:r>
              <a:rPr sz="1800" dirty="0">
                <a:latin typeface="Times New Roman"/>
                <a:cs typeface="Times New Roman"/>
              </a:rPr>
              <a:t>Proposed</a:t>
            </a:r>
            <a:r>
              <a:rPr sz="1800" spc="-80" dirty="0">
                <a:latin typeface="Times New Roman"/>
                <a:cs typeface="Times New Roman"/>
              </a:rPr>
              <a:t> </a:t>
            </a:r>
            <a:r>
              <a:rPr sz="1800" dirty="0">
                <a:latin typeface="Times New Roman"/>
                <a:cs typeface="Times New Roman"/>
              </a:rPr>
              <a:t>method</a:t>
            </a:r>
            <a:r>
              <a:rPr sz="1800" spc="-15" dirty="0">
                <a:latin typeface="Times New Roman"/>
                <a:cs typeface="Times New Roman"/>
              </a:rPr>
              <a:t> </a:t>
            </a:r>
            <a:r>
              <a:rPr sz="1800" dirty="0">
                <a:latin typeface="Times New Roman"/>
                <a:cs typeface="Times New Roman"/>
              </a:rPr>
              <a:t>:</a:t>
            </a:r>
            <a:r>
              <a:rPr sz="1800" spc="-30" dirty="0">
                <a:latin typeface="Times New Roman"/>
                <a:cs typeface="Times New Roman"/>
              </a:rPr>
              <a:t> </a:t>
            </a:r>
            <a:r>
              <a:rPr sz="1800" dirty="0">
                <a:latin typeface="Times New Roman"/>
                <a:cs typeface="Times New Roman"/>
              </a:rPr>
              <a:t>A</a:t>
            </a:r>
            <a:r>
              <a:rPr sz="1800" spc="-25" dirty="0">
                <a:latin typeface="Times New Roman"/>
                <a:cs typeface="Times New Roman"/>
              </a:rPr>
              <a:t> </a:t>
            </a:r>
            <a:r>
              <a:rPr sz="1800" dirty="0">
                <a:latin typeface="Times New Roman"/>
                <a:cs typeface="Times New Roman"/>
              </a:rPr>
              <a:t>novel</a:t>
            </a:r>
            <a:r>
              <a:rPr sz="1800" spc="-15" dirty="0">
                <a:latin typeface="Times New Roman"/>
                <a:cs typeface="Times New Roman"/>
              </a:rPr>
              <a:t> </a:t>
            </a:r>
            <a:r>
              <a:rPr sz="1800" dirty="0">
                <a:latin typeface="Times New Roman"/>
                <a:cs typeface="Times New Roman"/>
              </a:rPr>
              <a:t>deep</a:t>
            </a:r>
            <a:r>
              <a:rPr sz="1800" spc="-30" dirty="0">
                <a:latin typeface="Times New Roman"/>
                <a:cs typeface="Times New Roman"/>
              </a:rPr>
              <a:t> </a:t>
            </a:r>
            <a:r>
              <a:rPr sz="1800" dirty="0">
                <a:latin typeface="Times New Roman"/>
                <a:cs typeface="Times New Roman"/>
              </a:rPr>
              <a:t>learning</a:t>
            </a:r>
            <a:r>
              <a:rPr sz="1800" spc="-30" dirty="0">
                <a:latin typeface="Times New Roman"/>
                <a:cs typeface="Times New Roman"/>
              </a:rPr>
              <a:t> </a:t>
            </a:r>
            <a:r>
              <a:rPr sz="1800" dirty="0">
                <a:latin typeface="Times New Roman"/>
                <a:cs typeface="Times New Roman"/>
              </a:rPr>
              <a:t>based</a:t>
            </a:r>
            <a:r>
              <a:rPr sz="1800" spc="-30" dirty="0">
                <a:latin typeface="Times New Roman"/>
                <a:cs typeface="Times New Roman"/>
              </a:rPr>
              <a:t> </a:t>
            </a:r>
            <a:r>
              <a:rPr sz="1800" dirty="0">
                <a:latin typeface="Times New Roman"/>
                <a:cs typeface="Times New Roman"/>
              </a:rPr>
              <a:t>approach</a:t>
            </a:r>
            <a:r>
              <a:rPr sz="1800" spc="-30" dirty="0">
                <a:latin typeface="Times New Roman"/>
                <a:cs typeface="Times New Roman"/>
              </a:rPr>
              <a:t> </a:t>
            </a:r>
            <a:r>
              <a:rPr sz="1800" dirty="0">
                <a:latin typeface="Times New Roman"/>
                <a:cs typeface="Times New Roman"/>
              </a:rPr>
              <a:t>for</a:t>
            </a:r>
            <a:r>
              <a:rPr sz="1800" spc="-15" dirty="0">
                <a:latin typeface="Times New Roman"/>
                <a:cs typeface="Times New Roman"/>
              </a:rPr>
              <a:t> </a:t>
            </a:r>
            <a:r>
              <a:rPr sz="1800" dirty="0">
                <a:latin typeface="Times New Roman"/>
                <a:cs typeface="Times New Roman"/>
              </a:rPr>
              <a:t>automatic</a:t>
            </a:r>
            <a:r>
              <a:rPr sz="1800" spc="-10" dirty="0">
                <a:latin typeface="Times New Roman"/>
                <a:cs typeface="Times New Roman"/>
              </a:rPr>
              <a:t> </a:t>
            </a:r>
            <a:r>
              <a:rPr sz="1800" dirty="0">
                <a:latin typeface="Times New Roman"/>
                <a:cs typeface="Times New Roman"/>
              </a:rPr>
              <a:t>concrete</a:t>
            </a:r>
            <a:r>
              <a:rPr sz="1800" spc="-20" dirty="0">
                <a:latin typeface="Times New Roman"/>
                <a:cs typeface="Times New Roman"/>
              </a:rPr>
              <a:t> </a:t>
            </a:r>
            <a:r>
              <a:rPr sz="1800" spc="-25" dirty="0">
                <a:latin typeface="Times New Roman"/>
                <a:cs typeface="Times New Roman"/>
              </a:rPr>
              <a:t>dam</a:t>
            </a:r>
            <a:endParaRPr sz="1800">
              <a:latin typeface="Times New Roman"/>
              <a:cs typeface="Times New Roman"/>
            </a:endParaRPr>
          </a:p>
          <a:p>
            <a:pPr marL="12700">
              <a:lnSpc>
                <a:spcPct val="100000"/>
              </a:lnSpc>
            </a:pPr>
            <a:r>
              <a:rPr sz="1800" dirty="0">
                <a:latin typeface="Times New Roman"/>
                <a:cs typeface="Times New Roman"/>
              </a:rPr>
              <a:t>deformation</a:t>
            </a:r>
            <a:r>
              <a:rPr sz="1800" spc="-20" dirty="0">
                <a:latin typeface="Times New Roman"/>
                <a:cs typeface="Times New Roman"/>
              </a:rPr>
              <a:t> </a:t>
            </a:r>
            <a:r>
              <a:rPr sz="1800" dirty="0">
                <a:latin typeface="Times New Roman"/>
                <a:cs typeface="Times New Roman"/>
              </a:rPr>
              <a:t>prediction.</a:t>
            </a:r>
            <a:r>
              <a:rPr sz="1800" spc="-60" dirty="0">
                <a:latin typeface="Times New Roman"/>
                <a:cs typeface="Times New Roman"/>
              </a:rPr>
              <a:t> </a:t>
            </a:r>
            <a:r>
              <a:rPr sz="1800" dirty="0">
                <a:latin typeface="Times New Roman"/>
                <a:cs typeface="Times New Roman"/>
              </a:rPr>
              <a:t>Seasonal</a:t>
            </a:r>
            <a:r>
              <a:rPr sz="1800" spc="-20" dirty="0">
                <a:latin typeface="Times New Roman"/>
                <a:cs typeface="Times New Roman"/>
              </a:rPr>
              <a:t> </a:t>
            </a:r>
            <a:r>
              <a:rPr sz="1800" dirty="0">
                <a:latin typeface="Times New Roman"/>
                <a:cs typeface="Times New Roman"/>
              </a:rPr>
              <a:t>and</a:t>
            </a:r>
            <a:r>
              <a:rPr sz="1800" spc="-35" dirty="0">
                <a:latin typeface="Times New Roman"/>
                <a:cs typeface="Times New Roman"/>
              </a:rPr>
              <a:t> </a:t>
            </a:r>
            <a:r>
              <a:rPr sz="1800" dirty="0">
                <a:latin typeface="Times New Roman"/>
                <a:cs typeface="Times New Roman"/>
              </a:rPr>
              <a:t>trend</a:t>
            </a:r>
            <a:r>
              <a:rPr sz="1800" spc="-35" dirty="0">
                <a:latin typeface="Times New Roman"/>
                <a:cs typeface="Times New Roman"/>
              </a:rPr>
              <a:t> </a:t>
            </a:r>
            <a:r>
              <a:rPr sz="1800" dirty="0">
                <a:latin typeface="Times New Roman"/>
                <a:cs typeface="Times New Roman"/>
              </a:rPr>
              <a:t>decomposition</a:t>
            </a:r>
            <a:r>
              <a:rPr sz="1800" spc="-60" dirty="0">
                <a:latin typeface="Times New Roman"/>
                <a:cs typeface="Times New Roman"/>
              </a:rPr>
              <a:t> </a:t>
            </a:r>
            <a:r>
              <a:rPr sz="1800" dirty="0">
                <a:latin typeface="Times New Roman"/>
                <a:cs typeface="Times New Roman"/>
              </a:rPr>
              <a:t>using</a:t>
            </a:r>
            <a:r>
              <a:rPr sz="1800" spc="-55" dirty="0">
                <a:latin typeface="Times New Roman"/>
                <a:cs typeface="Times New Roman"/>
              </a:rPr>
              <a:t> </a:t>
            </a:r>
            <a:r>
              <a:rPr sz="1800" spc="-10" dirty="0">
                <a:latin typeface="Times New Roman"/>
                <a:cs typeface="Times New Roman"/>
              </a:rPr>
              <a:t>loess</a:t>
            </a:r>
            <a:endParaRPr sz="1800">
              <a:latin typeface="Times New Roman"/>
              <a:cs typeface="Times New Roman"/>
            </a:endParaRPr>
          </a:p>
          <a:p>
            <a:pPr>
              <a:lnSpc>
                <a:spcPct val="100000"/>
              </a:lnSpc>
              <a:spcBef>
                <a:spcPts val="95"/>
              </a:spcBef>
            </a:pPr>
            <a:endParaRPr sz="1800">
              <a:latin typeface="Times New Roman"/>
              <a:cs typeface="Times New Roman"/>
            </a:endParaRPr>
          </a:p>
          <a:p>
            <a:pPr marL="12700">
              <a:lnSpc>
                <a:spcPct val="100000"/>
              </a:lnSpc>
            </a:pPr>
            <a:r>
              <a:rPr sz="1800" dirty="0">
                <a:latin typeface="Times New Roman"/>
                <a:cs typeface="Times New Roman"/>
              </a:rPr>
              <a:t>Parameter</a:t>
            </a:r>
            <a:r>
              <a:rPr sz="1800" spc="-35" dirty="0">
                <a:latin typeface="Times New Roman"/>
                <a:cs typeface="Times New Roman"/>
              </a:rPr>
              <a:t> </a:t>
            </a:r>
            <a:r>
              <a:rPr sz="1800" dirty="0">
                <a:latin typeface="Times New Roman"/>
                <a:cs typeface="Times New Roman"/>
              </a:rPr>
              <a:t>used</a:t>
            </a:r>
            <a:r>
              <a:rPr sz="1800" spc="-55" dirty="0">
                <a:latin typeface="Times New Roman"/>
                <a:cs typeface="Times New Roman"/>
              </a:rPr>
              <a:t> </a:t>
            </a:r>
            <a:r>
              <a:rPr sz="1800" dirty="0">
                <a:latin typeface="Times New Roman"/>
                <a:cs typeface="Times New Roman"/>
              </a:rPr>
              <a:t>:</a:t>
            </a:r>
            <a:r>
              <a:rPr sz="1800" spc="-45" dirty="0">
                <a:latin typeface="Times New Roman"/>
                <a:cs typeface="Times New Roman"/>
              </a:rPr>
              <a:t> </a:t>
            </a:r>
            <a:r>
              <a:rPr sz="1800" dirty="0">
                <a:latin typeface="Times New Roman"/>
                <a:cs typeface="Times New Roman"/>
              </a:rPr>
              <a:t>Environmental</a:t>
            </a:r>
            <a:r>
              <a:rPr sz="1800" spc="-60" dirty="0">
                <a:latin typeface="Times New Roman"/>
                <a:cs typeface="Times New Roman"/>
              </a:rPr>
              <a:t> </a:t>
            </a:r>
            <a:r>
              <a:rPr sz="1800" dirty="0">
                <a:latin typeface="Times New Roman"/>
                <a:cs typeface="Times New Roman"/>
              </a:rPr>
              <a:t>factors,</a:t>
            </a:r>
            <a:r>
              <a:rPr sz="1800" spc="-25" dirty="0">
                <a:latin typeface="Times New Roman"/>
                <a:cs typeface="Times New Roman"/>
              </a:rPr>
              <a:t> </a:t>
            </a:r>
            <a:r>
              <a:rPr sz="1800" dirty="0">
                <a:latin typeface="Times New Roman"/>
                <a:cs typeface="Times New Roman"/>
              </a:rPr>
              <a:t>Periodic</a:t>
            </a:r>
            <a:r>
              <a:rPr sz="1800" spc="-85" dirty="0">
                <a:latin typeface="Times New Roman"/>
                <a:cs typeface="Times New Roman"/>
              </a:rPr>
              <a:t> </a:t>
            </a:r>
            <a:r>
              <a:rPr sz="1800" spc="-10" dirty="0">
                <a:latin typeface="Times New Roman"/>
                <a:cs typeface="Times New Roman"/>
              </a:rPr>
              <a:t>Components.</a:t>
            </a:r>
            <a:endParaRPr sz="1800">
              <a:latin typeface="Times New Roman"/>
              <a:cs typeface="Times New Roman"/>
            </a:endParaRPr>
          </a:p>
          <a:p>
            <a:pPr>
              <a:lnSpc>
                <a:spcPct val="100000"/>
              </a:lnSpc>
              <a:spcBef>
                <a:spcPts val="90"/>
              </a:spcBef>
            </a:pPr>
            <a:endParaRPr sz="1800">
              <a:latin typeface="Times New Roman"/>
              <a:cs typeface="Times New Roman"/>
            </a:endParaRPr>
          </a:p>
          <a:p>
            <a:pPr marL="12700">
              <a:lnSpc>
                <a:spcPct val="100000"/>
              </a:lnSpc>
            </a:pPr>
            <a:r>
              <a:rPr sz="1800" dirty="0">
                <a:latin typeface="Times New Roman"/>
                <a:cs typeface="Times New Roman"/>
              </a:rPr>
              <a:t>Advantage</a:t>
            </a:r>
            <a:r>
              <a:rPr sz="1800" spc="-5" dirty="0">
                <a:latin typeface="Times New Roman"/>
                <a:cs typeface="Times New Roman"/>
              </a:rPr>
              <a:t> </a:t>
            </a:r>
            <a:r>
              <a:rPr sz="1800" dirty="0">
                <a:latin typeface="Times New Roman"/>
                <a:cs typeface="Times New Roman"/>
              </a:rPr>
              <a:t>:</a:t>
            </a:r>
            <a:r>
              <a:rPr sz="1800" spc="-55" dirty="0">
                <a:latin typeface="Times New Roman"/>
                <a:cs typeface="Times New Roman"/>
              </a:rPr>
              <a:t> </a:t>
            </a:r>
            <a:r>
              <a:rPr sz="1800" dirty="0">
                <a:latin typeface="Times New Roman"/>
                <a:cs typeface="Times New Roman"/>
              </a:rPr>
              <a:t>High</a:t>
            </a:r>
            <a:r>
              <a:rPr sz="1800" spc="-35" dirty="0">
                <a:latin typeface="Times New Roman"/>
                <a:cs typeface="Times New Roman"/>
              </a:rPr>
              <a:t> </a:t>
            </a:r>
            <a:r>
              <a:rPr sz="1800" dirty="0">
                <a:latin typeface="Times New Roman"/>
                <a:cs typeface="Times New Roman"/>
              </a:rPr>
              <a:t>prediction</a:t>
            </a:r>
            <a:r>
              <a:rPr sz="1800" spc="-70" dirty="0">
                <a:latin typeface="Times New Roman"/>
                <a:cs typeface="Times New Roman"/>
              </a:rPr>
              <a:t> </a:t>
            </a:r>
            <a:r>
              <a:rPr sz="1800" dirty="0">
                <a:latin typeface="Times New Roman"/>
                <a:cs typeface="Times New Roman"/>
              </a:rPr>
              <a:t>accuracy,</a:t>
            </a:r>
            <a:r>
              <a:rPr sz="1800" spc="15" dirty="0">
                <a:latin typeface="Times New Roman"/>
                <a:cs typeface="Times New Roman"/>
              </a:rPr>
              <a:t> </a:t>
            </a:r>
            <a:r>
              <a:rPr sz="1800" dirty="0">
                <a:latin typeface="Times New Roman"/>
                <a:cs typeface="Times New Roman"/>
              </a:rPr>
              <a:t>Automated</a:t>
            </a:r>
            <a:r>
              <a:rPr sz="1800" spc="-10" dirty="0">
                <a:latin typeface="Times New Roman"/>
                <a:cs typeface="Times New Roman"/>
              </a:rPr>
              <a:t> </a:t>
            </a:r>
            <a:r>
              <a:rPr sz="1800" dirty="0">
                <a:latin typeface="Times New Roman"/>
                <a:cs typeface="Times New Roman"/>
              </a:rPr>
              <a:t>data</a:t>
            </a:r>
            <a:r>
              <a:rPr sz="1800" spc="-35" dirty="0">
                <a:latin typeface="Times New Roman"/>
                <a:cs typeface="Times New Roman"/>
              </a:rPr>
              <a:t> </a:t>
            </a:r>
            <a:r>
              <a:rPr sz="1800" dirty="0">
                <a:latin typeface="Times New Roman"/>
                <a:cs typeface="Times New Roman"/>
              </a:rPr>
              <a:t>decomposition,</a:t>
            </a:r>
            <a:r>
              <a:rPr sz="1800" spc="-75" dirty="0">
                <a:latin typeface="Times New Roman"/>
                <a:cs typeface="Times New Roman"/>
              </a:rPr>
              <a:t> </a:t>
            </a:r>
            <a:r>
              <a:rPr sz="1800" dirty="0">
                <a:latin typeface="Times New Roman"/>
                <a:cs typeface="Times New Roman"/>
              </a:rPr>
              <a:t>Real</a:t>
            </a:r>
            <a:r>
              <a:rPr sz="1800" spc="-30" dirty="0">
                <a:latin typeface="Times New Roman"/>
                <a:cs typeface="Times New Roman"/>
              </a:rPr>
              <a:t> </a:t>
            </a:r>
            <a:r>
              <a:rPr sz="1800" spc="-10" dirty="0">
                <a:latin typeface="Times New Roman"/>
                <a:cs typeface="Times New Roman"/>
              </a:rPr>
              <a:t>world</a:t>
            </a:r>
            <a:endParaRPr sz="1800">
              <a:latin typeface="Times New Roman"/>
              <a:cs typeface="Times New Roman"/>
            </a:endParaRPr>
          </a:p>
          <a:p>
            <a:pPr marL="12700">
              <a:lnSpc>
                <a:spcPct val="100000"/>
              </a:lnSpc>
            </a:pPr>
            <a:r>
              <a:rPr sz="1800" spc="-10" dirty="0">
                <a:latin typeface="Times New Roman"/>
                <a:cs typeface="Times New Roman"/>
              </a:rPr>
              <a:t>validation.</a:t>
            </a:r>
            <a:endParaRPr sz="1800">
              <a:latin typeface="Times New Roman"/>
              <a:cs typeface="Times New Roman"/>
            </a:endParaRPr>
          </a:p>
          <a:p>
            <a:pPr>
              <a:lnSpc>
                <a:spcPct val="100000"/>
              </a:lnSpc>
              <a:spcBef>
                <a:spcPts val="70"/>
              </a:spcBef>
            </a:pPr>
            <a:endParaRPr sz="1800">
              <a:latin typeface="Times New Roman"/>
              <a:cs typeface="Times New Roman"/>
            </a:endParaRPr>
          </a:p>
          <a:p>
            <a:pPr marL="12700" marR="902969">
              <a:lnSpc>
                <a:spcPct val="101099"/>
              </a:lnSpc>
            </a:pPr>
            <a:r>
              <a:rPr sz="1800" dirty="0">
                <a:latin typeface="Times New Roman"/>
                <a:cs typeface="Times New Roman"/>
              </a:rPr>
              <a:t>Limitation</a:t>
            </a:r>
            <a:r>
              <a:rPr sz="1800" spc="-40" dirty="0">
                <a:latin typeface="Times New Roman"/>
                <a:cs typeface="Times New Roman"/>
              </a:rPr>
              <a:t> </a:t>
            </a:r>
            <a:r>
              <a:rPr sz="1800" dirty="0">
                <a:latin typeface="Times New Roman"/>
                <a:cs typeface="Times New Roman"/>
              </a:rPr>
              <a:t>:</a:t>
            </a:r>
            <a:r>
              <a:rPr sz="1800" spc="-45" dirty="0">
                <a:latin typeface="Times New Roman"/>
                <a:cs typeface="Times New Roman"/>
              </a:rPr>
              <a:t> </a:t>
            </a:r>
            <a:r>
              <a:rPr sz="1800" dirty="0">
                <a:latin typeface="Times New Roman"/>
                <a:cs typeface="Times New Roman"/>
              </a:rPr>
              <a:t>Potential</a:t>
            </a:r>
            <a:r>
              <a:rPr sz="1800" spc="-105" dirty="0">
                <a:latin typeface="Times New Roman"/>
                <a:cs typeface="Times New Roman"/>
              </a:rPr>
              <a:t> </a:t>
            </a:r>
            <a:r>
              <a:rPr sz="1800" dirty="0">
                <a:latin typeface="Times New Roman"/>
                <a:cs typeface="Times New Roman"/>
              </a:rPr>
              <a:t>Overfitting,</a:t>
            </a:r>
            <a:r>
              <a:rPr sz="1800" spc="-20" dirty="0">
                <a:latin typeface="Times New Roman"/>
                <a:cs typeface="Times New Roman"/>
              </a:rPr>
              <a:t> </a:t>
            </a:r>
            <a:r>
              <a:rPr sz="1800" dirty="0">
                <a:latin typeface="Times New Roman"/>
                <a:cs typeface="Times New Roman"/>
              </a:rPr>
              <a:t>Limited</a:t>
            </a:r>
            <a:r>
              <a:rPr sz="1800" spc="10" dirty="0">
                <a:latin typeface="Times New Roman"/>
                <a:cs typeface="Times New Roman"/>
              </a:rPr>
              <a:t> </a:t>
            </a:r>
            <a:r>
              <a:rPr sz="1800" dirty="0">
                <a:latin typeface="Times New Roman"/>
                <a:cs typeface="Times New Roman"/>
              </a:rPr>
              <a:t>Generalizability,</a:t>
            </a:r>
            <a:r>
              <a:rPr sz="1800" spc="-20" dirty="0">
                <a:latin typeface="Times New Roman"/>
                <a:cs typeface="Times New Roman"/>
              </a:rPr>
              <a:t> </a:t>
            </a:r>
            <a:r>
              <a:rPr sz="1800" dirty="0">
                <a:latin typeface="Times New Roman"/>
                <a:cs typeface="Times New Roman"/>
              </a:rPr>
              <a:t>difficulty</a:t>
            </a:r>
            <a:r>
              <a:rPr sz="1800" spc="-35" dirty="0">
                <a:latin typeface="Times New Roman"/>
                <a:cs typeface="Times New Roman"/>
              </a:rPr>
              <a:t> </a:t>
            </a:r>
            <a:r>
              <a:rPr sz="1800" dirty="0">
                <a:latin typeface="Times New Roman"/>
                <a:cs typeface="Times New Roman"/>
              </a:rPr>
              <a:t>in</a:t>
            </a:r>
            <a:r>
              <a:rPr sz="1800" spc="-50" dirty="0">
                <a:latin typeface="Times New Roman"/>
                <a:cs typeface="Times New Roman"/>
              </a:rPr>
              <a:t> </a:t>
            </a:r>
            <a:r>
              <a:rPr sz="1800" dirty="0">
                <a:latin typeface="Times New Roman"/>
                <a:cs typeface="Times New Roman"/>
              </a:rPr>
              <a:t>real</a:t>
            </a:r>
            <a:r>
              <a:rPr sz="1800" spc="-20" dirty="0">
                <a:latin typeface="Times New Roman"/>
                <a:cs typeface="Times New Roman"/>
              </a:rPr>
              <a:t> time </a:t>
            </a:r>
            <a:r>
              <a:rPr sz="1800" spc="-10" dirty="0">
                <a:latin typeface="Times New Roman"/>
                <a:cs typeface="Times New Roman"/>
              </a:rPr>
              <a:t>implementation.</a:t>
            </a:r>
            <a:endParaRPr sz="1800">
              <a:latin typeface="Times New Roman"/>
              <a:cs typeface="Times New Roman"/>
            </a:endParaRPr>
          </a:p>
        </p:txBody>
      </p:sp>
      <p:sp>
        <p:nvSpPr>
          <p:cNvPr id="7" name="object 7"/>
          <p:cNvSpPr txBox="1"/>
          <p:nvPr/>
        </p:nvSpPr>
        <p:spPr>
          <a:xfrm>
            <a:off x="3999738" y="6454546"/>
            <a:ext cx="1147445" cy="164465"/>
          </a:xfrm>
          <a:prstGeom prst="rect">
            <a:avLst/>
          </a:prstGeom>
        </p:spPr>
        <p:txBody>
          <a:bodyPr vert="horz" wrap="square" lIns="0" tIns="13970" rIns="0" bIns="0" rtlCol="0">
            <a:spAutoFit/>
          </a:bodyPr>
          <a:lstStyle/>
          <a:p>
            <a:pPr marL="12700">
              <a:lnSpc>
                <a:spcPct val="100000"/>
              </a:lnSpc>
              <a:spcBef>
                <a:spcPts val="110"/>
              </a:spcBef>
            </a:pPr>
            <a:r>
              <a:rPr sz="900" dirty="0">
                <a:solidFill>
                  <a:srgbClr val="888888"/>
                </a:solidFill>
                <a:latin typeface="Arial MT"/>
                <a:cs typeface="Arial MT"/>
              </a:rPr>
              <a:t>Dept.</a:t>
            </a:r>
            <a:r>
              <a:rPr sz="900" spc="-10" dirty="0">
                <a:solidFill>
                  <a:srgbClr val="888888"/>
                </a:solidFill>
                <a:latin typeface="Arial MT"/>
                <a:cs typeface="Arial MT"/>
              </a:rPr>
              <a:t> </a:t>
            </a:r>
            <a:r>
              <a:rPr sz="900" dirty="0">
                <a:solidFill>
                  <a:srgbClr val="888888"/>
                </a:solidFill>
                <a:latin typeface="Arial MT"/>
                <a:cs typeface="Arial MT"/>
              </a:rPr>
              <a:t>of</a:t>
            </a:r>
            <a:r>
              <a:rPr sz="900" spc="-5" dirty="0">
                <a:solidFill>
                  <a:srgbClr val="888888"/>
                </a:solidFill>
                <a:latin typeface="Arial MT"/>
                <a:cs typeface="Arial MT"/>
              </a:rPr>
              <a:t> </a:t>
            </a:r>
            <a:r>
              <a:rPr sz="900" dirty="0">
                <a:solidFill>
                  <a:srgbClr val="888888"/>
                </a:solidFill>
                <a:latin typeface="Arial MT"/>
                <a:cs typeface="Arial MT"/>
              </a:rPr>
              <a:t>ECE</a:t>
            </a:r>
            <a:r>
              <a:rPr sz="900" spc="-20" dirty="0">
                <a:solidFill>
                  <a:srgbClr val="888888"/>
                </a:solidFill>
                <a:latin typeface="Arial MT"/>
                <a:cs typeface="Arial MT"/>
              </a:rPr>
              <a:t> </a:t>
            </a:r>
            <a:r>
              <a:rPr sz="900" dirty="0">
                <a:solidFill>
                  <a:srgbClr val="888888"/>
                </a:solidFill>
                <a:latin typeface="Arial MT"/>
                <a:cs typeface="Arial MT"/>
              </a:rPr>
              <a:t>2025-</a:t>
            </a:r>
            <a:r>
              <a:rPr sz="900" spc="-25" dirty="0">
                <a:solidFill>
                  <a:srgbClr val="888888"/>
                </a:solidFill>
                <a:latin typeface="Arial MT"/>
                <a:cs typeface="Arial MT"/>
              </a:rPr>
              <a:t>26</a:t>
            </a:r>
            <a:endParaRPr sz="900">
              <a:latin typeface="Arial MT"/>
              <a:cs typeface="Arial M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33094" y="175971"/>
            <a:ext cx="6842125" cy="406400"/>
          </a:xfrm>
          <a:prstGeom prst="rect">
            <a:avLst/>
          </a:prstGeom>
        </p:spPr>
        <p:txBody>
          <a:bodyPr vert="horz" wrap="square" lIns="0" tIns="12065" rIns="0" bIns="0" rtlCol="0">
            <a:spAutoFit/>
          </a:bodyPr>
          <a:lstStyle/>
          <a:p>
            <a:pPr marL="12700">
              <a:lnSpc>
                <a:spcPct val="100000"/>
              </a:lnSpc>
              <a:spcBef>
                <a:spcPts val="95"/>
              </a:spcBef>
            </a:pPr>
            <a:r>
              <a:rPr sz="2500" spc="-10" dirty="0"/>
              <a:t>LITERATURE</a:t>
            </a:r>
            <a:r>
              <a:rPr sz="2500" spc="-70" dirty="0"/>
              <a:t> </a:t>
            </a:r>
            <a:r>
              <a:rPr sz="2500" spc="-10" dirty="0"/>
              <a:t>SURVEY</a:t>
            </a:r>
            <a:r>
              <a:rPr sz="2500" spc="-145" dirty="0"/>
              <a:t> </a:t>
            </a:r>
            <a:r>
              <a:rPr sz="2500" spc="-25" dirty="0"/>
              <a:t>COMPARISON</a:t>
            </a:r>
            <a:r>
              <a:rPr sz="2500" spc="-110" dirty="0"/>
              <a:t> </a:t>
            </a:r>
            <a:r>
              <a:rPr sz="2500" spc="-10" dirty="0"/>
              <a:t>TABLE</a:t>
            </a:r>
            <a:endParaRPr sz="2500"/>
          </a:p>
        </p:txBody>
      </p:sp>
      <p:graphicFrame>
        <p:nvGraphicFramePr>
          <p:cNvPr id="3" name="object 3"/>
          <p:cNvGraphicFramePr>
            <a:graphicFrameLocks noGrp="1"/>
          </p:cNvGraphicFramePr>
          <p:nvPr/>
        </p:nvGraphicFramePr>
        <p:xfrm>
          <a:off x="202907" y="1025652"/>
          <a:ext cx="8799192" cy="5775325"/>
        </p:xfrm>
        <a:graphic>
          <a:graphicData uri="http://schemas.openxmlformats.org/drawingml/2006/table">
            <a:tbl>
              <a:tblPr firstRow="1" bandRow="1">
                <a:tableStyleId>{2D5ABB26-0587-4C30-8999-92F81FD0307C}</a:tableStyleId>
              </a:tblPr>
              <a:tblGrid>
                <a:gridCol w="1990089">
                  <a:extLst>
                    <a:ext uri="{9D8B030D-6E8A-4147-A177-3AD203B41FA5}">
                      <a16:colId xmlns:a16="http://schemas.microsoft.com/office/drawing/2014/main" val="20000"/>
                    </a:ext>
                  </a:extLst>
                </a:gridCol>
                <a:gridCol w="1910079">
                  <a:extLst>
                    <a:ext uri="{9D8B030D-6E8A-4147-A177-3AD203B41FA5}">
                      <a16:colId xmlns:a16="http://schemas.microsoft.com/office/drawing/2014/main" val="20001"/>
                    </a:ext>
                  </a:extLst>
                </a:gridCol>
                <a:gridCol w="1479550">
                  <a:extLst>
                    <a:ext uri="{9D8B030D-6E8A-4147-A177-3AD203B41FA5}">
                      <a16:colId xmlns:a16="http://schemas.microsoft.com/office/drawing/2014/main" val="20002"/>
                    </a:ext>
                  </a:extLst>
                </a:gridCol>
                <a:gridCol w="1532890">
                  <a:extLst>
                    <a:ext uri="{9D8B030D-6E8A-4147-A177-3AD203B41FA5}">
                      <a16:colId xmlns:a16="http://schemas.microsoft.com/office/drawing/2014/main" val="20003"/>
                    </a:ext>
                  </a:extLst>
                </a:gridCol>
                <a:gridCol w="1886584">
                  <a:extLst>
                    <a:ext uri="{9D8B030D-6E8A-4147-A177-3AD203B41FA5}">
                      <a16:colId xmlns:a16="http://schemas.microsoft.com/office/drawing/2014/main" val="20004"/>
                    </a:ext>
                  </a:extLst>
                </a:gridCol>
              </a:tblGrid>
              <a:tr h="1065530">
                <a:tc>
                  <a:txBody>
                    <a:bodyPr/>
                    <a:lstStyle/>
                    <a:p>
                      <a:pPr>
                        <a:lnSpc>
                          <a:spcPct val="100000"/>
                        </a:lnSpc>
                        <a:spcBef>
                          <a:spcPts val="380"/>
                        </a:spcBef>
                      </a:pPr>
                      <a:endParaRPr sz="1600">
                        <a:latin typeface="Times New Roman"/>
                        <a:cs typeface="Times New Roman"/>
                      </a:endParaRPr>
                    </a:p>
                    <a:p>
                      <a:pPr marL="326390">
                        <a:lnSpc>
                          <a:spcPct val="100000"/>
                        </a:lnSpc>
                      </a:pPr>
                      <a:r>
                        <a:rPr sz="1600" b="1" spc="-30" dirty="0">
                          <a:latin typeface="Times New Roman"/>
                          <a:cs typeface="Times New Roman"/>
                        </a:rPr>
                        <a:t>PAPER</a:t>
                      </a:r>
                      <a:r>
                        <a:rPr sz="1600" b="1" spc="-50" dirty="0">
                          <a:latin typeface="Times New Roman"/>
                          <a:cs typeface="Times New Roman"/>
                        </a:rPr>
                        <a:t> </a:t>
                      </a:r>
                      <a:r>
                        <a:rPr sz="1600" b="1" spc="-20" dirty="0">
                          <a:latin typeface="Times New Roman"/>
                          <a:cs typeface="Times New Roman"/>
                        </a:rPr>
                        <a:t>TITLE</a:t>
                      </a:r>
                      <a:endParaRPr sz="1600">
                        <a:latin typeface="Times New Roman"/>
                        <a:cs typeface="Times New Roman"/>
                      </a:endParaRPr>
                    </a:p>
                  </a:txBody>
                  <a:tcPr marL="0" marR="0" marT="482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67310">
                        <a:lnSpc>
                          <a:spcPct val="100000"/>
                        </a:lnSpc>
                        <a:spcBef>
                          <a:spcPts val="380"/>
                        </a:spcBef>
                      </a:pPr>
                      <a:endParaRPr sz="1600">
                        <a:latin typeface="Times New Roman"/>
                        <a:cs typeface="Times New Roman"/>
                      </a:endParaRPr>
                    </a:p>
                    <a:p>
                      <a:pPr marL="415925" marR="67310">
                        <a:lnSpc>
                          <a:spcPct val="100000"/>
                        </a:lnSpc>
                      </a:pPr>
                      <a:r>
                        <a:rPr sz="1600" b="1" spc="-10" dirty="0">
                          <a:latin typeface="Times New Roman"/>
                          <a:cs typeface="Times New Roman"/>
                        </a:rPr>
                        <a:t>AUTHORS</a:t>
                      </a:r>
                      <a:endParaRPr sz="1600">
                        <a:latin typeface="Times New Roman"/>
                        <a:cs typeface="Times New Roman"/>
                      </a:endParaRPr>
                    </a:p>
                  </a:txBody>
                  <a:tcPr marL="0" marR="0" marT="482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380"/>
                        </a:spcBef>
                      </a:pPr>
                      <a:endParaRPr sz="1600">
                        <a:latin typeface="Times New Roman"/>
                        <a:cs typeface="Times New Roman"/>
                      </a:endParaRPr>
                    </a:p>
                    <a:p>
                      <a:pPr marL="184785">
                        <a:lnSpc>
                          <a:spcPct val="100000"/>
                        </a:lnSpc>
                      </a:pPr>
                      <a:r>
                        <a:rPr sz="1600" b="1" spc="-10" dirty="0">
                          <a:latin typeface="Times New Roman"/>
                          <a:cs typeface="Times New Roman"/>
                        </a:rPr>
                        <a:t>PROPOSED</a:t>
                      </a:r>
                      <a:endParaRPr sz="1600">
                        <a:latin typeface="Times New Roman"/>
                        <a:cs typeface="Times New Roman"/>
                      </a:endParaRPr>
                    </a:p>
                    <a:p>
                      <a:pPr marL="276225">
                        <a:lnSpc>
                          <a:spcPct val="100000"/>
                        </a:lnSpc>
                      </a:pPr>
                      <a:r>
                        <a:rPr sz="1600" b="1" spc="-10" dirty="0">
                          <a:latin typeface="Times New Roman"/>
                          <a:cs typeface="Times New Roman"/>
                        </a:rPr>
                        <a:t>METHOD</a:t>
                      </a:r>
                      <a:endParaRPr sz="1600">
                        <a:latin typeface="Times New Roman"/>
                        <a:cs typeface="Times New Roman"/>
                      </a:endParaRPr>
                    </a:p>
                  </a:txBody>
                  <a:tcPr marL="0" marR="0" marT="482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380"/>
                        </a:spcBef>
                      </a:pPr>
                      <a:endParaRPr sz="1600">
                        <a:latin typeface="Times New Roman"/>
                        <a:cs typeface="Times New Roman"/>
                      </a:endParaRPr>
                    </a:p>
                    <a:p>
                      <a:pPr marL="635" algn="ctr">
                        <a:lnSpc>
                          <a:spcPts val="1910"/>
                        </a:lnSpc>
                      </a:pPr>
                      <a:r>
                        <a:rPr sz="1600" b="1" spc="-10" dirty="0">
                          <a:latin typeface="Times New Roman"/>
                          <a:cs typeface="Times New Roman"/>
                        </a:rPr>
                        <a:t>ADVANTAGE</a:t>
                      </a:r>
                      <a:endParaRPr sz="1600">
                        <a:latin typeface="Times New Roman"/>
                        <a:cs typeface="Times New Roman"/>
                      </a:endParaRPr>
                    </a:p>
                    <a:p>
                      <a:pPr marL="5715" algn="ctr">
                        <a:lnSpc>
                          <a:spcPts val="1910"/>
                        </a:lnSpc>
                      </a:pPr>
                      <a:r>
                        <a:rPr sz="1600" b="1" spc="-50" dirty="0">
                          <a:latin typeface="Times New Roman"/>
                          <a:cs typeface="Times New Roman"/>
                        </a:rPr>
                        <a:t>S</a:t>
                      </a:r>
                      <a:endParaRPr sz="1600">
                        <a:latin typeface="Times New Roman"/>
                        <a:cs typeface="Times New Roman"/>
                      </a:endParaRPr>
                    </a:p>
                  </a:txBody>
                  <a:tcPr marL="0" marR="0" marT="482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380"/>
                        </a:spcBef>
                      </a:pPr>
                      <a:endParaRPr sz="1600">
                        <a:latin typeface="Times New Roman"/>
                        <a:cs typeface="Times New Roman"/>
                      </a:endParaRPr>
                    </a:p>
                    <a:p>
                      <a:pPr marL="4445" algn="ctr">
                        <a:lnSpc>
                          <a:spcPct val="100000"/>
                        </a:lnSpc>
                      </a:pPr>
                      <a:r>
                        <a:rPr sz="1600" b="1" spc="-10" dirty="0">
                          <a:latin typeface="Times New Roman"/>
                          <a:cs typeface="Times New Roman"/>
                        </a:rPr>
                        <a:t>DISADVANTAGE</a:t>
                      </a:r>
                      <a:endParaRPr sz="1600">
                        <a:latin typeface="Times New Roman"/>
                        <a:cs typeface="Times New Roman"/>
                      </a:endParaRPr>
                    </a:p>
                    <a:p>
                      <a:pPr marL="6350" algn="ctr">
                        <a:lnSpc>
                          <a:spcPct val="100000"/>
                        </a:lnSpc>
                      </a:pPr>
                      <a:r>
                        <a:rPr sz="1600" b="1" spc="-50" dirty="0">
                          <a:latin typeface="Times New Roman"/>
                          <a:cs typeface="Times New Roman"/>
                        </a:rPr>
                        <a:t>S</a:t>
                      </a:r>
                      <a:endParaRPr sz="1600">
                        <a:latin typeface="Times New Roman"/>
                        <a:cs typeface="Times New Roman"/>
                      </a:endParaRPr>
                    </a:p>
                  </a:txBody>
                  <a:tcPr marL="0" marR="0" marT="482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1677670">
                <a:tc>
                  <a:txBody>
                    <a:bodyPr/>
                    <a:lstStyle/>
                    <a:p>
                      <a:pPr marL="91440" marR="102235">
                        <a:lnSpc>
                          <a:spcPct val="100000"/>
                        </a:lnSpc>
                        <a:spcBef>
                          <a:spcPts val="305"/>
                        </a:spcBef>
                      </a:pPr>
                      <a:r>
                        <a:rPr sz="1600" dirty="0">
                          <a:latin typeface="Times New Roman"/>
                          <a:cs typeface="Times New Roman"/>
                        </a:rPr>
                        <a:t>A</a:t>
                      </a:r>
                      <a:r>
                        <a:rPr sz="1600" spc="-100" dirty="0">
                          <a:latin typeface="Times New Roman"/>
                          <a:cs typeface="Times New Roman"/>
                        </a:rPr>
                        <a:t> </a:t>
                      </a:r>
                      <a:r>
                        <a:rPr sz="1600" dirty="0">
                          <a:latin typeface="Times New Roman"/>
                          <a:cs typeface="Times New Roman"/>
                        </a:rPr>
                        <a:t>review</a:t>
                      </a:r>
                      <a:r>
                        <a:rPr sz="1600" spc="-40" dirty="0">
                          <a:latin typeface="Times New Roman"/>
                          <a:cs typeface="Times New Roman"/>
                        </a:rPr>
                        <a:t> </a:t>
                      </a:r>
                      <a:r>
                        <a:rPr sz="1600" dirty="0">
                          <a:latin typeface="Times New Roman"/>
                          <a:cs typeface="Times New Roman"/>
                        </a:rPr>
                        <a:t>of</a:t>
                      </a:r>
                      <a:r>
                        <a:rPr sz="1600" spc="-15" dirty="0">
                          <a:latin typeface="Times New Roman"/>
                          <a:cs typeface="Times New Roman"/>
                        </a:rPr>
                        <a:t> </a:t>
                      </a:r>
                      <a:r>
                        <a:rPr sz="1600" spc="-10" dirty="0">
                          <a:latin typeface="Times New Roman"/>
                          <a:cs typeface="Times New Roman"/>
                        </a:rPr>
                        <a:t>detection </a:t>
                      </a:r>
                      <a:r>
                        <a:rPr sz="1600" dirty="0">
                          <a:latin typeface="Times New Roman"/>
                          <a:cs typeface="Times New Roman"/>
                        </a:rPr>
                        <a:t>technologies</a:t>
                      </a:r>
                      <a:r>
                        <a:rPr sz="1600" spc="-70" dirty="0">
                          <a:latin typeface="Times New Roman"/>
                          <a:cs typeface="Times New Roman"/>
                        </a:rPr>
                        <a:t> </a:t>
                      </a:r>
                      <a:r>
                        <a:rPr sz="1600" spc="-25" dirty="0">
                          <a:latin typeface="Times New Roman"/>
                          <a:cs typeface="Times New Roman"/>
                        </a:rPr>
                        <a:t>for</a:t>
                      </a:r>
                      <a:r>
                        <a:rPr sz="1600" spc="500" dirty="0">
                          <a:latin typeface="Times New Roman"/>
                          <a:cs typeface="Times New Roman"/>
                        </a:rPr>
                        <a:t> </a:t>
                      </a:r>
                      <a:r>
                        <a:rPr sz="1600" dirty="0">
                          <a:latin typeface="Times New Roman"/>
                          <a:cs typeface="Times New Roman"/>
                        </a:rPr>
                        <a:t>under</a:t>
                      </a:r>
                      <a:r>
                        <a:rPr sz="1600" spc="-50" dirty="0">
                          <a:latin typeface="Times New Roman"/>
                          <a:cs typeface="Times New Roman"/>
                        </a:rPr>
                        <a:t> </a:t>
                      </a:r>
                      <a:r>
                        <a:rPr sz="1600" dirty="0">
                          <a:latin typeface="Times New Roman"/>
                          <a:cs typeface="Times New Roman"/>
                        </a:rPr>
                        <a:t>water</a:t>
                      </a:r>
                      <a:r>
                        <a:rPr sz="1600" spc="-10" dirty="0">
                          <a:latin typeface="Times New Roman"/>
                          <a:cs typeface="Times New Roman"/>
                        </a:rPr>
                        <a:t> </a:t>
                      </a:r>
                      <a:r>
                        <a:rPr sz="1600" dirty="0">
                          <a:latin typeface="Times New Roman"/>
                          <a:cs typeface="Times New Roman"/>
                        </a:rPr>
                        <a:t>cracks</a:t>
                      </a:r>
                      <a:r>
                        <a:rPr sz="1600" spc="-65" dirty="0">
                          <a:latin typeface="Times New Roman"/>
                          <a:cs typeface="Times New Roman"/>
                        </a:rPr>
                        <a:t> </a:t>
                      </a:r>
                      <a:r>
                        <a:rPr sz="1600" spc="-25" dirty="0">
                          <a:latin typeface="Times New Roman"/>
                          <a:cs typeface="Times New Roman"/>
                        </a:rPr>
                        <a:t>on </a:t>
                      </a:r>
                      <a:r>
                        <a:rPr sz="1600" dirty="0">
                          <a:latin typeface="Times New Roman"/>
                          <a:cs typeface="Times New Roman"/>
                        </a:rPr>
                        <a:t>concrete</a:t>
                      </a:r>
                      <a:r>
                        <a:rPr sz="1600" spc="-40" dirty="0">
                          <a:latin typeface="Times New Roman"/>
                          <a:cs typeface="Times New Roman"/>
                        </a:rPr>
                        <a:t> </a:t>
                      </a:r>
                      <a:r>
                        <a:rPr sz="1600" dirty="0">
                          <a:latin typeface="Times New Roman"/>
                          <a:cs typeface="Times New Roman"/>
                        </a:rPr>
                        <a:t>dam</a:t>
                      </a:r>
                      <a:r>
                        <a:rPr sz="1600" spc="-35" dirty="0">
                          <a:latin typeface="Times New Roman"/>
                          <a:cs typeface="Times New Roman"/>
                        </a:rPr>
                        <a:t> </a:t>
                      </a:r>
                      <a:r>
                        <a:rPr sz="1600" spc="-10" dirty="0">
                          <a:latin typeface="Times New Roman"/>
                          <a:cs typeface="Times New Roman"/>
                        </a:rPr>
                        <a:t>surface</a:t>
                      </a:r>
                      <a:endParaRPr sz="160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marR="450850">
                        <a:lnSpc>
                          <a:spcPct val="100000"/>
                        </a:lnSpc>
                        <a:spcBef>
                          <a:spcPts val="305"/>
                        </a:spcBef>
                      </a:pPr>
                      <a:r>
                        <a:rPr sz="1600" dirty="0">
                          <a:latin typeface="Times New Roman"/>
                          <a:cs typeface="Times New Roman"/>
                        </a:rPr>
                        <a:t>Dong</a:t>
                      </a:r>
                      <a:r>
                        <a:rPr sz="1600" spc="-20" dirty="0">
                          <a:latin typeface="Times New Roman"/>
                          <a:cs typeface="Times New Roman"/>
                        </a:rPr>
                        <a:t> </a:t>
                      </a:r>
                      <a:r>
                        <a:rPr sz="1600" spc="-10" dirty="0">
                          <a:latin typeface="Times New Roman"/>
                          <a:cs typeface="Times New Roman"/>
                        </a:rPr>
                        <a:t>Chen,Ben </a:t>
                      </a:r>
                      <a:r>
                        <a:rPr sz="1600" dirty="0">
                          <a:latin typeface="Times New Roman"/>
                          <a:cs typeface="Times New Roman"/>
                        </a:rPr>
                        <a:t>Huang,</a:t>
                      </a:r>
                      <a:r>
                        <a:rPr sz="1600" spc="-70" dirty="0">
                          <a:latin typeface="Times New Roman"/>
                          <a:cs typeface="Times New Roman"/>
                        </a:rPr>
                        <a:t> </a:t>
                      </a:r>
                      <a:r>
                        <a:rPr sz="1600" dirty="0">
                          <a:latin typeface="Times New Roman"/>
                          <a:cs typeface="Times New Roman"/>
                        </a:rPr>
                        <a:t>Fei</a:t>
                      </a:r>
                      <a:r>
                        <a:rPr sz="1600" spc="-5" dirty="0">
                          <a:latin typeface="Times New Roman"/>
                          <a:cs typeface="Times New Roman"/>
                        </a:rPr>
                        <a:t> </a:t>
                      </a:r>
                      <a:r>
                        <a:rPr sz="1600" spc="-20" dirty="0">
                          <a:latin typeface="Times New Roman"/>
                          <a:cs typeface="Times New Roman"/>
                        </a:rPr>
                        <a:t>King</a:t>
                      </a:r>
                      <a:endParaRPr sz="160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marR="140970">
                        <a:lnSpc>
                          <a:spcPct val="100000"/>
                        </a:lnSpc>
                        <a:spcBef>
                          <a:spcPts val="305"/>
                        </a:spcBef>
                      </a:pPr>
                      <a:r>
                        <a:rPr sz="1600" dirty="0">
                          <a:latin typeface="Times New Roman"/>
                          <a:cs typeface="Times New Roman"/>
                        </a:rPr>
                        <a:t>Use</a:t>
                      </a:r>
                      <a:r>
                        <a:rPr sz="1600" spc="-30" dirty="0">
                          <a:latin typeface="Times New Roman"/>
                          <a:cs typeface="Times New Roman"/>
                        </a:rPr>
                        <a:t> </a:t>
                      </a:r>
                      <a:r>
                        <a:rPr sz="1600" dirty="0">
                          <a:latin typeface="Times New Roman"/>
                          <a:cs typeface="Times New Roman"/>
                        </a:rPr>
                        <a:t>of </a:t>
                      </a:r>
                      <a:r>
                        <a:rPr sz="1600" spc="-20" dirty="0">
                          <a:latin typeface="Times New Roman"/>
                          <a:cs typeface="Times New Roman"/>
                        </a:rPr>
                        <a:t>under </a:t>
                      </a:r>
                      <a:r>
                        <a:rPr sz="1600" dirty="0">
                          <a:latin typeface="Times New Roman"/>
                          <a:cs typeface="Times New Roman"/>
                        </a:rPr>
                        <a:t>water</a:t>
                      </a:r>
                      <a:r>
                        <a:rPr sz="1600" spc="-40" dirty="0">
                          <a:latin typeface="Times New Roman"/>
                          <a:cs typeface="Times New Roman"/>
                        </a:rPr>
                        <a:t> </a:t>
                      </a:r>
                      <a:r>
                        <a:rPr sz="1600" spc="-10" dirty="0">
                          <a:latin typeface="Times New Roman"/>
                          <a:cs typeface="Times New Roman"/>
                        </a:rPr>
                        <a:t>robots </a:t>
                      </a:r>
                      <a:r>
                        <a:rPr sz="1600" dirty="0">
                          <a:latin typeface="Times New Roman"/>
                          <a:cs typeface="Times New Roman"/>
                        </a:rPr>
                        <a:t>equipped</a:t>
                      </a:r>
                      <a:r>
                        <a:rPr sz="1600" spc="-75" dirty="0">
                          <a:latin typeface="Times New Roman"/>
                          <a:cs typeface="Times New Roman"/>
                        </a:rPr>
                        <a:t> </a:t>
                      </a:r>
                      <a:r>
                        <a:rPr sz="1600" spc="-20" dirty="0">
                          <a:latin typeface="Times New Roman"/>
                          <a:cs typeface="Times New Roman"/>
                        </a:rPr>
                        <a:t>with </a:t>
                      </a:r>
                      <a:r>
                        <a:rPr sz="1600" dirty="0">
                          <a:latin typeface="Times New Roman"/>
                          <a:cs typeface="Times New Roman"/>
                        </a:rPr>
                        <a:t>cameras</a:t>
                      </a:r>
                      <a:r>
                        <a:rPr sz="1600" spc="-45" dirty="0">
                          <a:latin typeface="Times New Roman"/>
                          <a:cs typeface="Times New Roman"/>
                        </a:rPr>
                        <a:t> </a:t>
                      </a:r>
                      <a:r>
                        <a:rPr sz="1600" spc="-25" dirty="0">
                          <a:latin typeface="Times New Roman"/>
                          <a:cs typeface="Times New Roman"/>
                        </a:rPr>
                        <a:t>for </a:t>
                      </a:r>
                      <a:r>
                        <a:rPr sz="1600" dirty="0">
                          <a:latin typeface="Times New Roman"/>
                          <a:cs typeface="Times New Roman"/>
                        </a:rPr>
                        <a:t>crack</a:t>
                      </a:r>
                      <a:r>
                        <a:rPr sz="1600" spc="-55" dirty="0">
                          <a:latin typeface="Times New Roman"/>
                          <a:cs typeface="Times New Roman"/>
                        </a:rPr>
                        <a:t> </a:t>
                      </a:r>
                      <a:r>
                        <a:rPr sz="1600" spc="-10" dirty="0">
                          <a:latin typeface="Times New Roman"/>
                          <a:cs typeface="Times New Roman"/>
                        </a:rPr>
                        <a:t>detection</a:t>
                      </a:r>
                      <a:endParaRPr sz="160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3345" marR="129539">
                        <a:lnSpc>
                          <a:spcPct val="100000"/>
                        </a:lnSpc>
                        <a:spcBef>
                          <a:spcPts val="305"/>
                        </a:spcBef>
                      </a:pPr>
                      <a:r>
                        <a:rPr sz="1600" dirty="0">
                          <a:latin typeface="Times New Roman"/>
                          <a:cs typeface="Times New Roman"/>
                        </a:rPr>
                        <a:t>High</a:t>
                      </a:r>
                      <a:r>
                        <a:rPr sz="1600" spc="-35" dirty="0">
                          <a:latin typeface="Times New Roman"/>
                          <a:cs typeface="Times New Roman"/>
                        </a:rPr>
                        <a:t> </a:t>
                      </a:r>
                      <a:r>
                        <a:rPr sz="1600" spc="-25" dirty="0">
                          <a:latin typeface="Times New Roman"/>
                          <a:cs typeface="Times New Roman"/>
                        </a:rPr>
                        <a:t>efficiency, </a:t>
                      </a:r>
                      <a:r>
                        <a:rPr sz="1600" spc="-10" dirty="0">
                          <a:latin typeface="Times New Roman"/>
                          <a:cs typeface="Times New Roman"/>
                        </a:rPr>
                        <a:t>Enhanced accuracy,</a:t>
                      </a:r>
                      <a:r>
                        <a:rPr sz="1600" spc="-75" dirty="0">
                          <a:latin typeface="Times New Roman"/>
                          <a:cs typeface="Times New Roman"/>
                        </a:rPr>
                        <a:t> </a:t>
                      </a:r>
                      <a:r>
                        <a:rPr sz="1600" spc="-25" dirty="0">
                          <a:latin typeface="Times New Roman"/>
                          <a:cs typeface="Times New Roman"/>
                        </a:rPr>
                        <a:t>non </a:t>
                      </a:r>
                      <a:r>
                        <a:rPr sz="1600" dirty="0">
                          <a:latin typeface="Times New Roman"/>
                          <a:cs typeface="Times New Roman"/>
                        </a:rPr>
                        <a:t>contact</a:t>
                      </a:r>
                      <a:r>
                        <a:rPr sz="1600" spc="-45" dirty="0">
                          <a:latin typeface="Times New Roman"/>
                          <a:cs typeface="Times New Roman"/>
                        </a:rPr>
                        <a:t> </a:t>
                      </a:r>
                      <a:r>
                        <a:rPr sz="1600" dirty="0">
                          <a:latin typeface="Times New Roman"/>
                          <a:cs typeface="Times New Roman"/>
                        </a:rPr>
                        <a:t>&amp;</a:t>
                      </a:r>
                      <a:r>
                        <a:rPr sz="1600" spc="-5" dirty="0">
                          <a:latin typeface="Times New Roman"/>
                          <a:cs typeface="Times New Roman"/>
                        </a:rPr>
                        <a:t> </a:t>
                      </a:r>
                      <a:r>
                        <a:rPr sz="1600" spc="-25" dirty="0">
                          <a:latin typeface="Times New Roman"/>
                          <a:cs typeface="Times New Roman"/>
                        </a:rPr>
                        <a:t>non </a:t>
                      </a:r>
                      <a:r>
                        <a:rPr sz="1600" spc="-10" dirty="0">
                          <a:latin typeface="Times New Roman"/>
                          <a:cs typeface="Times New Roman"/>
                        </a:rPr>
                        <a:t>destructive</a:t>
                      </a:r>
                      <a:endParaRPr sz="160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3345" marR="339725">
                        <a:lnSpc>
                          <a:spcPct val="100000"/>
                        </a:lnSpc>
                        <a:spcBef>
                          <a:spcPts val="305"/>
                        </a:spcBef>
                      </a:pPr>
                      <a:r>
                        <a:rPr sz="1600" dirty="0">
                          <a:latin typeface="Times New Roman"/>
                          <a:cs typeface="Times New Roman"/>
                        </a:rPr>
                        <a:t>Data</a:t>
                      </a:r>
                      <a:r>
                        <a:rPr sz="1600" spc="-25" dirty="0">
                          <a:latin typeface="Times New Roman"/>
                          <a:cs typeface="Times New Roman"/>
                        </a:rPr>
                        <a:t> </a:t>
                      </a:r>
                      <a:r>
                        <a:rPr sz="1600" spc="-10" dirty="0">
                          <a:latin typeface="Times New Roman"/>
                          <a:cs typeface="Times New Roman"/>
                        </a:rPr>
                        <a:t>dependency, </a:t>
                      </a:r>
                      <a:r>
                        <a:rPr sz="1600" dirty="0">
                          <a:latin typeface="Times New Roman"/>
                          <a:cs typeface="Times New Roman"/>
                        </a:rPr>
                        <a:t>Cost</a:t>
                      </a:r>
                      <a:r>
                        <a:rPr sz="1600" spc="-35" dirty="0">
                          <a:latin typeface="Times New Roman"/>
                          <a:cs typeface="Times New Roman"/>
                        </a:rPr>
                        <a:t> </a:t>
                      </a:r>
                      <a:r>
                        <a:rPr sz="1600" spc="-10" dirty="0">
                          <a:latin typeface="Times New Roman"/>
                          <a:cs typeface="Times New Roman"/>
                        </a:rPr>
                        <a:t>effective</a:t>
                      </a:r>
                      <a:endParaRPr sz="160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1722120">
                <a:tc>
                  <a:txBody>
                    <a:bodyPr/>
                    <a:lstStyle/>
                    <a:p>
                      <a:pPr marL="91440" marR="99695">
                        <a:lnSpc>
                          <a:spcPct val="100000"/>
                        </a:lnSpc>
                        <a:spcBef>
                          <a:spcPts val="310"/>
                        </a:spcBef>
                      </a:pPr>
                      <a:r>
                        <a:rPr sz="1600" dirty="0">
                          <a:latin typeface="Times New Roman"/>
                          <a:cs typeface="Times New Roman"/>
                        </a:rPr>
                        <a:t>A</a:t>
                      </a:r>
                      <a:r>
                        <a:rPr sz="1600" spc="-100" dirty="0">
                          <a:latin typeface="Times New Roman"/>
                          <a:cs typeface="Times New Roman"/>
                        </a:rPr>
                        <a:t> </a:t>
                      </a:r>
                      <a:r>
                        <a:rPr sz="1600" dirty="0">
                          <a:latin typeface="Times New Roman"/>
                          <a:cs typeface="Times New Roman"/>
                        </a:rPr>
                        <a:t>digital</a:t>
                      </a:r>
                      <a:r>
                        <a:rPr sz="1600" spc="-65" dirty="0">
                          <a:latin typeface="Times New Roman"/>
                          <a:cs typeface="Times New Roman"/>
                        </a:rPr>
                        <a:t> </a:t>
                      </a:r>
                      <a:r>
                        <a:rPr sz="1600" dirty="0">
                          <a:latin typeface="Times New Roman"/>
                          <a:cs typeface="Times New Roman"/>
                        </a:rPr>
                        <a:t>twin</a:t>
                      </a:r>
                      <a:r>
                        <a:rPr sz="1600" spc="-30" dirty="0">
                          <a:latin typeface="Times New Roman"/>
                          <a:cs typeface="Times New Roman"/>
                        </a:rPr>
                        <a:t> </a:t>
                      </a:r>
                      <a:r>
                        <a:rPr sz="1600" spc="-25" dirty="0">
                          <a:latin typeface="Times New Roman"/>
                          <a:cs typeface="Times New Roman"/>
                        </a:rPr>
                        <a:t>dam </a:t>
                      </a:r>
                      <a:r>
                        <a:rPr sz="1600" dirty="0">
                          <a:latin typeface="Times New Roman"/>
                          <a:cs typeface="Times New Roman"/>
                        </a:rPr>
                        <a:t>and</a:t>
                      </a:r>
                      <a:r>
                        <a:rPr sz="1600" spc="-30" dirty="0">
                          <a:latin typeface="Times New Roman"/>
                          <a:cs typeface="Times New Roman"/>
                        </a:rPr>
                        <a:t> </a:t>
                      </a:r>
                      <a:r>
                        <a:rPr sz="1600" spc="-10" dirty="0">
                          <a:latin typeface="Times New Roman"/>
                          <a:cs typeface="Times New Roman"/>
                        </a:rPr>
                        <a:t>watershed </a:t>
                      </a:r>
                      <a:r>
                        <a:rPr sz="1600" dirty="0">
                          <a:latin typeface="Times New Roman"/>
                          <a:cs typeface="Times New Roman"/>
                        </a:rPr>
                        <a:t>management</a:t>
                      </a:r>
                      <a:r>
                        <a:rPr sz="1600" spc="-75" dirty="0">
                          <a:latin typeface="Times New Roman"/>
                          <a:cs typeface="Times New Roman"/>
                        </a:rPr>
                        <a:t> </a:t>
                      </a:r>
                      <a:r>
                        <a:rPr sz="1600" spc="-10" dirty="0">
                          <a:latin typeface="Times New Roman"/>
                          <a:cs typeface="Times New Roman"/>
                        </a:rPr>
                        <a:t>platform</a:t>
                      </a:r>
                      <a:endParaRPr sz="1600">
                        <a:latin typeface="Times New Roman"/>
                        <a:cs typeface="Times New Roman"/>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marR="585470">
                        <a:lnSpc>
                          <a:spcPct val="100000"/>
                        </a:lnSpc>
                        <a:spcBef>
                          <a:spcPts val="310"/>
                        </a:spcBef>
                      </a:pPr>
                      <a:r>
                        <a:rPr sz="1600" dirty="0">
                          <a:latin typeface="Times New Roman"/>
                          <a:cs typeface="Times New Roman"/>
                        </a:rPr>
                        <a:t>DoogSoon</a:t>
                      </a:r>
                      <a:r>
                        <a:rPr sz="1600" spc="-65" dirty="0">
                          <a:latin typeface="Times New Roman"/>
                          <a:cs typeface="Times New Roman"/>
                        </a:rPr>
                        <a:t> </a:t>
                      </a:r>
                      <a:r>
                        <a:rPr sz="1600" spc="-20" dirty="0">
                          <a:latin typeface="Times New Roman"/>
                          <a:cs typeface="Times New Roman"/>
                        </a:rPr>
                        <a:t>par, </a:t>
                      </a:r>
                      <a:r>
                        <a:rPr sz="1600" dirty="0">
                          <a:latin typeface="Times New Roman"/>
                          <a:cs typeface="Times New Roman"/>
                        </a:rPr>
                        <a:t>Hojun</a:t>
                      </a:r>
                      <a:r>
                        <a:rPr sz="1600" spc="-95" dirty="0">
                          <a:latin typeface="Times New Roman"/>
                          <a:cs typeface="Times New Roman"/>
                        </a:rPr>
                        <a:t> </a:t>
                      </a:r>
                      <a:r>
                        <a:rPr sz="1600" spc="-25" dirty="0">
                          <a:latin typeface="Times New Roman"/>
                          <a:cs typeface="Times New Roman"/>
                        </a:rPr>
                        <a:t>You</a:t>
                      </a:r>
                      <a:endParaRPr sz="1600">
                        <a:latin typeface="Times New Roman"/>
                        <a:cs typeface="Times New Roman"/>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marR="142240">
                        <a:lnSpc>
                          <a:spcPct val="100000"/>
                        </a:lnSpc>
                        <a:spcBef>
                          <a:spcPts val="310"/>
                        </a:spcBef>
                      </a:pPr>
                      <a:r>
                        <a:rPr sz="1600" dirty="0">
                          <a:latin typeface="Times New Roman"/>
                          <a:cs typeface="Times New Roman"/>
                        </a:rPr>
                        <a:t>Digital</a:t>
                      </a:r>
                      <a:r>
                        <a:rPr sz="1600" spc="-40" dirty="0">
                          <a:latin typeface="Times New Roman"/>
                          <a:cs typeface="Times New Roman"/>
                        </a:rPr>
                        <a:t> </a:t>
                      </a:r>
                      <a:r>
                        <a:rPr sz="1600" spc="-20" dirty="0">
                          <a:latin typeface="Times New Roman"/>
                          <a:cs typeface="Times New Roman"/>
                        </a:rPr>
                        <a:t>twin </a:t>
                      </a:r>
                      <a:r>
                        <a:rPr sz="1600" spc="-10" dirty="0">
                          <a:latin typeface="Times New Roman"/>
                          <a:cs typeface="Times New Roman"/>
                        </a:rPr>
                        <a:t>technology, </a:t>
                      </a:r>
                      <a:r>
                        <a:rPr sz="1600" dirty="0">
                          <a:latin typeface="Times New Roman"/>
                          <a:cs typeface="Times New Roman"/>
                        </a:rPr>
                        <a:t>Flood</a:t>
                      </a:r>
                      <a:r>
                        <a:rPr sz="1600" spc="-55" dirty="0">
                          <a:latin typeface="Times New Roman"/>
                          <a:cs typeface="Times New Roman"/>
                        </a:rPr>
                        <a:t> </a:t>
                      </a:r>
                      <a:r>
                        <a:rPr sz="1600" spc="-10" dirty="0">
                          <a:latin typeface="Times New Roman"/>
                          <a:cs typeface="Times New Roman"/>
                        </a:rPr>
                        <a:t>response </a:t>
                      </a:r>
                      <a:r>
                        <a:rPr sz="1600" dirty="0">
                          <a:latin typeface="Times New Roman"/>
                          <a:cs typeface="Times New Roman"/>
                        </a:rPr>
                        <a:t>and</a:t>
                      </a:r>
                      <a:r>
                        <a:rPr sz="1600" spc="-40" dirty="0">
                          <a:latin typeface="Times New Roman"/>
                          <a:cs typeface="Times New Roman"/>
                        </a:rPr>
                        <a:t> </a:t>
                      </a:r>
                      <a:r>
                        <a:rPr sz="1600" spc="-10" dirty="0">
                          <a:latin typeface="Times New Roman"/>
                          <a:cs typeface="Times New Roman"/>
                        </a:rPr>
                        <a:t>water mangement</a:t>
                      </a:r>
                      <a:endParaRPr sz="1600">
                        <a:latin typeface="Times New Roman"/>
                        <a:cs typeface="Times New Roman"/>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13030" marR="570230" indent="-6350">
                        <a:lnSpc>
                          <a:spcPct val="107200"/>
                        </a:lnSpc>
                        <a:spcBef>
                          <a:spcPts val="155"/>
                        </a:spcBef>
                      </a:pPr>
                      <a:r>
                        <a:rPr sz="1600" spc="-10" dirty="0">
                          <a:latin typeface="Times New Roman"/>
                          <a:cs typeface="Times New Roman"/>
                        </a:rPr>
                        <a:t>Enhanced decision making, scalability</a:t>
                      </a:r>
                      <a:endParaRPr sz="1600">
                        <a:latin typeface="Times New Roman"/>
                        <a:cs typeface="Times New Roman"/>
                      </a:endParaRPr>
                    </a:p>
                  </a:txBody>
                  <a:tcPr marL="0" marR="0" marT="196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3345" marR="342265">
                        <a:lnSpc>
                          <a:spcPct val="100000"/>
                        </a:lnSpc>
                        <a:spcBef>
                          <a:spcPts val="310"/>
                        </a:spcBef>
                      </a:pPr>
                      <a:r>
                        <a:rPr sz="1600" dirty="0">
                          <a:latin typeface="Times New Roman"/>
                          <a:cs typeface="Times New Roman"/>
                        </a:rPr>
                        <a:t>High</a:t>
                      </a:r>
                      <a:r>
                        <a:rPr sz="1600" spc="-25" dirty="0">
                          <a:latin typeface="Times New Roman"/>
                          <a:cs typeface="Times New Roman"/>
                        </a:rPr>
                        <a:t> </a:t>
                      </a:r>
                      <a:r>
                        <a:rPr sz="1600" dirty="0">
                          <a:latin typeface="Times New Roman"/>
                          <a:cs typeface="Times New Roman"/>
                        </a:rPr>
                        <a:t>initial</a:t>
                      </a:r>
                      <a:r>
                        <a:rPr sz="1600" spc="-65" dirty="0">
                          <a:latin typeface="Times New Roman"/>
                          <a:cs typeface="Times New Roman"/>
                        </a:rPr>
                        <a:t> </a:t>
                      </a:r>
                      <a:r>
                        <a:rPr sz="1600" spc="-10" dirty="0">
                          <a:latin typeface="Times New Roman"/>
                          <a:cs typeface="Times New Roman"/>
                        </a:rPr>
                        <a:t>costs, Complex implementation</a:t>
                      </a:r>
                      <a:endParaRPr sz="1600">
                        <a:latin typeface="Times New Roman"/>
                        <a:cs typeface="Times New Roman"/>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1310005">
                <a:tc>
                  <a:txBody>
                    <a:bodyPr/>
                    <a:lstStyle/>
                    <a:p>
                      <a:pPr marL="91440" marR="276860">
                        <a:lnSpc>
                          <a:spcPct val="100000"/>
                        </a:lnSpc>
                        <a:spcBef>
                          <a:spcPts val="315"/>
                        </a:spcBef>
                      </a:pPr>
                      <a:r>
                        <a:rPr sz="1600" dirty="0">
                          <a:latin typeface="Times New Roman"/>
                          <a:cs typeface="Times New Roman"/>
                        </a:rPr>
                        <a:t>Automatic</a:t>
                      </a:r>
                      <a:r>
                        <a:rPr sz="1600" spc="-60" dirty="0">
                          <a:latin typeface="Times New Roman"/>
                          <a:cs typeface="Times New Roman"/>
                        </a:rPr>
                        <a:t> </a:t>
                      </a:r>
                      <a:r>
                        <a:rPr sz="1600" spc="-10" dirty="0">
                          <a:latin typeface="Times New Roman"/>
                          <a:cs typeface="Times New Roman"/>
                        </a:rPr>
                        <a:t>concrete </a:t>
                      </a:r>
                      <a:r>
                        <a:rPr sz="1600" dirty="0">
                          <a:latin typeface="Times New Roman"/>
                          <a:cs typeface="Times New Roman"/>
                        </a:rPr>
                        <a:t>dam</a:t>
                      </a:r>
                      <a:r>
                        <a:rPr sz="1600" spc="-15" dirty="0">
                          <a:latin typeface="Times New Roman"/>
                          <a:cs typeface="Times New Roman"/>
                        </a:rPr>
                        <a:t> </a:t>
                      </a:r>
                      <a:r>
                        <a:rPr sz="1600" spc="-10" dirty="0">
                          <a:latin typeface="Times New Roman"/>
                          <a:cs typeface="Times New Roman"/>
                        </a:rPr>
                        <a:t>deformation </a:t>
                      </a:r>
                      <a:r>
                        <a:rPr sz="1600" dirty="0">
                          <a:latin typeface="Times New Roman"/>
                          <a:cs typeface="Times New Roman"/>
                        </a:rPr>
                        <a:t>prediction</a:t>
                      </a:r>
                      <a:r>
                        <a:rPr sz="1600" spc="-75" dirty="0">
                          <a:latin typeface="Times New Roman"/>
                          <a:cs typeface="Times New Roman"/>
                        </a:rPr>
                        <a:t> </a:t>
                      </a:r>
                      <a:r>
                        <a:rPr sz="1600" spc="-20" dirty="0">
                          <a:latin typeface="Times New Roman"/>
                          <a:cs typeface="Times New Roman"/>
                        </a:rPr>
                        <a:t>model </a:t>
                      </a:r>
                      <a:r>
                        <a:rPr sz="1600" dirty="0">
                          <a:latin typeface="Times New Roman"/>
                          <a:cs typeface="Times New Roman"/>
                        </a:rPr>
                        <a:t>based</a:t>
                      </a:r>
                      <a:r>
                        <a:rPr sz="1600" spc="-15" dirty="0">
                          <a:latin typeface="Times New Roman"/>
                          <a:cs typeface="Times New Roman"/>
                        </a:rPr>
                        <a:t> </a:t>
                      </a:r>
                      <a:r>
                        <a:rPr sz="1600" dirty="0">
                          <a:latin typeface="Times New Roman"/>
                          <a:cs typeface="Times New Roman"/>
                        </a:rPr>
                        <a:t>on</a:t>
                      </a:r>
                      <a:r>
                        <a:rPr sz="1600" spc="-30" dirty="0">
                          <a:latin typeface="Times New Roman"/>
                          <a:cs typeface="Times New Roman"/>
                        </a:rPr>
                        <a:t> </a:t>
                      </a:r>
                      <a:r>
                        <a:rPr sz="1600" spc="-20" dirty="0">
                          <a:latin typeface="Times New Roman"/>
                          <a:cs typeface="Times New Roman"/>
                        </a:rPr>
                        <a:t>TPE-STL- LSTM</a:t>
                      </a:r>
                      <a:endParaRPr sz="16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marR="273050">
                        <a:lnSpc>
                          <a:spcPct val="100000"/>
                        </a:lnSpc>
                        <a:spcBef>
                          <a:spcPts val="315"/>
                        </a:spcBef>
                      </a:pPr>
                      <a:r>
                        <a:rPr sz="1600" dirty="0">
                          <a:latin typeface="Times New Roman"/>
                          <a:cs typeface="Times New Roman"/>
                        </a:rPr>
                        <a:t>Sihan</a:t>
                      </a:r>
                      <a:r>
                        <a:rPr sz="1600" spc="-30" dirty="0">
                          <a:latin typeface="Times New Roman"/>
                          <a:cs typeface="Times New Roman"/>
                        </a:rPr>
                        <a:t> </a:t>
                      </a:r>
                      <a:r>
                        <a:rPr sz="1600" spc="-10" dirty="0">
                          <a:latin typeface="Times New Roman"/>
                          <a:cs typeface="Times New Roman"/>
                        </a:rPr>
                        <a:t>song,qiujing zhou,Tao zhang,Yintao</a:t>
                      </a:r>
                      <a:r>
                        <a:rPr sz="1600" spc="-45" dirty="0">
                          <a:latin typeface="Times New Roman"/>
                          <a:cs typeface="Times New Roman"/>
                        </a:rPr>
                        <a:t> </a:t>
                      </a:r>
                      <a:r>
                        <a:rPr sz="1600" spc="-25" dirty="0">
                          <a:latin typeface="Times New Roman"/>
                          <a:cs typeface="Times New Roman"/>
                        </a:rPr>
                        <a:t>Hu</a:t>
                      </a:r>
                      <a:endParaRPr sz="1600">
                        <a:latin typeface="Times New Roman"/>
                        <a:cs typeface="Times New Roman"/>
                      </a:endParaRPr>
                    </a:p>
                    <a:p>
                      <a:pPr algn="r">
                        <a:lnSpc>
                          <a:spcPct val="100000"/>
                        </a:lnSpc>
                        <a:spcBef>
                          <a:spcPts val="1395"/>
                        </a:spcBef>
                      </a:pPr>
                      <a:r>
                        <a:rPr sz="1200" spc="-25" dirty="0">
                          <a:solidFill>
                            <a:srgbClr val="888888"/>
                          </a:solidFill>
                          <a:latin typeface="Arial MT"/>
                          <a:cs typeface="Arial MT"/>
                        </a:rPr>
                        <a:t>Dep</a:t>
                      </a:r>
                      <a:endParaRPr sz="1200">
                        <a:latin typeface="Arial MT"/>
                        <a:cs typeface="Arial MT"/>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marR="177165">
                        <a:lnSpc>
                          <a:spcPct val="100000"/>
                        </a:lnSpc>
                        <a:spcBef>
                          <a:spcPts val="315"/>
                        </a:spcBef>
                      </a:pPr>
                      <a:r>
                        <a:rPr sz="1600" dirty="0">
                          <a:latin typeface="Times New Roman"/>
                          <a:cs typeface="Times New Roman"/>
                        </a:rPr>
                        <a:t>Seasonal</a:t>
                      </a:r>
                      <a:r>
                        <a:rPr sz="1600" spc="-65" dirty="0">
                          <a:latin typeface="Times New Roman"/>
                          <a:cs typeface="Times New Roman"/>
                        </a:rPr>
                        <a:t> </a:t>
                      </a:r>
                      <a:r>
                        <a:rPr sz="1600" spc="-25" dirty="0">
                          <a:latin typeface="Times New Roman"/>
                          <a:cs typeface="Times New Roman"/>
                        </a:rPr>
                        <a:t>and </a:t>
                      </a:r>
                      <a:r>
                        <a:rPr sz="1600" spc="-10" dirty="0">
                          <a:latin typeface="Times New Roman"/>
                          <a:cs typeface="Times New Roman"/>
                        </a:rPr>
                        <a:t>trend decomposition </a:t>
                      </a:r>
                      <a:r>
                        <a:rPr sz="1600" dirty="0">
                          <a:latin typeface="Times New Roman"/>
                          <a:cs typeface="Times New Roman"/>
                        </a:rPr>
                        <a:t>using</a:t>
                      </a:r>
                      <a:r>
                        <a:rPr sz="1600" spc="-60" dirty="0">
                          <a:latin typeface="Times New Roman"/>
                          <a:cs typeface="Times New Roman"/>
                        </a:rPr>
                        <a:t> </a:t>
                      </a:r>
                      <a:r>
                        <a:rPr sz="1600" spc="-10" dirty="0">
                          <a:latin typeface="Times New Roman"/>
                          <a:cs typeface="Times New Roman"/>
                        </a:rPr>
                        <a:t>loess</a:t>
                      </a:r>
                      <a:endParaRPr sz="1600">
                        <a:latin typeface="Times New Roman"/>
                        <a:cs typeface="Times New Roman"/>
                      </a:endParaRPr>
                    </a:p>
                    <a:p>
                      <a:pPr marL="67310">
                        <a:lnSpc>
                          <a:spcPts val="915"/>
                        </a:lnSpc>
                      </a:pPr>
                      <a:r>
                        <a:rPr sz="1200" dirty="0">
                          <a:solidFill>
                            <a:srgbClr val="888888"/>
                          </a:solidFill>
                          <a:latin typeface="Arial MT"/>
                          <a:cs typeface="Arial MT"/>
                        </a:rPr>
                        <a:t>t.</a:t>
                      </a:r>
                      <a:r>
                        <a:rPr sz="1200" spc="-25" dirty="0">
                          <a:solidFill>
                            <a:srgbClr val="888888"/>
                          </a:solidFill>
                          <a:latin typeface="Arial MT"/>
                          <a:cs typeface="Arial MT"/>
                        </a:rPr>
                        <a:t> </a:t>
                      </a:r>
                      <a:r>
                        <a:rPr sz="1200" dirty="0">
                          <a:solidFill>
                            <a:srgbClr val="888888"/>
                          </a:solidFill>
                          <a:latin typeface="Arial MT"/>
                          <a:cs typeface="Arial MT"/>
                        </a:rPr>
                        <a:t>of</a:t>
                      </a:r>
                      <a:r>
                        <a:rPr sz="1200" spc="-5" dirty="0">
                          <a:solidFill>
                            <a:srgbClr val="888888"/>
                          </a:solidFill>
                          <a:latin typeface="Arial MT"/>
                          <a:cs typeface="Arial MT"/>
                        </a:rPr>
                        <a:t> </a:t>
                      </a:r>
                      <a:r>
                        <a:rPr sz="1200" dirty="0">
                          <a:solidFill>
                            <a:srgbClr val="888888"/>
                          </a:solidFill>
                          <a:latin typeface="Arial MT"/>
                          <a:cs typeface="Arial MT"/>
                        </a:rPr>
                        <a:t>ECE</a:t>
                      </a:r>
                      <a:r>
                        <a:rPr sz="1200" spc="10" dirty="0">
                          <a:solidFill>
                            <a:srgbClr val="888888"/>
                          </a:solidFill>
                          <a:latin typeface="Arial MT"/>
                          <a:cs typeface="Arial MT"/>
                        </a:rPr>
                        <a:t> </a:t>
                      </a:r>
                      <a:r>
                        <a:rPr sz="1200" dirty="0">
                          <a:solidFill>
                            <a:srgbClr val="888888"/>
                          </a:solidFill>
                          <a:latin typeface="Arial MT"/>
                          <a:cs typeface="Arial MT"/>
                        </a:rPr>
                        <a:t>2025-</a:t>
                      </a:r>
                      <a:r>
                        <a:rPr sz="1200" spc="-25" dirty="0">
                          <a:solidFill>
                            <a:srgbClr val="888888"/>
                          </a:solidFill>
                          <a:latin typeface="Arial MT"/>
                          <a:cs typeface="Arial MT"/>
                        </a:rPr>
                        <a:t>26</a:t>
                      </a:r>
                      <a:endParaRPr sz="1200">
                        <a:latin typeface="Arial MT"/>
                        <a:cs typeface="Arial MT"/>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3345" marR="90170">
                        <a:lnSpc>
                          <a:spcPct val="100000"/>
                        </a:lnSpc>
                        <a:spcBef>
                          <a:spcPts val="315"/>
                        </a:spcBef>
                      </a:pPr>
                      <a:r>
                        <a:rPr sz="1600" dirty="0">
                          <a:latin typeface="Times New Roman"/>
                          <a:cs typeface="Times New Roman"/>
                        </a:rPr>
                        <a:t>High</a:t>
                      </a:r>
                      <a:r>
                        <a:rPr sz="1600" spc="-30" dirty="0">
                          <a:latin typeface="Times New Roman"/>
                          <a:cs typeface="Times New Roman"/>
                        </a:rPr>
                        <a:t> </a:t>
                      </a:r>
                      <a:r>
                        <a:rPr sz="1600" spc="-10" dirty="0">
                          <a:latin typeface="Times New Roman"/>
                          <a:cs typeface="Times New Roman"/>
                        </a:rPr>
                        <a:t>prediction accuracy,Real </a:t>
                      </a:r>
                      <a:r>
                        <a:rPr sz="1600" dirty="0">
                          <a:latin typeface="Times New Roman"/>
                          <a:cs typeface="Times New Roman"/>
                        </a:rPr>
                        <a:t>world</a:t>
                      </a:r>
                      <a:r>
                        <a:rPr sz="1600" spc="-45" dirty="0">
                          <a:latin typeface="Times New Roman"/>
                          <a:cs typeface="Times New Roman"/>
                        </a:rPr>
                        <a:t> </a:t>
                      </a:r>
                      <a:r>
                        <a:rPr sz="1600" spc="-10" dirty="0">
                          <a:latin typeface="Times New Roman"/>
                          <a:cs typeface="Times New Roman"/>
                        </a:rPr>
                        <a:t>validation</a:t>
                      </a:r>
                      <a:endParaRPr sz="16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3345" marR="95250" algn="just">
                        <a:lnSpc>
                          <a:spcPct val="100000"/>
                        </a:lnSpc>
                        <a:spcBef>
                          <a:spcPts val="315"/>
                        </a:spcBef>
                      </a:pPr>
                      <a:r>
                        <a:rPr sz="1600" dirty="0">
                          <a:latin typeface="Times New Roman"/>
                          <a:cs typeface="Times New Roman"/>
                        </a:rPr>
                        <a:t>High</a:t>
                      </a:r>
                      <a:r>
                        <a:rPr sz="1600" spc="-30" dirty="0">
                          <a:latin typeface="Times New Roman"/>
                          <a:cs typeface="Times New Roman"/>
                        </a:rPr>
                        <a:t> </a:t>
                      </a:r>
                      <a:r>
                        <a:rPr sz="1600" spc="-10" dirty="0">
                          <a:latin typeface="Times New Roman"/>
                          <a:cs typeface="Times New Roman"/>
                        </a:rPr>
                        <a:t>computational </a:t>
                      </a:r>
                      <a:r>
                        <a:rPr sz="1600" dirty="0">
                          <a:latin typeface="Times New Roman"/>
                          <a:cs typeface="Times New Roman"/>
                        </a:rPr>
                        <a:t>cost,</a:t>
                      </a:r>
                      <a:r>
                        <a:rPr sz="1600" spc="-50" dirty="0">
                          <a:latin typeface="Times New Roman"/>
                          <a:cs typeface="Times New Roman"/>
                        </a:rPr>
                        <a:t> </a:t>
                      </a:r>
                      <a:r>
                        <a:rPr sz="1600" dirty="0">
                          <a:latin typeface="Times New Roman"/>
                          <a:cs typeface="Times New Roman"/>
                        </a:rPr>
                        <a:t>complex</a:t>
                      </a:r>
                      <a:r>
                        <a:rPr sz="1600" spc="-25" dirty="0">
                          <a:latin typeface="Times New Roman"/>
                          <a:cs typeface="Times New Roman"/>
                        </a:rPr>
                        <a:t> </a:t>
                      </a:r>
                      <a:r>
                        <a:rPr sz="1600" spc="-10" dirty="0">
                          <a:latin typeface="Times New Roman"/>
                          <a:cs typeface="Times New Roman"/>
                        </a:rPr>
                        <a:t>model structure</a:t>
                      </a:r>
                      <a:endParaRPr sz="1600">
                        <a:latin typeface="Times New Roman"/>
                        <a:cs typeface="Times New Roman"/>
                      </a:endParaRPr>
                    </a:p>
                    <a:p>
                      <a:pPr marL="1207770">
                        <a:lnSpc>
                          <a:spcPct val="100000"/>
                        </a:lnSpc>
                        <a:spcBef>
                          <a:spcPts val="1395"/>
                        </a:spcBef>
                      </a:pPr>
                      <a:r>
                        <a:rPr sz="1200" spc="-25" dirty="0">
                          <a:solidFill>
                            <a:srgbClr val="888888"/>
                          </a:solidFill>
                          <a:latin typeface="Arial MT"/>
                          <a:cs typeface="Arial MT"/>
                        </a:rPr>
                        <a:t>13</a:t>
                      </a:r>
                      <a:endParaRPr sz="1200">
                        <a:latin typeface="Arial MT"/>
                        <a:cs typeface="Arial MT"/>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246862" y="1025652"/>
          <a:ext cx="8755380" cy="5824855"/>
        </p:xfrm>
        <a:graphic>
          <a:graphicData uri="http://schemas.openxmlformats.org/drawingml/2006/table">
            <a:tbl>
              <a:tblPr firstRow="1" bandRow="1">
                <a:tableStyleId>{2D5ABB26-0587-4C30-8999-92F81FD0307C}</a:tableStyleId>
              </a:tblPr>
              <a:tblGrid>
                <a:gridCol w="1946275">
                  <a:extLst>
                    <a:ext uri="{9D8B030D-6E8A-4147-A177-3AD203B41FA5}">
                      <a16:colId xmlns:a16="http://schemas.microsoft.com/office/drawing/2014/main" val="20000"/>
                    </a:ext>
                  </a:extLst>
                </a:gridCol>
                <a:gridCol w="1910080">
                  <a:extLst>
                    <a:ext uri="{9D8B030D-6E8A-4147-A177-3AD203B41FA5}">
                      <a16:colId xmlns:a16="http://schemas.microsoft.com/office/drawing/2014/main" val="20001"/>
                    </a:ext>
                  </a:extLst>
                </a:gridCol>
                <a:gridCol w="1479550">
                  <a:extLst>
                    <a:ext uri="{9D8B030D-6E8A-4147-A177-3AD203B41FA5}">
                      <a16:colId xmlns:a16="http://schemas.microsoft.com/office/drawing/2014/main" val="20002"/>
                    </a:ext>
                  </a:extLst>
                </a:gridCol>
                <a:gridCol w="1532890">
                  <a:extLst>
                    <a:ext uri="{9D8B030D-6E8A-4147-A177-3AD203B41FA5}">
                      <a16:colId xmlns:a16="http://schemas.microsoft.com/office/drawing/2014/main" val="20003"/>
                    </a:ext>
                  </a:extLst>
                </a:gridCol>
                <a:gridCol w="1886585">
                  <a:extLst>
                    <a:ext uri="{9D8B030D-6E8A-4147-A177-3AD203B41FA5}">
                      <a16:colId xmlns:a16="http://schemas.microsoft.com/office/drawing/2014/main" val="20004"/>
                    </a:ext>
                  </a:extLst>
                </a:gridCol>
              </a:tblGrid>
              <a:tr h="1065530">
                <a:tc>
                  <a:txBody>
                    <a:bodyPr/>
                    <a:lstStyle/>
                    <a:p>
                      <a:pPr>
                        <a:lnSpc>
                          <a:spcPct val="100000"/>
                        </a:lnSpc>
                        <a:spcBef>
                          <a:spcPts val="380"/>
                        </a:spcBef>
                      </a:pPr>
                      <a:endParaRPr sz="1600">
                        <a:latin typeface="Times New Roman"/>
                        <a:cs typeface="Times New Roman"/>
                      </a:endParaRPr>
                    </a:p>
                    <a:p>
                      <a:pPr marL="305435">
                        <a:lnSpc>
                          <a:spcPct val="100000"/>
                        </a:lnSpc>
                      </a:pPr>
                      <a:r>
                        <a:rPr sz="1600" b="1" spc="-30" dirty="0">
                          <a:latin typeface="Times New Roman"/>
                          <a:cs typeface="Times New Roman"/>
                        </a:rPr>
                        <a:t>PAPER</a:t>
                      </a:r>
                      <a:r>
                        <a:rPr sz="1600" b="1" spc="-50" dirty="0">
                          <a:latin typeface="Times New Roman"/>
                          <a:cs typeface="Times New Roman"/>
                        </a:rPr>
                        <a:t> </a:t>
                      </a:r>
                      <a:r>
                        <a:rPr sz="1600" b="1" spc="-20" dirty="0">
                          <a:latin typeface="Times New Roman"/>
                          <a:cs typeface="Times New Roman"/>
                        </a:rPr>
                        <a:t>TITLE</a:t>
                      </a:r>
                      <a:endParaRPr sz="1600">
                        <a:latin typeface="Times New Roman"/>
                        <a:cs typeface="Times New Roman"/>
                      </a:endParaRPr>
                    </a:p>
                  </a:txBody>
                  <a:tcPr marL="0" marR="0" marT="482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67310">
                        <a:lnSpc>
                          <a:spcPct val="100000"/>
                        </a:lnSpc>
                        <a:spcBef>
                          <a:spcPts val="380"/>
                        </a:spcBef>
                      </a:pPr>
                      <a:endParaRPr sz="1600">
                        <a:latin typeface="Times New Roman"/>
                        <a:cs typeface="Times New Roman"/>
                      </a:endParaRPr>
                    </a:p>
                    <a:p>
                      <a:pPr marL="415925" marR="67310">
                        <a:lnSpc>
                          <a:spcPct val="100000"/>
                        </a:lnSpc>
                      </a:pPr>
                      <a:r>
                        <a:rPr sz="1600" b="1" spc="-10" dirty="0">
                          <a:latin typeface="Times New Roman"/>
                          <a:cs typeface="Times New Roman"/>
                        </a:rPr>
                        <a:t>AUTHORS</a:t>
                      </a:r>
                      <a:endParaRPr sz="1600">
                        <a:latin typeface="Times New Roman"/>
                        <a:cs typeface="Times New Roman"/>
                      </a:endParaRPr>
                    </a:p>
                  </a:txBody>
                  <a:tcPr marL="0" marR="0" marT="482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380"/>
                        </a:spcBef>
                      </a:pPr>
                      <a:endParaRPr sz="1600">
                        <a:latin typeface="Times New Roman"/>
                        <a:cs typeface="Times New Roman"/>
                      </a:endParaRPr>
                    </a:p>
                    <a:p>
                      <a:pPr marL="184785">
                        <a:lnSpc>
                          <a:spcPct val="100000"/>
                        </a:lnSpc>
                      </a:pPr>
                      <a:r>
                        <a:rPr sz="1600" b="1" spc="-10" dirty="0">
                          <a:latin typeface="Times New Roman"/>
                          <a:cs typeface="Times New Roman"/>
                        </a:rPr>
                        <a:t>PROPOSED</a:t>
                      </a:r>
                      <a:endParaRPr sz="1600">
                        <a:latin typeface="Times New Roman"/>
                        <a:cs typeface="Times New Roman"/>
                      </a:endParaRPr>
                    </a:p>
                    <a:p>
                      <a:pPr marL="276225">
                        <a:lnSpc>
                          <a:spcPct val="100000"/>
                        </a:lnSpc>
                      </a:pPr>
                      <a:r>
                        <a:rPr sz="1600" b="1" spc="-10" dirty="0">
                          <a:latin typeface="Times New Roman"/>
                          <a:cs typeface="Times New Roman"/>
                        </a:rPr>
                        <a:t>METHOD</a:t>
                      </a:r>
                      <a:endParaRPr sz="1600">
                        <a:latin typeface="Times New Roman"/>
                        <a:cs typeface="Times New Roman"/>
                      </a:endParaRPr>
                    </a:p>
                  </a:txBody>
                  <a:tcPr marL="0" marR="0" marT="482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380"/>
                        </a:spcBef>
                      </a:pPr>
                      <a:endParaRPr sz="1600">
                        <a:latin typeface="Times New Roman"/>
                        <a:cs typeface="Times New Roman"/>
                      </a:endParaRPr>
                    </a:p>
                    <a:p>
                      <a:pPr marL="635" algn="ctr">
                        <a:lnSpc>
                          <a:spcPct val="100000"/>
                        </a:lnSpc>
                      </a:pPr>
                      <a:r>
                        <a:rPr sz="1600" b="1" spc="-10" dirty="0">
                          <a:latin typeface="Times New Roman"/>
                          <a:cs typeface="Times New Roman"/>
                        </a:rPr>
                        <a:t>ADVANTAGE</a:t>
                      </a:r>
                      <a:endParaRPr sz="1600">
                        <a:latin typeface="Times New Roman"/>
                        <a:cs typeface="Times New Roman"/>
                      </a:endParaRPr>
                    </a:p>
                    <a:p>
                      <a:pPr marL="5715" algn="ctr">
                        <a:lnSpc>
                          <a:spcPct val="100000"/>
                        </a:lnSpc>
                      </a:pPr>
                      <a:r>
                        <a:rPr sz="1600" b="1" spc="-50" dirty="0">
                          <a:latin typeface="Times New Roman"/>
                          <a:cs typeface="Times New Roman"/>
                        </a:rPr>
                        <a:t>S</a:t>
                      </a:r>
                      <a:endParaRPr sz="1600">
                        <a:latin typeface="Times New Roman"/>
                        <a:cs typeface="Times New Roman"/>
                      </a:endParaRPr>
                    </a:p>
                  </a:txBody>
                  <a:tcPr marL="0" marR="0" marT="482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380"/>
                        </a:spcBef>
                      </a:pPr>
                      <a:endParaRPr sz="1600">
                        <a:latin typeface="Times New Roman"/>
                        <a:cs typeface="Times New Roman"/>
                      </a:endParaRPr>
                    </a:p>
                    <a:p>
                      <a:pPr marL="4445" algn="ctr">
                        <a:lnSpc>
                          <a:spcPct val="100000"/>
                        </a:lnSpc>
                      </a:pPr>
                      <a:r>
                        <a:rPr sz="1600" b="1" spc="-10" dirty="0">
                          <a:latin typeface="Times New Roman"/>
                          <a:cs typeface="Times New Roman"/>
                        </a:rPr>
                        <a:t>DISADVANTAGE</a:t>
                      </a:r>
                      <a:endParaRPr sz="1600">
                        <a:latin typeface="Times New Roman"/>
                        <a:cs typeface="Times New Roman"/>
                      </a:endParaRPr>
                    </a:p>
                    <a:p>
                      <a:pPr marL="6350" algn="ctr">
                        <a:lnSpc>
                          <a:spcPct val="100000"/>
                        </a:lnSpc>
                      </a:pPr>
                      <a:r>
                        <a:rPr sz="1600" b="1" spc="-50" dirty="0">
                          <a:latin typeface="Times New Roman"/>
                          <a:cs typeface="Times New Roman"/>
                        </a:rPr>
                        <a:t>S</a:t>
                      </a:r>
                      <a:endParaRPr sz="1600">
                        <a:latin typeface="Times New Roman"/>
                        <a:cs typeface="Times New Roman"/>
                      </a:endParaRPr>
                    </a:p>
                  </a:txBody>
                  <a:tcPr marL="0" marR="0" marT="482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1677670">
                <a:tc>
                  <a:txBody>
                    <a:bodyPr/>
                    <a:lstStyle/>
                    <a:p>
                      <a:pPr marL="91440" marR="167640">
                        <a:lnSpc>
                          <a:spcPct val="100000"/>
                        </a:lnSpc>
                        <a:spcBef>
                          <a:spcPts val="305"/>
                        </a:spcBef>
                      </a:pPr>
                      <a:r>
                        <a:rPr sz="1600" dirty="0">
                          <a:latin typeface="Times New Roman"/>
                          <a:cs typeface="Times New Roman"/>
                        </a:rPr>
                        <a:t>Intelligent</a:t>
                      </a:r>
                      <a:r>
                        <a:rPr sz="1600" spc="-65" dirty="0">
                          <a:latin typeface="Times New Roman"/>
                          <a:cs typeface="Times New Roman"/>
                        </a:rPr>
                        <a:t> </a:t>
                      </a:r>
                      <a:r>
                        <a:rPr sz="1600" spc="-10" dirty="0">
                          <a:latin typeface="Times New Roman"/>
                          <a:cs typeface="Times New Roman"/>
                        </a:rPr>
                        <a:t>Detection </a:t>
                      </a:r>
                      <a:r>
                        <a:rPr sz="1600" dirty="0">
                          <a:latin typeface="Times New Roman"/>
                          <a:cs typeface="Times New Roman"/>
                        </a:rPr>
                        <a:t>method</a:t>
                      </a:r>
                      <a:r>
                        <a:rPr sz="1600" spc="-45" dirty="0">
                          <a:latin typeface="Times New Roman"/>
                          <a:cs typeface="Times New Roman"/>
                        </a:rPr>
                        <a:t> </a:t>
                      </a:r>
                      <a:r>
                        <a:rPr sz="1600" dirty="0">
                          <a:latin typeface="Times New Roman"/>
                          <a:cs typeface="Times New Roman"/>
                        </a:rPr>
                        <a:t>for</a:t>
                      </a:r>
                      <a:r>
                        <a:rPr sz="1600" spc="-20" dirty="0">
                          <a:latin typeface="Times New Roman"/>
                          <a:cs typeface="Times New Roman"/>
                        </a:rPr>
                        <a:t> </a:t>
                      </a:r>
                      <a:r>
                        <a:rPr sz="1600" spc="-10" dirty="0">
                          <a:latin typeface="Times New Roman"/>
                          <a:cs typeface="Times New Roman"/>
                        </a:rPr>
                        <a:t>concrete </a:t>
                      </a:r>
                      <a:r>
                        <a:rPr sz="1600" dirty="0">
                          <a:latin typeface="Times New Roman"/>
                          <a:cs typeface="Times New Roman"/>
                        </a:rPr>
                        <a:t>dam</a:t>
                      </a:r>
                      <a:r>
                        <a:rPr sz="1600" spc="-40" dirty="0">
                          <a:latin typeface="Times New Roman"/>
                          <a:cs typeface="Times New Roman"/>
                        </a:rPr>
                        <a:t> </a:t>
                      </a:r>
                      <a:r>
                        <a:rPr sz="1600" dirty="0">
                          <a:latin typeface="Times New Roman"/>
                          <a:cs typeface="Times New Roman"/>
                        </a:rPr>
                        <a:t>surface</a:t>
                      </a:r>
                      <a:r>
                        <a:rPr sz="1600" spc="-25" dirty="0">
                          <a:latin typeface="Times New Roman"/>
                          <a:cs typeface="Times New Roman"/>
                        </a:rPr>
                        <a:t> </a:t>
                      </a:r>
                      <a:r>
                        <a:rPr sz="1600" spc="-10" dirty="0">
                          <a:latin typeface="Times New Roman"/>
                          <a:cs typeface="Times New Roman"/>
                        </a:rPr>
                        <a:t>cracks </a:t>
                      </a:r>
                      <a:r>
                        <a:rPr sz="1600" dirty="0">
                          <a:latin typeface="Times New Roman"/>
                          <a:cs typeface="Times New Roman"/>
                        </a:rPr>
                        <a:t>based</a:t>
                      </a:r>
                      <a:r>
                        <a:rPr sz="1600" spc="-35" dirty="0">
                          <a:latin typeface="Times New Roman"/>
                          <a:cs typeface="Times New Roman"/>
                        </a:rPr>
                        <a:t> </a:t>
                      </a:r>
                      <a:r>
                        <a:rPr sz="1600" dirty="0">
                          <a:latin typeface="Times New Roman"/>
                          <a:cs typeface="Times New Roman"/>
                        </a:rPr>
                        <a:t>on</a:t>
                      </a:r>
                      <a:r>
                        <a:rPr sz="1600" spc="-30" dirty="0">
                          <a:latin typeface="Times New Roman"/>
                          <a:cs typeface="Times New Roman"/>
                        </a:rPr>
                        <a:t> </a:t>
                      </a:r>
                      <a:r>
                        <a:rPr sz="1600" dirty="0">
                          <a:latin typeface="Times New Roman"/>
                          <a:cs typeface="Times New Roman"/>
                        </a:rPr>
                        <a:t>two</a:t>
                      </a:r>
                      <a:r>
                        <a:rPr sz="1600" spc="-5" dirty="0">
                          <a:latin typeface="Times New Roman"/>
                          <a:cs typeface="Times New Roman"/>
                        </a:rPr>
                        <a:t> </a:t>
                      </a:r>
                      <a:r>
                        <a:rPr sz="1600" spc="-20" dirty="0">
                          <a:latin typeface="Times New Roman"/>
                          <a:cs typeface="Times New Roman"/>
                        </a:rPr>
                        <a:t>stage </a:t>
                      </a:r>
                      <a:r>
                        <a:rPr sz="1600" dirty="0">
                          <a:latin typeface="Times New Roman"/>
                          <a:cs typeface="Times New Roman"/>
                        </a:rPr>
                        <a:t>transfer</a:t>
                      </a:r>
                      <a:r>
                        <a:rPr sz="1600" spc="-65" dirty="0">
                          <a:latin typeface="Times New Roman"/>
                          <a:cs typeface="Times New Roman"/>
                        </a:rPr>
                        <a:t> </a:t>
                      </a:r>
                      <a:r>
                        <a:rPr sz="1600" spc="-10" dirty="0">
                          <a:latin typeface="Times New Roman"/>
                          <a:cs typeface="Times New Roman"/>
                        </a:rPr>
                        <a:t>learning</a:t>
                      </a:r>
                      <a:endParaRPr sz="160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marR="67310">
                        <a:lnSpc>
                          <a:spcPct val="100000"/>
                        </a:lnSpc>
                        <a:spcBef>
                          <a:spcPts val="305"/>
                        </a:spcBef>
                      </a:pPr>
                      <a:r>
                        <a:rPr sz="1600" dirty="0">
                          <a:latin typeface="Times New Roman"/>
                          <a:cs typeface="Times New Roman"/>
                        </a:rPr>
                        <a:t>Jianyuan</a:t>
                      </a:r>
                      <a:r>
                        <a:rPr sz="1600" spc="-60" dirty="0">
                          <a:latin typeface="Times New Roman"/>
                          <a:cs typeface="Times New Roman"/>
                        </a:rPr>
                        <a:t> </a:t>
                      </a:r>
                      <a:r>
                        <a:rPr sz="1600" spc="-25" dirty="0">
                          <a:latin typeface="Times New Roman"/>
                          <a:cs typeface="Times New Roman"/>
                        </a:rPr>
                        <a:t>Li</a:t>
                      </a:r>
                      <a:endParaRPr sz="1600">
                        <a:latin typeface="Times New Roman"/>
                        <a:cs typeface="Times New Roman"/>
                      </a:endParaRPr>
                    </a:p>
                    <a:p>
                      <a:pPr marL="92075" marR="67310">
                        <a:lnSpc>
                          <a:spcPct val="100000"/>
                        </a:lnSpc>
                      </a:pPr>
                      <a:r>
                        <a:rPr sz="1600" dirty="0">
                          <a:latin typeface="Times New Roman"/>
                          <a:cs typeface="Times New Roman"/>
                        </a:rPr>
                        <a:t>,Xiaochun</a:t>
                      </a:r>
                      <a:r>
                        <a:rPr sz="1600" spc="-55" dirty="0">
                          <a:latin typeface="Times New Roman"/>
                          <a:cs typeface="Times New Roman"/>
                        </a:rPr>
                        <a:t> </a:t>
                      </a:r>
                      <a:r>
                        <a:rPr sz="1600" dirty="0">
                          <a:latin typeface="Times New Roman"/>
                          <a:cs typeface="Times New Roman"/>
                        </a:rPr>
                        <a:t>lu,</a:t>
                      </a:r>
                      <a:r>
                        <a:rPr sz="1600" spc="-20" dirty="0">
                          <a:latin typeface="Times New Roman"/>
                          <a:cs typeface="Times New Roman"/>
                        </a:rPr>
                        <a:t> Ping</a:t>
                      </a:r>
                      <a:endParaRPr sz="1600">
                        <a:latin typeface="Times New Roman"/>
                        <a:cs typeface="Times New Roman"/>
                      </a:endParaRPr>
                    </a:p>
                    <a:p>
                      <a:pPr marL="92075" marR="67310">
                        <a:lnSpc>
                          <a:spcPct val="100000"/>
                        </a:lnSpc>
                      </a:pPr>
                      <a:r>
                        <a:rPr sz="1600" dirty="0">
                          <a:latin typeface="Times New Roman"/>
                          <a:cs typeface="Times New Roman"/>
                        </a:rPr>
                        <a:t>zhang,</a:t>
                      </a:r>
                      <a:r>
                        <a:rPr sz="1600" spc="-35" dirty="0">
                          <a:latin typeface="Times New Roman"/>
                          <a:cs typeface="Times New Roman"/>
                        </a:rPr>
                        <a:t> </a:t>
                      </a:r>
                      <a:r>
                        <a:rPr sz="1600" spc="-10" dirty="0">
                          <a:latin typeface="Times New Roman"/>
                          <a:cs typeface="Times New Roman"/>
                        </a:rPr>
                        <a:t>Qingquam</a:t>
                      </a:r>
                      <a:endParaRPr sz="160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marR="550545">
                        <a:lnSpc>
                          <a:spcPct val="100000"/>
                        </a:lnSpc>
                        <a:spcBef>
                          <a:spcPts val="305"/>
                        </a:spcBef>
                      </a:pPr>
                      <a:r>
                        <a:rPr sz="1600" spc="-20" dirty="0">
                          <a:latin typeface="Times New Roman"/>
                          <a:cs typeface="Times New Roman"/>
                        </a:rPr>
                        <a:t>Two</a:t>
                      </a:r>
                      <a:r>
                        <a:rPr sz="1600" spc="-80" dirty="0">
                          <a:latin typeface="Times New Roman"/>
                          <a:cs typeface="Times New Roman"/>
                        </a:rPr>
                        <a:t> </a:t>
                      </a:r>
                      <a:r>
                        <a:rPr sz="1600" spc="-10" dirty="0">
                          <a:latin typeface="Times New Roman"/>
                          <a:cs typeface="Times New Roman"/>
                        </a:rPr>
                        <a:t>stage transfer learning</a:t>
                      </a:r>
                      <a:endParaRPr sz="160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3345" marR="212090">
                        <a:lnSpc>
                          <a:spcPct val="100000"/>
                        </a:lnSpc>
                        <a:spcBef>
                          <a:spcPts val="305"/>
                        </a:spcBef>
                      </a:pPr>
                      <a:r>
                        <a:rPr sz="1600" dirty="0">
                          <a:latin typeface="Times New Roman"/>
                          <a:cs typeface="Times New Roman"/>
                        </a:rPr>
                        <a:t>High</a:t>
                      </a:r>
                      <a:r>
                        <a:rPr sz="1600" spc="-35" dirty="0">
                          <a:latin typeface="Times New Roman"/>
                          <a:cs typeface="Times New Roman"/>
                        </a:rPr>
                        <a:t> </a:t>
                      </a:r>
                      <a:r>
                        <a:rPr sz="1600" spc="-20" dirty="0">
                          <a:latin typeface="Times New Roman"/>
                          <a:cs typeface="Times New Roman"/>
                        </a:rPr>
                        <a:t>accuracy, </a:t>
                      </a:r>
                      <a:r>
                        <a:rPr sz="1600" spc="-10" dirty="0">
                          <a:latin typeface="Times New Roman"/>
                          <a:cs typeface="Times New Roman"/>
                        </a:rPr>
                        <a:t>Robustness, </a:t>
                      </a:r>
                      <a:r>
                        <a:rPr sz="1600" dirty="0">
                          <a:latin typeface="Times New Roman"/>
                          <a:cs typeface="Times New Roman"/>
                        </a:rPr>
                        <a:t>Reduced</a:t>
                      </a:r>
                      <a:r>
                        <a:rPr sz="1600" spc="-50" dirty="0">
                          <a:latin typeface="Times New Roman"/>
                          <a:cs typeface="Times New Roman"/>
                        </a:rPr>
                        <a:t> </a:t>
                      </a:r>
                      <a:r>
                        <a:rPr sz="1600" spc="-20" dirty="0">
                          <a:latin typeface="Times New Roman"/>
                          <a:cs typeface="Times New Roman"/>
                        </a:rPr>
                        <a:t>cost</a:t>
                      </a:r>
                      <a:endParaRPr sz="160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3345" marR="254635">
                        <a:lnSpc>
                          <a:spcPct val="100000"/>
                        </a:lnSpc>
                        <a:spcBef>
                          <a:spcPts val="305"/>
                        </a:spcBef>
                      </a:pPr>
                      <a:r>
                        <a:rPr sz="1600" dirty="0">
                          <a:latin typeface="Times New Roman"/>
                          <a:cs typeface="Times New Roman"/>
                        </a:rPr>
                        <a:t>Increased</a:t>
                      </a:r>
                      <a:r>
                        <a:rPr sz="1600" spc="-55" dirty="0">
                          <a:latin typeface="Times New Roman"/>
                          <a:cs typeface="Times New Roman"/>
                        </a:rPr>
                        <a:t> </a:t>
                      </a:r>
                      <a:r>
                        <a:rPr sz="1600" spc="-20" dirty="0">
                          <a:latin typeface="Times New Roman"/>
                          <a:cs typeface="Times New Roman"/>
                        </a:rPr>
                        <a:t>model complexity,Longer </a:t>
                      </a:r>
                      <a:r>
                        <a:rPr sz="1600" dirty="0">
                          <a:latin typeface="Times New Roman"/>
                          <a:cs typeface="Times New Roman"/>
                        </a:rPr>
                        <a:t>training</a:t>
                      </a:r>
                      <a:r>
                        <a:rPr sz="1600" spc="-60" dirty="0">
                          <a:latin typeface="Times New Roman"/>
                          <a:cs typeface="Times New Roman"/>
                        </a:rPr>
                        <a:t> </a:t>
                      </a:r>
                      <a:r>
                        <a:rPr sz="1600" spc="-20" dirty="0">
                          <a:latin typeface="Times New Roman"/>
                          <a:cs typeface="Times New Roman"/>
                        </a:rPr>
                        <a:t>time</a:t>
                      </a:r>
                      <a:endParaRPr sz="160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1554480">
                <a:tc>
                  <a:txBody>
                    <a:bodyPr/>
                    <a:lstStyle/>
                    <a:p>
                      <a:pPr marL="91440" marR="248285">
                        <a:lnSpc>
                          <a:spcPct val="100000"/>
                        </a:lnSpc>
                        <a:spcBef>
                          <a:spcPts val="310"/>
                        </a:spcBef>
                      </a:pPr>
                      <a:r>
                        <a:rPr sz="1600" dirty="0">
                          <a:latin typeface="Times New Roman"/>
                          <a:cs typeface="Times New Roman"/>
                        </a:rPr>
                        <a:t>IoT</a:t>
                      </a:r>
                      <a:r>
                        <a:rPr sz="1600" spc="-20" dirty="0">
                          <a:latin typeface="Times New Roman"/>
                          <a:cs typeface="Times New Roman"/>
                        </a:rPr>
                        <a:t> </a:t>
                      </a:r>
                      <a:r>
                        <a:rPr sz="1600" dirty="0">
                          <a:latin typeface="Times New Roman"/>
                          <a:cs typeface="Times New Roman"/>
                        </a:rPr>
                        <a:t>based</a:t>
                      </a:r>
                      <a:r>
                        <a:rPr sz="1600" spc="-55" dirty="0">
                          <a:latin typeface="Times New Roman"/>
                          <a:cs typeface="Times New Roman"/>
                        </a:rPr>
                        <a:t> </a:t>
                      </a:r>
                      <a:r>
                        <a:rPr sz="1600" spc="-20" dirty="0">
                          <a:latin typeface="Times New Roman"/>
                          <a:cs typeface="Times New Roman"/>
                        </a:rPr>
                        <a:t>crack </a:t>
                      </a:r>
                      <a:r>
                        <a:rPr sz="1600" dirty="0">
                          <a:latin typeface="Times New Roman"/>
                          <a:cs typeface="Times New Roman"/>
                        </a:rPr>
                        <a:t>detection</a:t>
                      </a:r>
                      <a:r>
                        <a:rPr sz="1600" spc="-60" dirty="0">
                          <a:latin typeface="Times New Roman"/>
                          <a:cs typeface="Times New Roman"/>
                        </a:rPr>
                        <a:t> </a:t>
                      </a:r>
                      <a:r>
                        <a:rPr sz="1600" spc="-25" dirty="0">
                          <a:latin typeface="Times New Roman"/>
                          <a:cs typeface="Times New Roman"/>
                        </a:rPr>
                        <a:t>and </a:t>
                      </a:r>
                      <a:r>
                        <a:rPr sz="1600" dirty="0">
                          <a:latin typeface="Times New Roman"/>
                          <a:cs typeface="Times New Roman"/>
                        </a:rPr>
                        <a:t>protection</a:t>
                      </a:r>
                      <a:r>
                        <a:rPr sz="1600" spc="-60" dirty="0">
                          <a:latin typeface="Times New Roman"/>
                          <a:cs typeface="Times New Roman"/>
                        </a:rPr>
                        <a:t> </a:t>
                      </a:r>
                      <a:r>
                        <a:rPr sz="1600" dirty="0">
                          <a:latin typeface="Times New Roman"/>
                          <a:cs typeface="Times New Roman"/>
                        </a:rPr>
                        <a:t>for</a:t>
                      </a:r>
                      <a:r>
                        <a:rPr sz="1600" spc="-25" dirty="0">
                          <a:latin typeface="Times New Roman"/>
                          <a:cs typeface="Times New Roman"/>
                        </a:rPr>
                        <a:t> </a:t>
                      </a:r>
                      <a:r>
                        <a:rPr sz="1600" spc="-20" dirty="0">
                          <a:latin typeface="Times New Roman"/>
                          <a:cs typeface="Times New Roman"/>
                        </a:rPr>
                        <a:t>dams</a:t>
                      </a:r>
                      <a:endParaRPr sz="1600">
                        <a:latin typeface="Times New Roman"/>
                        <a:cs typeface="Times New Roman"/>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marR="236220" algn="just">
                        <a:lnSpc>
                          <a:spcPct val="100000"/>
                        </a:lnSpc>
                        <a:spcBef>
                          <a:spcPts val="310"/>
                        </a:spcBef>
                      </a:pPr>
                      <a:r>
                        <a:rPr sz="1600" dirty="0">
                          <a:latin typeface="Times New Roman"/>
                          <a:cs typeface="Times New Roman"/>
                        </a:rPr>
                        <a:t>Bindu</a:t>
                      </a:r>
                      <a:r>
                        <a:rPr sz="1600" spc="-30" dirty="0">
                          <a:latin typeface="Times New Roman"/>
                          <a:cs typeface="Times New Roman"/>
                        </a:rPr>
                        <a:t> </a:t>
                      </a:r>
                      <a:r>
                        <a:rPr sz="1600" spc="-10" dirty="0">
                          <a:latin typeface="Times New Roman"/>
                          <a:cs typeface="Times New Roman"/>
                        </a:rPr>
                        <a:t>shula,Deepti </a:t>
                      </a:r>
                      <a:r>
                        <a:rPr sz="1600" dirty="0">
                          <a:latin typeface="Times New Roman"/>
                          <a:cs typeface="Times New Roman"/>
                        </a:rPr>
                        <a:t>p,Gowthami</a:t>
                      </a:r>
                      <a:r>
                        <a:rPr sz="1600" spc="-95" dirty="0">
                          <a:latin typeface="Times New Roman"/>
                          <a:cs typeface="Times New Roman"/>
                        </a:rPr>
                        <a:t> </a:t>
                      </a:r>
                      <a:r>
                        <a:rPr sz="1600" spc="-10" dirty="0">
                          <a:latin typeface="Times New Roman"/>
                          <a:cs typeface="Times New Roman"/>
                        </a:rPr>
                        <a:t>vittal, </a:t>
                      </a:r>
                      <a:r>
                        <a:rPr sz="1600" dirty="0">
                          <a:latin typeface="Times New Roman"/>
                          <a:cs typeface="Times New Roman"/>
                        </a:rPr>
                        <a:t>ManiDeeika</a:t>
                      </a:r>
                      <a:r>
                        <a:rPr sz="1600" spc="-40" dirty="0">
                          <a:latin typeface="Times New Roman"/>
                          <a:cs typeface="Times New Roman"/>
                        </a:rPr>
                        <a:t> </a:t>
                      </a:r>
                      <a:r>
                        <a:rPr sz="1600" dirty="0">
                          <a:latin typeface="Times New Roman"/>
                          <a:cs typeface="Times New Roman"/>
                        </a:rPr>
                        <a:t>J</a:t>
                      </a:r>
                      <a:r>
                        <a:rPr sz="1600" spc="-15" dirty="0">
                          <a:latin typeface="Times New Roman"/>
                          <a:cs typeface="Times New Roman"/>
                        </a:rPr>
                        <a:t> </a:t>
                      </a:r>
                      <a:r>
                        <a:rPr sz="1600" spc="-50" dirty="0">
                          <a:latin typeface="Times New Roman"/>
                          <a:cs typeface="Times New Roman"/>
                        </a:rPr>
                        <a:t>M</a:t>
                      </a:r>
                      <a:endParaRPr sz="1600">
                        <a:latin typeface="Times New Roman"/>
                        <a:cs typeface="Times New Roman"/>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marR="92075">
                        <a:lnSpc>
                          <a:spcPct val="100000"/>
                        </a:lnSpc>
                        <a:spcBef>
                          <a:spcPts val="310"/>
                        </a:spcBef>
                      </a:pPr>
                      <a:r>
                        <a:rPr sz="1600" spc="-10" dirty="0">
                          <a:latin typeface="Times New Roman"/>
                          <a:cs typeface="Times New Roman"/>
                        </a:rPr>
                        <a:t>Microcontroller &amp;sensors,Clou </a:t>
                      </a:r>
                      <a:r>
                        <a:rPr sz="1600" dirty="0">
                          <a:latin typeface="Times New Roman"/>
                          <a:cs typeface="Times New Roman"/>
                        </a:rPr>
                        <a:t>d</a:t>
                      </a:r>
                      <a:r>
                        <a:rPr sz="1600" spc="-10" dirty="0">
                          <a:latin typeface="Times New Roman"/>
                          <a:cs typeface="Times New Roman"/>
                        </a:rPr>
                        <a:t> integration</a:t>
                      </a:r>
                      <a:endParaRPr sz="1600">
                        <a:latin typeface="Times New Roman"/>
                        <a:cs typeface="Times New Roman"/>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13030" marR="328930" indent="-6350">
                        <a:lnSpc>
                          <a:spcPct val="107000"/>
                        </a:lnSpc>
                        <a:spcBef>
                          <a:spcPts val="160"/>
                        </a:spcBef>
                      </a:pPr>
                      <a:r>
                        <a:rPr sz="1600" dirty="0">
                          <a:latin typeface="Times New Roman"/>
                          <a:cs typeface="Times New Roman"/>
                        </a:rPr>
                        <a:t>Real</a:t>
                      </a:r>
                      <a:r>
                        <a:rPr sz="1600" spc="-30" dirty="0">
                          <a:latin typeface="Times New Roman"/>
                          <a:cs typeface="Times New Roman"/>
                        </a:rPr>
                        <a:t> </a:t>
                      </a:r>
                      <a:r>
                        <a:rPr sz="1600" spc="-20" dirty="0">
                          <a:latin typeface="Times New Roman"/>
                          <a:cs typeface="Times New Roman"/>
                        </a:rPr>
                        <a:t>time </a:t>
                      </a:r>
                      <a:r>
                        <a:rPr sz="1600" spc="-10" dirty="0">
                          <a:latin typeface="Times New Roman"/>
                          <a:cs typeface="Times New Roman"/>
                        </a:rPr>
                        <a:t>monitoring, </a:t>
                      </a:r>
                      <a:r>
                        <a:rPr sz="1600" dirty="0">
                          <a:latin typeface="Times New Roman"/>
                          <a:cs typeface="Times New Roman"/>
                        </a:rPr>
                        <a:t>cost</a:t>
                      </a:r>
                      <a:r>
                        <a:rPr sz="1600" spc="-45" dirty="0">
                          <a:latin typeface="Times New Roman"/>
                          <a:cs typeface="Times New Roman"/>
                        </a:rPr>
                        <a:t> </a:t>
                      </a:r>
                      <a:r>
                        <a:rPr sz="1600" spc="-10" dirty="0">
                          <a:latin typeface="Times New Roman"/>
                          <a:cs typeface="Times New Roman"/>
                        </a:rPr>
                        <a:t>effective</a:t>
                      </a:r>
                      <a:endParaRPr sz="1600">
                        <a:latin typeface="Times New Roman"/>
                        <a:cs typeface="Times New Roman"/>
                      </a:endParaRPr>
                    </a:p>
                  </a:txBody>
                  <a:tcPr marL="0" marR="0" marT="203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3345" marR="98425">
                        <a:lnSpc>
                          <a:spcPct val="100000"/>
                        </a:lnSpc>
                        <a:spcBef>
                          <a:spcPts val="310"/>
                        </a:spcBef>
                      </a:pPr>
                      <a:r>
                        <a:rPr sz="1600" dirty="0">
                          <a:latin typeface="Times New Roman"/>
                          <a:cs typeface="Times New Roman"/>
                        </a:rPr>
                        <a:t>Dependence</a:t>
                      </a:r>
                      <a:r>
                        <a:rPr sz="1600" spc="-85" dirty="0">
                          <a:latin typeface="Times New Roman"/>
                          <a:cs typeface="Times New Roman"/>
                        </a:rPr>
                        <a:t> </a:t>
                      </a:r>
                      <a:r>
                        <a:rPr sz="1600" spc="-25" dirty="0">
                          <a:latin typeface="Times New Roman"/>
                          <a:cs typeface="Times New Roman"/>
                        </a:rPr>
                        <a:t>on </a:t>
                      </a:r>
                      <a:r>
                        <a:rPr sz="1600" spc="-10" dirty="0">
                          <a:latin typeface="Times New Roman"/>
                          <a:cs typeface="Times New Roman"/>
                        </a:rPr>
                        <a:t>internet connectivity,Power </a:t>
                      </a:r>
                      <a:r>
                        <a:rPr sz="1600" dirty="0">
                          <a:latin typeface="Times New Roman"/>
                          <a:cs typeface="Times New Roman"/>
                        </a:rPr>
                        <a:t>supply</a:t>
                      </a:r>
                      <a:r>
                        <a:rPr sz="1600" spc="-30" dirty="0">
                          <a:latin typeface="Times New Roman"/>
                          <a:cs typeface="Times New Roman"/>
                        </a:rPr>
                        <a:t> </a:t>
                      </a:r>
                      <a:r>
                        <a:rPr sz="1600" spc="-10" dirty="0">
                          <a:latin typeface="Times New Roman"/>
                          <a:cs typeface="Times New Roman"/>
                        </a:rPr>
                        <a:t>issues,Sensor limitations</a:t>
                      </a:r>
                      <a:endParaRPr sz="1600">
                        <a:latin typeface="Times New Roman"/>
                        <a:cs typeface="Times New Roman"/>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1527175">
                <a:tc>
                  <a:txBody>
                    <a:bodyPr/>
                    <a:lstStyle/>
                    <a:p>
                      <a:pPr marL="91440" marR="167640">
                        <a:lnSpc>
                          <a:spcPct val="100000"/>
                        </a:lnSpc>
                        <a:spcBef>
                          <a:spcPts val="315"/>
                        </a:spcBef>
                      </a:pPr>
                      <a:r>
                        <a:rPr sz="1600" dirty="0">
                          <a:latin typeface="Times New Roman"/>
                          <a:cs typeface="Times New Roman"/>
                        </a:rPr>
                        <a:t>Ensemble</a:t>
                      </a:r>
                      <a:r>
                        <a:rPr sz="1600" spc="-40" dirty="0">
                          <a:latin typeface="Times New Roman"/>
                          <a:cs typeface="Times New Roman"/>
                        </a:rPr>
                        <a:t> </a:t>
                      </a:r>
                      <a:r>
                        <a:rPr sz="1600" dirty="0">
                          <a:latin typeface="Times New Roman"/>
                          <a:cs typeface="Times New Roman"/>
                        </a:rPr>
                        <a:t>of </a:t>
                      </a:r>
                      <a:r>
                        <a:rPr sz="1600" spc="-25" dirty="0">
                          <a:latin typeface="Times New Roman"/>
                          <a:cs typeface="Times New Roman"/>
                        </a:rPr>
                        <a:t>Dee </a:t>
                      </a:r>
                      <a:r>
                        <a:rPr sz="1600" spc="-10" dirty="0">
                          <a:latin typeface="Times New Roman"/>
                          <a:cs typeface="Times New Roman"/>
                        </a:rPr>
                        <a:t>convolutional</a:t>
                      </a:r>
                      <a:r>
                        <a:rPr sz="1600" spc="20" dirty="0">
                          <a:latin typeface="Times New Roman"/>
                          <a:cs typeface="Times New Roman"/>
                        </a:rPr>
                        <a:t> </a:t>
                      </a:r>
                      <a:r>
                        <a:rPr sz="1600" spc="-10" dirty="0">
                          <a:latin typeface="Times New Roman"/>
                          <a:cs typeface="Times New Roman"/>
                        </a:rPr>
                        <a:t>neural </a:t>
                      </a:r>
                      <a:r>
                        <a:rPr sz="1600" dirty="0">
                          <a:latin typeface="Times New Roman"/>
                          <a:cs typeface="Times New Roman"/>
                        </a:rPr>
                        <a:t>networks</a:t>
                      </a:r>
                      <a:r>
                        <a:rPr sz="1600" spc="-75" dirty="0">
                          <a:latin typeface="Times New Roman"/>
                          <a:cs typeface="Times New Roman"/>
                        </a:rPr>
                        <a:t> </a:t>
                      </a:r>
                      <a:r>
                        <a:rPr sz="1600" spc="-25" dirty="0">
                          <a:latin typeface="Times New Roman"/>
                          <a:cs typeface="Times New Roman"/>
                        </a:rPr>
                        <a:t>for </a:t>
                      </a:r>
                      <a:r>
                        <a:rPr sz="1600" dirty="0">
                          <a:latin typeface="Times New Roman"/>
                          <a:cs typeface="Times New Roman"/>
                        </a:rPr>
                        <a:t>automatic</a:t>
                      </a:r>
                      <a:r>
                        <a:rPr sz="1600" spc="-65" dirty="0">
                          <a:latin typeface="Times New Roman"/>
                          <a:cs typeface="Times New Roman"/>
                        </a:rPr>
                        <a:t> </a:t>
                      </a:r>
                      <a:r>
                        <a:rPr sz="1600" spc="-10" dirty="0">
                          <a:latin typeface="Times New Roman"/>
                          <a:cs typeface="Times New Roman"/>
                        </a:rPr>
                        <a:t>pavement </a:t>
                      </a:r>
                      <a:r>
                        <a:rPr sz="1600" dirty="0">
                          <a:latin typeface="Times New Roman"/>
                          <a:cs typeface="Times New Roman"/>
                        </a:rPr>
                        <a:t>crack</a:t>
                      </a:r>
                      <a:r>
                        <a:rPr sz="1600" spc="-70" dirty="0">
                          <a:latin typeface="Times New Roman"/>
                          <a:cs typeface="Times New Roman"/>
                        </a:rPr>
                        <a:t> </a:t>
                      </a:r>
                      <a:r>
                        <a:rPr sz="1600" dirty="0">
                          <a:latin typeface="Times New Roman"/>
                          <a:cs typeface="Times New Roman"/>
                        </a:rPr>
                        <a:t>detection</a:t>
                      </a:r>
                      <a:r>
                        <a:rPr sz="1600" spc="-40" dirty="0">
                          <a:latin typeface="Times New Roman"/>
                          <a:cs typeface="Times New Roman"/>
                        </a:rPr>
                        <a:t> </a:t>
                      </a:r>
                      <a:r>
                        <a:rPr sz="1600" spc="-50" dirty="0">
                          <a:latin typeface="Times New Roman"/>
                          <a:cs typeface="Times New Roman"/>
                        </a:rPr>
                        <a:t>&amp; </a:t>
                      </a:r>
                      <a:r>
                        <a:rPr sz="1600" spc="-10" dirty="0">
                          <a:latin typeface="Times New Roman"/>
                          <a:cs typeface="Times New Roman"/>
                        </a:rPr>
                        <a:t>measurment</a:t>
                      </a:r>
                      <a:endParaRPr sz="16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tcPr>
                </a:tc>
                <a:tc>
                  <a:txBody>
                    <a:bodyPr/>
                    <a:lstStyle/>
                    <a:p>
                      <a:pPr marL="92075" marR="215900">
                        <a:lnSpc>
                          <a:spcPct val="100000"/>
                        </a:lnSpc>
                        <a:spcBef>
                          <a:spcPts val="315"/>
                        </a:spcBef>
                      </a:pPr>
                      <a:r>
                        <a:rPr sz="1600" dirty="0">
                          <a:latin typeface="Times New Roman"/>
                          <a:cs typeface="Times New Roman"/>
                        </a:rPr>
                        <a:t>Zhun</a:t>
                      </a:r>
                      <a:r>
                        <a:rPr sz="1600" spc="-45" dirty="0">
                          <a:latin typeface="Times New Roman"/>
                          <a:cs typeface="Times New Roman"/>
                        </a:rPr>
                        <a:t> </a:t>
                      </a:r>
                      <a:r>
                        <a:rPr sz="1600" dirty="0">
                          <a:latin typeface="Times New Roman"/>
                          <a:cs typeface="Times New Roman"/>
                        </a:rPr>
                        <a:t>fan,</a:t>
                      </a:r>
                      <a:r>
                        <a:rPr sz="1600" spc="-25" dirty="0">
                          <a:latin typeface="Times New Roman"/>
                          <a:cs typeface="Times New Roman"/>
                        </a:rPr>
                        <a:t> </a:t>
                      </a:r>
                      <a:r>
                        <a:rPr sz="1600" dirty="0">
                          <a:latin typeface="Times New Roman"/>
                          <a:cs typeface="Times New Roman"/>
                        </a:rPr>
                        <a:t>Chong</a:t>
                      </a:r>
                      <a:r>
                        <a:rPr sz="1600" spc="-65" dirty="0">
                          <a:latin typeface="Times New Roman"/>
                          <a:cs typeface="Times New Roman"/>
                        </a:rPr>
                        <a:t> </a:t>
                      </a:r>
                      <a:r>
                        <a:rPr sz="1600" spc="-25" dirty="0">
                          <a:latin typeface="Times New Roman"/>
                          <a:cs typeface="Times New Roman"/>
                        </a:rPr>
                        <a:t>li, </a:t>
                      </a:r>
                      <a:r>
                        <a:rPr sz="1600" dirty="0">
                          <a:latin typeface="Times New Roman"/>
                          <a:cs typeface="Times New Roman"/>
                        </a:rPr>
                        <a:t>ing</a:t>
                      </a:r>
                      <a:r>
                        <a:rPr sz="1600" spc="-45" dirty="0">
                          <a:latin typeface="Times New Roman"/>
                          <a:cs typeface="Times New Roman"/>
                        </a:rPr>
                        <a:t> </a:t>
                      </a:r>
                      <a:r>
                        <a:rPr sz="1600" dirty="0">
                          <a:latin typeface="Times New Roman"/>
                          <a:cs typeface="Times New Roman"/>
                        </a:rPr>
                        <a:t>chen,</a:t>
                      </a:r>
                      <a:r>
                        <a:rPr sz="1600" spc="-55" dirty="0">
                          <a:latin typeface="Times New Roman"/>
                          <a:cs typeface="Times New Roman"/>
                        </a:rPr>
                        <a:t> </a:t>
                      </a:r>
                      <a:r>
                        <a:rPr sz="1600" dirty="0">
                          <a:latin typeface="Times New Roman"/>
                          <a:cs typeface="Times New Roman"/>
                        </a:rPr>
                        <a:t>Paola</a:t>
                      </a:r>
                      <a:r>
                        <a:rPr sz="1600" spc="15" dirty="0">
                          <a:latin typeface="Times New Roman"/>
                          <a:cs typeface="Times New Roman"/>
                        </a:rPr>
                        <a:t> </a:t>
                      </a:r>
                      <a:r>
                        <a:rPr sz="1600" spc="-25" dirty="0">
                          <a:latin typeface="Times New Roman"/>
                          <a:cs typeface="Times New Roman"/>
                        </a:rPr>
                        <a:t>Di </a:t>
                      </a:r>
                      <a:r>
                        <a:rPr sz="1600" dirty="0">
                          <a:latin typeface="Times New Roman"/>
                          <a:cs typeface="Times New Roman"/>
                        </a:rPr>
                        <a:t>mascio,</a:t>
                      </a:r>
                      <a:r>
                        <a:rPr sz="1600" spc="-30" dirty="0">
                          <a:latin typeface="Times New Roman"/>
                          <a:cs typeface="Times New Roman"/>
                        </a:rPr>
                        <a:t> </a:t>
                      </a:r>
                      <a:r>
                        <a:rPr sz="1600" dirty="0">
                          <a:latin typeface="Times New Roman"/>
                          <a:cs typeface="Times New Roman"/>
                        </a:rPr>
                        <a:t>Guijie</a:t>
                      </a:r>
                      <a:r>
                        <a:rPr sz="1600" spc="-20" dirty="0">
                          <a:latin typeface="Times New Roman"/>
                          <a:cs typeface="Times New Roman"/>
                        </a:rPr>
                        <a:t> </a:t>
                      </a:r>
                      <a:r>
                        <a:rPr sz="1600" spc="-25" dirty="0">
                          <a:latin typeface="Times New Roman"/>
                          <a:cs typeface="Times New Roman"/>
                        </a:rPr>
                        <a:t>zhu</a:t>
                      </a:r>
                      <a:endParaRPr sz="1600">
                        <a:latin typeface="Times New Roman"/>
                        <a:cs typeface="Times New Roman"/>
                      </a:endParaRPr>
                    </a:p>
                    <a:p>
                      <a:pPr marR="67310">
                        <a:lnSpc>
                          <a:spcPct val="100000"/>
                        </a:lnSpc>
                        <a:spcBef>
                          <a:spcPts val="875"/>
                        </a:spcBef>
                      </a:pPr>
                      <a:endParaRPr sz="1600">
                        <a:latin typeface="Times New Roman"/>
                        <a:cs typeface="Times New Roman"/>
                      </a:endParaRPr>
                    </a:p>
                    <a:p>
                      <a:pPr algn="r">
                        <a:lnSpc>
                          <a:spcPct val="100000"/>
                        </a:lnSpc>
                        <a:spcBef>
                          <a:spcPts val="5"/>
                        </a:spcBef>
                      </a:pPr>
                      <a:r>
                        <a:rPr sz="1200" spc="-25" dirty="0">
                          <a:latin typeface="Arial MT"/>
                          <a:cs typeface="Arial MT"/>
                        </a:rPr>
                        <a:t>Dep</a:t>
                      </a:r>
                      <a:endParaRPr sz="1200">
                        <a:latin typeface="Arial MT"/>
                        <a:cs typeface="Arial MT"/>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tcPr>
                </a:tc>
                <a:tc>
                  <a:txBody>
                    <a:bodyPr/>
                    <a:lstStyle/>
                    <a:p>
                      <a:pPr marL="92710" marR="103505">
                        <a:lnSpc>
                          <a:spcPct val="100000"/>
                        </a:lnSpc>
                        <a:spcBef>
                          <a:spcPts val="315"/>
                        </a:spcBef>
                      </a:pPr>
                      <a:r>
                        <a:rPr sz="1600" spc="-10" dirty="0">
                          <a:latin typeface="Times New Roman"/>
                          <a:cs typeface="Times New Roman"/>
                        </a:rPr>
                        <a:t>Ensemble </a:t>
                      </a:r>
                      <a:r>
                        <a:rPr sz="1600" dirty="0">
                          <a:latin typeface="Times New Roman"/>
                          <a:cs typeface="Times New Roman"/>
                        </a:rPr>
                        <a:t>learning</a:t>
                      </a:r>
                      <a:r>
                        <a:rPr sz="1600" spc="-60" dirty="0">
                          <a:latin typeface="Times New Roman"/>
                          <a:cs typeface="Times New Roman"/>
                        </a:rPr>
                        <a:t> </a:t>
                      </a:r>
                      <a:r>
                        <a:rPr sz="1600" spc="-20" dirty="0">
                          <a:latin typeface="Times New Roman"/>
                          <a:cs typeface="Times New Roman"/>
                        </a:rPr>
                        <a:t>with </a:t>
                      </a:r>
                      <a:r>
                        <a:rPr sz="1600" spc="-10" dirty="0">
                          <a:latin typeface="Times New Roman"/>
                          <a:cs typeface="Times New Roman"/>
                        </a:rPr>
                        <a:t>CNNs,Morphol </a:t>
                      </a:r>
                      <a:r>
                        <a:rPr sz="1600" dirty="0">
                          <a:latin typeface="Times New Roman"/>
                          <a:cs typeface="Times New Roman"/>
                        </a:rPr>
                        <a:t>ogical</a:t>
                      </a:r>
                      <a:r>
                        <a:rPr sz="1600" spc="-40" dirty="0">
                          <a:latin typeface="Times New Roman"/>
                          <a:cs typeface="Times New Roman"/>
                        </a:rPr>
                        <a:t> </a:t>
                      </a:r>
                      <a:r>
                        <a:rPr sz="1600" spc="-10" dirty="0">
                          <a:latin typeface="Times New Roman"/>
                          <a:cs typeface="Times New Roman"/>
                        </a:rPr>
                        <a:t>crack</a:t>
                      </a:r>
                      <a:endParaRPr sz="1600">
                        <a:latin typeface="Times New Roman"/>
                        <a:cs typeface="Times New Roman"/>
                      </a:endParaRPr>
                    </a:p>
                    <a:p>
                      <a:pPr marL="67310">
                        <a:lnSpc>
                          <a:spcPct val="100000"/>
                        </a:lnSpc>
                        <a:spcBef>
                          <a:spcPts val="400"/>
                        </a:spcBef>
                      </a:pPr>
                      <a:r>
                        <a:rPr sz="1200" spc="-150" dirty="0">
                          <a:latin typeface="Arial MT"/>
                          <a:cs typeface="Arial MT"/>
                        </a:rPr>
                        <a:t>t</a:t>
                      </a:r>
                      <a:r>
                        <a:rPr sz="2400" spc="-1679" baseline="13888" dirty="0">
                          <a:latin typeface="Times New Roman"/>
                          <a:cs typeface="Times New Roman"/>
                        </a:rPr>
                        <a:t>m</a:t>
                      </a:r>
                      <a:r>
                        <a:rPr sz="1200" spc="-5" dirty="0">
                          <a:latin typeface="Arial MT"/>
                          <a:cs typeface="Arial MT"/>
                        </a:rPr>
                        <a:t>.</a:t>
                      </a:r>
                      <a:r>
                        <a:rPr sz="1200" spc="75" dirty="0">
                          <a:latin typeface="Arial MT"/>
                          <a:cs typeface="Arial MT"/>
                        </a:rPr>
                        <a:t> </a:t>
                      </a:r>
                      <a:r>
                        <a:rPr sz="1200" spc="-215" dirty="0">
                          <a:latin typeface="Arial MT"/>
                          <a:cs typeface="Arial MT"/>
                        </a:rPr>
                        <a:t>o</a:t>
                      </a:r>
                      <a:r>
                        <a:rPr sz="2400" spc="-780" baseline="13888" dirty="0">
                          <a:latin typeface="Times New Roman"/>
                          <a:cs typeface="Times New Roman"/>
                        </a:rPr>
                        <a:t>e</a:t>
                      </a:r>
                      <a:r>
                        <a:rPr sz="1200" spc="-10" dirty="0">
                          <a:latin typeface="Arial MT"/>
                          <a:cs typeface="Arial MT"/>
                        </a:rPr>
                        <a:t>f</a:t>
                      </a:r>
                      <a:r>
                        <a:rPr sz="1200" spc="-130" dirty="0">
                          <a:latin typeface="Arial MT"/>
                          <a:cs typeface="Arial MT"/>
                        </a:rPr>
                        <a:t> </a:t>
                      </a:r>
                      <a:r>
                        <a:rPr sz="2400" spc="-817" baseline="13888" dirty="0">
                          <a:latin typeface="Times New Roman"/>
                          <a:cs typeface="Times New Roman"/>
                        </a:rPr>
                        <a:t>a</a:t>
                      </a:r>
                      <a:r>
                        <a:rPr sz="1200" spc="-280" dirty="0">
                          <a:latin typeface="Arial MT"/>
                          <a:cs typeface="Arial MT"/>
                        </a:rPr>
                        <a:t>E</a:t>
                      </a:r>
                      <a:r>
                        <a:rPr sz="2400" spc="-569" baseline="13888" dirty="0">
                          <a:latin typeface="Times New Roman"/>
                          <a:cs typeface="Times New Roman"/>
                        </a:rPr>
                        <a:t>s</a:t>
                      </a:r>
                      <a:r>
                        <a:rPr sz="1200" spc="-509" dirty="0">
                          <a:latin typeface="Arial MT"/>
                          <a:cs typeface="Arial MT"/>
                        </a:rPr>
                        <a:t>C</a:t>
                      </a:r>
                      <a:r>
                        <a:rPr sz="2400" spc="-480" baseline="13888" dirty="0">
                          <a:latin typeface="Times New Roman"/>
                          <a:cs typeface="Times New Roman"/>
                        </a:rPr>
                        <a:t>u</a:t>
                      </a:r>
                      <a:r>
                        <a:rPr sz="1200" spc="-495" dirty="0">
                          <a:latin typeface="Arial MT"/>
                          <a:cs typeface="Arial MT"/>
                        </a:rPr>
                        <a:t>E</a:t>
                      </a:r>
                      <a:r>
                        <a:rPr sz="2400" spc="-37" baseline="13888" dirty="0">
                          <a:latin typeface="Times New Roman"/>
                          <a:cs typeface="Times New Roman"/>
                        </a:rPr>
                        <a:t>r</a:t>
                      </a:r>
                      <a:r>
                        <a:rPr sz="2400" spc="-630" baseline="13888" dirty="0">
                          <a:latin typeface="Times New Roman"/>
                          <a:cs typeface="Times New Roman"/>
                        </a:rPr>
                        <a:t>e</a:t>
                      </a:r>
                      <a:r>
                        <a:rPr sz="1200" spc="-290" dirty="0">
                          <a:latin typeface="Arial MT"/>
                          <a:cs typeface="Arial MT"/>
                        </a:rPr>
                        <a:t>2</a:t>
                      </a:r>
                      <a:r>
                        <a:rPr sz="2400" spc="-1477" baseline="13888" dirty="0">
                          <a:latin typeface="Times New Roman"/>
                          <a:cs typeface="Times New Roman"/>
                        </a:rPr>
                        <a:t>m</a:t>
                      </a:r>
                      <a:r>
                        <a:rPr sz="1200" spc="-10" dirty="0">
                          <a:latin typeface="Arial MT"/>
                          <a:cs typeface="Arial MT"/>
                        </a:rPr>
                        <a:t>0</a:t>
                      </a:r>
                      <a:r>
                        <a:rPr sz="1200" spc="-380" dirty="0">
                          <a:latin typeface="Arial MT"/>
                          <a:cs typeface="Arial MT"/>
                        </a:rPr>
                        <a:t>2</a:t>
                      </a:r>
                      <a:r>
                        <a:rPr sz="2400" spc="-532" baseline="13888" dirty="0">
                          <a:latin typeface="Times New Roman"/>
                          <a:cs typeface="Times New Roman"/>
                        </a:rPr>
                        <a:t>e</a:t>
                      </a:r>
                      <a:r>
                        <a:rPr sz="1200" spc="-355" dirty="0">
                          <a:latin typeface="Arial MT"/>
                          <a:cs typeface="Arial MT"/>
                        </a:rPr>
                        <a:t>5</a:t>
                      </a:r>
                      <a:r>
                        <a:rPr sz="2400" spc="-682" baseline="13888" dirty="0">
                          <a:latin typeface="Times New Roman"/>
                          <a:cs typeface="Times New Roman"/>
                        </a:rPr>
                        <a:t>n</a:t>
                      </a:r>
                      <a:r>
                        <a:rPr sz="1200" dirty="0">
                          <a:latin typeface="Arial MT"/>
                          <a:cs typeface="Arial MT"/>
                        </a:rPr>
                        <a:t>-</a:t>
                      </a:r>
                      <a:r>
                        <a:rPr sz="1200" spc="-635" dirty="0">
                          <a:latin typeface="Arial MT"/>
                          <a:cs typeface="Arial MT"/>
                        </a:rPr>
                        <a:t>2</a:t>
                      </a:r>
                      <a:r>
                        <a:rPr sz="2400" spc="-15" baseline="13888" dirty="0">
                          <a:latin typeface="Times New Roman"/>
                          <a:cs typeface="Times New Roman"/>
                        </a:rPr>
                        <a:t>t</a:t>
                      </a:r>
                      <a:r>
                        <a:rPr sz="2400" spc="-247" baseline="13888" dirty="0">
                          <a:latin typeface="Times New Roman"/>
                          <a:cs typeface="Times New Roman"/>
                        </a:rPr>
                        <a:t> </a:t>
                      </a:r>
                      <a:r>
                        <a:rPr sz="1200" spc="-50" dirty="0">
                          <a:latin typeface="Arial MT"/>
                          <a:cs typeface="Arial MT"/>
                        </a:rPr>
                        <a:t>6</a:t>
                      </a:r>
                      <a:endParaRPr sz="1200">
                        <a:latin typeface="Arial MT"/>
                        <a:cs typeface="Arial MT"/>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tcPr>
                </a:tc>
                <a:tc>
                  <a:txBody>
                    <a:bodyPr/>
                    <a:lstStyle/>
                    <a:p>
                      <a:pPr marL="93345" marR="95885">
                        <a:lnSpc>
                          <a:spcPct val="100000"/>
                        </a:lnSpc>
                        <a:spcBef>
                          <a:spcPts val="315"/>
                        </a:spcBef>
                      </a:pPr>
                      <a:r>
                        <a:rPr sz="1600" dirty="0">
                          <a:latin typeface="Times New Roman"/>
                          <a:cs typeface="Times New Roman"/>
                        </a:rPr>
                        <a:t>High</a:t>
                      </a:r>
                      <a:r>
                        <a:rPr sz="1600" spc="-35" dirty="0">
                          <a:latin typeface="Times New Roman"/>
                          <a:cs typeface="Times New Roman"/>
                        </a:rPr>
                        <a:t> </a:t>
                      </a:r>
                      <a:r>
                        <a:rPr sz="1600" spc="-10" dirty="0">
                          <a:latin typeface="Times New Roman"/>
                          <a:cs typeface="Times New Roman"/>
                        </a:rPr>
                        <a:t>detection accuracy, </a:t>
                      </a:r>
                      <a:r>
                        <a:rPr sz="1600" dirty="0">
                          <a:latin typeface="Times New Roman"/>
                          <a:cs typeface="Times New Roman"/>
                        </a:rPr>
                        <a:t>Handel</a:t>
                      </a:r>
                      <a:r>
                        <a:rPr sz="1600" spc="-60" dirty="0">
                          <a:latin typeface="Times New Roman"/>
                          <a:cs typeface="Times New Roman"/>
                        </a:rPr>
                        <a:t> </a:t>
                      </a:r>
                      <a:r>
                        <a:rPr sz="1600" spc="-10" dirty="0">
                          <a:latin typeface="Times New Roman"/>
                          <a:cs typeface="Times New Roman"/>
                        </a:rPr>
                        <a:t>complex cracks</a:t>
                      </a:r>
                      <a:endParaRPr sz="16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tcPr>
                </a:tc>
                <a:tc>
                  <a:txBody>
                    <a:bodyPr/>
                    <a:lstStyle/>
                    <a:p>
                      <a:pPr marL="93345" marR="227329">
                        <a:lnSpc>
                          <a:spcPct val="100000"/>
                        </a:lnSpc>
                        <a:spcBef>
                          <a:spcPts val="315"/>
                        </a:spcBef>
                      </a:pPr>
                      <a:r>
                        <a:rPr sz="1600" spc="-10" dirty="0">
                          <a:latin typeface="Times New Roman"/>
                          <a:cs typeface="Times New Roman"/>
                        </a:rPr>
                        <a:t>Computationally </a:t>
                      </a:r>
                      <a:r>
                        <a:rPr sz="1600" dirty="0">
                          <a:latin typeface="Times New Roman"/>
                          <a:cs typeface="Times New Roman"/>
                        </a:rPr>
                        <a:t>expensive,</a:t>
                      </a:r>
                      <a:r>
                        <a:rPr sz="1600" spc="-65" dirty="0">
                          <a:latin typeface="Times New Roman"/>
                          <a:cs typeface="Times New Roman"/>
                        </a:rPr>
                        <a:t> </a:t>
                      </a:r>
                      <a:r>
                        <a:rPr sz="1600" spc="-10" dirty="0">
                          <a:latin typeface="Times New Roman"/>
                          <a:cs typeface="Times New Roman"/>
                        </a:rPr>
                        <a:t>Limited </a:t>
                      </a:r>
                      <a:r>
                        <a:rPr sz="1600" dirty="0">
                          <a:latin typeface="Times New Roman"/>
                          <a:cs typeface="Times New Roman"/>
                        </a:rPr>
                        <a:t>to</a:t>
                      </a:r>
                      <a:r>
                        <a:rPr sz="1600" spc="-10" dirty="0">
                          <a:latin typeface="Times New Roman"/>
                          <a:cs typeface="Times New Roman"/>
                        </a:rPr>
                        <a:t> </a:t>
                      </a:r>
                      <a:r>
                        <a:rPr sz="1600" dirty="0">
                          <a:latin typeface="Times New Roman"/>
                          <a:cs typeface="Times New Roman"/>
                        </a:rPr>
                        <a:t>static</a:t>
                      </a:r>
                      <a:r>
                        <a:rPr sz="1600" spc="-35" dirty="0">
                          <a:latin typeface="Times New Roman"/>
                          <a:cs typeface="Times New Roman"/>
                        </a:rPr>
                        <a:t> </a:t>
                      </a:r>
                      <a:r>
                        <a:rPr sz="1600" spc="-10" dirty="0">
                          <a:latin typeface="Times New Roman"/>
                          <a:cs typeface="Times New Roman"/>
                        </a:rPr>
                        <a:t>images</a:t>
                      </a:r>
                      <a:endParaRPr sz="1600">
                        <a:latin typeface="Times New Roman"/>
                        <a:cs typeface="Times New Roman"/>
                      </a:endParaRPr>
                    </a:p>
                    <a:p>
                      <a:pPr>
                        <a:lnSpc>
                          <a:spcPct val="100000"/>
                        </a:lnSpc>
                        <a:spcBef>
                          <a:spcPts val="875"/>
                        </a:spcBef>
                      </a:pPr>
                      <a:endParaRPr sz="1600">
                        <a:latin typeface="Times New Roman"/>
                        <a:cs typeface="Times New Roman"/>
                      </a:endParaRPr>
                    </a:p>
                    <a:p>
                      <a:pPr marL="1245235">
                        <a:lnSpc>
                          <a:spcPct val="100000"/>
                        </a:lnSpc>
                        <a:spcBef>
                          <a:spcPts val="5"/>
                        </a:spcBef>
                      </a:pPr>
                      <a:r>
                        <a:rPr sz="1200" spc="-25" dirty="0">
                          <a:latin typeface="Arial MT"/>
                          <a:cs typeface="Arial MT"/>
                        </a:rPr>
                        <a:t>14</a:t>
                      </a:r>
                      <a:endParaRPr sz="1200">
                        <a:latin typeface="Arial MT"/>
                        <a:cs typeface="Arial MT"/>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tcPr>
                </a:tc>
                <a:extLst>
                  <a:ext uri="{0D108BD9-81ED-4DB2-BD59-A6C34878D82A}">
                    <a16:rowId xmlns:a16="http://schemas.microsoft.com/office/drawing/2014/main" val="10003"/>
                  </a:ext>
                </a:extLst>
              </a:tr>
            </a:tbl>
          </a:graphicData>
        </a:graphic>
      </p:graphicFrame>
      <p:sp>
        <p:nvSpPr>
          <p:cNvPr id="3" name="object 3"/>
          <p:cNvSpPr txBox="1">
            <a:spLocks noGrp="1"/>
          </p:cNvSpPr>
          <p:nvPr>
            <p:ph type="title"/>
          </p:nvPr>
        </p:nvSpPr>
        <p:spPr>
          <a:xfrm>
            <a:off x="866952" y="160781"/>
            <a:ext cx="6933565" cy="406400"/>
          </a:xfrm>
          <a:prstGeom prst="rect">
            <a:avLst/>
          </a:prstGeom>
        </p:spPr>
        <p:txBody>
          <a:bodyPr vert="horz" wrap="square" lIns="0" tIns="12065" rIns="0" bIns="0" rtlCol="0">
            <a:spAutoFit/>
          </a:bodyPr>
          <a:lstStyle/>
          <a:p>
            <a:pPr marL="12700">
              <a:lnSpc>
                <a:spcPct val="100000"/>
              </a:lnSpc>
              <a:spcBef>
                <a:spcPts val="95"/>
              </a:spcBef>
            </a:pPr>
            <a:r>
              <a:rPr sz="2500" dirty="0"/>
              <a:t>LITERATURE</a:t>
            </a:r>
            <a:r>
              <a:rPr sz="2500" spc="-25" dirty="0"/>
              <a:t> </a:t>
            </a:r>
            <a:r>
              <a:rPr sz="2500" dirty="0"/>
              <a:t>SURVEY</a:t>
            </a:r>
            <a:r>
              <a:rPr sz="2500" spc="-60" dirty="0"/>
              <a:t> </a:t>
            </a:r>
            <a:r>
              <a:rPr sz="2500" spc="-10" dirty="0"/>
              <a:t>COMPARISON</a:t>
            </a:r>
            <a:r>
              <a:rPr sz="2500" spc="-30" dirty="0"/>
              <a:t> </a:t>
            </a:r>
            <a:r>
              <a:rPr sz="2500" spc="-10" dirty="0"/>
              <a:t>TABLE</a:t>
            </a:r>
            <a:endParaRPr sz="25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551687" y="420623"/>
            <a:ext cx="7888605" cy="5934710"/>
          </a:xfrm>
          <a:custGeom>
            <a:avLst/>
            <a:gdLst/>
            <a:ahLst/>
            <a:cxnLst/>
            <a:rect l="l" t="t" r="r" b="b"/>
            <a:pathLst>
              <a:path w="7888605" h="5934710">
                <a:moveTo>
                  <a:pt x="0" y="5934456"/>
                </a:moveTo>
                <a:lnTo>
                  <a:pt x="7888223" y="5934456"/>
                </a:lnTo>
                <a:lnTo>
                  <a:pt x="7888223" y="0"/>
                </a:lnTo>
                <a:lnTo>
                  <a:pt x="0" y="0"/>
                </a:lnTo>
                <a:lnTo>
                  <a:pt x="0" y="5934456"/>
                </a:lnTo>
                <a:close/>
              </a:path>
            </a:pathLst>
          </a:custGeom>
          <a:ln w="12192">
            <a:solidFill>
              <a:srgbClr val="6FAC46"/>
            </a:solidFill>
          </a:ln>
        </p:spPr>
        <p:txBody>
          <a:bodyPr wrap="square" lIns="0" tIns="0" rIns="0" bIns="0" rtlCol="0"/>
          <a:lstStyle/>
          <a:p>
            <a:endParaRPr/>
          </a:p>
        </p:txBody>
      </p:sp>
      <p:sp>
        <p:nvSpPr>
          <p:cNvPr id="3" name="object 3"/>
          <p:cNvSpPr txBox="1">
            <a:spLocks noGrp="1"/>
          </p:cNvSpPr>
          <p:nvPr>
            <p:ph type="title"/>
          </p:nvPr>
        </p:nvSpPr>
        <p:spPr>
          <a:xfrm>
            <a:off x="1350644" y="452088"/>
            <a:ext cx="5612130" cy="635000"/>
          </a:xfrm>
          <a:prstGeom prst="rect">
            <a:avLst/>
          </a:prstGeom>
        </p:spPr>
        <p:txBody>
          <a:bodyPr vert="horz" wrap="square" lIns="0" tIns="27305" rIns="0" bIns="0" rtlCol="0">
            <a:spAutoFit/>
          </a:bodyPr>
          <a:lstStyle/>
          <a:p>
            <a:pPr marL="433705">
              <a:lnSpc>
                <a:spcPct val="100000"/>
              </a:lnSpc>
              <a:spcBef>
                <a:spcPts val="215"/>
              </a:spcBef>
            </a:pPr>
            <a:r>
              <a:rPr sz="1900" dirty="0"/>
              <a:t>PROPOSED</a:t>
            </a:r>
            <a:r>
              <a:rPr sz="1900" spc="5" dirty="0"/>
              <a:t> </a:t>
            </a:r>
            <a:r>
              <a:rPr sz="1900" spc="-10" dirty="0"/>
              <a:t>METHODOLOGY</a:t>
            </a:r>
            <a:r>
              <a:rPr sz="1900" spc="-85" dirty="0"/>
              <a:t> </a:t>
            </a:r>
            <a:r>
              <a:rPr sz="1900" dirty="0"/>
              <a:t>–</a:t>
            </a:r>
            <a:r>
              <a:rPr sz="1900" spc="-60" dirty="0"/>
              <a:t> </a:t>
            </a:r>
            <a:r>
              <a:rPr sz="1900" dirty="0"/>
              <a:t>Block</a:t>
            </a:r>
            <a:r>
              <a:rPr sz="1900" spc="-75" dirty="0"/>
              <a:t> </a:t>
            </a:r>
            <a:r>
              <a:rPr sz="1900" spc="-10" dirty="0"/>
              <a:t>Diagram</a:t>
            </a:r>
            <a:endParaRPr sz="1900"/>
          </a:p>
          <a:p>
            <a:pPr marL="12700">
              <a:lnSpc>
                <a:spcPct val="100000"/>
              </a:lnSpc>
              <a:spcBef>
                <a:spcPts val="120"/>
              </a:spcBef>
            </a:pPr>
            <a:r>
              <a:rPr sz="1900" b="0" spc="-10" dirty="0">
                <a:latin typeface="Times New Roman"/>
                <a:cs typeface="Times New Roman"/>
              </a:rPr>
              <a:t>input</a:t>
            </a:r>
            <a:endParaRPr sz="1900">
              <a:latin typeface="Times New Roman"/>
              <a:cs typeface="Times New Roman"/>
            </a:endParaRPr>
          </a:p>
        </p:txBody>
      </p:sp>
      <p:sp>
        <p:nvSpPr>
          <p:cNvPr id="4" name="object 4"/>
          <p:cNvSpPr txBox="1"/>
          <p:nvPr/>
        </p:nvSpPr>
        <p:spPr>
          <a:xfrm>
            <a:off x="4427346" y="5947359"/>
            <a:ext cx="590550" cy="314960"/>
          </a:xfrm>
          <a:prstGeom prst="rect">
            <a:avLst/>
          </a:prstGeom>
        </p:spPr>
        <p:txBody>
          <a:bodyPr vert="horz" wrap="square" lIns="0" tIns="12065" rIns="0" bIns="0" rtlCol="0">
            <a:spAutoFit/>
          </a:bodyPr>
          <a:lstStyle/>
          <a:p>
            <a:pPr marL="12700">
              <a:lnSpc>
                <a:spcPct val="100000"/>
              </a:lnSpc>
              <a:spcBef>
                <a:spcPts val="95"/>
              </a:spcBef>
            </a:pPr>
            <a:r>
              <a:rPr sz="1900" dirty="0">
                <a:latin typeface="Times New Roman"/>
                <a:cs typeface="Times New Roman"/>
              </a:rPr>
              <a:t>Fig</a:t>
            </a:r>
            <a:r>
              <a:rPr sz="1900" spc="-20" dirty="0">
                <a:latin typeface="Times New Roman"/>
                <a:cs typeface="Times New Roman"/>
              </a:rPr>
              <a:t> </a:t>
            </a:r>
            <a:r>
              <a:rPr sz="1900" spc="-25" dirty="0">
                <a:latin typeface="Times New Roman"/>
                <a:cs typeface="Times New Roman"/>
              </a:rPr>
              <a:t>.1</a:t>
            </a:r>
            <a:endParaRPr sz="1900">
              <a:latin typeface="Times New Roman"/>
              <a:cs typeface="Times New Roman"/>
            </a:endParaRPr>
          </a:p>
        </p:txBody>
      </p:sp>
      <p:sp>
        <p:nvSpPr>
          <p:cNvPr id="5" name="object 5"/>
          <p:cNvSpPr txBox="1"/>
          <p:nvPr/>
        </p:nvSpPr>
        <p:spPr>
          <a:xfrm>
            <a:off x="8286115" y="6454546"/>
            <a:ext cx="153670" cy="164465"/>
          </a:xfrm>
          <a:prstGeom prst="rect">
            <a:avLst/>
          </a:prstGeom>
        </p:spPr>
        <p:txBody>
          <a:bodyPr vert="horz" wrap="square" lIns="0" tIns="13970" rIns="0" bIns="0" rtlCol="0">
            <a:spAutoFit/>
          </a:bodyPr>
          <a:lstStyle/>
          <a:p>
            <a:pPr marL="12700">
              <a:lnSpc>
                <a:spcPct val="100000"/>
              </a:lnSpc>
              <a:spcBef>
                <a:spcPts val="110"/>
              </a:spcBef>
            </a:pPr>
            <a:r>
              <a:rPr sz="900" spc="-25" dirty="0">
                <a:solidFill>
                  <a:srgbClr val="888888"/>
                </a:solidFill>
                <a:latin typeface="Arial MT"/>
                <a:cs typeface="Arial MT"/>
              </a:rPr>
              <a:t>15</a:t>
            </a:r>
            <a:endParaRPr sz="900">
              <a:latin typeface="Arial MT"/>
              <a:cs typeface="Arial MT"/>
            </a:endParaRPr>
          </a:p>
        </p:txBody>
      </p:sp>
      <p:sp>
        <p:nvSpPr>
          <p:cNvPr id="6" name="object 6"/>
          <p:cNvSpPr txBox="1"/>
          <p:nvPr/>
        </p:nvSpPr>
        <p:spPr>
          <a:xfrm>
            <a:off x="3614928" y="1210055"/>
            <a:ext cx="1758950" cy="4627245"/>
          </a:xfrm>
          <a:prstGeom prst="rect">
            <a:avLst/>
          </a:prstGeom>
          <a:ln w="12192">
            <a:solidFill>
              <a:srgbClr val="000000"/>
            </a:solidFill>
          </a:ln>
        </p:spPr>
        <p:txBody>
          <a:bodyPr vert="horz" wrap="square" lIns="0" tIns="0" rIns="0" bIns="0" rtlCol="0">
            <a:spAutoFit/>
          </a:bodyPr>
          <a:lstStyle/>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spcBef>
                <a:spcPts val="370"/>
              </a:spcBef>
            </a:pPr>
            <a:endParaRPr sz="1400">
              <a:latin typeface="Times New Roman"/>
              <a:cs typeface="Times New Roman"/>
            </a:endParaRPr>
          </a:p>
          <a:p>
            <a:pPr marL="521334" marR="339725" indent="-171450">
              <a:lnSpc>
                <a:spcPct val="100000"/>
              </a:lnSpc>
              <a:spcBef>
                <a:spcPts val="5"/>
              </a:spcBef>
            </a:pPr>
            <a:r>
              <a:rPr sz="1400" dirty="0">
                <a:latin typeface="Calibri"/>
                <a:cs typeface="Calibri"/>
              </a:rPr>
              <a:t>ESP</a:t>
            </a:r>
            <a:r>
              <a:rPr sz="1400" spc="270" dirty="0">
                <a:latin typeface="Calibri"/>
                <a:cs typeface="Calibri"/>
              </a:rPr>
              <a:t> </a:t>
            </a:r>
            <a:r>
              <a:rPr sz="1400" spc="-10" dirty="0">
                <a:latin typeface="Calibri"/>
                <a:cs typeface="Calibri"/>
              </a:rPr>
              <a:t>Controller (ESP8266)</a:t>
            </a:r>
            <a:endParaRPr sz="1400">
              <a:latin typeface="Calibri"/>
              <a:cs typeface="Calibri"/>
            </a:endParaRPr>
          </a:p>
        </p:txBody>
      </p:sp>
      <p:sp>
        <p:nvSpPr>
          <p:cNvPr id="7" name="object 7"/>
          <p:cNvSpPr/>
          <p:nvPr/>
        </p:nvSpPr>
        <p:spPr>
          <a:xfrm>
            <a:off x="1045463" y="3066288"/>
            <a:ext cx="1450975" cy="759460"/>
          </a:xfrm>
          <a:custGeom>
            <a:avLst/>
            <a:gdLst/>
            <a:ahLst/>
            <a:cxnLst/>
            <a:rect l="l" t="t" r="r" b="b"/>
            <a:pathLst>
              <a:path w="1450975" h="759460">
                <a:moveTo>
                  <a:pt x="0" y="126491"/>
                </a:moveTo>
                <a:lnTo>
                  <a:pt x="9939" y="77259"/>
                </a:lnTo>
                <a:lnTo>
                  <a:pt x="37047" y="37052"/>
                </a:lnTo>
                <a:lnTo>
                  <a:pt x="77254" y="9941"/>
                </a:lnTo>
                <a:lnTo>
                  <a:pt x="126492" y="0"/>
                </a:lnTo>
                <a:lnTo>
                  <a:pt x="1324356" y="0"/>
                </a:lnTo>
                <a:lnTo>
                  <a:pt x="1373588" y="9941"/>
                </a:lnTo>
                <a:lnTo>
                  <a:pt x="1413795" y="37052"/>
                </a:lnTo>
                <a:lnTo>
                  <a:pt x="1440906" y="77259"/>
                </a:lnTo>
                <a:lnTo>
                  <a:pt x="1450848" y="126491"/>
                </a:lnTo>
                <a:lnTo>
                  <a:pt x="1450848" y="632460"/>
                </a:lnTo>
                <a:lnTo>
                  <a:pt x="1440906" y="681692"/>
                </a:lnTo>
                <a:lnTo>
                  <a:pt x="1413795" y="721899"/>
                </a:lnTo>
                <a:lnTo>
                  <a:pt x="1373588" y="749010"/>
                </a:lnTo>
                <a:lnTo>
                  <a:pt x="1324356" y="758951"/>
                </a:lnTo>
                <a:lnTo>
                  <a:pt x="126492" y="758951"/>
                </a:lnTo>
                <a:lnTo>
                  <a:pt x="77254" y="749010"/>
                </a:lnTo>
                <a:lnTo>
                  <a:pt x="37047" y="721899"/>
                </a:lnTo>
                <a:lnTo>
                  <a:pt x="9939" y="681692"/>
                </a:lnTo>
                <a:lnTo>
                  <a:pt x="0" y="632460"/>
                </a:lnTo>
                <a:lnTo>
                  <a:pt x="0" y="126491"/>
                </a:lnTo>
                <a:close/>
              </a:path>
            </a:pathLst>
          </a:custGeom>
          <a:ln w="12192">
            <a:solidFill>
              <a:srgbClr val="000000"/>
            </a:solidFill>
          </a:ln>
        </p:spPr>
        <p:txBody>
          <a:bodyPr wrap="square" lIns="0" tIns="0" rIns="0" bIns="0" rtlCol="0"/>
          <a:lstStyle/>
          <a:p>
            <a:endParaRPr/>
          </a:p>
        </p:txBody>
      </p:sp>
      <p:sp>
        <p:nvSpPr>
          <p:cNvPr id="8" name="object 8"/>
          <p:cNvSpPr txBox="1"/>
          <p:nvPr/>
        </p:nvSpPr>
        <p:spPr>
          <a:xfrm>
            <a:off x="1130809" y="3211830"/>
            <a:ext cx="1364106" cy="683520"/>
          </a:xfrm>
          <a:prstGeom prst="rect">
            <a:avLst/>
          </a:prstGeom>
        </p:spPr>
        <p:txBody>
          <a:bodyPr vert="horz" wrap="square" lIns="0" tIns="11430" rIns="0" bIns="0" rtlCol="0">
            <a:spAutoFit/>
          </a:bodyPr>
          <a:lstStyle/>
          <a:p>
            <a:pPr marL="161925" marR="5080" indent="-149860">
              <a:lnSpc>
                <a:spcPct val="100000"/>
              </a:lnSpc>
              <a:spcBef>
                <a:spcPts val="90"/>
              </a:spcBef>
            </a:pPr>
            <a:r>
              <a:rPr sz="1400" dirty="0">
                <a:latin typeface="Calibri"/>
                <a:cs typeface="Calibri"/>
              </a:rPr>
              <a:t>Ultra</a:t>
            </a:r>
            <a:r>
              <a:rPr sz="1400" spc="-35" dirty="0">
                <a:latin typeface="Calibri"/>
                <a:cs typeface="Calibri"/>
              </a:rPr>
              <a:t> </a:t>
            </a:r>
            <a:r>
              <a:rPr sz="1400" spc="-10" dirty="0">
                <a:latin typeface="Calibri"/>
                <a:cs typeface="Calibri"/>
              </a:rPr>
              <a:t>sonic sensor</a:t>
            </a:r>
            <a:endParaRPr lang="en-US" sz="1400" spc="-10" dirty="0">
              <a:latin typeface="Calibri"/>
              <a:cs typeface="Calibri"/>
            </a:endParaRPr>
          </a:p>
          <a:p>
            <a:pPr marL="161925" marR="5080" indent="-149860">
              <a:lnSpc>
                <a:spcPct val="100000"/>
              </a:lnSpc>
              <a:spcBef>
                <a:spcPts val="90"/>
              </a:spcBef>
            </a:pPr>
            <a:r>
              <a:rPr lang="en-IN" sz="1400" spc="-10" dirty="0">
                <a:latin typeface="Calibri"/>
                <a:cs typeface="Calibri"/>
              </a:rPr>
              <a:t>(HC-SR04)</a:t>
            </a:r>
            <a:endParaRPr lang="en-US" sz="1400" spc="-10" dirty="0">
              <a:latin typeface="Calibri"/>
              <a:cs typeface="Calibri"/>
            </a:endParaRPr>
          </a:p>
          <a:p>
            <a:pPr marL="161925" marR="5080" indent="-149860">
              <a:lnSpc>
                <a:spcPct val="100000"/>
              </a:lnSpc>
              <a:spcBef>
                <a:spcPts val="90"/>
              </a:spcBef>
            </a:pPr>
            <a:endParaRPr sz="1400" dirty="0">
              <a:latin typeface="Calibri"/>
              <a:cs typeface="Calibri"/>
            </a:endParaRPr>
          </a:p>
        </p:txBody>
      </p:sp>
      <p:sp>
        <p:nvSpPr>
          <p:cNvPr id="9" name="object 9"/>
          <p:cNvSpPr/>
          <p:nvPr/>
        </p:nvSpPr>
        <p:spPr>
          <a:xfrm>
            <a:off x="6044184" y="2685288"/>
            <a:ext cx="1447800" cy="759460"/>
          </a:xfrm>
          <a:custGeom>
            <a:avLst/>
            <a:gdLst/>
            <a:ahLst/>
            <a:cxnLst/>
            <a:rect l="l" t="t" r="r" b="b"/>
            <a:pathLst>
              <a:path w="1447800" h="759460">
                <a:moveTo>
                  <a:pt x="0" y="126491"/>
                </a:moveTo>
                <a:lnTo>
                  <a:pt x="9941" y="77259"/>
                </a:lnTo>
                <a:lnTo>
                  <a:pt x="37052" y="37052"/>
                </a:lnTo>
                <a:lnTo>
                  <a:pt x="77259" y="9941"/>
                </a:lnTo>
                <a:lnTo>
                  <a:pt x="126491" y="0"/>
                </a:lnTo>
                <a:lnTo>
                  <a:pt x="1321308" y="0"/>
                </a:lnTo>
                <a:lnTo>
                  <a:pt x="1370540" y="9941"/>
                </a:lnTo>
                <a:lnTo>
                  <a:pt x="1410747" y="37052"/>
                </a:lnTo>
                <a:lnTo>
                  <a:pt x="1437858" y="77259"/>
                </a:lnTo>
                <a:lnTo>
                  <a:pt x="1447799" y="126491"/>
                </a:lnTo>
                <a:lnTo>
                  <a:pt x="1447799" y="632460"/>
                </a:lnTo>
                <a:lnTo>
                  <a:pt x="1437858" y="681692"/>
                </a:lnTo>
                <a:lnTo>
                  <a:pt x="1410747" y="721899"/>
                </a:lnTo>
                <a:lnTo>
                  <a:pt x="1370540" y="749010"/>
                </a:lnTo>
                <a:lnTo>
                  <a:pt x="1321308" y="758951"/>
                </a:lnTo>
                <a:lnTo>
                  <a:pt x="126491" y="758951"/>
                </a:lnTo>
                <a:lnTo>
                  <a:pt x="77259" y="749010"/>
                </a:lnTo>
                <a:lnTo>
                  <a:pt x="37052" y="721899"/>
                </a:lnTo>
                <a:lnTo>
                  <a:pt x="9941" y="681692"/>
                </a:lnTo>
                <a:lnTo>
                  <a:pt x="0" y="632460"/>
                </a:lnTo>
                <a:lnTo>
                  <a:pt x="0" y="126491"/>
                </a:lnTo>
                <a:close/>
              </a:path>
            </a:pathLst>
          </a:custGeom>
          <a:ln w="12192">
            <a:solidFill>
              <a:srgbClr val="000000"/>
            </a:solidFill>
          </a:ln>
        </p:spPr>
        <p:txBody>
          <a:bodyPr wrap="square" lIns="0" tIns="0" rIns="0" bIns="0" rtlCol="0"/>
          <a:lstStyle/>
          <a:p>
            <a:endParaRPr/>
          </a:p>
        </p:txBody>
      </p:sp>
      <p:sp>
        <p:nvSpPr>
          <p:cNvPr id="10" name="object 10"/>
          <p:cNvSpPr txBox="1"/>
          <p:nvPr/>
        </p:nvSpPr>
        <p:spPr>
          <a:xfrm>
            <a:off x="6311900" y="2938348"/>
            <a:ext cx="918844" cy="455894"/>
          </a:xfrm>
          <a:prstGeom prst="rect">
            <a:avLst/>
          </a:prstGeom>
        </p:spPr>
        <p:txBody>
          <a:bodyPr vert="horz" wrap="square" lIns="0" tIns="12065" rIns="0" bIns="0" rtlCol="0">
            <a:spAutoFit/>
          </a:bodyPr>
          <a:lstStyle/>
          <a:p>
            <a:pPr marL="12700">
              <a:lnSpc>
                <a:spcPct val="100000"/>
              </a:lnSpc>
              <a:spcBef>
                <a:spcPts val="95"/>
              </a:spcBef>
            </a:pPr>
            <a:r>
              <a:rPr sz="1400" dirty="0">
                <a:latin typeface="Calibri"/>
                <a:cs typeface="Calibri"/>
              </a:rPr>
              <a:t>Servo</a:t>
            </a:r>
            <a:r>
              <a:rPr sz="1400" spc="-45" dirty="0">
                <a:latin typeface="Calibri"/>
                <a:cs typeface="Calibri"/>
              </a:rPr>
              <a:t> </a:t>
            </a:r>
            <a:r>
              <a:rPr sz="1400" spc="-20" dirty="0">
                <a:latin typeface="Calibri"/>
                <a:cs typeface="Calibri"/>
              </a:rPr>
              <a:t>motor</a:t>
            </a:r>
            <a:endParaRPr lang="en-US" sz="1400" spc="-20" dirty="0">
              <a:latin typeface="Calibri"/>
              <a:cs typeface="Calibri"/>
            </a:endParaRPr>
          </a:p>
          <a:p>
            <a:pPr marL="12700">
              <a:lnSpc>
                <a:spcPct val="100000"/>
              </a:lnSpc>
              <a:spcBef>
                <a:spcPts val="95"/>
              </a:spcBef>
            </a:pPr>
            <a:r>
              <a:rPr lang="en-IN" sz="1400" spc="-20" dirty="0">
                <a:latin typeface="Calibri"/>
                <a:cs typeface="Calibri"/>
              </a:rPr>
              <a:t>(MG996R)</a:t>
            </a:r>
            <a:endParaRPr sz="1400" dirty="0">
              <a:latin typeface="Calibri"/>
              <a:cs typeface="Calibri"/>
            </a:endParaRPr>
          </a:p>
        </p:txBody>
      </p:sp>
      <p:sp>
        <p:nvSpPr>
          <p:cNvPr id="11" name="object 11"/>
          <p:cNvSpPr/>
          <p:nvPr/>
        </p:nvSpPr>
        <p:spPr>
          <a:xfrm>
            <a:off x="1072896" y="5077967"/>
            <a:ext cx="1450975" cy="759460"/>
          </a:xfrm>
          <a:custGeom>
            <a:avLst/>
            <a:gdLst/>
            <a:ahLst/>
            <a:cxnLst/>
            <a:rect l="l" t="t" r="r" b="b"/>
            <a:pathLst>
              <a:path w="1450975" h="759460">
                <a:moveTo>
                  <a:pt x="0" y="126491"/>
                </a:moveTo>
                <a:lnTo>
                  <a:pt x="9939" y="77259"/>
                </a:lnTo>
                <a:lnTo>
                  <a:pt x="37047" y="37052"/>
                </a:lnTo>
                <a:lnTo>
                  <a:pt x="77254" y="9941"/>
                </a:lnTo>
                <a:lnTo>
                  <a:pt x="126491" y="0"/>
                </a:lnTo>
                <a:lnTo>
                  <a:pt x="1324355" y="0"/>
                </a:lnTo>
                <a:lnTo>
                  <a:pt x="1373588" y="9941"/>
                </a:lnTo>
                <a:lnTo>
                  <a:pt x="1413795" y="37052"/>
                </a:lnTo>
                <a:lnTo>
                  <a:pt x="1440906" y="77259"/>
                </a:lnTo>
                <a:lnTo>
                  <a:pt x="1450848" y="126491"/>
                </a:lnTo>
                <a:lnTo>
                  <a:pt x="1450848" y="632459"/>
                </a:lnTo>
                <a:lnTo>
                  <a:pt x="1440906" y="681697"/>
                </a:lnTo>
                <a:lnTo>
                  <a:pt x="1413795" y="721904"/>
                </a:lnTo>
                <a:lnTo>
                  <a:pt x="1373588" y="749012"/>
                </a:lnTo>
                <a:lnTo>
                  <a:pt x="1324355" y="758951"/>
                </a:lnTo>
                <a:lnTo>
                  <a:pt x="126491" y="758951"/>
                </a:lnTo>
                <a:lnTo>
                  <a:pt x="77254" y="749012"/>
                </a:lnTo>
                <a:lnTo>
                  <a:pt x="37047" y="721904"/>
                </a:lnTo>
                <a:lnTo>
                  <a:pt x="9939" y="681697"/>
                </a:lnTo>
                <a:lnTo>
                  <a:pt x="0" y="632459"/>
                </a:lnTo>
                <a:lnTo>
                  <a:pt x="0" y="126491"/>
                </a:lnTo>
                <a:close/>
              </a:path>
            </a:pathLst>
          </a:custGeom>
          <a:ln w="12192">
            <a:solidFill>
              <a:srgbClr val="000000"/>
            </a:solidFill>
          </a:ln>
        </p:spPr>
        <p:txBody>
          <a:bodyPr wrap="square" lIns="0" tIns="0" rIns="0" bIns="0" rtlCol="0"/>
          <a:lstStyle/>
          <a:p>
            <a:endParaRPr/>
          </a:p>
        </p:txBody>
      </p:sp>
      <p:sp>
        <p:nvSpPr>
          <p:cNvPr id="12" name="object 12"/>
          <p:cNvSpPr txBox="1"/>
          <p:nvPr/>
        </p:nvSpPr>
        <p:spPr>
          <a:xfrm>
            <a:off x="1297686" y="5332221"/>
            <a:ext cx="1003935" cy="238125"/>
          </a:xfrm>
          <a:prstGeom prst="rect">
            <a:avLst/>
          </a:prstGeom>
        </p:spPr>
        <p:txBody>
          <a:bodyPr vert="horz" wrap="square" lIns="0" tIns="11430" rIns="0" bIns="0" rtlCol="0">
            <a:spAutoFit/>
          </a:bodyPr>
          <a:lstStyle/>
          <a:p>
            <a:pPr marL="12700">
              <a:lnSpc>
                <a:spcPct val="100000"/>
              </a:lnSpc>
              <a:spcBef>
                <a:spcPts val="90"/>
              </a:spcBef>
            </a:pPr>
            <a:r>
              <a:rPr sz="1400" dirty="0">
                <a:latin typeface="Calibri"/>
                <a:cs typeface="Calibri"/>
              </a:rPr>
              <a:t>Power</a:t>
            </a:r>
            <a:r>
              <a:rPr sz="1400" spc="-40" dirty="0">
                <a:latin typeface="Calibri"/>
                <a:cs typeface="Calibri"/>
              </a:rPr>
              <a:t> </a:t>
            </a:r>
            <a:r>
              <a:rPr sz="1400" spc="-10" dirty="0">
                <a:latin typeface="Calibri"/>
                <a:cs typeface="Calibri"/>
              </a:rPr>
              <a:t>Supply</a:t>
            </a:r>
            <a:endParaRPr sz="1400">
              <a:latin typeface="Calibri"/>
              <a:cs typeface="Calibri"/>
            </a:endParaRPr>
          </a:p>
        </p:txBody>
      </p:sp>
      <p:sp>
        <p:nvSpPr>
          <p:cNvPr id="13" name="object 13"/>
          <p:cNvSpPr/>
          <p:nvPr/>
        </p:nvSpPr>
        <p:spPr>
          <a:xfrm>
            <a:off x="1130808" y="1969007"/>
            <a:ext cx="1125220" cy="460375"/>
          </a:xfrm>
          <a:custGeom>
            <a:avLst/>
            <a:gdLst/>
            <a:ahLst/>
            <a:cxnLst/>
            <a:rect l="l" t="t" r="r" b="b"/>
            <a:pathLst>
              <a:path w="1125220" h="460375">
                <a:moveTo>
                  <a:pt x="0" y="76707"/>
                </a:moveTo>
                <a:lnTo>
                  <a:pt x="6027" y="46827"/>
                </a:lnTo>
                <a:lnTo>
                  <a:pt x="22466" y="22447"/>
                </a:lnTo>
                <a:lnTo>
                  <a:pt x="46848" y="6020"/>
                </a:lnTo>
                <a:lnTo>
                  <a:pt x="76707" y="0"/>
                </a:lnTo>
                <a:lnTo>
                  <a:pt x="1048004" y="0"/>
                </a:lnTo>
                <a:lnTo>
                  <a:pt x="1077884" y="6020"/>
                </a:lnTo>
                <a:lnTo>
                  <a:pt x="1102264" y="22447"/>
                </a:lnTo>
                <a:lnTo>
                  <a:pt x="1118691" y="46827"/>
                </a:lnTo>
                <a:lnTo>
                  <a:pt x="1124711" y="76707"/>
                </a:lnTo>
                <a:lnTo>
                  <a:pt x="1124711" y="383539"/>
                </a:lnTo>
                <a:lnTo>
                  <a:pt x="1118691" y="413420"/>
                </a:lnTo>
                <a:lnTo>
                  <a:pt x="1102264" y="437800"/>
                </a:lnTo>
                <a:lnTo>
                  <a:pt x="1077884" y="454227"/>
                </a:lnTo>
                <a:lnTo>
                  <a:pt x="1048004" y="460247"/>
                </a:lnTo>
                <a:lnTo>
                  <a:pt x="76707" y="460247"/>
                </a:lnTo>
                <a:lnTo>
                  <a:pt x="46848" y="454227"/>
                </a:lnTo>
                <a:lnTo>
                  <a:pt x="22466" y="437800"/>
                </a:lnTo>
                <a:lnTo>
                  <a:pt x="6027" y="413420"/>
                </a:lnTo>
                <a:lnTo>
                  <a:pt x="0" y="383539"/>
                </a:lnTo>
                <a:lnTo>
                  <a:pt x="0" y="76707"/>
                </a:lnTo>
                <a:close/>
              </a:path>
            </a:pathLst>
          </a:custGeom>
          <a:ln w="12192">
            <a:solidFill>
              <a:srgbClr val="000000"/>
            </a:solidFill>
          </a:ln>
        </p:spPr>
        <p:txBody>
          <a:bodyPr wrap="square" lIns="0" tIns="0" rIns="0" bIns="0" rtlCol="0"/>
          <a:lstStyle/>
          <a:p>
            <a:endParaRPr/>
          </a:p>
        </p:txBody>
      </p:sp>
      <p:sp>
        <p:nvSpPr>
          <p:cNvPr id="14" name="object 14"/>
          <p:cNvSpPr txBox="1"/>
          <p:nvPr/>
        </p:nvSpPr>
        <p:spPr>
          <a:xfrm>
            <a:off x="1320164" y="2071497"/>
            <a:ext cx="747395" cy="238125"/>
          </a:xfrm>
          <a:prstGeom prst="rect">
            <a:avLst/>
          </a:prstGeom>
        </p:spPr>
        <p:txBody>
          <a:bodyPr vert="horz" wrap="square" lIns="0" tIns="11430" rIns="0" bIns="0" rtlCol="0">
            <a:spAutoFit/>
          </a:bodyPr>
          <a:lstStyle/>
          <a:p>
            <a:pPr marL="12700">
              <a:lnSpc>
                <a:spcPct val="100000"/>
              </a:lnSpc>
              <a:spcBef>
                <a:spcPts val="90"/>
              </a:spcBef>
            </a:pPr>
            <a:r>
              <a:rPr sz="1400" spc="-10" dirty="0">
                <a:latin typeface="Calibri"/>
                <a:cs typeface="Calibri"/>
              </a:rPr>
              <a:t>Computer</a:t>
            </a:r>
            <a:endParaRPr sz="1400">
              <a:latin typeface="Calibri"/>
              <a:cs typeface="Calibri"/>
            </a:endParaRPr>
          </a:p>
        </p:txBody>
      </p:sp>
      <p:sp>
        <p:nvSpPr>
          <p:cNvPr id="15" name="object 15"/>
          <p:cNvSpPr/>
          <p:nvPr/>
        </p:nvSpPr>
        <p:spPr>
          <a:xfrm>
            <a:off x="6044184" y="5077967"/>
            <a:ext cx="1447800" cy="676910"/>
          </a:xfrm>
          <a:custGeom>
            <a:avLst/>
            <a:gdLst/>
            <a:ahLst/>
            <a:cxnLst/>
            <a:rect l="l" t="t" r="r" b="b"/>
            <a:pathLst>
              <a:path w="1758950" h="676910">
                <a:moveTo>
                  <a:pt x="0" y="112775"/>
                </a:moveTo>
                <a:lnTo>
                  <a:pt x="8870" y="68901"/>
                </a:lnTo>
                <a:lnTo>
                  <a:pt x="33051" y="33051"/>
                </a:lnTo>
                <a:lnTo>
                  <a:pt x="68901" y="8870"/>
                </a:lnTo>
                <a:lnTo>
                  <a:pt x="112775" y="0"/>
                </a:lnTo>
                <a:lnTo>
                  <a:pt x="1645919" y="0"/>
                </a:lnTo>
                <a:lnTo>
                  <a:pt x="1689794" y="8870"/>
                </a:lnTo>
                <a:lnTo>
                  <a:pt x="1725644" y="33051"/>
                </a:lnTo>
                <a:lnTo>
                  <a:pt x="1749825" y="68901"/>
                </a:lnTo>
                <a:lnTo>
                  <a:pt x="1758695" y="112775"/>
                </a:lnTo>
                <a:lnTo>
                  <a:pt x="1758695" y="563879"/>
                </a:lnTo>
                <a:lnTo>
                  <a:pt x="1749825" y="607775"/>
                </a:lnTo>
                <a:lnTo>
                  <a:pt x="1725644" y="643623"/>
                </a:lnTo>
                <a:lnTo>
                  <a:pt x="1689794" y="667792"/>
                </a:lnTo>
                <a:lnTo>
                  <a:pt x="1645919" y="676655"/>
                </a:lnTo>
                <a:lnTo>
                  <a:pt x="112775" y="676655"/>
                </a:lnTo>
                <a:lnTo>
                  <a:pt x="68901" y="667792"/>
                </a:lnTo>
                <a:lnTo>
                  <a:pt x="33051" y="643623"/>
                </a:lnTo>
                <a:lnTo>
                  <a:pt x="8870" y="607775"/>
                </a:lnTo>
                <a:lnTo>
                  <a:pt x="0" y="563879"/>
                </a:lnTo>
                <a:lnTo>
                  <a:pt x="0" y="112775"/>
                </a:lnTo>
                <a:close/>
              </a:path>
            </a:pathLst>
          </a:custGeom>
          <a:ln w="12192">
            <a:solidFill>
              <a:srgbClr val="000000"/>
            </a:solidFill>
          </a:ln>
        </p:spPr>
        <p:txBody>
          <a:bodyPr wrap="square" lIns="0" tIns="0" rIns="0" bIns="0" rtlCol="0"/>
          <a:lstStyle/>
          <a:p>
            <a:endParaRPr/>
          </a:p>
        </p:txBody>
      </p:sp>
      <p:sp>
        <p:nvSpPr>
          <p:cNvPr id="16" name="object 16"/>
          <p:cNvSpPr txBox="1"/>
          <p:nvPr/>
        </p:nvSpPr>
        <p:spPr>
          <a:xfrm>
            <a:off x="6400800" y="5290184"/>
            <a:ext cx="1039369" cy="455253"/>
          </a:xfrm>
          <a:prstGeom prst="rect">
            <a:avLst/>
          </a:prstGeom>
        </p:spPr>
        <p:txBody>
          <a:bodyPr vert="horz" wrap="square" lIns="0" tIns="11430" rIns="0" bIns="0" rtlCol="0">
            <a:spAutoFit/>
          </a:bodyPr>
          <a:lstStyle/>
          <a:p>
            <a:pPr marL="12700">
              <a:lnSpc>
                <a:spcPct val="100000"/>
              </a:lnSpc>
              <a:spcBef>
                <a:spcPts val="90"/>
              </a:spcBef>
            </a:pPr>
            <a:r>
              <a:rPr sz="1400" dirty="0">
                <a:latin typeface="Calibri"/>
                <a:cs typeface="Calibri"/>
              </a:rPr>
              <a:t>LCD</a:t>
            </a:r>
            <a:r>
              <a:rPr sz="1400" spc="-15" dirty="0">
                <a:latin typeface="Calibri"/>
                <a:cs typeface="Calibri"/>
              </a:rPr>
              <a:t> </a:t>
            </a:r>
            <a:r>
              <a:rPr sz="1400" spc="-10" dirty="0">
                <a:latin typeface="Calibri"/>
                <a:cs typeface="Calibri"/>
              </a:rPr>
              <a:t>Display</a:t>
            </a:r>
            <a:r>
              <a:rPr lang="en-US" sz="1400" spc="-10" dirty="0">
                <a:latin typeface="Calibri"/>
                <a:cs typeface="Calibri"/>
              </a:rPr>
              <a:t> </a:t>
            </a:r>
          </a:p>
          <a:p>
            <a:pPr marL="12700">
              <a:lnSpc>
                <a:spcPct val="100000"/>
              </a:lnSpc>
              <a:spcBef>
                <a:spcPts val="90"/>
              </a:spcBef>
            </a:pPr>
            <a:r>
              <a:rPr lang="en-US" sz="1400" spc="-10" dirty="0">
                <a:latin typeface="Calibri"/>
                <a:cs typeface="Calibri"/>
              </a:rPr>
              <a:t>(16X2)</a:t>
            </a:r>
            <a:endParaRPr sz="1400" dirty="0">
              <a:latin typeface="Calibri"/>
              <a:cs typeface="Calibri"/>
            </a:endParaRPr>
          </a:p>
        </p:txBody>
      </p:sp>
      <p:sp>
        <p:nvSpPr>
          <p:cNvPr id="17" name="object 17"/>
          <p:cNvSpPr/>
          <p:nvPr/>
        </p:nvSpPr>
        <p:spPr>
          <a:xfrm>
            <a:off x="1130808" y="1280160"/>
            <a:ext cx="1125220" cy="454659"/>
          </a:xfrm>
          <a:custGeom>
            <a:avLst/>
            <a:gdLst/>
            <a:ahLst/>
            <a:cxnLst/>
            <a:rect l="l" t="t" r="r" b="b"/>
            <a:pathLst>
              <a:path w="1125220" h="454660">
                <a:moveTo>
                  <a:pt x="0" y="75691"/>
                </a:moveTo>
                <a:lnTo>
                  <a:pt x="5947" y="46237"/>
                </a:lnTo>
                <a:lnTo>
                  <a:pt x="22167" y="22177"/>
                </a:lnTo>
                <a:lnTo>
                  <a:pt x="46227" y="5951"/>
                </a:lnTo>
                <a:lnTo>
                  <a:pt x="75691" y="0"/>
                </a:lnTo>
                <a:lnTo>
                  <a:pt x="1049019" y="0"/>
                </a:lnTo>
                <a:lnTo>
                  <a:pt x="1078474" y="5951"/>
                </a:lnTo>
                <a:lnTo>
                  <a:pt x="1102534" y="22177"/>
                </a:lnTo>
                <a:lnTo>
                  <a:pt x="1118760" y="46237"/>
                </a:lnTo>
                <a:lnTo>
                  <a:pt x="1124711" y="75691"/>
                </a:lnTo>
                <a:lnTo>
                  <a:pt x="1124711" y="378460"/>
                </a:lnTo>
                <a:lnTo>
                  <a:pt x="1118760" y="407914"/>
                </a:lnTo>
                <a:lnTo>
                  <a:pt x="1102534" y="431974"/>
                </a:lnTo>
                <a:lnTo>
                  <a:pt x="1078474" y="448200"/>
                </a:lnTo>
                <a:lnTo>
                  <a:pt x="1049019" y="454151"/>
                </a:lnTo>
                <a:lnTo>
                  <a:pt x="75691" y="454151"/>
                </a:lnTo>
                <a:lnTo>
                  <a:pt x="46227" y="448200"/>
                </a:lnTo>
                <a:lnTo>
                  <a:pt x="22167" y="431974"/>
                </a:lnTo>
                <a:lnTo>
                  <a:pt x="5947" y="407914"/>
                </a:lnTo>
                <a:lnTo>
                  <a:pt x="0" y="378460"/>
                </a:lnTo>
                <a:lnTo>
                  <a:pt x="0" y="75691"/>
                </a:lnTo>
                <a:close/>
              </a:path>
            </a:pathLst>
          </a:custGeom>
          <a:ln w="12192">
            <a:solidFill>
              <a:srgbClr val="000000"/>
            </a:solidFill>
          </a:ln>
        </p:spPr>
        <p:txBody>
          <a:bodyPr wrap="square" lIns="0" tIns="0" rIns="0" bIns="0" rtlCol="0"/>
          <a:lstStyle/>
          <a:p>
            <a:endParaRPr/>
          </a:p>
        </p:txBody>
      </p:sp>
      <p:sp>
        <p:nvSpPr>
          <p:cNvPr id="18" name="object 18"/>
          <p:cNvSpPr txBox="1"/>
          <p:nvPr/>
        </p:nvSpPr>
        <p:spPr>
          <a:xfrm>
            <a:off x="1237894" y="1379600"/>
            <a:ext cx="911860" cy="238125"/>
          </a:xfrm>
          <a:prstGeom prst="rect">
            <a:avLst/>
          </a:prstGeom>
        </p:spPr>
        <p:txBody>
          <a:bodyPr vert="horz" wrap="square" lIns="0" tIns="11430" rIns="0" bIns="0" rtlCol="0">
            <a:spAutoFit/>
          </a:bodyPr>
          <a:lstStyle/>
          <a:p>
            <a:pPr marL="12700">
              <a:lnSpc>
                <a:spcPct val="100000"/>
              </a:lnSpc>
              <a:spcBef>
                <a:spcPts val="90"/>
              </a:spcBef>
            </a:pPr>
            <a:r>
              <a:rPr sz="1400" dirty="0">
                <a:latin typeface="Calibri"/>
                <a:cs typeface="Calibri"/>
              </a:rPr>
              <a:t>USB</a:t>
            </a:r>
            <a:r>
              <a:rPr sz="1400" spc="-15" dirty="0">
                <a:latin typeface="Calibri"/>
                <a:cs typeface="Calibri"/>
              </a:rPr>
              <a:t> </a:t>
            </a:r>
            <a:r>
              <a:rPr sz="1400" spc="-10" dirty="0">
                <a:latin typeface="Calibri"/>
                <a:cs typeface="Calibri"/>
              </a:rPr>
              <a:t>Camera</a:t>
            </a:r>
            <a:endParaRPr sz="1400">
              <a:latin typeface="Calibri"/>
              <a:cs typeface="Calibri"/>
            </a:endParaRPr>
          </a:p>
        </p:txBody>
      </p:sp>
      <p:grpSp>
        <p:nvGrpSpPr>
          <p:cNvPr id="19" name="object 19"/>
          <p:cNvGrpSpPr/>
          <p:nvPr/>
        </p:nvGrpSpPr>
        <p:grpSpPr>
          <a:xfrm>
            <a:off x="1653539" y="963167"/>
            <a:ext cx="5921375" cy="3417570"/>
            <a:chOff x="1653539" y="963167"/>
            <a:chExt cx="5921375" cy="3417570"/>
          </a:xfrm>
        </p:grpSpPr>
        <p:sp>
          <p:nvSpPr>
            <p:cNvPr id="20" name="object 20"/>
            <p:cNvSpPr/>
            <p:nvPr/>
          </p:nvSpPr>
          <p:spPr>
            <a:xfrm>
              <a:off x="1653539" y="963167"/>
              <a:ext cx="76200" cy="316865"/>
            </a:xfrm>
            <a:custGeom>
              <a:avLst/>
              <a:gdLst/>
              <a:ahLst/>
              <a:cxnLst/>
              <a:rect l="l" t="t" r="r" b="b"/>
              <a:pathLst>
                <a:path w="76200" h="316865">
                  <a:moveTo>
                    <a:pt x="31750" y="240284"/>
                  </a:moveTo>
                  <a:lnTo>
                    <a:pt x="0" y="240284"/>
                  </a:lnTo>
                  <a:lnTo>
                    <a:pt x="38100" y="316484"/>
                  </a:lnTo>
                  <a:lnTo>
                    <a:pt x="69850" y="252984"/>
                  </a:lnTo>
                  <a:lnTo>
                    <a:pt x="31750" y="252984"/>
                  </a:lnTo>
                  <a:lnTo>
                    <a:pt x="31750" y="240284"/>
                  </a:lnTo>
                  <a:close/>
                </a:path>
                <a:path w="76200" h="316865">
                  <a:moveTo>
                    <a:pt x="44450" y="0"/>
                  </a:moveTo>
                  <a:lnTo>
                    <a:pt x="31750" y="0"/>
                  </a:lnTo>
                  <a:lnTo>
                    <a:pt x="31750" y="252984"/>
                  </a:lnTo>
                  <a:lnTo>
                    <a:pt x="44450" y="252984"/>
                  </a:lnTo>
                  <a:lnTo>
                    <a:pt x="44450" y="0"/>
                  </a:lnTo>
                  <a:close/>
                </a:path>
                <a:path w="76200" h="316865">
                  <a:moveTo>
                    <a:pt x="76200" y="240284"/>
                  </a:moveTo>
                  <a:lnTo>
                    <a:pt x="44450" y="240284"/>
                  </a:lnTo>
                  <a:lnTo>
                    <a:pt x="44450" y="252984"/>
                  </a:lnTo>
                  <a:lnTo>
                    <a:pt x="69850" y="252984"/>
                  </a:lnTo>
                  <a:lnTo>
                    <a:pt x="76200" y="240284"/>
                  </a:lnTo>
                  <a:close/>
                </a:path>
              </a:pathLst>
            </a:custGeom>
            <a:solidFill>
              <a:srgbClr val="000000"/>
            </a:solidFill>
          </p:spPr>
          <p:txBody>
            <a:bodyPr wrap="square" lIns="0" tIns="0" rIns="0" bIns="0" rtlCol="0"/>
            <a:lstStyle/>
            <a:p>
              <a:endParaRPr/>
            </a:p>
          </p:txBody>
        </p:sp>
        <p:sp>
          <p:nvSpPr>
            <p:cNvPr id="21" name="object 21"/>
            <p:cNvSpPr/>
            <p:nvPr/>
          </p:nvSpPr>
          <p:spPr>
            <a:xfrm>
              <a:off x="6044183" y="3700272"/>
              <a:ext cx="1524000" cy="673735"/>
            </a:xfrm>
            <a:custGeom>
              <a:avLst/>
              <a:gdLst/>
              <a:ahLst/>
              <a:cxnLst/>
              <a:rect l="l" t="t" r="r" b="b"/>
              <a:pathLst>
                <a:path w="1524000" h="673735">
                  <a:moveTo>
                    <a:pt x="0" y="112267"/>
                  </a:moveTo>
                  <a:lnTo>
                    <a:pt x="8826" y="68579"/>
                  </a:lnTo>
                  <a:lnTo>
                    <a:pt x="32892" y="32892"/>
                  </a:lnTo>
                  <a:lnTo>
                    <a:pt x="68579" y="8826"/>
                  </a:lnTo>
                  <a:lnTo>
                    <a:pt x="112267" y="0"/>
                  </a:lnTo>
                  <a:lnTo>
                    <a:pt x="1411732" y="0"/>
                  </a:lnTo>
                  <a:lnTo>
                    <a:pt x="1455419" y="8826"/>
                  </a:lnTo>
                  <a:lnTo>
                    <a:pt x="1491106" y="32892"/>
                  </a:lnTo>
                  <a:lnTo>
                    <a:pt x="1515173" y="68579"/>
                  </a:lnTo>
                  <a:lnTo>
                    <a:pt x="1523999" y="112267"/>
                  </a:lnTo>
                  <a:lnTo>
                    <a:pt x="1523999" y="561339"/>
                  </a:lnTo>
                  <a:lnTo>
                    <a:pt x="1515173" y="605027"/>
                  </a:lnTo>
                  <a:lnTo>
                    <a:pt x="1491107" y="640714"/>
                  </a:lnTo>
                  <a:lnTo>
                    <a:pt x="1455420" y="664781"/>
                  </a:lnTo>
                  <a:lnTo>
                    <a:pt x="1411732" y="673607"/>
                  </a:lnTo>
                  <a:lnTo>
                    <a:pt x="112267" y="673607"/>
                  </a:lnTo>
                  <a:lnTo>
                    <a:pt x="68579" y="664781"/>
                  </a:lnTo>
                  <a:lnTo>
                    <a:pt x="32892" y="640714"/>
                  </a:lnTo>
                  <a:lnTo>
                    <a:pt x="8826" y="605027"/>
                  </a:lnTo>
                  <a:lnTo>
                    <a:pt x="0" y="561339"/>
                  </a:lnTo>
                  <a:lnTo>
                    <a:pt x="0" y="112267"/>
                  </a:lnTo>
                  <a:close/>
                </a:path>
              </a:pathLst>
            </a:custGeom>
            <a:ln w="12192">
              <a:solidFill>
                <a:srgbClr val="000000"/>
              </a:solidFill>
            </a:ln>
          </p:spPr>
          <p:txBody>
            <a:bodyPr wrap="square" lIns="0" tIns="0" rIns="0" bIns="0" rtlCol="0"/>
            <a:lstStyle/>
            <a:p>
              <a:endParaRPr/>
            </a:p>
          </p:txBody>
        </p:sp>
      </p:grpSp>
      <p:sp>
        <p:nvSpPr>
          <p:cNvPr id="22" name="object 22"/>
          <p:cNvSpPr txBox="1"/>
          <p:nvPr/>
        </p:nvSpPr>
        <p:spPr>
          <a:xfrm>
            <a:off x="6554469" y="3910406"/>
            <a:ext cx="504190" cy="238125"/>
          </a:xfrm>
          <a:prstGeom prst="rect">
            <a:avLst/>
          </a:prstGeom>
        </p:spPr>
        <p:txBody>
          <a:bodyPr vert="horz" wrap="square" lIns="0" tIns="12065" rIns="0" bIns="0" rtlCol="0">
            <a:spAutoFit/>
          </a:bodyPr>
          <a:lstStyle/>
          <a:p>
            <a:pPr marL="12700">
              <a:lnSpc>
                <a:spcPct val="100000"/>
              </a:lnSpc>
              <a:spcBef>
                <a:spcPts val="95"/>
              </a:spcBef>
            </a:pPr>
            <a:r>
              <a:rPr sz="1400" spc="-10" dirty="0">
                <a:latin typeface="Calibri"/>
                <a:cs typeface="Calibri"/>
              </a:rPr>
              <a:t>Buzzer</a:t>
            </a:r>
            <a:endParaRPr sz="1400">
              <a:latin typeface="Calibri"/>
              <a:cs typeface="Calibri"/>
            </a:endParaRPr>
          </a:p>
        </p:txBody>
      </p:sp>
      <p:grpSp>
        <p:nvGrpSpPr>
          <p:cNvPr id="23" name="object 23"/>
          <p:cNvGrpSpPr/>
          <p:nvPr/>
        </p:nvGrpSpPr>
        <p:grpSpPr>
          <a:xfrm>
            <a:off x="6106348" y="1031314"/>
            <a:ext cx="1913889" cy="1253490"/>
            <a:chOff x="6106348" y="1031314"/>
            <a:chExt cx="1913889" cy="1253490"/>
          </a:xfrm>
        </p:grpSpPr>
        <p:sp>
          <p:nvSpPr>
            <p:cNvPr id="24" name="object 24"/>
            <p:cNvSpPr/>
            <p:nvPr/>
          </p:nvSpPr>
          <p:spPr>
            <a:xfrm>
              <a:off x="6112698" y="1037664"/>
              <a:ext cx="1901189" cy="1240790"/>
            </a:xfrm>
            <a:custGeom>
              <a:avLst/>
              <a:gdLst/>
              <a:ahLst/>
              <a:cxnLst/>
              <a:rect l="l" t="t" r="r" b="b"/>
              <a:pathLst>
                <a:path w="1901190" h="1240789">
                  <a:moveTo>
                    <a:pt x="173039" y="408230"/>
                  </a:moveTo>
                  <a:lnTo>
                    <a:pt x="170399" y="365355"/>
                  </a:lnTo>
                  <a:lnTo>
                    <a:pt x="175389" y="323777"/>
                  </a:lnTo>
                  <a:lnTo>
                    <a:pt x="187486" y="284107"/>
                  </a:lnTo>
                  <a:lnTo>
                    <a:pt x="206165" y="246956"/>
                  </a:lnTo>
                  <a:lnTo>
                    <a:pt x="230904" y="212936"/>
                  </a:lnTo>
                  <a:lnTo>
                    <a:pt x="261178" y="182657"/>
                  </a:lnTo>
                  <a:lnTo>
                    <a:pt x="296465" y="156730"/>
                  </a:lnTo>
                  <a:lnTo>
                    <a:pt x="336241" y="135767"/>
                  </a:lnTo>
                  <a:lnTo>
                    <a:pt x="379983" y="120379"/>
                  </a:lnTo>
                  <a:lnTo>
                    <a:pt x="427166" y="111177"/>
                  </a:lnTo>
                  <a:lnTo>
                    <a:pt x="476551" y="108883"/>
                  </a:lnTo>
                  <a:lnTo>
                    <a:pt x="525353" y="113876"/>
                  </a:lnTo>
                  <a:lnTo>
                    <a:pt x="572560" y="125965"/>
                  </a:lnTo>
                  <a:lnTo>
                    <a:pt x="617158" y="144959"/>
                  </a:lnTo>
                  <a:lnTo>
                    <a:pt x="643557" y="109822"/>
                  </a:lnTo>
                  <a:lnTo>
                    <a:pt x="676279" y="80941"/>
                  </a:lnTo>
                  <a:lnTo>
                    <a:pt x="714052" y="58665"/>
                  </a:lnTo>
                  <a:lnTo>
                    <a:pt x="755604" y="43343"/>
                  </a:lnTo>
                  <a:lnTo>
                    <a:pt x="799663" y="35326"/>
                  </a:lnTo>
                  <a:lnTo>
                    <a:pt x="844955" y="34963"/>
                  </a:lnTo>
                  <a:lnTo>
                    <a:pt x="890208" y="42604"/>
                  </a:lnTo>
                  <a:lnTo>
                    <a:pt x="934150" y="58599"/>
                  </a:lnTo>
                  <a:lnTo>
                    <a:pt x="976138" y="83977"/>
                  </a:lnTo>
                  <a:lnTo>
                    <a:pt x="988633" y="94159"/>
                  </a:lnTo>
                  <a:lnTo>
                    <a:pt x="1017562" y="56287"/>
                  </a:lnTo>
                  <a:lnTo>
                    <a:pt x="1055346" y="27484"/>
                  </a:lnTo>
                  <a:lnTo>
                    <a:pt x="1099536" y="8482"/>
                  </a:lnTo>
                  <a:lnTo>
                    <a:pt x="1147684" y="10"/>
                  </a:lnTo>
                  <a:lnTo>
                    <a:pt x="1197343" y="2798"/>
                  </a:lnTo>
                  <a:lnTo>
                    <a:pt x="1246062" y="17578"/>
                  </a:lnTo>
                  <a:lnTo>
                    <a:pt x="1282622" y="38835"/>
                  </a:lnTo>
                  <a:lnTo>
                    <a:pt x="1312991" y="66854"/>
                  </a:lnTo>
                  <a:lnTo>
                    <a:pt x="1348932" y="36972"/>
                  </a:lnTo>
                  <a:lnTo>
                    <a:pt x="1390233" y="15779"/>
                  </a:lnTo>
                  <a:lnTo>
                    <a:pt x="1435086" y="3409"/>
                  </a:lnTo>
                  <a:lnTo>
                    <a:pt x="1481683" y="0"/>
                  </a:lnTo>
                  <a:lnTo>
                    <a:pt x="1528216" y="5685"/>
                  </a:lnTo>
                  <a:lnTo>
                    <a:pt x="1572876" y="20601"/>
                  </a:lnTo>
                  <a:lnTo>
                    <a:pt x="1613854" y="44883"/>
                  </a:lnTo>
                  <a:lnTo>
                    <a:pt x="1660765" y="94699"/>
                  </a:lnTo>
                  <a:lnTo>
                    <a:pt x="1685863" y="155754"/>
                  </a:lnTo>
                  <a:lnTo>
                    <a:pt x="1730211" y="170882"/>
                  </a:lnTo>
                  <a:lnTo>
                    <a:pt x="1769088" y="192908"/>
                  </a:lnTo>
                  <a:lnTo>
                    <a:pt x="1801833" y="220800"/>
                  </a:lnTo>
                  <a:lnTo>
                    <a:pt x="1827786" y="253528"/>
                  </a:lnTo>
                  <a:lnTo>
                    <a:pt x="1846285" y="290060"/>
                  </a:lnTo>
                  <a:lnTo>
                    <a:pt x="1856670" y="329365"/>
                  </a:lnTo>
                  <a:lnTo>
                    <a:pt x="1858281" y="370411"/>
                  </a:lnTo>
                  <a:lnTo>
                    <a:pt x="1850455" y="412167"/>
                  </a:lnTo>
                  <a:lnTo>
                    <a:pt x="1848217" y="419097"/>
                  </a:lnTo>
                  <a:lnTo>
                    <a:pt x="1845693" y="425978"/>
                  </a:lnTo>
                  <a:lnTo>
                    <a:pt x="1842883" y="432813"/>
                  </a:lnTo>
                  <a:lnTo>
                    <a:pt x="1839787" y="439599"/>
                  </a:lnTo>
                  <a:lnTo>
                    <a:pt x="1868595" y="479937"/>
                  </a:lnTo>
                  <a:lnTo>
                    <a:pt x="1888318" y="522951"/>
                  </a:lnTo>
                  <a:lnTo>
                    <a:pt x="1899110" y="567592"/>
                  </a:lnTo>
                  <a:lnTo>
                    <a:pt x="1901126" y="612809"/>
                  </a:lnTo>
                  <a:lnTo>
                    <a:pt x="1894518" y="657554"/>
                  </a:lnTo>
                  <a:lnTo>
                    <a:pt x="1879440" y="700777"/>
                  </a:lnTo>
                  <a:lnTo>
                    <a:pt x="1856045" y="741429"/>
                  </a:lnTo>
                  <a:lnTo>
                    <a:pt x="1824489" y="778459"/>
                  </a:lnTo>
                  <a:lnTo>
                    <a:pt x="1784923" y="810820"/>
                  </a:lnTo>
                  <a:lnTo>
                    <a:pt x="1719137" y="844856"/>
                  </a:lnTo>
                  <a:lnTo>
                    <a:pt x="1645731" y="862890"/>
                  </a:lnTo>
                  <a:lnTo>
                    <a:pt x="1640152" y="908406"/>
                  </a:lnTo>
                  <a:lnTo>
                    <a:pt x="1624957" y="950724"/>
                  </a:lnTo>
                  <a:lnTo>
                    <a:pt x="1601174" y="988944"/>
                  </a:lnTo>
                  <a:lnTo>
                    <a:pt x="1569833" y="1022164"/>
                  </a:lnTo>
                  <a:lnTo>
                    <a:pt x="1531961" y="1049485"/>
                  </a:lnTo>
                  <a:lnTo>
                    <a:pt x="1488587" y="1070005"/>
                  </a:lnTo>
                  <a:lnTo>
                    <a:pt x="1440739" y="1082826"/>
                  </a:lnTo>
                  <a:lnTo>
                    <a:pt x="1389445" y="1087045"/>
                  </a:lnTo>
                  <a:lnTo>
                    <a:pt x="1354495" y="1084634"/>
                  </a:lnTo>
                  <a:lnTo>
                    <a:pt x="1320437" y="1078044"/>
                  </a:lnTo>
                  <a:lnTo>
                    <a:pt x="1287736" y="1067382"/>
                  </a:lnTo>
                  <a:lnTo>
                    <a:pt x="1256857" y="1052755"/>
                  </a:lnTo>
                  <a:lnTo>
                    <a:pt x="1239188" y="1092821"/>
                  </a:lnTo>
                  <a:lnTo>
                    <a:pt x="1215187" y="1128880"/>
                  </a:lnTo>
                  <a:lnTo>
                    <a:pt x="1185618" y="1160566"/>
                  </a:lnTo>
                  <a:lnTo>
                    <a:pt x="1151242" y="1187515"/>
                  </a:lnTo>
                  <a:lnTo>
                    <a:pt x="1112823" y="1209362"/>
                  </a:lnTo>
                  <a:lnTo>
                    <a:pt x="1071124" y="1225741"/>
                  </a:lnTo>
                  <a:lnTo>
                    <a:pt x="1026908" y="1236288"/>
                  </a:lnTo>
                  <a:lnTo>
                    <a:pt x="980936" y="1240638"/>
                  </a:lnTo>
                  <a:lnTo>
                    <a:pt x="933972" y="1238425"/>
                  </a:lnTo>
                  <a:lnTo>
                    <a:pt x="886779" y="1229285"/>
                  </a:lnTo>
                  <a:lnTo>
                    <a:pt x="839279" y="1212410"/>
                  </a:lnTo>
                  <a:lnTo>
                    <a:pt x="796054" y="1188677"/>
                  </a:lnTo>
                  <a:lnTo>
                    <a:pt x="757995" y="1158705"/>
                  </a:lnTo>
                  <a:lnTo>
                    <a:pt x="725997" y="1123113"/>
                  </a:lnTo>
                  <a:lnTo>
                    <a:pt x="681118" y="1143339"/>
                  </a:lnTo>
                  <a:lnTo>
                    <a:pt x="634590" y="1157157"/>
                  </a:lnTo>
                  <a:lnTo>
                    <a:pt x="587133" y="1164727"/>
                  </a:lnTo>
                  <a:lnTo>
                    <a:pt x="539464" y="1166210"/>
                  </a:lnTo>
                  <a:lnTo>
                    <a:pt x="492304" y="1161766"/>
                  </a:lnTo>
                  <a:lnTo>
                    <a:pt x="446372" y="1151555"/>
                  </a:lnTo>
                  <a:lnTo>
                    <a:pt x="402386" y="1135737"/>
                  </a:lnTo>
                  <a:lnTo>
                    <a:pt x="361066" y="1114474"/>
                  </a:lnTo>
                  <a:lnTo>
                    <a:pt x="323130" y="1087924"/>
                  </a:lnTo>
                  <a:lnTo>
                    <a:pt x="289298" y="1056249"/>
                  </a:lnTo>
                  <a:lnTo>
                    <a:pt x="260288" y="1019608"/>
                  </a:lnTo>
                  <a:lnTo>
                    <a:pt x="259145" y="1017830"/>
                  </a:lnTo>
                  <a:lnTo>
                    <a:pt x="257875" y="1016052"/>
                  </a:lnTo>
                  <a:lnTo>
                    <a:pt x="256732" y="1014147"/>
                  </a:lnTo>
                  <a:lnTo>
                    <a:pt x="205327" y="1013378"/>
                  </a:lnTo>
                  <a:lnTo>
                    <a:pt x="157611" y="1001094"/>
                  </a:lnTo>
                  <a:lnTo>
                    <a:pt x="115604" y="978714"/>
                  </a:lnTo>
                  <a:lnTo>
                    <a:pt x="81322" y="947656"/>
                  </a:lnTo>
                  <a:lnTo>
                    <a:pt x="56784" y="909337"/>
                  </a:lnTo>
                  <a:lnTo>
                    <a:pt x="44007" y="865176"/>
                  </a:lnTo>
                  <a:lnTo>
                    <a:pt x="43743" y="828120"/>
                  </a:lnTo>
                  <a:lnTo>
                    <a:pt x="52373" y="792278"/>
                  </a:lnTo>
                  <a:lnTo>
                    <a:pt x="69457" y="758913"/>
                  </a:lnTo>
                  <a:lnTo>
                    <a:pt x="94553" y="729286"/>
                  </a:lnTo>
                  <a:lnTo>
                    <a:pt x="54170" y="701093"/>
                  </a:lnTo>
                  <a:lnTo>
                    <a:pt x="24515" y="665626"/>
                  </a:lnTo>
                  <a:lnTo>
                    <a:pt x="6241" y="625114"/>
                  </a:lnTo>
                  <a:lnTo>
                    <a:pt x="0" y="581787"/>
                  </a:lnTo>
                  <a:lnTo>
                    <a:pt x="6444" y="537875"/>
                  </a:lnTo>
                  <a:lnTo>
                    <a:pt x="26227" y="495606"/>
                  </a:lnTo>
                  <a:lnTo>
                    <a:pt x="53374" y="463584"/>
                  </a:lnTo>
                  <a:lnTo>
                    <a:pt x="87664" y="438408"/>
                  </a:lnTo>
                  <a:lnTo>
                    <a:pt x="127526" y="420972"/>
                  </a:lnTo>
                  <a:lnTo>
                    <a:pt x="171388" y="412167"/>
                  </a:lnTo>
                  <a:lnTo>
                    <a:pt x="173039" y="408230"/>
                  </a:lnTo>
                  <a:close/>
                </a:path>
                <a:path w="1901190" h="1240789">
                  <a:moveTo>
                    <a:pt x="207837" y="747320"/>
                  </a:moveTo>
                  <a:lnTo>
                    <a:pt x="178774" y="747338"/>
                  </a:lnTo>
                  <a:lnTo>
                    <a:pt x="150211" y="743462"/>
                  </a:lnTo>
                  <a:lnTo>
                    <a:pt x="122648" y="735801"/>
                  </a:lnTo>
                  <a:lnTo>
                    <a:pt x="96585" y="724460"/>
                  </a:lnTo>
                </a:path>
                <a:path w="1901190" h="1240789">
                  <a:moveTo>
                    <a:pt x="306135" y="997764"/>
                  </a:moveTo>
                  <a:lnTo>
                    <a:pt x="294283" y="1001596"/>
                  </a:lnTo>
                  <a:lnTo>
                    <a:pt x="282180" y="1004701"/>
                  </a:lnTo>
                  <a:lnTo>
                    <a:pt x="269863" y="1007069"/>
                  </a:lnTo>
                  <a:lnTo>
                    <a:pt x="257367" y="1008686"/>
                  </a:lnTo>
                </a:path>
                <a:path w="1901190" h="1240789">
                  <a:moveTo>
                    <a:pt x="725870" y="1118160"/>
                  </a:moveTo>
                  <a:lnTo>
                    <a:pt x="717447" y="1106163"/>
                  </a:lnTo>
                  <a:lnTo>
                    <a:pt x="709725" y="1093808"/>
                  </a:lnTo>
                  <a:lnTo>
                    <a:pt x="702742" y="1081120"/>
                  </a:lnTo>
                  <a:lnTo>
                    <a:pt x="696533" y="1068122"/>
                  </a:lnTo>
                </a:path>
                <a:path w="1901190" h="1240789">
                  <a:moveTo>
                    <a:pt x="1268668" y="993573"/>
                  </a:moveTo>
                  <a:lnTo>
                    <a:pt x="1267003" y="1007448"/>
                  </a:lnTo>
                  <a:lnTo>
                    <a:pt x="1264493" y="1021227"/>
                  </a:lnTo>
                  <a:lnTo>
                    <a:pt x="1261150" y="1034864"/>
                  </a:lnTo>
                  <a:lnTo>
                    <a:pt x="1256984" y="1048310"/>
                  </a:lnTo>
                </a:path>
              </a:pathLst>
            </a:custGeom>
            <a:ln w="12192">
              <a:solidFill>
                <a:srgbClr val="000000"/>
              </a:solidFill>
            </a:ln>
          </p:spPr>
          <p:txBody>
            <a:bodyPr wrap="square" lIns="0" tIns="0" rIns="0" bIns="0" rtlCol="0"/>
            <a:lstStyle/>
            <a:p>
              <a:endParaRPr/>
            </a:p>
          </p:txBody>
        </p:sp>
        <p:pic>
          <p:nvPicPr>
            <p:cNvPr id="25" name="object 25"/>
            <p:cNvPicPr/>
            <p:nvPr/>
          </p:nvPicPr>
          <p:blipFill>
            <a:blip r:embed="rId2" cstate="print"/>
            <a:stretch>
              <a:fillRect/>
            </a:stretch>
          </p:blipFill>
          <p:spPr>
            <a:xfrm>
              <a:off x="7608316" y="1686305"/>
              <a:ext cx="155194" cy="212448"/>
            </a:xfrm>
            <a:prstGeom prst="rect">
              <a:avLst/>
            </a:prstGeom>
          </p:spPr>
        </p:pic>
        <p:sp>
          <p:nvSpPr>
            <p:cNvPr id="26" name="object 26"/>
            <p:cNvSpPr/>
            <p:nvPr/>
          </p:nvSpPr>
          <p:spPr>
            <a:xfrm>
              <a:off x="6285738" y="1100454"/>
              <a:ext cx="1666239" cy="450850"/>
            </a:xfrm>
            <a:custGeom>
              <a:avLst/>
              <a:gdLst/>
              <a:ahLst/>
              <a:cxnLst/>
              <a:rect l="l" t="t" r="r" b="b"/>
              <a:pathLst>
                <a:path w="1666240" h="450850">
                  <a:moveTo>
                    <a:pt x="1665859" y="373761"/>
                  </a:moveTo>
                  <a:lnTo>
                    <a:pt x="1653738" y="395303"/>
                  </a:lnTo>
                  <a:lnTo>
                    <a:pt x="1638998" y="415417"/>
                  </a:lnTo>
                  <a:lnTo>
                    <a:pt x="1621782" y="433911"/>
                  </a:lnTo>
                  <a:lnTo>
                    <a:pt x="1602232" y="450596"/>
                  </a:lnTo>
                </a:path>
                <a:path w="1666240" h="450850">
                  <a:moveTo>
                    <a:pt x="1513078" y="88646"/>
                  </a:moveTo>
                  <a:lnTo>
                    <a:pt x="1514703" y="97643"/>
                  </a:lnTo>
                  <a:lnTo>
                    <a:pt x="1515792" y="106711"/>
                  </a:lnTo>
                  <a:lnTo>
                    <a:pt x="1516381" y="115827"/>
                  </a:lnTo>
                  <a:lnTo>
                    <a:pt x="1516507" y="124968"/>
                  </a:lnTo>
                </a:path>
                <a:path w="1666240" h="450850">
                  <a:moveTo>
                    <a:pt x="1106678" y="46355"/>
                  </a:moveTo>
                  <a:lnTo>
                    <a:pt x="1113438" y="34004"/>
                  </a:lnTo>
                  <a:lnTo>
                    <a:pt x="1121140" y="22129"/>
                  </a:lnTo>
                  <a:lnTo>
                    <a:pt x="1129770" y="10779"/>
                  </a:lnTo>
                  <a:lnTo>
                    <a:pt x="1139316" y="0"/>
                  </a:lnTo>
                </a:path>
                <a:path w="1666240" h="450850">
                  <a:moveTo>
                    <a:pt x="801751" y="68325"/>
                  </a:moveTo>
                  <a:lnTo>
                    <a:pt x="804677" y="58040"/>
                  </a:lnTo>
                  <a:lnTo>
                    <a:pt x="808307" y="47958"/>
                  </a:lnTo>
                  <a:lnTo>
                    <a:pt x="812627" y="38090"/>
                  </a:lnTo>
                  <a:lnTo>
                    <a:pt x="817626" y="28448"/>
                  </a:lnTo>
                </a:path>
                <a:path w="1666240" h="450850">
                  <a:moveTo>
                    <a:pt x="443991" y="81915"/>
                  </a:moveTo>
                  <a:lnTo>
                    <a:pt x="459224" y="90414"/>
                  </a:lnTo>
                  <a:lnTo>
                    <a:pt x="473837" y="99710"/>
                  </a:lnTo>
                  <a:lnTo>
                    <a:pt x="487783" y="109793"/>
                  </a:lnTo>
                  <a:lnTo>
                    <a:pt x="501014" y="120650"/>
                  </a:lnTo>
                </a:path>
                <a:path w="1666240" h="450850">
                  <a:moveTo>
                    <a:pt x="9906" y="386207"/>
                  </a:moveTo>
                  <a:lnTo>
                    <a:pt x="6768" y="376158"/>
                  </a:lnTo>
                  <a:lnTo>
                    <a:pt x="4048" y="366014"/>
                  </a:lnTo>
                  <a:lnTo>
                    <a:pt x="1779" y="355774"/>
                  </a:lnTo>
                  <a:lnTo>
                    <a:pt x="0" y="345440"/>
                  </a:lnTo>
                </a:path>
              </a:pathLst>
            </a:custGeom>
            <a:ln w="12192">
              <a:solidFill>
                <a:srgbClr val="000000"/>
              </a:solidFill>
            </a:ln>
          </p:spPr>
          <p:txBody>
            <a:bodyPr wrap="square" lIns="0" tIns="0" rIns="0" bIns="0" rtlCol="0"/>
            <a:lstStyle/>
            <a:p>
              <a:endParaRPr/>
            </a:p>
          </p:txBody>
        </p:sp>
      </p:grpSp>
      <p:sp>
        <p:nvSpPr>
          <p:cNvPr id="27" name="object 27"/>
          <p:cNvSpPr txBox="1"/>
          <p:nvPr/>
        </p:nvSpPr>
        <p:spPr>
          <a:xfrm>
            <a:off x="6457569" y="1176019"/>
            <a:ext cx="1075690" cy="878205"/>
          </a:xfrm>
          <a:prstGeom prst="rect">
            <a:avLst/>
          </a:prstGeom>
        </p:spPr>
        <p:txBody>
          <a:bodyPr vert="horz" wrap="square" lIns="0" tIns="11430" rIns="0" bIns="0" rtlCol="0">
            <a:spAutoFit/>
          </a:bodyPr>
          <a:lstStyle/>
          <a:p>
            <a:pPr marL="12700" marR="5080">
              <a:lnSpc>
                <a:spcPct val="100000"/>
              </a:lnSpc>
              <a:spcBef>
                <a:spcPts val="90"/>
              </a:spcBef>
            </a:pPr>
            <a:r>
              <a:rPr sz="1400" spc="-10" dirty="0">
                <a:latin typeface="Calibri"/>
                <a:cs typeface="Calibri"/>
              </a:rPr>
              <a:t>Cloud/Remote </a:t>
            </a:r>
            <a:r>
              <a:rPr sz="1400" spc="-25" dirty="0">
                <a:latin typeface="Calibri"/>
                <a:cs typeface="Calibri"/>
              </a:rPr>
              <a:t>IoT</a:t>
            </a:r>
            <a:r>
              <a:rPr sz="1400" spc="500" dirty="0">
                <a:latin typeface="Calibri"/>
                <a:cs typeface="Calibri"/>
              </a:rPr>
              <a:t> </a:t>
            </a:r>
            <a:r>
              <a:rPr sz="1400" spc="-10" dirty="0">
                <a:latin typeface="Calibri"/>
                <a:cs typeface="Calibri"/>
              </a:rPr>
              <a:t>Monitoring Dashboard</a:t>
            </a:r>
            <a:endParaRPr sz="1400">
              <a:latin typeface="Calibri"/>
              <a:cs typeface="Calibri"/>
            </a:endParaRPr>
          </a:p>
        </p:txBody>
      </p:sp>
      <p:grpSp>
        <p:nvGrpSpPr>
          <p:cNvPr id="28" name="object 28"/>
          <p:cNvGrpSpPr/>
          <p:nvPr/>
        </p:nvGrpSpPr>
        <p:grpSpPr>
          <a:xfrm>
            <a:off x="1654301" y="1615058"/>
            <a:ext cx="4465955" cy="3882390"/>
            <a:chOff x="1654301" y="1615058"/>
            <a:chExt cx="4465955" cy="3882390"/>
          </a:xfrm>
        </p:grpSpPr>
        <p:sp>
          <p:nvSpPr>
            <p:cNvPr id="29" name="object 29"/>
            <p:cNvSpPr/>
            <p:nvPr/>
          </p:nvSpPr>
          <p:spPr>
            <a:xfrm>
              <a:off x="2496312" y="3028187"/>
              <a:ext cx="3546475" cy="2468880"/>
            </a:xfrm>
            <a:custGeom>
              <a:avLst/>
              <a:gdLst/>
              <a:ahLst/>
              <a:cxnLst/>
              <a:rect l="l" t="t" r="r" b="b"/>
              <a:pathLst>
                <a:path w="3546475" h="2468879">
                  <a:moveTo>
                    <a:pt x="1120775" y="2430780"/>
                  </a:moveTo>
                  <a:lnTo>
                    <a:pt x="1108075" y="2424430"/>
                  </a:lnTo>
                  <a:lnTo>
                    <a:pt x="1044575" y="2392680"/>
                  </a:lnTo>
                  <a:lnTo>
                    <a:pt x="1044575" y="2424430"/>
                  </a:lnTo>
                  <a:lnTo>
                    <a:pt x="27432" y="2424430"/>
                  </a:lnTo>
                  <a:lnTo>
                    <a:pt x="27432" y="2437130"/>
                  </a:lnTo>
                  <a:lnTo>
                    <a:pt x="1044575" y="2437130"/>
                  </a:lnTo>
                  <a:lnTo>
                    <a:pt x="1044575" y="2468880"/>
                  </a:lnTo>
                  <a:lnTo>
                    <a:pt x="1108075" y="2437130"/>
                  </a:lnTo>
                  <a:lnTo>
                    <a:pt x="1120775" y="2430780"/>
                  </a:lnTo>
                  <a:close/>
                </a:path>
                <a:path w="3546475" h="2468879">
                  <a:moveTo>
                    <a:pt x="1121410" y="416052"/>
                  </a:moveTo>
                  <a:lnTo>
                    <a:pt x="1108710" y="409702"/>
                  </a:lnTo>
                  <a:lnTo>
                    <a:pt x="1045210" y="377952"/>
                  </a:lnTo>
                  <a:lnTo>
                    <a:pt x="1045210" y="409702"/>
                  </a:lnTo>
                  <a:lnTo>
                    <a:pt x="0" y="409702"/>
                  </a:lnTo>
                  <a:lnTo>
                    <a:pt x="0" y="422402"/>
                  </a:lnTo>
                  <a:lnTo>
                    <a:pt x="1045210" y="422402"/>
                  </a:lnTo>
                  <a:lnTo>
                    <a:pt x="1045210" y="454152"/>
                  </a:lnTo>
                  <a:lnTo>
                    <a:pt x="1108710" y="422402"/>
                  </a:lnTo>
                  <a:lnTo>
                    <a:pt x="1121410" y="416052"/>
                  </a:lnTo>
                  <a:close/>
                </a:path>
                <a:path w="3546475" h="2468879">
                  <a:moveTo>
                    <a:pt x="3470376" y="1019505"/>
                  </a:moveTo>
                  <a:lnTo>
                    <a:pt x="3469906" y="1006805"/>
                  </a:lnTo>
                  <a:lnTo>
                    <a:pt x="2874010" y="1028065"/>
                  </a:lnTo>
                  <a:lnTo>
                    <a:pt x="2874518" y="1040765"/>
                  </a:lnTo>
                  <a:lnTo>
                    <a:pt x="3470376" y="1019505"/>
                  </a:lnTo>
                  <a:close/>
                </a:path>
                <a:path w="3546475" h="2468879">
                  <a:moveTo>
                    <a:pt x="3546094" y="38100"/>
                  </a:moveTo>
                  <a:lnTo>
                    <a:pt x="3533394" y="31750"/>
                  </a:lnTo>
                  <a:lnTo>
                    <a:pt x="3469894" y="0"/>
                  </a:lnTo>
                  <a:lnTo>
                    <a:pt x="3469894" y="31750"/>
                  </a:lnTo>
                  <a:lnTo>
                    <a:pt x="2874264" y="31750"/>
                  </a:lnTo>
                  <a:lnTo>
                    <a:pt x="2874264" y="44450"/>
                  </a:lnTo>
                  <a:lnTo>
                    <a:pt x="3469894" y="44450"/>
                  </a:lnTo>
                  <a:lnTo>
                    <a:pt x="3469894" y="76200"/>
                  </a:lnTo>
                  <a:lnTo>
                    <a:pt x="3533394" y="44450"/>
                  </a:lnTo>
                  <a:lnTo>
                    <a:pt x="3546094" y="38100"/>
                  </a:lnTo>
                  <a:close/>
                </a:path>
                <a:path w="3546475" h="2468879">
                  <a:moveTo>
                    <a:pt x="3546348" y="2388108"/>
                  </a:moveTo>
                  <a:lnTo>
                    <a:pt x="3533648" y="2381758"/>
                  </a:lnTo>
                  <a:lnTo>
                    <a:pt x="3470148" y="2350008"/>
                  </a:lnTo>
                  <a:lnTo>
                    <a:pt x="3470148" y="2381758"/>
                  </a:lnTo>
                  <a:lnTo>
                    <a:pt x="2874264" y="2381758"/>
                  </a:lnTo>
                  <a:lnTo>
                    <a:pt x="2874264" y="2394458"/>
                  </a:lnTo>
                  <a:lnTo>
                    <a:pt x="3470148" y="2394458"/>
                  </a:lnTo>
                  <a:lnTo>
                    <a:pt x="3470148" y="2426208"/>
                  </a:lnTo>
                  <a:lnTo>
                    <a:pt x="3533648" y="2394458"/>
                  </a:lnTo>
                  <a:lnTo>
                    <a:pt x="3546348" y="2388108"/>
                  </a:lnTo>
                  <a:close/>
                </a:path>
                <a:path w="3546475" h="2468879">
                  <a:moveTo>
                    <a:pt x="3546348" y="1010412"/>
                  </a:moveTo>
                  <a:lnTo>
                    <a:pt x="3537407" y="1006348"/>
                  </a:lnTo>
                  <a:lnTo>
                    <a:pt x="3468751" y="975106"/>
                  </a:lnTo>
                  <a:lnTo>
                    <a:pt x="3469894" y="1006348"/>
                  </a:lnTo>
                  <a:lnTo>
                    <a:pt x="3469906" y="1006805"/>
                  </a:lnTo>
                  <a:lnTo>
                    <a:pt x="3470364" y="1019048"/>
                  </a:lnTo>
                  <a:lnTo>
                    <a:pt x="3470376" y="1019505"/>
                  </a:lnTo>
                  <a:lnTo>
                    <a:pt x="3471545" y="1051179"/>
                  </a:lnTo>
                  <a:lnTo>
                    <a:pt x="3546348" y="1010412"/>
                  </a:lnTo>
                  <a:close/>
                </a:path>
              </a:pathLst>
            </a:custGeom>
            <a:solidFill>
              <a:srgbClr val="000000"/>
            </a:solidFill>
          </p:spPr>
          <p:txBody>
            <a:bodyPr wrap="square" lIns="0" tIns="0" rIns="0" bIns="0" rtlCol="0"/>
            <a:lstStyle/>
            <a:p>
              <a:endParaRPr/>
            </a:p>
          </p:txBody>
        </p:sp>
        <p:pic>
          <p:nvPicPr>
            <p:cNvPr id="30" name="object 30"/>
            <p:cNvPicPr/>
            <p:nvPr/>
          </p:nvPicPr>
          <p:blipFill>
            <a:blip r:embed="rId3" cstate="print"/>
            <a:stretch>
              <a:fillRect/>
            </a:stretch>
          </p:blipFill>
          <p:spPr>
            <a:xfrm>
              <a:off x="1654301" y="1734311"/>
              <a:ext cx="76200" cy="236220"/>
            </a:xfrm>
            <a:prstGeom prst="rect">
              <a:avLst/>
            </a:prstGeom>
          </p:spPr>
        </p:pic>
        <p:sp>
          <p:nvSpPr>
            <p:cNvPr id="31" name="object 31"/>
            <p:cNvSpPr/>
            <p:nvPr/>
          </p:nvSpPr>
          <p:spPr>
            <a:xfrm>
              <a:off x="2255520" y="1615058"/>
              <a:ext cx="3864610" cy="626110"/>
            </a:xfrm>
            <a:custGeom>
              <a:avLst/>
              <a:gdLst/>
              <a:ahLst/>
              <a:cxnLst/>
              <a:rect l="l" t="t" r="r" b="b"/>
              <a:pathLst>
                <a:path w="3864610" h="626110">
                  <a:moveTo>
                    <a:pt x="1359789" y="588137"/>
                  </a:moveTo>
                  <a:lnTo>
                    <a:pt x="1346682" y="581533"/>
                  </a:lnTo>
                  <a:lnTo>
                    <a:pt x="1283716" y="549783"/>
                  </a:lnTo>
                  <a:lnTo>
                    <a:pt x="1283550" y="581482"/>
                  </a:lnTo>
                  <a:lnTo>
                    <a:pt x="0" y="576199"/>
                  </a:lnTo>
                  <a:lnTo>
                    <a:pt x="0" y="588899"/>
                  </a:lnTo>
                  <a:lnTo>
                    <a:pt x="1283487" y="594182"/>
                  </a:lnTo>
                  <a:lnTo>
                    <a:pt x="1296149" y="594233"/>
                  </a:lnTo>
                  <a:lnTo>
                    <a:pt x="1283487" y="594233"/>
                  </a:lnTo>
                  <a:lnTo>
                    <a:pt x="1283335" y="625983"/>
                  </a:lnTo>
                  <a:lnTo>
                    <a:pt x="1347470" y="594233"/>
                  </a:lnTo>
                  <a:lnTo>
                    <a:pt x="1359789" y="588137"/>
                  </a:lnTo>
                  <a:close/>
                </a:path>
                <a:path w="3864610" h="626110">
                  <a:moveTo>
                    <a:pt x="3864229" y="36957"/>
                  </a:moveTo>
                  <a:lnTo>
                    <a:pt x="3853154" y="31623"/>
                  </a:lnTo>
                  <a:lnTo>
                    <a:pt x="3787521" y="0"/>
                  </a:lnTo>
                  <a:lnTo>
                    <a:pt x="3787991" y="31623"/>
                  </a:lnTo>
                  <a:lnTo>
                    <a:pt x="3787991" y="31813"/>
                  </a:lnTo>
                  <a:lnTo>
                    <a:pt x="3102737" y="42037"/>
                  </a:lnTo>
                  <a:lnTo>
                    <a:pt x="3102991" y="54737"/>
                  </a:lnTo>
                  <a:lnTo>
                    <a:pt x="3788181" y="44513"/>
                  </a:lnTo>
                  <a:lnTo>
                    <a:pt x="3788664" y="76200"/>
                  </a:lnTo>
                  <a:lnTo>
                    <a:pt x="3864229" y="36957"/>
                  </a:lnTo>
                  <a:close/>
                </a:path>
              </a:pathLst>
            </a:custGeom>
            <a:solidFill>
              <a:srgbClr val="000000"/>
            </a:solidFill>
          </p:spPr>
          <p:txBody>
            <a:bodyPr wrap="square" lIns="0" tIns="0" rIns="0" bIns="0" rtlCol="0"/>
            <a:lstStyle/>
            <a:p>
              <a:endParaRPr/>
            </a:p>
          </p:txBody>
        </p:sp>
      </p:grpSp>
      <p:sp>
        <p:nvSpPr>
          <p:cNvPr id="32" name="object 32"/>
          <p:cNvSpPr txBox="1"/>
          <p:nvPr/>
        </p:nvSpPr>
        <p:spPr>
          <a:xfrm>
            <a:off x="3999738" y="6454546"/>
            <a:ext cx="1147445" cy="164465"/>
          </a:xfrm>
          <a:prstGeom prst="rect">
            <a:avLst/>
          </a:prstGeom>
        </p:spPr>
        <p:txBody>
          <a:bodyPr vert="horz" wrap="square" lIns="0" tIns="13970" rIns="0" bIns="0" rtlCol="0">
            <a:spAutoFit/>
          </a:bodyPr>
          <a:lstStyle/>
          <a:p>
            <a:pPr marL="12700">
              <a:lnSpc>
                <a:spcPct val="100000"/>
              </a:lnSpc>
              <a:spcBef>
                <a:spcPts val="110"/>
              </a:spcBef>
            </a:pPr>
            <a:r>
              <a:rPr sz="900" dirty="0">
                <a:solidFill>
                  <a:srgbClr val="888888"/>
                </a:solidFill>
                <a:latin typeface="Arial MT"/>
                <a:cs typeface="Arial MT"/>
              </a:rPr>
              <a:t>Dept.</a:t>
            </a:r>
            <a:r>
              <a:rPr sz="900" spc="-10" dirty="0">
                <a:solidFill>
                  <a:srgbClr val="888888"/>
                </a:solidFill>
                <a:latin typeface="Arial MT"/>
                <a:cs typeface="Arial MT"/>
              </a:rPr>
              <a:t> </a:t>
            </a:r>
            <a:r>
              <a:rPr sz="900" dirty="0">
                <a:solidFill>
                  <a:srgbClr val="888888"/>
                </a:solidFill>
                <a:latin typeface="Arial MT"/>
                <a:cs typeface="Arial MT"/>
              </a:rPr>
              <a:t>of</a:t>
            </a:r>
            <a:r>
              <a:rPr sz="900" spc="-5" dirty="0">
                <a:solidFill>
                  <a:srgbClr val="888888"/>
                </a:solidFill>
                <a:latin typeface="Arial MT"/>
                <a:cs typeface="Arial MT"/>
              </a:rPr>
              <a:t> </a:t>
            </a:r>
            <a:r>
              <a:rPr sz="900" dirty="0">
                <a:solidFill>
                  <a:srgbClr val="888888"/>
                </a:solidFill>
                <a:latin typeface="Arial MT"/>
                <a:cs typeface="Arial MT"/>
              </a:rPr>
              <a:t>ECE</a:t>
            </a:r>
            <a:r>
              <a:rPr sz="900" spc="-20" dirty="0">
                <a:solidFill>
                  <a:srgbClr val="888888"/>
                </a:solidFill>
                <a:latin typeface="Arial MT"/>
                <a:cs typeface="Arial MT"/>
              </a:rPr>
              <a:t> </a:t>
            </a:r>
            <a:r>
              <a:rPr sz="900" dirty="0">
                <a:solidFill>
                  <a:srgbClr val="888888"/>
                </a:solidFill>
                <a:latin typeface="Arial MT"/>
                <a:cs typeface="Arial MT"/>
              </a:rPr>
              <a:t>2025-</a:t>
            </a:r>
            <a:r>
              <a:rPr sz="900" spc="-25" dirty="0">
                <a:solidFill>
                  <a:srgbClr val="888888"/>
                </a:solidFill>
                <a:latin typeface="Arial MT"/>
                <a:cs typeface="Arial MT"/>
              </a:rPr>
              <a:t>26</a:t>
            </a:r>
            <a:endParaRPr sz="900">
              <a:latin typeface="Arial MT"/>
              <a:cs typeface="Arial M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3262" y="60147"/>
            <a:ext cx="1608938" cy="337913"/>
          </a:xfrm>
          <a:prstGeom prst="rect">
            <a:avLst/>
          </a:prstGeom>
        </p:spPr>
        <p:txBody>
          <a:bodyPr vert="horz" wrap="square" lIns="0" tIns="14605" rIns="0" bIns="0" rtlCol="0">
            <a:spAutoFit/>
          </a:bodyPr>
          <a:lstStyle/>
          <a:p>
            <a:pPr marL="12700">
              <a:lnSpc>
                <a:spcPct val="100000"/>
              </a:lnSpc>
              <a:spcBef>
                <a:spcPts val="115"/>
              </a:spcBef>
            </a:pPr>
            <a:r>
              <a:rPr sz="2100" dirty="0">
                <a:latin typeface="Times New Roman"/>
                <a:cs typeface="Times New Roman"/>
              </a:rPr>
              <a:t>Flow</a:t>
            </a:r>
            <a:r>
              <a:rPr sz="2100" spc="-30" dirty="0">
                <a:latin typeface="Times New Roman"/>
                <a:cs typeface="Times New Roman"/>
              </a:rPr>
              <a:t> </a:t>
            </a:r>
            <a:r>
              <a:rPr sz="2100" spc="-20" dirty="0">
                <a:latin typeface="Times New Roman"/>
                <a:cs typeface="Times New Roman"/>
              </a:rPr>
              <a:t>chart</a:t>
            </a:r>
            <a:endParaRPr sz="2100" dirty="0">
              <a:latin typeface="Times New Roman"/>
              <a:cs typeface="Times New Roman"/>
            </a:endParaRPr>
          </a:p>
        </p:txBody>
      </p:sp>
      <p:sp>
        <p:nvSpPr>
          <p:cNvPr id="3" name="object 3"/>
          <p:cNvSpPr/>
          <p:nvPr/>
        </p:nvSpPr>
        <p:spPr>
          <a:xfrm>
            <a:off x="3636264" y="268224"/>
            <a:ext cx="914400" cy="646430"/>
          </a:xfrm>
          <a:custGeom>
            <a:avLst/>
            <a:gdLst/>
            <a:ahLst/>
            <a:cxnLst/>
            <a:rect l="l" t="t" r="r" b="b"/>
            <a:pathLst>
              <a:path w="914400" h="646430">
                <a:moveTo>
                  <a:pt x="0" y="323088"/>
                </a:moveTo>
                <a:lnTo>
                  <a:pt x="3562" y="282560"/>
                </a:lnTo>
                <a:lnTo>
                  <a:pt x="13965" y="243535"/>
                </a:lnTo>
                <a:lnTo>
                  <a:pt x="30778" y="206315"/>
                </a:lnTo>
                <a:lnTo>
                  <a:pt x="53573" y="171203"/>
                </a:lnTo>
                <a:lnTo>
                  <a:pt x="81922" y="138501"/>
                </a:lnTo>
                <a:lnTo>
                  <a:pt x="115396" y="108513"/>
                </a:lnTo>
                <a:lnTo>
                  <a:pt x="153566" y="81540"/>
                </a:lnTo>
                <a:lnTo>
                  <a:pt x="196004" y="57887"/>
                </a:lnTo>
                <a:lnTo>
                  <a:pt x="242280" y="37855"/>
                </a:lnTo>
                <a:lnTo>
                  <a:pt x="291967" y="21747"/>
                </a:lnTo>
                <a:lnTo>
                  <a:pt x="344634" y="9867"/>
                </a:lnTo>
                <a:lnTo>
                  <a:pt x="399855" y="2517"/>
                </a:lnTo>
                <a:lnTo>
                  <a:pt x="457200" y="0"/>
                </a:lnTo>
                <a:lnTo>
                  <a:pt x="514544" y="2517"/>
                </a:lnTo>
                <a:lnTo>
                  <a:pt x="569765" y="9867"/>
                </a:lnTo>
                <a:lnTo>
                  <a:pt x="622432" y="21747"/>
                </a:lnTo>
                <a:lnTo>
                  <a:pt x="672119" y="37855"/>
                </a:lnTo>
                <a:lnTo>
                  <a:pt x="718395" y="57887"/>
                </a:lnTo>
                <a:lnTo>
                  <a:pt x="760833" y="81540"/>
                </a:lnTo>
                <a:lnTo>
                  <a:pt x="799003" y="108513"/>
                </a:lnTo>
                <a:lnTo>
                  <a:pt x="832477" y="138501"/>
                </a:lnTo>
                <a:lnTo>
                  <a:pt x="860826" y="171203"/>
                </a:lnTo>
                <a:lnTo>
                  <a:pt x="883621" y="206315"/>
                </a:lnTo>
                <a:lnTo>
                  <a:pt x="900434" y="243535"/>
                </a:lnTo>
                <a:lnTo>
                  <a:pt x="910837" y="282560"/>
                </a:lnTo>
                <a:lnTo>
                  <a:pt x="914400" y="323088"/>
                </a:lnTo>
                <a:lnTo>
                  <a:pt x="910837" y="363615"/>
                </a:lnTo>
                <a:lnTo>
                  <a:pt x="900434" y="402640"/>
                </a:lnTo>
                <a:lnTo>
                  <a:pt x="883621" y="439860"/>
                </a:lnTo>
                <a:lnTo>
                  <a:pt x="860826" y="474972"/>
                </a:lnTo>
                <a:lnTo>
                  <a:pt x="832477" y="507674"/>
                </a:lnTo>
                <a:lnTo>
                  <a:pt x="799003" y="537662"/>
                </a:lnTo>
                <a:lnTo>
                  <a:pt x="760833" y="564635"/>
                </a:lnTo>
                <a:lnTo>
                  <a:pt x="718395" y="588288"/>
                </a:lnTo>
                <a:lnTo>
                  <a:pt x="672119" y="608320"/>
                </a:lnTo>
                <a:lnTo>
                  <a:pt x="622432" y="624428"/>
                </a:lnTo>
                <a:lnTo>
                  <a:pt x="569765" y="636308"/>
                </a:lnTo>
                <a:lnTo>
                  <a:pt x="514544" y="643658"/>
                </a:lnTo>
                <a:lnTo>
                  <a:pt x="457200" y="646176"/>
                </a:lnTo>
                <a:lnTo>
                  <a:pt x="399855" y="643658"/>
                </a:lnTo>
                <a:lnTo>
                  <a:pt x="344634" y="636308"/>
                </a:lnTo>
                <a:lnTo>
                  <a:pt x="291967" y="624428"/>
                </a:lnTo>
                <a:lnTo>
                  <a:pt x="242280" y="608320"/>
                </a:lnTo>
                <a:lnTo>
                  <a:pt x="196004" y="588288"/>
                </a:lnTo>
                <a:lnTo>
                  <a:pt x="153566" y="564635"/>
                </a:lnTo>
                <a:lnTo>
                  <a:pt x="115396" y="537662"/>
                </a:lnTo>
                <a:lnTo>
                  <a:pt x="81922" y="507674"/>
                </a:lnTo>
                <a:lnTo>
                  <a:pt x="53573" y="474972"/>
                </a:lnTo>
                <a:lnTo>
                  <a:pt x="30778" y="439860"/>
                </a:lnTo>
                <a:lnTo>
                  <a:pt x="13965" y="402640"/>
                </a:lnTo>
                <a:lnTo>
                  <a:pt x="3562" y="363615"/>
                </a:lnTo>
                <a:lnTo>
                  <a:pt x="0" y="323088"/>
                </a:lnTo>
                <a:close/>
              </a:path>
            </a:pathLst>
          </a:custGeom>
          <a:ln w="12192">
            <a:solidFill>
              <a:srgbClr val="000000"/>
            </a:solidFill>
          </a:ln>
        </p:spPr>
        <p:txBody>
          <a:bodyPr wrap="square" lIns="0" tIns="0" rIns="0" bIns="0" rtlCol="0"/>
          <a:lstStyle/>
          <a:p>
            <a:endParaRPr/>
          </a:p>
        </p:txBody>
      </p:sp>
      <p:sp>
        <p:nvSpPr>
          <p:cNvPr id="4" name="object 4"/>
          <p:cNvSpPr txBox="1"/>
          <p:nvPr/>
        </p:nvSpPr>
        <p:spPr>
          <a:xfrm>
            <a:off x="3914647" y="463676"/>
            <a:ext cx="359410" cy="238125"/>
          </a:xfrm>
          <a:prstGeom prst="rect">
            <a:avLst/>
          </a:prstGeom>
        </p:spPr>
        <p:txBody>
          <a:bodyPr vert="horz" wrap="square" lIns="0" tIns="11430" rIns="0" bIns="0" rtlCol="0">
            <a:spAutoFit/>
          </a:bodyPr>
          <a:lstStyle/>
          <a:p>
            <a:pPr marL="12700">
              <a:lnSpc>
                <a:spcPct val="100000"/>
              </a:lnSpc>
              <a:spcBef>
                <a:spcPts val="90"/>
              </a:spcBef>
            </a:pPr>
            <a:r>
              <a:rPr sz="1400" spc="-10" dirty="0">
                <a:latin typeface="Calibri"/>
                <a:cs typeface="Calibri"/>
              </a:rPr>
              <a:t>start</a:t>
            </a:r>
            <a:endParaRPr sz="1400">
              <a:latin typeface="Calibri"/>
              <a:cs typeface="Calibri"/>
            </a:endParaRPr>
          </a:p>
        </p:txBody>
      </p:sp>
      <p:sp>
        <p:nvSpPr>
          <p:cNvPr id="5" name="object 5"/>
          <p:cNvSpPr txBox="1"/>
          <p:nvPr/>
        </p:nvSpPr>
        <p:spPr>
          <a:xfrm>
            <a:off x="3081527" y="1240536"/>
            <a:ext cx="2039620" cy="445134"/>
          </a:xfrm>
          <a:prstGeom prst="rect">
            <a:avLst/>
          </a:prstGeom>
          <a:ln w="12192">
            <a:solidFill>
              <a:srgbClr val="000000"/>
            </a:solidFill>
          </a:ln>
        </p:spPr>
        <p:txBody>
          <a:bodyPr vert="horz" wrap="square" lIns="0" tIns="105410" rIns="0" bIns="0" rtlCol="0">
            <a:spAutoFit/>
          </a:bodyPr>
          <a:lstStyle/>
          <a:p>
            <a:pPr marL="546735">
              <a:lnSpc>
                <a:spcPct val="100000"/>
              </a:lnSpc>
              <a:spcBef>
                <a:spcPts val="830"/>
              </a:spcBef>
            </a:pPr>
            <a:r>
              <a:rPr sz="1400" dirty="0">
                <a:latin typeface="Calibri"/>
                <a:cs typeface="Calibri"/>
              </a:rPr>
              <a:t>Initialize</a:t>
            </a:r>
            <a:r>
              <a:rPr sz="1400" spc="-40" dirty="0">
                <a:latin typeface="Calibri"/>
                <a:cs typeface="Calibri"/>
              </a:rPr>
              <a:t> </a:t>
            </a:r>
            <a:r>
              <a:rPr sz="1400" spc="-20" dirty="0">
                <a:latin typeface="Calibri"/>
                <a:cs typeface="Calibri"/>
              </a:rPr>
              <a:t>part</a:t>
            </a:r>
            <a:endParaRPr sz="1400">
              <a:latin typeface="Calibri"/>
              <a:cs typeface="Calibri"/>
            </a:endParaRPr>
          </a:p>
        </p:txBody>
      </p:sp>
      <p:sp>
        <p:nvSpPr>
          <p:cNvPr id="6" name="object 6"/>
          <p:cNvSpPr txBox="1"/>
          <p:nvPr/>
        </p:nvSpPr>
        <p:spPr>
          <a:xfrm>
            <a:off x="1274063" y="4041647"/>
            <a:ext cx="1615440" cy="524510"/>
          </a:xfrm>
          <a:prstGeom prst="rect">
            <a:avLst/>
          </a:prstGeom>
          <a:ln w="12191">
            <a:solidFill>
              <a:srgbClr val="000000"/>
            </a:solidFill>
          </a:ln>
        </p:spPr>
        <p:txBody>
          <a:bodyPr vert="horz" wrap="square" lIns="0" tIns="147320" rIns="0" bIns="0" rtlCol="0">
            <a:spAutoFit/>
          </a:bodyPr>
          <a:lstStyle/>
          <a:p>
            <a:pPr marL="399415">
              <a:lnSpc>
                <a:spcPct val="100000"/>
              </a:lnSpc>
              <a:spcBef>
                <a:spcPts val="1160"/>
              </a:spcBef>
            </a:pPr>
            <a:r>
              <a:rPr sz="1400" dirty="0">
                <a:latin typeface="Calibri"/>
                <a:cs typeface="Calibri"/>
              </a:rPr>
              <a:t>gate</a:t>
            </a:r>
            <a:r>
              <a:rPr sz="1400" spc="5" dirty="0">
                <a:latin typeface="Calibri"/>
                <a:cs typeface="Calibri"/>
              </a:rPr>
              <a:t> </a:t>
            </a:r>
            <a:r>
              <a:rPr sz="1400" dirty="0">
                <a:latin typeface="Calibri"/>
                <a:cs typeface="Calibri"/>
              </a:rPr>
              <a:t>1</a:t>
            </a:r>
            <a:r>
              <a:rPr sz="1400" spc="-45" dirty="0">
                <a:latin typeface="Calibri"/>
                <a:cs typeface="Calibri"/>
              </a:rPr>
              <a:t> </a:t>
            </a:r>
            <a:r>
              <a:rPr sz="1400" spc="-20" dirty="0">
                <a:latin typeface="Calibri"/>
                <a:cs typeface="Calibri"/>
              </a:rPr>
              <a:t>open</a:t>
            </a:r>
            <a:endParaRPr sz="1400">
              <a:latin typeface="Calibri"/>
              <a:cs typeface="Calibri"/>
            </a:endParaRPr>
          </a:p>
        </p:txBody>
      </p:sp>
      <p:sp>
        <p:nvSpPr>
          <p:cNvPr id="7" name="object 7"/>
          <p:cNvSpPr txBox="1"/>
          <p:nvPr/>
        </p:nvSpPr>
        <p:spPr>
          <a:xfrm>
            <a:off x="4501896" y="4026408"/>
            <a:ext cx="1618615" cy="542925"/>
          </a:xfrm>
          <a:prstGeom prst="rect">
            <a:avLst/>
          </a:prstGeom>
          <a:ln w="12192">
            <a:solidFill>
              <a:srgbClr val="000000"/>
            </a:solidFill>
          </a:ln>
        </p:spPr>
        <p:txBody>
          <a:bodyPr vert="horz" wrap="square" lIns="0" tIns="156845" rIns="0" bIns="0" rtlCol="0">
            <a:spAutoFit/>
          </a:bodyPr>
          <a:lstStyle/>
          <a:p>
            <a:pPr marL="200025">
              <a:lnSpc>
                <a:spcPct val="100000"/>
              </a:lnSpc>
              <a:spcBef>
                <a:spcPts val="1235"/>
              </a:spcBef>
            </a:pPr>
            <a:r>
              <a:rPr sz="1400" dirty="0">
                <a:latin typeface="Calibri"/>
                <a:cs typeface="Calibri"/>
              </a:rPr>
              <a:t>gate</a:t>
            </a:r>
            <a:r>
              <a:rPr sz="1400" spc="10" dirty="0">
                <a:latin typeface="Calibri"/>
                <a:cs typeface="Calibri"/>
              </a:rPr>
              <a:t> </a:t>
            </a:r>
            <a:r>
              <a:rPr sz="1400" dirty="0">
                <a:latin typeface="Calibri"/>
                <a:cs typeface="Calibri"/>
              </a:rPr>
              <a:t>1</a:t>
            </a:r>
            <a:r>
              <a:rPr sz="1400" spc="-35" dirty="0">
                <a:latin typeface="Calibri"/>
                <a:cs typeface="Calibri"/>
              </a:rPr>
              <a:t> </a:t>
            </a:r>
            <a:r>
              <a:rPr sz="1400" dirty="0">
                <a:latin typeface="Calibri"/>
                <a:cs typeface="Calibri"/>
              </a:rPr>
              <a:t>&amp;2</a:t>
            </a:r>
            <a:r>
              <a:rPr sz="1400" spc="-20" dirty="0">
                <a:latin typeface="Calibri"/>
                <a:cs typeface="Calibri"/>
              </a:rPr>
              <a:t> </a:t>
            </a:r>
            <a:r>
              <a:rPr sz="1400" dirty="0">
                <a:latin typeface="Calibri"/>
                <a:cs typeface="Calibri"/>
              </a:rPr>
              <a:t>is</a:t>
            </a:r>
            <a:r>
              <a:rPr sz="1400" spc="-20" dirty="0">
                <a:latin typeface="Calibri"/>
                <a:cs typeface="Calibri"/>
              </a:rPr>
              <a:t> open</a:t>
            </a:r>
            <a:endParaRPr sz="1400">
              <a:latin typeface="Calibri"/>
              <a:cs typeface="Calibri"/>
            </a:endParaRPr>
          </a:p>
        </p:txBody>
      </p:sp>
      <p:sp>
        <p:nvSpPr>
          <p:cNvPr id="8" name="object 8"/>
          <p:cNvSpPr txBox="1"/>
          <p:nvPr/>
        </p:nvSpPr>
        <p:spPr>
          <a:xfrm>
            <a:off x="3243072" y="4901184"/>
            <a:ext cx="1716405" cy="439420"/>
          </a:xfrm>
          <a:prstGeom prst="rect">
            <a:avLst/>
          </a:prstGeom>
          <a:ln w="12192">
            <a:solidFill>
              <a:srgbClr val="000000"/>
            </a:solidFill>
          </a:ln>
        </p:spPr>
        <p:txBody>
          <a:bodyPr vert="horz" wrap="square" lIns="0" tIns="104775" rIns="0" bIns="0" rtlCol="0">
            <a:spAutoFit/>
          </a:bodyPr>
          <a:lstStyle/>
          <a:p>
            <a:pPr marL="3175" algn="ctr">
              <a:lnSpc>
                <a:spcPct val="100000"/>
              </a:lnSpc>
              <a:spcBef>
                <a:spcPts val="825"/>
              </a:spcBef>
            </a:pPr>
            <a:r>
              <a:rPr sz="1400" spc="-10" dirty="0">
                <a:latin typeface="Calibri"/>
                <a:cs typeface="Calibri"/>
              </a:rPr>
              <a:t>Display</a:t>
            </a:r>
            <a:endParaRPr sz="1400">
              <a:latin typeface="Calibri"/>
              <a:cs typeface="Calibri"/>
            </a:endParaRPr>
          </a:p>
        </p:txBody>
      </p:sp>
      <p:sp>
        <p:nvSpPr>
          <p:cNvPr id="9" name="object 9"/>
          <p:cNvSpPr/>
          <p:nvPr/>
        </p:nvSpPr>
        <p:spPr>
          <a:xfrm>
            <a:off x="3657600" y="5681471"/>
            <a:ext cx="914400" cy="332740"/>
          </a:xfrm>
          <a:custGeom>
            <a:avLst/>
            <a:gdLst/>
            <a:ahLst/>
            <a:cxnLst/>
            <a:rect l="l" t="t" r="r" b="b"/>
            <a:pathLst>
              <a:path w="914400" h="332739">
                <a:moveTo>
                  <a:pt x="0" y="166115"/>
                </a:moveTo>
                <a:lnTo>
                  <a:pt x="19359" y="118138"/>
                </a:lnTo>
                <a:lnTo>
                  <a:pt x="73664" y="75663"/>
                </a:lnTo>
                <a:lnTo>
                  <a:pt x="112153" y="57131"/>
                </a:lnTo>
                <a:lnTo>
                  <a:pt x="157254" y="40744"/>
                </a:lnTo>
                <a:lnTo>
                  <a:pt x="208262" y="26761"/>
                </a:lnTo>
                <a:lnTo>
                  <a:pt x="264468" y="15439"/>
                </a:lnTo>
                <a:lnTo>
                  <a:pt x="325165" y="7033"/>
                </a:lnTo>
                <a:lnTo>
                  <a:pt x="389644" y="1801"/>
                </a:lnTo>
                <a:lnTo>
                  <a:pt x="457200" y="0"/>
                </a:lnTo>
                <a:lnTo>
                  <a:pt x="524755" y="1801"/>
                </a:lnTo>
                <a:lnTo>
                  <a:pt x="589234" y="7033"/>
                </a:lnTo>
                <a:lnTo>
                  <a:pt x="649931" y="15439"/>
                </a:lnTo>
                <a:lnTo>
                  <a:pt x="706137" y="26761"/>
                </a:lnTo>
                <a:lnTo>
                  <a:pt x="757145" y="40744"/>
                </a:lnTo>
                <a:lnTo>
                  <a:pt x="802246" y="57131"/>
                </a:lnTo>
                <a:lnTo>
                  <a:pt x="840735" y="75663"/>
                </a:lnTo>
                <a:lnTo>
                  <a:pt x="895040" y="118138"/>
                </a:lnTo>
                <a:lnTo>
                  <a:pt x="914400" y="166115"/>
                </a:lnTo>
                <a:lnTo>
                  <a:pt x="909442" y="190663"/>
                </a:lnTo>
                <a:lnTo>
                  <a:pt x="871902" y="236146"/>
                </a:lnTo>
                <a:lnTo>
                  <a:pt x="802246" y="275100"/>
                </a:lnTo>
                <a:lnTo>
                  <a:pt x="757145" y="291487"/>
                </a:lnTo>
                <a:lnTo>
                  <a:pt x="706137" y="305470"/>
                </a:lnTo>
                <a:lnTo>
                  <a:pt x="649931" y="316792"/>
                </a:lnTo>
                <a:lnTo>
                  <a:pt x="589234" y="325198"/>
                </a:lnTo>
                <a:lnTo>
                  <a:pt x="524755" y="330430"/>
                </a:lnTo>
                <a:lnTo>
                  <a:pt x="457200" y="332231"/>
                </a:lnTo>
                <a:lnTo>
                  <a:pt x="389644" y="330430"/>
                </a:lnTo>
                <a:lnTo>
                  <a:pt x="325165" y="325198"/>
                </a:lnTo>
                <a:lnTo>
                  <a:pt x="264468" y="316792"/>
                </a:lnTo>
                <a:lnTo>
                  <a:pt x="208262" y="305470"/>
                </a:lnTo>
                <a:lnTo>
                  <a:pt x="157254" y="291487"/>
                </a:lnTo>
                <a:lnTo>
                  <a:pt x="112153" y="275100"/>
                </a:lnTo>
                <a:lnTo>
                  <a:pt x="73664" y="256568"/>
                </a:lnTo>
                <a:lnTo>
                  <a:pt x="19359" y="214093"/>
                </a:lnTo>
                <a:lnTo>
                  <a:pt x="0" y="166115"/>
                </a:lnTo>
                <a:close/>
              </a:path>
            </a:pathLst>
          </a:custGeom>
          <a:ln w="12192">
            <a:solidFill>
              <a:srgbClr val="000000"/>
            </a:solidFill>
          </a:ln>
        </p:spPr>
        <p:txBody>
          <a:bodyPr wrap="square" lIns="0" tIns="0" rIns="0" bIns="0" rtlCol="0"/>
          <a:lstStyle/>
          <a:p>
            <a:endParaRPr/>
          </a:p>
        </p:txBody>
      </p:sp>
      <p:sp>
        <p:nvSpPr>
          <p:cNvPr id="10" name="object 10"/>
          <p:cNvSpPr txBox="1"/>
          <p:nvPr/>
        </p:nvSpPr>
        <p:spPr>
          <a:xfrm>
            <a:off x="3947921" y="5722111"/>
            <a:ext cx="332740" cy="238125"/>
          </a:xfrm>
          <a:prstGeom prst="rect">
            <a:avLst/>
          </a:prstGeom>
        </p:spPr>
        <p:txBody>
          <a:bodyPr vert="horz" wrap="square" lIns="0" tIns="11430" rIns="0" bIns="0" rtlCol="0">
            <a:spAutoFit/>
          </a:bodyPr>
          <a:lstStyle/>
          <a:p>
            <a:pPr marL="12700">
              <a:lnSpc>
                <a:spcPct val="100000"/>
              </a:lnSpc>
              <a:spcBef>
                <a:spcPts val="90"/>
              </a:spcBef>
            </a:pPr>
            <a:r>
              <a:rPr sz="1400" spc="-25" dirty="0">
                <a:latin typeface="Calibri"/>
                <a:cs typeface="Calibri"/>
              </a:rPr>
              <a:t>END</a:t>
            </a:r>
            <a:endParaRPr sz="1400">
              <a:latin typeface="Calibri"/>
              <a:cs typeface="Calibri"/>
            </a:endParaRPr>
          </a:p>
        </p:txBody>
      </p:sp>
      <p:sp>
        <p:nvSpPr>
          <p:cNvPr id="11" name="object 11"/>
          <p:cNvSpPr txBox="1"/>
          <p:nvPr/>
        </p:nvSpPr>
        <p:spPr>
          <a:xfrm>
            <a:off x="6760464" y="4023359"/>
            <a:ext cx="1826260" cy="542925"/>
          </a:xfrm>
          <a:prstGeom prst="rect">
            <a:avLst/>
          </a:prstGeom>
          <a:ln w="12192">
            <a:solidFill>
              <a:srgbClr val="000000"/>
            </a:solidFill>
          </a:ln>
        </p:spPr>
        <p:txBody>
          <a:bodyPr vert="horz" wrap="square" lIns="0" tIns="155575" rIns="0" bIns="0" rtlCol="0">
            <a:spAutoFit/>
          </a:bodyPr>
          <a:lstStyle/>
          <a:p>
            <a:pPr marL="332105">
              <a:lnSpc>
                <a:spcPct val="100000"/>
              </a:lnSpc>
              <a:spcBef>
                <a:spcPts val="1225"/>
              </a:spcBef>
            </a:pPr>
            <a:r>
              <a:rPr sz="1400" dirty="0">
                <a:latin typeface="Calibri"/>
                <a:cs typeface="Calibri"/>
              </a:rPr>
              <a:t>gate</a:t>
            </a:r>
            <a:r>
              <a:rPr sz="1400" spc="10" dirty="0">
                <a:latin typeface="Calibri"/>
                <a:cs typeface="Calibri"/>
              </a:rPr>
              <a:t> </a:t>
            </a:r>
            <a:r>
              <a:rPr sz="1400" dirty="0">
                <a:latin typeface="Calibri"/>
                <a:cs typeface="Calibri"/>
              </a:rPr>
              <a:t>1</a:t>
            </a:r>
            <a:r>
              <a:rPr sz="1400" spc="-45" dirty="0">
                <a:latin typeface="Calibri"/>
                <a:cs typeface="Calibri"/>
              </a:rPr>
              <a:t> </a:t>
            </a:r>
            <a:r>
              <a:rPr sz="1400" dirty="0">
                <a:latin typeface="Calibri"/>
                <a:cs typeface="Calibri"/>
              </a:rPr>
              <a:t>,</a:t>
            </a:r>
            <a:r>
              <a:rPr sz="1400" spc="-30" dirty="0">
                <a:latin typeface="Calibri"/>
                <a:cs typeface="Calibri"/>
              </a:rPr>
              <a:t> </a:t>
            </a:r>
            <a:r>
              <a:rPr sz="1400" dirty="0">
                <a:latin typeface="Calibri"/>
                <a:cs typeface="Calibri"/>
              </a:rPr>
              <a:t>2,3 </a:t>
            </a:r>
            <a:r>
              <a:rPr sz="1400" spc="-20" dirty="0">
                <a:latin typeface="Calibri"/>
                <a:cs typeface="Calibri"/>
              </a:rPr>
              <a:t>open</a:t>
            </a:r>
            <a:endParaRPr sz="1400">
              <a:latin typeface="Calibri"/>
              <a:cs typeface="Calibri"/>
            </a:endParaRPr>
          </a:p>
        </p:txBody>
      </p:sp>
      <p:sp>
        <p:nvSpPr>
          <p:cNvPr id="12" name="object 12"/>
          <p:cNvSpPr/>
          <p:nvPr/>
        </p:nvSpPr>
        <p:spPr>
          <a:xfrm>
            <a:off x="4060697" y="914272"/>
            <a:ext cx="76200" cy="324485"/>
          </a:xfrm>
          <a:custGeom>
            <a:avLst/>
            <a:gdLst/>
            <a:ahLst/>
            <a:cxnLst/>
            <a:rect l="l" t="t" r="r" b="b"/>
            <a:pathLst>
              <a:path w="76200" h="324484">
                <a:moveTo>
                  <a:pt x="31854" y="248356"/>
                </a:moveTo>
                <a:lnTo>
                  <a:pt x="0" y="249047"/>
                </a:lnTo>
                <a:lnTo>
                  <a:pt x="39750" y="324357"/>
                </a:lnTo>
                <a:lnTo>
                  <a:pt x="69764" y="260985"/>
                </a:lnTo>
                <a:lnTo>
                  <a:pt x="32130" y="260985"/>
                </a:lnTo>
                <a:lnTo>
                  <a:pt x="31869" y="249047"/>
                </a:lnTo>
                <a:lnTo>
                  <a:pt x="31854" y="248356"/>
                </a:lnTo>
                <a:close/>
              </a:path>
              <a:path w="76200" h="324484">
                <a:moveTo>
                  <a:pt x="44553" y="248081"/>
                </a:moveTo>
                <a:lnTo>
                  <a:pt x="31854" y="248356"/>
                </a:lnTo>
                <a:lnTo>
                  <a:pt x="32125" y="260730"/>
                </a:lnTo>
                <a:lnTo>
                  <a:pt x="32130" y="260985"/>
                </a:lnTo>
                <a:lnTo>
                  <a:pt x="44830" y="260730"/>
                </a:lnTo>
                <a:lnTo>
                  <a:pt x="44574" y="249047"/>
                </a:lnTo>
                <a:lnTo>
                  <a:pt x="44553" y="248081"/>
                </a:lnTo>
                <a:close/>
              </a:path>
              <a:path w="76200" h="324484">
                <a:moveTo>
                  <a:pt x="76200" y="247396"/>
                </a:moveTo>
                <a:lnTo>
                  <a:pt x="44553" y="248081"/>
                </a:lnTo>
                <a:lnTo>
                  <a:pt x="44830" y="260730"/>
                </a:lnTo>
                <a:lnTo>
                  <a:pt x="32130" y="260985"/>
                </a:lnTo>
                <a:lnTo>
                  <a:pt x="69764" y="260985"/>
                </a:lnTo>
                <a:lnTo>
                  <a:pt x="76200" y="247396"/>
                </a:lnTo>
                <a:close/>
              </a:path>
              <a:path w="76200" h="324484">
                <a:moveTo>
                  <a:pt x="39115" y="0"/>
                </a:moveTo>
                <a:lnTo>
                  <a:pt x="26415" y="253"/>
                </a:lnTo>
                <a:lnTo>
                  <a:pt x="31833" y="247396"/>
                </a:lnTo>
                <a:lnTo>
                  <a:pt x="31854" y="248356"/>
                </a:lnTo>
                <a:lnTo>
                  <a:pt x="44553" y="248081"/>
                </a:lnTo>
                <a:lnTo>
                  <a:pt x="39121" y="253"/>
                </a:lnTo>
                <a:lnTo>
                  <a:pt x="39115" y="0"/>
                </a:lnTo>
                <a:close/>
              </a:path>
            </a:pathLst>
          </a:custGeom>
          <a:solidFill>
            <a:srgbClr val="000000"/>
          </a:solidFill>
        </p:spPr>
        <p:txBody>
          <a:bodyPr wrap="square" lIns="0" tIns="0" rIns="0" bIns="0" rtlCol="0"/>
          <a:lstStyle/>
          <a:p>
            <a:endParaRPr/>
          </a:p>
        </p:txBody>
      </p:sp>
      <p:sp>
        <p:nvSpPr>
          <p:cNvPr id="13" name="object 13"/>
          <p:cNvSpPr txBox="1"/>
          <p:nvPr/>
        </p:nvSpPr>
        <p:spPr>
          <a:xfrm>
            <a:off x="3081527" y="2017776"/>
            <a:ext cx="2136775" cy="454659"/>
          </a:xfrm>
          <a:prstGeom prst="rect">
            <a:avLst/>
          </a:prstGeom>
          <a:ln w="12192">
            <a:solidFill>
              <a:srgbClr val="000000"/>
            </a:solidFill>
          </a:ln>
        </p:spPr>
        <p:txBody>
          <a:bodyPr vert="horz" wrap="square" lIns="0" tIns="111125" rIns="0" bIns="0" rtlCol="0">
            <a:spAutoFit/>
          </a:bodyPr>
          <a:lstStyle/>
          <a:p>
            <a:pPr marL="390525">
              <a:lnSpc>
                <a:spcPct val="100000"/>
              </a:lnSpc>
              <a:spcBef>
                <a:spcPts val="875"/>
              </a:spcBef>
            </a:pPr>
            <a:r>
              <a:rPr sz="1400" spc="-10" dirty="0">
                <a:latin typeface="Calibri"/>
                <a:cs typeface="Calibri"/>
              </a:rPr>
              <a:t>Sensor(ultrasonic</a:t>
            </a:r>
            <a:r>
              <a:rPr sz="1400" spc="60" dirty="0">
                <a:latin typeface="Calibri"/>
                <a:cs typeface="Calibri"/>
              </a:rPr>
              <a:t> </a:t>
            </a:r>
            <a:r>
              <a:rPr sz="1400" spc="-50" dirty="0">
                <a:latin typeface="Calibri"/>
                <a:cs typeface="Calibri"/>
              </a:rPr>
              <a:t>)</a:t>
            </a:r>
            <a:endParaRPr sz="1400">
              <a:latin typeface="Calibri"/>
              <a:cs typeface="Calibri"/>
            </a:endParaRPr>
          </a:p>
        </p:txBody>
      </p:sp>
      <p:grpSp>
        <p:nvGrpSpPr>
          <p:cNvPr id="14" name="object 14"/>
          <p:cNvGrpSpPr/>
          <p:nvPr/>
        </p:nvGrpSpPr>
        <p:grpSpPr>
          <a:xfrm>
            <a:off x="2043683" y="2240279"/>
            <a:ext cx="1036955" cy="648970"/>
            <a:chOff x="2043683" y="2240279"/>
            <a:chExt cx="1036955" cy="648970"/>
          </a:xfrm>
        </p:grpSpPr>
        <p:sp>
          <p:nvSpPr>
            <p:cNvPr id="15" name="object 15"/>
            <p:cNvSpPr/>
            <p:nvPr/>
          </p:nvSpPr>
          <p:spPr>
            <a:xfrm>
              <a:off x="2081783" y="2243327"/>
              <a:ext cx="998855" cy="0"/>
            </a:xfrm>
            <a:custGeom>
              <a:avLst/>
              <a:gdLst/>
              <a:ahLst/>
              <a:cxnLst/>
              <a:rect l="l" t="t" r="r" b="b"/>
              <a:pathLst>
                <a:path w="998855">
                  <a:moveTo>
                    <a:pt x="998855" y="0"/>
                  </a:moveTo>
                  <a:lnTo>
                    <a:pt x="0" y="0"/>
                  </a:lnTo>
                </a:path>
              </a:pathLst>
            </a:custGeom>
            <a:ln w="6096">
              <a:solidFill>
                <a:srgbClr val="000000"/>
              </a:solidFill>
            </a:ln>
          </p:spPr>
          <p:txBody>
            <a:bodyPr wrap="square" lIns="0" tIns="0" rIns="0" bIns="0" rtlCol="0"/>
            <a:lstStyle/>
            <a:p>
              <a:endParaRPr/>
            </a:p>
          </p:txBody>
        </p:sp>
        <p:sp>
          <p:nvSpPr>
            <p:cNvPr id="16" name="object 16"/>
            <p:cNvSpPr/>
            <p:nvPr/>
          </p:nvSpPr>
          <p:spPr>
            <a:xfrm>
              <a:off x="2043683" y="2243327"/>
              <a:ext cx="76200" cy="645795"/>
            </a:xfrm>
            <a:custGeom>
              <a:avLst/>
              <a:gdLst/>
              <a:ahLst/>
              <a:cxnLst/>
              <a:rect l="l" t="t" r="r" b="b"/>
              <a:pathLst>
                <a:path w="76200" h="645794">
                  <a:moveTo>
                    <a:pt x="31750" y="569595"/>
                  </a:moveTo>
                  <a:lnTo>
                    <a:pt x="0" y="569595"/>
                  </a:lnTo>
                  <a:lnTo>
                    <a:pt x="38100" y="645795"/>
                  </a:lnTo>
                  <a:lnTo>
                    <a:pt x="69850" y="582295"/>
                  </a:lnTo>
                  <a:lnTo>
                    <a:pt x="31750" y="582295"/>
                  </a:lnTo>
                  <a:lnTo>
                    <a:pt x="31750" y="569595"/>
                  </a:lnTo>
                  <a:close/>
                </a:path>
                <a:path w="76200" h="645794">
                  <a:moveTo>
                    <a:pt x="44450" y="0"/>
                  </a:moveTo>
                  <a:lnTo>
                    <a:pt x="31750" y="0"/>
                  </a:lnTo>
                  <a:lnTo>
                    <a:pt x="31750" y="582295"/>
                  </a:lnTo>
                  <a:lnTo>
                    <a:pt x="44450" y="582295"/>
                  </a:lnTo>
                  <a:lnTo>
                    <a:pt x="44450" y="0"/>
                  </a:lnTo>
                  <a:close/>
                </a:path>
                <a:path w="76200" h="645794">
                  <a:moveTo>
                    <a:pt x="76200" y="569595"/>
                  </a:moveTo>
                  <a:lnTo>
                    <a:pt x="44450" y="569595"/>
                  </a:lnTo>
                  <a:lnTo>
                    <a:pt x="44450" y="582295"/>
                  </a:lnTo>
                  <a:lnTo>
                    <a:pt x="69850" y="582295"/>
                  </a:lnTo>
                  <a:lnTo>
                    <a:pt x="76200" y="569595"/>
                  </a:lnTo>
                  <a:close/>
                </a:path>
              </a:pathLst>
            </a:custGeom>
            <a:solidFill>
              <a:srgbClr val="000000"/>
            </a:solidFill>
          </p:spPr>
          <p:txBody>
            <a:bodyPr wrap="square" lIns="0" tIns="0" rIns="0" bIns="0" rtlCol="0"/>
            <a:lstStyle/>
            <a:p>
              <a:endParaRPr/>
            </a:p>
          </p:txBody>
        </p:sp>
      </p:grpSp>
      <p:sp>
        <p:nvSpPr>
          <p:cNvPr id="17" name="object 17"/>
          <p:cNvSpPr/>
          <p:nvPr/>
        </p:nvSpPr>
        <p:spPr>
          <a:xfrm>
            <a:off x="2043683" y="3520440"/>
            <a:ext cx="76200" cy="523240"/>
          </a:xfrm>
          <a:custGeom>
            <a:avLst/>
            <a:gdLst/>
            <a:ahLst/>
            <a:cxnLst/>
            <a:rect l="l" t="t" r="r" b="b"/>
            <a:pathLst>
              <a:path w="76200" h="523239">
                <a:moveTo>
                  <a:pt x="31750" y="446913"/>
                </a:moveTo>
                <a:lnTo>
                  <a:pt x="0" y="446913"/>
                </a:lnTo>
                <a:lnTo>
                  <a:pt x="38100" y="523113"/>
                </a:lnTo>
                <a:lnTo>
                  <a:pt x="69850" y="459613"/>
                </a:lnTo>
                <a:lnTo>
                  <a:pt x="31750" y="459613"/>
                </a:lnTo>
                <a:lnTo>
                  <a:pt x="31750" y="446913"/>
                </a:lnTo>
                <a:close/>
              </a:path>
              <a:path w="76200" h="523239">
                <a:moveTo>
                  <a:pt x="44450" y="0"/>
                </a:moveTo>
                <a:lnTo>
                  <a:pt x="31750" y="0"/>
                </a:lnTo>
                <a:lnTo>
                  <a:pt x="31750" y="459613"/>
                </a:lnTo>
                <a:lnTo>
                  <a:pt x="44450" y="459613"/>
                </a:lnTo>
                <a:lnTo>
                  <a:pt x="44450" y="0"/>
                </a:lnTo>
                <a:close/>
              </a:path>
              <a:path w="76200" h="523239">
                <a:moveTo>
                  <a:pt x="76200" y="446913"/>
                </a:moveTo>
                <a:lnTo>
                  <a:pt x="44450" y="446913"/>
                </a:lnTo>
                <a:lnTo>
                  <a:pt x="44450" y="459613"/>
                </a:lnTo>
                <a:lnTo>
                  <a:pt x="69850" y="459613"/>
                </a:lnTo>
                <a:lnTo>
                  <a:pt x="76200" y="446913"/>
                </a:lnTo>
                <a:close/>
              </a:path>
            </a:pathLst>
          </a:custGeom>
          <a:solidFill>
            <a:srgbClr val="000000"/>
          </a:solidFill>
        </p:spPr>
        <p:txBody>
          <a:bodyPr wrap="square" lIns="0" tIns="0" rIns="0" bIns="0" rtlCol="0"/>
          <a:lstStyle/>
          <a:p>
            <a:endParaRPr/>
          </a:p>
        </p:txBody>
      </p:sp>
      <p:sp>
        <p:nvSpPr>
          <p:cNvPr id="18" name="object 18"/>
          <p:cNvSpPr/>
          <p:nvPr/>
        </p:nvSpPr>
        <p:spPr>
          <a:xfrm>
            <a:off x="4072382" y="5339841"/>
            <a:ext cx="76200" cy="342900"/>
          </a:xfrm>
          <a:custGeom>
            <a:avLst/>
            <a:gdLst/>
            <a:ahLst/>
            <a:cxnLst/>
            <a:rect l="l" t="t" r="r" b="b"/>
            <a:pathLst>
              <a:path w="76200" h="342900">
                <a:moveTo>
                  <a:pt x="31738" y="266846"/>
                </a:moveTo>
                <a:lnTo>
                  <a:pt x="0" y="268147"/>
                </a:lnTo>
                <a:lnTo>
                  <a:pt x="41275" y="342722"/>
                </a:lnTo>
                <a:lnTo>
                  <a:pt x="69675" y="279539"/>
                </a:lnTo>
                <a:lnTo>
                  <a:pt x="32257" y="279539"/>
                </a:lnTo>
                <a:lnTo>
                  <a:pt x="31791" y="268147"/>
                </a:lnTo>
                <a:lnTo>
                  <a:pt x="31738" y="266846"/>
                </a:lnTo>
                <a:close/>
              </a:path>
              <a:path w="76200" h="342900">
                <a:moveTo>
                  <a:pt x="44438" y="266325"/>
                </a:moveTo>
                <a:lnTo>
                  <a:pt x="31738" y="266846"/>
                </a:lnTo>
                <a:lnTo>
                  <a:pt x="32236" y="279019"/>
                </a:lnTo>
                <a:lnTo>
                  <a:pt x="32257" y="279539"/>
                </a:lnTo>
                <a:lnTo>
                  <a:pt x="44957" y="279019"/>
                </a:lnTo>
                <a:lnTo>
                  <a:pt x="44512" y="268147"/>
                </a:lnTo>
                <a:lnTo>
                  <a:pt x="44438" y="266325"/>
                </a:lnTo>
                <a:close/>
              </a:path>
              <a:path w="76200" h="342900">
                <a:moveTo>
                  <a:pt x="76200" y="265023"/>
                </a:moveTo>
                <a:lnTo>
                  <a:pt x="44438" y="266325"/>
                </a:lnTo>
                <a:lnTo>
                  <a:pt x="44957" y="279019"/>
                </a:lnTo>
                <a:lnTo>
                  <a:pt x="32257" y="279539"/>
                </a:lnTo>
                <a:lnTo>
                  <a:pt x="69675" y="279539"/>
                </a:lnTo>
                <a:lnTo>
                  <a:pt x="76200" y="265023"/>
                </a:lnTo>
                <a:close/>
              </a:path>
              <a:path w="76200" h="342900">
                <a:moveTo>
                  <a:pt x="33527" y="0"/>
                </a:moveTo>
                <a:lnTo>
                  <a:pt x="20827" y="508"/>
                </a:lnTo>
                <a:lnTo>
                  <a:pt x="31663" y="265023"/>
                </a:lnTo>
                <a:lnTo>
                  <a:pt x="31738" y="266846"/>
                </a:lnTo>
                <a:lnTo>
                  <a:pt x="44438" y="266325"/>
                </a:lnTo>
                <a:lnTo>
                  <a:pt x="33548" y="508"/>
                </a:lnTo>
                <a:lnTo>
                  <a:pt x="33527" y="0"/>
                </a:lnTo>
                <a:close/>
              </a:path>
            </a:pathLst>
          </a:custGeom>
          <a:solidFill>
            <a:srgbClr val="000000"/>
          </a:solidFill>
        </p:spPr>
        <p:txBody>
          <a:bodyPr wrap="square" lIns="0" tIns="0" rIns="0" bIns="0" rtlCol="0"/>
          <a:lstStyle/>
          <a:p>
            <a:endParaRPr/>
          </a:p>
        </p:txBody>
      </p:sp>
      <p:grpSp>
        <p:nvGrpSpPr>
          <p:cNvPr id="19" name="object 19"/>
          <p:cNvGrpSpPr/>
          <p:nvPr/>
        </p:nvGrpSpPr>
        <p:grpSpPr>
          <a:xfrm>
            <a:off x="2078735" y="4565903"/>
            <a:ext cx="1163955" cy="593090"/>
            <a:chOff x="2078735" y="4565903"/>
            <a:chExt cx="1163955" cy="593090"/>
          </a:xfrm>
        </p:grpSpPr>
        <p:sp>
          <p:nvSpPr>
            <p:cNvPr id="20" name="object 20"/>
            <p:cNvSpPr/>
            <p:nvPr/>
          </p:nvSpPr>
          <p:spPr>
            <a:xfrm>
              <a:off x="2081783" y="4565903"/>
              <a:ext cx="0" cy="555625"/>
            </a:xfrm>
            <a:custGeom>
              <a:avLst/>
              <a:gdLst/>
              <a:ahLst/>
              <a:cxnLst/>
              <a:rect l="l" t="t" r="r" b="b"/>
              <a:pathLst>
                <a:path h="555625">
                  <a:moveTo>
                    <a:pt x="0" y="0"/>
                  </a:moveTo>
                  <a:lnTo>
                    <a:pt x="0" y="555117"/>
                  </a:lnTo>
                </a:path>
              </a:pathLst>
            </a:custGeom>
            <a:ln w="6096">
              <a:solidFill>
                <a:srgbClr val="000000"/>
              </a:solidFill>
            </a:ln>
          </p:spPr>
          <p:txBody>
            <a:bodyPr wrap="square" lIns="0" tIns="0" rIns="0" bIns="0" rtlCol="0"/>
            <a:lstStyle/>
            <a:p>
              <a:endParaRPr/>
            </a:p>
          </p:txBody>
        </p:sp>
        <p:sp>
          <p:nvSpPr>
            <p:cNvPr id="21" name="object 21"/>
            <p:cNvSpPr/>
            <p:nvPr/>
          </p:nvSpPr>
          <p:spPr>
            <a:xfrm>
              <a:off x="2081783" y="5082539"/>
              <a:ext cx="1161415" cy="76200"/>
            </a:xfrm>
            <a:custGeom>
              <a:avLst/>
              <a:gdLst/>
              <a:ahLst/>
              <a:cxnLst/>
              <a:rect l="l" t="t" r="r" b="b"/>
              <a:pathLst>
                <a:path w="1161414" h="76200">
                  <a:moveTo>
                    <a:pt x="1084707" y="0"/>
                  </a:moveTo>
                  <a:lnTo>
                    <a:pt x="1084707" y="76200"/>
                  </a:lnTo>
                  <a:lnTo>
                    <a:pt x="1148207" y="44450"/>
                  </a:lnTo>
                  <a:lnTo>
                    <a:pt x="1097407" y="44450"/>
                  </a:lnTo>
                  <a:lnTo>
                    <a:pt x="1097407" y="31750"/>
                  </a:lnTo>
                  <a:lnTo>
                    <a:pt x="1148207" y="31750"/>
                  </a:lnTo>
                  <a:lnTo>
                    <a:pt x="1084707" y="0"/>
                  </a:lnTo>
                  <a:close/>
                </a:path>
                <a:path w="1161414" h="76200">
                  <a:moveTo>
                    <a:pt x="1084707" y="31750"/>
                  </a:moveTo>
                  <a:lnTo>
                    <a:pt x="0" y="31750"/>
                  </a:lnTo>
                  <a:lnTo>
                    <a:pt x="0" y="44450"/>
                  </a:lnTo>
                  <a:lnTo>
                    <a:pt x="1084707" y="44450"/>
                  </a:lnTo>
                  <a:lnTo>
                    <a:pt x="1084707" y="31750"/>
                  </a:lnTo>
                  <a:close/>
                </a:path>
                <a:path w="1161414" h="76200">
                  <a:moveTo>
                    <a:pt x="1148207" y="31750"/>
                  </a:moveTo>
                  <a:lnTo>
                    <a:pt x="1097407" y="31750"/>
                  </a:lnTo>
                  <a:lnTo>
                    <a:pt x="1097407" y="44450"/>
                  </a:lnTo>
                  <a:lnTo>
                    <a:pt x="1148207" y="44450"/>
                  </a:lnTo>
                  <a:lnTo>
                    <a:pt x="1160907" y="38100"/>
                  </a:lnTo>
                  <a:lnTo>
                    <a:pt x="1148207" y="31750"/>
                  </a:lnTo>
                  <a:close/>
                </a:path>
              </a:pathLst>
            </a:custGeom>
            <a:solidFill>
              <a:srgbClr val="000000"/>
            </a:solidFill>
          </p:spPr>
          <p:txBody>
            <a:bodyPr wrap="square" lIns="0" tIns="0" rIns="0" bIns="0" rtlCol="0"/>
            <a:lstStyle/>
            <a:p>
              <a:endParaRPr/>
            </a:p>
          </p:txBody>
        </p:sp>
      </p:grpSp>
      <p:sp>
        <p:nvSpPr>
          <p:cNvPr id="22" name="object 22"/>
          <p:cNvSpPr/>
          <p:nvPr/>
        </p:nvSpPr>
        <p:spPr>
          <a:xfrm>
            <a:off x="4057015" y="1685417"/>
            <a:ext cx="76200" cy="333375"/>
          </a:xfrm>
          <a:custGeom>
            <a:avLst/>
            <a:gdLst/>
            <a:ahLst/>
            <a:cxnLst/>
            <a:rect l="l" t="t" r="r" b="b"/>
            <a:pathLst>
              <a:path w="76200" h="333375">
                <a:moveTo>
                  <a:pt x="0" y="256032"/>
                </a:moveTo>
                <a:lnTo>
                  <a:pt x="36449" y="333121"/>
                </a:lnTo>
                <a:lnTo>
                  <a:pt x="69842" y="269748"/>
                </a:lnTo>
                <a:lnTo>
                  <a:pt x="44196" y="269748"/>
                </a:lnTo>
                <a:lnTo>
                  <a:pt x="31496" y="269494"/>
                </a:lnTo>
                <a:lnTo>
                  <a:pt x="31740" y="257683"/>
                </a:lnTo>
                <a:lnTo>
                  <a:pt x="31760" y="256720"/>
                </a:lnTo>
                <a:lnTo>
                  <a:pt x="0" y="256032"/>
                </a:lnTo>
                <a:close/>
              </a:path>
              <a:path w="76200" h="333375">
                <a:moveTo>
                  <a:pt x="31760" y="256720"/>
                </a:moveTo>
                <a:lnTo>
                  <a:pt x="31496" y="269494"/>
                </a:lnTo>
                <a:lnTo>
                  <a:pt x="44196" y="269748"/>
                </a:lnTo>
                <a:lnTo>
                  <a:pt x="44446" y="257683"/>
                </a:lnTo>
                <a:lnTo>
                  <a:pt x="44460" y="256995"/>
                </a:lnTo>
                <a:lnTo>
                  <a:pt x="31760" y="256720"/>
                </a:lnTo>
                <a:close/>
              </a:path>
              <a:path w="76200" h="333375">
                <a:moveTo>
                  <a:pt x="44460" y="256995"/>
                </a:moveTo>
                <a:lnTo>
                  <a:pt x="44201" y="269494"/>
                </a:lnTo>
                <a:lnTo>
                  <a:pt x="44196" y="269748"/>
                </a:lnTo>
                <a:lnTo>
                  <a:pt x="69842" y="269748"/>
                </a:lnTo>
                <a:lnTo>
                  <a:pt x="76200" y="257683"/>
                </a:lnTo>
                <a:lnTo>
                  <a:pt x="44460" y="256995"/>
                </a:lnTo>
                <a:close/>
              </a:path>
              <a:path w="76200" h="333375">
                <a:moveTo>
                  <a:pt x="37084" y="0"/>
                </a:moveTo>
                <a:lnTo>
                  <a:pt x="31775" y="256032"/>
                </a:lnTo>
                <a:lnTo>
                  <a:pt x="31760" y="256720"/>
                </a:lnTo>
                <a:lnTo>
                  <a:pt x="44460" y="256995"/>
                </a:lnTo>
                <a:lnTo>
                  <a:pt x="49784" y="254"/>
                </a:lnTo>
                <a:lnTo>
                  <a:pt x="37084" y="0"/>
                </a:lnTo>
                <a:close/>
              </a:path>
            </a:pathLst>
          </a:custGeom>
          <a:solidFill>
            <a:srgbClr val="000000"/>
          </a:solidFill>
        </p:spPr>
        <p:txBody>
          <a:bodyPr wrap="square" lIns="0" tIns="0" rIns="0" bIns="0" rtlCol="0"/>
          <a:lstStyle/>
          <a:p>
            <a:endParaRPr/>
          </a:p>
        </p:txBody>
      </p:sp>
      <p:grpSp>
        <p:nvGrpSpPr>
          <p:cNvPr id="23" name="object 23"/>
          <p:cNvGrpSpPr/>
          <p:nvPr/>
        </p:nvGrpSpPr>
        <p:grpSpPr>
          <a:xfrm>
            <a:off x="4061459" y="4294632"/>
            <a:ext cx="443230" cy="607060"/>
            <a:chOff x="4061459" y="4294632"/>
            <a:chExt cx="443230" cy="607060"/>
          </a:xfrm>
        </p:grpSpPr>
        <p:sp>
          <p:nvSpPr>
            <p:cNvPr id="24" name="object 24"/>
            <p:cNvSpPr/>
            <p:nvPr/>
          </p:nvSpPr>
          <p:spPr>
            <a:xfrm>
              <a:off x="4061459" y="4303649"/>
              <a:ext cx="76200" cy="598170"/>
            </a:xfrm>
            <a:custGeom>
              <a:avLst/>
              <a:gdLst/>
              <a:ahLst/>
              <a:cxnLst/>
              <a:rect l="l" t="t" r="r" b="b"/>
              <a:pathLst>
                <a:path w="76200" h="598170">
                  <a:moveTo>
                    <a:pt x="31729" y="521980"/>
                  </a:moveTo>
                  <a:lnTo>
                    <a:pt x="0" y="522350"/>
                  </a:lnTo>
                  <a:lnTo>
                    <a:pt x="38988" y="598043"/>
                  </a:lnTo>
                  <a:lnTo>
                    <a:pt x="69782" y="534669"/>
                  </a:lnTo>
                  <a:lnTo>
                    <a:pt x="31876" y="534669"/>
                  </a:lnTo>
                  <a:lnTo>
                    <a:pt x="31733" y="522350"/>
                  </a:lnTo>
                  <a:lnTo>
                    <a:pt x="31729" y="521980"/>
                  </a:lnTo>
                  <a:close/>
                </a:path>
                <a:path w="76200" h="598170">
                  <a:moveTo>
                    <a:pt x="44429" y="521832"/>
                  </a:moveTo>
                  <a:lnTo>
                    <a:pt x="31729" y="521980"/>
                  </a:lnTo>
                  <a:lnTo>
                    <a:pt x="31876" y="534669"/>
                  </a:lnTo>
                  <a:lnTo>
                    <a:pt x="44578" y="534669"/>
                  </a:lnTo>
                  <a:lnTo>
                    <a:pt x="44435" y="522350"/>
                  </a:lnTo>
                  <a:lnTo>
                    <a:pt x="44429" y="521832"/>
                  </a:lnTo>
                  <a:close/>
                </a:path>
                <a:path w="76200" h="598170">
                  <a:moveTo>
                    <a:pt x="76200" y="521462"/>
                  </a:moveTo>
                  <a:lnTo>
                    <a:pt x="44429" y="521832"/>
                  </a:lnTo>
                  <a:lnTo>
                    <a:pt x="44578" y="534669"/>
                  </a:lnTo>
                  <a:lnTo>
                    <a:pt x="69782" y="534669"/>
                  </a:lnTo>
                  <a:lnTo>
                    <a:pt x="76200" y="521462"/>
                  </a:lnTo>
                  <a:close/>
                </a:path>
                <a:path w="76200" h="598170">
                  <a:moveTo>
                    <a:pt x="38353" y="0"/>
                  </a:moveTo>
                  <a:lnTo>
                    <a:pt x="25653" y="253"/>
                  </a:lnTo>
                  <a:lnTo>
                    <a:pt x="31723" y="521462"/>
                  </a:lnTo>
                  <a:lnTo>
                    <a:pt x="31729" y="521980"/>
                  </a:lnTo>
                  <a:lnTo>
                    <a:pt x="44429" y="521832"/>
                  </a:lnTo>
                  <a:lnTo>
                    <a:pt x="38356" y="253"/>
                  </a:lnTo>
                  <a:lnTo>
                    <a:pt x="38353" y="0"/>
                  </a:lnTo>
                  <a:close/>
                </a:path>
              </a:pathLst>
            </a:custGeom>
            <a:solidFill>
              <a:srgbClr val="000000"/>
            </a:solidFill>
          </p:spPr>
          <p:txBody>
            <a:bodyPr wrap="square" lIns="0" tIns="0" rIns="0" bIns="0" rtlCol="0"/>
            <a:lstStyle/>
            <a:p>
              <a:endParaRPr/>
            </a:p>
          </p:txBody>
        </p:sp>
        <p:sp>
          <p:nvSpPr>
            <p:cNvPr id="25" name="object 25"/>
            <p:cNvSpPr/>
            <p:nvPr/>
          </p:nvSpPr>
          <p:spPr>
            <a:xfrm>
              <a:off x="4093463" y="4297680"/>
              <a:ext cx="408305" cy="5715"/>
            </a:xfrm>
            <a:custGeom>
              <a:avLst/>
              <a:gdLst/>
              <a:ahLst/>
              <a:cxnLst/>
              <a:rect l="l" t="t" r="r" b="b"/>
              <a:pathLst>
                <a:path w="408304" h="5714">
                  <a:moveTo>
                    <a:pt x="0" y="5715"/>
                  </a:moveTo>
                  <a:lnTo>
                    <a:pt x="408177" y="0"/>
                  </a:lnTo>
                </a:path>
              </a:pathLst>
            </a:custGeom>
            <a:ln w="6095">
              <a:solidFill>
                <a:srgbClr val="000000"/>
              </a:solidFill>
            </a:ln>
          </p:spPr>
          <p:txBody>
            <a:bodyPr wrap="square" lIns="0" tIns="0" rIns="0" bIns="0" rtlCol="0"/>
            <a:lstStyle/>
            <a:p>
              <a:endParaRPr/>
            </a:p>
          </p:txBody>
        </p:sp>
      </p:grpSp>
      <p:grpSp>
        <p:nvGrpSpPr>
          <p:cNvPr id="26" name="object 26"/>
          <p:cNvGrpSpPr/>
          <p:nvPr/>
        </p:nvGrpSpPr>
        <p:grpSpPr>
          <a:xfrm>
            <a:off x="4145153" y="2240152"/>
            <a:ext cx="3644265" cy="1802130"/>
            <a:chOff x="4145153" y="2240152"/>
            <a:chExt cx="3644265" cy="1802130"/>
          </a:xfrm>
        </p:grpSpPr>
        <p:sp>
          <p:nvSpPr>
            <p:cNvPr id="27" name="object 27"/>
            <p:cNvSpPr/>
            <p:nvPr/>
          </p:nvSpPr>
          <p:spPr>
            <a:xfrm>
              <a:off x="4148328" y="2471927"/>
              <a:ext cx="1016635" cy="216535"/>
            </a:xfrm>
            <a:custGeom>
              <a:avLst/>
              <a:gdLst/>
              <a:ahLst/>
              <a:cxnLst/>
              <a:rect l="l" t="t" r="r" b="b"/>
              <a:pathLst>
                <a:path w="1016635" h="216535">
                  <a:moveTo>
                    <a:pt x="0" y="0"/>
                  </a:moveTo>
                  <a:lnTo>
                    <a:pt x="0" y="215137"/>
                  </a:lnTo>
                </a:path>
                <a:path w="1016635" h="216535">
                  <a:moveTo>
                    <a:pt x="0" y="216408"/>
                  </a:moveTo>
                  <a:lnTo>
                    <a:pt x="1016254" y="216408"/>
                  </a:lnTo>
                </a:path>
              </a:pathLst>
            </a:custGeom>
            <a:ln w="6096">
              <a:solidFill>
                <a:srgbClr val="000000"/>
              </a:solidFill>
            </a:ln>
          </p:spPr>
          <p:txBody>
            <a:bodyPr wrap="square" lIns="0" tIns="0" rIns="0" bIns="0" rtlCol="0"/>
            <a:lstStyle/>
            <a:p>
              <a:endParaRPr/>
            </a:p>
          </p:txBody>
        </p:sp>
        <p:sp>
          <p:nvSpPr>
            <p:cNvPr id="28" name="object 28"/>
            <p:cNvSpPr/>
            <p:nvPr/>
          </p:nvSpPr>
          <p:spPr>
            <a:xfrm>
              <a:off x="5128260" y="2688336"/>
              <a:ext cx="76200" cy="261620"/>
            </a:xfrm>
            <a:custGeom>
              <a:avLst/>
              <a:gdLst/>
              <a:ahLst/>
              <a:cxnLst/>
              <a:rect l="l" t="t" r="r" b="b"/>
              <a:pathLst>
                <a:path w="76200" h="261619">
                  <a:moveTo>
                    <a:pt x="31750" y="185038"/>
                  </a:moveTo>
                  <a:lnTo>
                    <a:pt x="0" y="185038"/>
                  </a:lnTo>
                  <a:lnTo>
                    <a:pt x="38100" y="261238"/>
                  </a:lnTo>
                  <a:lnTo>
                    <a:pt x="69850" y="197738"/>
                  </a:lnTo>
                  <a:lnTo>
                    <a:pt x="31750" y="197738"/>
                  </a:lnTo>
                  <a:lnTo>
                    <a:pt x="31750" y="185038"/>
                  </a:lnTo>
                  <a:close/>
                </a:path>
                <a:path w="76200" h="261619">
                  <a:moveTo>
                    <a:pt x="44450" y="0"/>
                  </a:moveTo>
                  <a:lnTo>
                    <a:pt x="31750" y="0"/>
                  </a:lnTo>
                  <a:lnTo>
                    <a:pt x="31750" y="197738"/>
                  </a:lnTo>
                  <a:lnTo>
                    <a:pt x="44450" y="197738"/>
                  </a:lnTo>
                  <a:lnTo>
                    <a:pt x="44450" y="0"/>
                  </a:lnTo>
                  <a:close/>
                </a:path>
                <a:path w="76200" h="261619">
                  <a:moveTo>
                    <a:pt x="76200" y="185038"/>
                  </a:moveTo>
                  <a:lnTo>
                    <a:pt x="44450" y="185038"/>
                  </a:lnTo>
                  <a:lnTo>
                    <a:pt x="44450" y="197738"/>
                  </a:lnTo>
                  <a:lnTo>
                    <a:pt x="69850" y="197738"/>
                  </a:lnTo>
                  <a:lnTo>
                    <a:pt x="76200" y="185038"/>
                  </a:lnTo>
                  <a:close/>
                </a:path>
              </a:pathLst>
            </a:custGeom>
            <a:solidFill>
              <a:srgbClr val="000000"/>
            </a:solidFill>
          </p:spPr>
          <p:txBody>
            <a:bodyPr wrap="square" lIns="0" tIns="0" rIns="0" bIns="0" rtlCol="0"/>
            <a:lstStyle/>
            <a:p>
              <a:endParaRPr/>
            </a:p>
          </p:txBody>
        </p:sp>
        <p:sp>
          <p:nvSpPr>
            <p:cNvPr id="29" name="object 29"/>
            <p:cNvSpPr/>
            <p:nvPr/>
          </p:nvSpPr>
          <p:spPr>
            <a:xfrm>
              <a:off x="5218176" y="2243327"/>
              <a:ext cx="2533015" cy="0"/>
            </a:xfrm>
            <a:custGeom>
              <a:avLst/>
              <a:gdLst/>
              <a:ahLst/>
              <a:cxnLst/>
              <a:rect l="l" t="t" r="r" b="b"/>
              <a:pathLst>
                <a:path w="2533015">
                  <a:moveTo>
                    <a:pt x="0" y="0"/>
                  </a:moveTo>
                  <a:lnTo>
                    <a:pt x="2532888" y="0"/>
                  </a:lnTo>
                </a:path>
              </a:pathLst>
            </a:custGeom>
            <a:ln w="6096">
              <a:solidFill>
                <a:srgbClr val="000000"/>
              </a:solidFill>
            </a:ln>
          </p:spPr>
          <p:txBody>
            <a:bodyPr wrap="square" lIns="0" tIns="0" rIns="0" bIns="0" rtlCol="0"/>
            <a:lstStyle/>
            <a:p>
              <a:endParaRPr/>
            </a:p>
          </p:txBody>
        </p:sp>
        <p:sp>
          <p:nvSpPr>
            <p:cNvPr id="30" name="object 30"/>
            <p:cNvSpPr/>
            <p:nvPr/>
          </p:nvSpPr>
          <p:spPr>
            <a:xfrm>
              <a:off x="5128260" y="2243327"/>
              <a:ext cx="2661285" cy="1798955"/>
            </a:xfrm>
            <a:custGeom>
              <a:avLst/>
              <a:gdLst/>
              <a:ahLst/>
              <a:cxnLst/>
              <a:rect l="l" t="t" r="r" b="b"/>
              <a:pathLst>
                <a:path w="2661284" h="1798954">
                  <a:moveTo>
                    <a:pt x="76200" y="1722755"/>
                  </a:moveTo>
                  <a:lnTo>
                    <a:pt x="44450" y="1722755"/>
                  </a:lnTo>
                  <a:lnTo>
                    <a:pt x="44450" y="1255776"/>
                  </a:lnTo>
                  <a:lnTo>
                    <a:pt x="31750" y="1255776"/>
                  </a:lnTo>
                  <a:lnTo>
                    <a:pt x="31750" y="1722755"/>
                  </a:lnTo>
                  <a:lnTo>
                    <a:pt x="0" y="1722755"/>
                  </a:lnTo>
                  <a:lnTo>
                    <a:pt x="38100" y="1798955"/>
                  </a:lnTo>
                  <a:lnTo>
                    <a:pt x="69850" y="1735455"/>
                  </a:lnTo>
                  <a:lnTo>
                    <a:pt x="76200" y="1722755"/>
                  </a:lnTo>
                  <a:close/>
                </a:path>
                <a:path w="2661284" h="1798954">
                  <a:moveTo>
                    <a:pt x="2660904" y="599186"/>
                  </a:moveTo>
                  <a:lnTo>
                    <a:pt x="2629154" y="599186"/>
                  </a:lnTo>
                  <a:lnTo>
                    <a:pt x="2629154" y="0"/>
                  </a:lnTo>
                  <a:lnTo>
                    <a:pt x="2616454" y="0"/>
                  </a:lnTo>
                  <a:lnTo>
                    <a:pt x="2616454" y="599186"/>
                  </a:lnTo>
                  <a:lnTo>
                    <a:pt x="2584704" y="599186"/>
                  </a:lnTo>
                  <a:lnTo>
                    <a:pt x="2622804" y="675386"/>
                  </a:lnTo>
                  <a:lnTo>
                    <a:pt x="2654554" y="611886"/>
                  </a:lnTo>
                  <a:lnTo>
                    <a:pt x="2660904" y="599186"/>
                  </a:lnTo>
                  <a:close/>
                </a:path>
              </a:pathLst>
            </a:custGeom>
            <a:solidFill>
              <a:srgbClr val="000000"/>
            </a:solidFill>
          </p:spPr>
          <p:txBody>
            <a:bodyPr wrap="square" lIns="0" tIns="0" rIns="0" bIns="0" rtlCol="0"/>
            <a:lstStyle/>
            <a:p>
              <a:endParaRPr/>
            </a:p>
          </p:txBody>
        </p:sp>
        <p:sp>
          <p:nvSpPr>
            <p:cNvPr id="31" name="object 31"/>
            <p:cNvSpPr/>
            <p:nvPr/>
          </p:nvSpPr>
          <p:spPr>
            <a:xfrm>
              <a:off x="4501896" y="2919983"/>
              <a:ext cx="1826260" cy="588645"/>
            </a:xfrm>
            <a:custGeom>
              <a:avLst/>
              <a:gdLst/>
              <a:ahLst/>
              <a:cxnLst/>
              <a:rect l="l" t="t" r="r" b="b"/>
              <a:pathLst>
                <a:path w="1826260" h="588645">
                  <a:moveTo>
                    <a:pt x="1825752" y="0"/>
                  </a:moveTo>
                  <a:lnTo>
                    <a:pt x="0" y="0"/>
                  </a:lnTo>
                  <a:lnTo>
                    <a:pt x="0" y="588263"/>
                  </a:lnTo>
                  <a:lnTo>
                    <a:pt x="1825752" y="588263"/>
                  </a:lnTo>
                  <a:lnTo>
                    <a:pt x="1825752" y="0"/>
                  </a:lnTo>
                  <a:close/>
                </a:path>
              </a:pathLst>
            </a:custGeom>
            <a:solidFill>
              <a:srgbClr val="FFFFFF"/>
            </a:solidFill>
          </p:spPr>
          <p:txBody>
            <a:bodyPr wrap="square" lIns="0" tIns="0" rIns="0" bIns="0" rtlCol="0"/>
            <a:lstStyle/>
            <a:p>
              <a:endParaRPr/>
            </a:p>
          </p:txBody>
        </p:sp>
        <p:pic>
          <p:nvPicPr>
            <p:cNvPr id="32" name="object 32"/>
            <p:cNvPicPr/>
            <p:nvPr/>
          </p:nvPicPr>
          <p:blipFill>
            <a:blip r:embed="rId2" cstate="print"/>
            <a:stretch>
              <a:fillRect/>
            </a:stretch>
          </p:blipFill>
          <p:spPr>
            <a:xfrm>
              <a:off x="4541520" y="3045002"/>
              <a:ext cx="1750822" cy="403682"/>
            </a:xfrm>
            <a:prstGeom prst="rect">
              <a:avLst/>
            </a:prstGeom>
          </p:spPr>
        </p:pic>
      </p:grpSp>
      <p:pic>
        <p:nvPicPr>
          <p:cNvPr id="33" name="object 33"/>
          <p:cNvPicPr/>
          <p:nvPr/>
        </p:nvPicPr>
        <p:blipFill>
          <a:blip r:embed="rId3" cstate="print"/>
          <a:stretch>
            <a:fillRect/>
          </a:stretch>
        </p:blipFill>
        <p:spPr>
          <a:xfrm>
            <a:off x="996696" y="3041954"/>
            <a:ext cx="1772285" cy="403682"/>
          </a:xfrm>
          <a:prstGeom prst="rect">
            <a:avLst/>
          </a:prstGeom>
        </p:spPr>
      </p:pic>
      <p:sp>
        <p:nvSpPr>
          <p:cNvPr id="34" name="object 34"/>
          <p:cNvSpPr txBox="1"/>
          <p:nvPr/>
        </p:nvSpPr>
        <p:spPr>
          <a:xfrm>
            <a:off x="1002791" y="2919983"/>
            <a:ext cx="1755775" cy="588645"/>
          </a:xfrm>
          <a:prstGeom prst="rect">
            <a:avLst/>
          </a:prstGeom>
          <a:ln w="12191">
            <a:solidFill>
              <a:srgbClr val="000000"/>
            </a:solidFill>
          </a:ln>
        </p:spPr>
        <p:txBody>
          <a:bodyPr vert="horz" wrap="square" lIns="0" tIns="182245" rIns="0" bIns="0" rtlCol="0">
            <a:spAutoFit/>
          </a:bodyPr>
          <a:lstStyle/>
          <a:p>
            <a:pPr marL="114300">
              <a:lnSpc>
                <a:spcPct val="100000"/>
              </a:lnSpc>
              <a:spcBef>
                <a:spcPts val="1435"/>
              </a:spcBef>
            </a:pPr>
            <a:r>
              <a:rPr sz="1400" dirty="0">
                <a:latin typeface="Times New Roman"/>
                <a:cs typeface="Times New Roman"/>
              </a:rPr>
              <a:t>If</a:t>
            </a:r>
            <a:r>
              <a:rPr sz="1400" spc="-25" dirty="0">
                <a:latin typeface="Times New Roman"/>
                <a:cs typeface="Times New Roman"/>
              </a:rPr>
              <a:t> </a:t>
            </a:r>
            <a:r>
              <a:rPr sz="1400" dirty="0">
                <a:latin typeface="Times New Roman"/>
                <a:cs typeface="Times New Roman"/>
              </a:rPr>
              <a:t>water</a:t>
            </a:r>
            <a:r>
              <a:rPr sz="1400" spc="-20" dirty="0">
                <a:latin typeface="Times New Roman"/>
                <a:cs typeface="Times New Roman"/>
              </a:rPr>
              <a:t> </a:t>
            </a:r>
            <a:r>
              <a:rPr sz="1400" spc="-10" dirty="0">
                <a:latin typeface="Times New Roman"/>
                <a:cs typeface="Times New Roman"/>
              </a:rPr>
              <a:t>level&lt;=15cm</a:t>
            </a:r>
            <a:endParaRPr sz="1400">
              <a:latin typeface="Times New Roman"/>
              <a:cs typeface="Times New Roman"/>
            </a:endParaRPr>
          </a:p>
        </p:txBody>
      </p:sp>
      <p:sp>
        <p:nvSpPr>
          <p:cNvPr id="35" name="object 35"/>
          <p:cNvSpPr txBox="1"/>
          <p:nvPr/>
        </p:nvSpPr>
        <p:spPr>
          <a:xfrm>
            <a:off x="4501896" y="2919983"/>
            <a:ext cx="1826260" cy="588645"/>
          </a:xfrm>
          <a:prstGeom prst="rect">
            <a:avLst/>
          </a:prstGeom>
          <a:ln w="12192">
            <a:solidFill>
              <a:srgbClr val="000000"/>
            </a:solidFill>
          </a:ln>
        </p:spPr>
        <p:txBody>
          <a:bodyPr vert="horz" wrap="square" lIns="0" tIns="179070" rIns="0" bIns="0" rtlCol="0">
            <a:spAutoFit/>
          </a:bodyPr>
          <a:lstStyle/>
          <a:p>
            <a:pPr marL="160020">
              <a:lnSpc>
                <a:spcPct val="100000"/>
              </a:lnSpc>
              <a:spcBef>
                <a:spcPts val="1410"/>
              </a:spcBef>
            </a:pPr>
            <a:r>
              <a:rPr sz="1400" dirty="0">
                <a:latin typeface="Calibri"/>
                <a:cs typeface="Calibri"/>
              </a:rPr>
              <a:t>If</a:t>
            </a:r>
            <a:r>
              <a:rPr sz="1400" spc="-55" dirty="0">
                <a:latin typeface="Calibri"/>
                <a:cs typeface="Calibri"/>
              </a:rPr>
              <a:t> </a:t>
            </a:r>
            <a:r>
              <a:rPr sz="1400" dirty="0">
                <a:latin typeface="Calibri"/>
                <a:cs typeface="Calibri"/>
              </a:rPr>
              <a:t>water </a:t>
            </a:r>
            <a:r>
              <a:rPr sz="1400" spc="-10" dirty="0">
                <a:latin typeface="Calibri"/>
                <a:cs typeface="Calibri"/>
              </a:rPr>
              <a:t>level&lt;=10cm</a:t>
            </a:r>
            <a:endParaRPr sz="1400">
              <a:latin typeface="Calibri"/>
              <a:cs typeface="Calibri"/>
            </a:endParaRPr>
          </a:p>
        </p:txBody>
      </p:sp>
      <p:grpSp>
        <p:nvGrpSpPr>
          <p:cNvPr id="36" name="object 36"/>
          <p:cNvGrpSpPr/>
          <p:nvPr/>
        </p:nvGrpSpPr>
        <p:grpSpPr>
          <a:xfrm>
            <a:off x="6760464" y="2886455"/>
            <a:ext cx="1826260" cy="622300"/>
            <a:chOff x="6760464" y="2886455"/>
            <a:chExt cx="1826260" cy="622300"/>
          </a:xfrm>
        </p:grpSpPr>
        <p:sp>
          <p:nvSpPr>
            <p:cNvPr id="37" name="object 37"/>
            <p:cNvSpPr/>
            <p:nvPr/>
          </p:nvSpPr>
          <p:spPr>
            <a:xfrm>
              <a:off x="6760464" y="2886455"/>
              <a:ext cx="1826260" cy="622300"/>
            </a:xfrm>
            <a:custGeom>
              <a:avLst/>
              <a:gdLst/>
              <a:ahLst/>
              <a:cxnLst/>
              <a:rect l="l" t="t" r="r" b="b"/>
              <a:pathLst>
                <a:path w="1826259" h="622300">
                  <a:moveTo>
                    <a:pt x="1825752" y="0"/>
                  </a:moveTo>
                  <a:lnTo>
                    <a:pt x="0" y="0"/>
                  </a:lnTo>
                  <a:lnTo>
                    <a:pt x="0" y="621791"/>
                  </a:lnTo>
                  <a:lnTo>
                    <a:pt x="1825752" y="621791"/>
                  </a:lnTo>
                  <a:lnTo>
                    <a:pt x="1825752" y="0"/>
                  </a:lnTo>
                  <a:close/>
                </a:path>
              </a:pathLst>
            </a:custGeom>
            <a:solidFill>
              <a:srgbClr val="FFFFFF"/>
            </a:solidFill>
          </p:spPr>
          <p:txBody>
            <a:bodyPr wrap="square" lIns="0" tIns="0" rIns="0" bIns="0" rtlCol="0"/>
            <a:lstStyle/>
            <a:p>
              <a:endParaRPr/>
            </a:p>
          </p:txBody>
        </p:sp>
        <p:pic>
          <p:nvPicPr>
            <p:cNvPr id="38" name="object 38"/>
            <p:cNvPicPr/>
            <p:nvPr/>
          </p:nvPicPr>
          <p:blipFill>
            <a:blip r:embed="rId4" cstate="print"/>
            <a:stretch>
              <a:fillRect/>
            </a:stretch>
          </p:blipFill>
          <p:spPr>
            <a:xfrm>
              <a:off x="6800088" y="3026625"/>
              <a:ext cx="1750822" cy="406692"/>
            </a:xfrm>
            <a:prstGeom prst="rect">
              <a:avLst/>
            </a:prstGeom>
          </p:spPr>
        </p:pic>
      </p:grpSp>
      <p:sp>
        <p:nvSpPr>
          <p:cNvPr id="39" name="object 39"/>
          <p:cNvSpPr txBox="1"/>
          <p:nvPr/>
        </p:nvSpPr>
        <p:spPr>
          <a:xfrm>
            <a:off x="6760464" y="2886455"/>
            <a:ext cx="1826260" cy="622300"/>
          </a:xfrm>
          <a:prstGeom prst="rect">
            <a:avLst/>
          </a:prstGeom>
          <a:ln w="12192">
            <a:solidFill>
              <a:srgbClr val="000000"/>
            </a:solidFill>
          </a:ln>
        </p:spPr>
        <p:txBody>
          <a:bodyPr vert="horz" wrap="square" lIns="0" tIns="195580" rIns="0" bIns="0" rtlCol="0">
            <a:spAutoFit/>
          </a:bodyPr>
          <a:lstStyle/>
          <a:p>
            <a:pPr marL="161290">
              <a:lnSpc>
                <a:spcPct val="100000"/>
              </a:lnSpc>
              <a:spcBef>
                <a:spcPts val="1540"/>
              </a:spcBef>
            </a:pPr>
            <a:r>
              <a:rPr sz="1400" dirty="0">
                <a:latin typeface="Calibri"/>
                <a:cs typeface="Calibri"/>
              </a:rPr>
              <a:t>If</a:t>
            </a:r>
            <a:r>
              <a:rPr sz="1400" spc="-60" dirty="0">
                <a:latin typeface="Calibri"/>
                <a:cs typeface="Calibri"/>
              </a:rPr>
              <a:t> </a:t>
            </a:r>
            <a:r>
              <a:rPr sz="1400" dirty="0">
                <a:latin typeface="Calibri"/>
                <a:cs typeface="Calibri"/>
              </a:rPr>
              <a:t>water </a:t>
            </a:r>
            <a:r>
              <a:rPr sz="1400" spc="-10" dirty="0">
                <a:latin typeface="Calibri"/>
                <a:cs typeface="Calibri"/>
              </a:rPr>
              <a:t>level&lt;=05cm</a:t>
            </a:r>
            <a:endParaRPr sz="1400">
              <a:latin typeface="Calibri"/>
              <a:cs typeface="Calibri"/>
            </a:endParaRPr>
          </a:p>
        </p:txBody>
      </p:sp>
      <p:sp>
        <p:nvSpPr>
          <p:cNvPr id="40" name="object 40"/>
          <p:cNvSpPr/>
          <p:nvPr/>
        </p:nvSpPr>
        <p:spPr>
          <a:xfrm>
            <a:off x="7633716" y="3508247"/>
            <a:ext cx="76200" cy="513080"/>
          </a:xfrm>
          <a:custGeom>
            <a:avLst/>
            <a:gdLst/>
            <a:ahLst/>
            <a:cxnLst/>
            <a:rect l="l" t="t" r="r" b="b"/>
            <a:pathLst>
              <a:path w="76200" h="513079">
                <a:moveTo>
                  <a:pt x="31750" y="436499"/>
                </a:moveTo>
                <a:lnTo>
                  <a:pt x="0" y="436499"/>
                </a:lnTo>
                <a:lnTo>
                  <a:pt x="38100" y="512699"/>
                </a:lnTo>
                <a:lnTo>
                  <a:pt x="69850" y="449199"/>
                </a:lnTo>
                <a:lnTo>
                  <a:pt x="31750" y="449199"/>
                </a:lnTo>
                <a:lnTo>
                  <a:pt x="31750" y="436499"/>
                </a:lnTo>
                <a:close/>
              </a:path>
              <a:path w="76200" h="513079">
                <a:moveTo>
                  <a:pt x="44450" y="0"/>
                </a:moveTo>
                <a:lnTo>
                  <a:pt x="31750" y="0"/>
                </a:lnTo>
                <a:lnTo>
                  <a:pt x="31750" y="449199"/>
                </a:lnTo>
                <a:lnTo>
                  <a:pt x="44450" y="449199"/>
                </a:lnTo>
                <a:lnTo>
                  <a:pt x="44450" y="0"/>
                </a:lnTo>
                <a:close/>
              </a:path>
              <a:path w="76200" h="513079">
                <a:moveTo>
                  <a:pt x="76200" y="436499"/>
                </a:moveTo>
                <a:lnTo>
                  <a:pt x="44450" y="436499"/>
                </a:lnTo>
                <a:lnTo>
                  <a:pt x="44450" y="449199"/>
                </a:lnTo>
                <a:lnTo>
                  <a:pt x="69850" y="449199"/>
                </a:lnTo>
                <a:lnTo>
                  <a:pt x="76200" y="436499"/>
                </a:lnTo>
                <a:close/>
              </a:path>
            </a:pathLst>
          </a:custGeom>
          <a:solidFill>
            <a:srgbClr val="000000"/>
          </a:solidFill>
        </p:spPr>
        <p:txBody>
          <a:bodyPr wrap="square" lIns="0" tIns="0" rIns="0" bIns="0" rtlCol="0"/>
          <a:lstStyle/>
          <a:p>
            <a:endParaRPr/>
          </a:p>
        </p:txBody>
      </p:sp>
      <p:grpSp>
        <p:nvGrpSpPr>
          <p:cNvPr id="41" name="object 41"/>
          <p:cNvGrpSpPr/>
          <p:nvPr/>
        </p:nvGrpSpPr>
        <p:grpSpPr>
          <a:xfrm>
            <a:off x="4959096" y="4565903"/>
            <a:ext cx="2715895" cy="593090"/>
            <a:chOff x="4959096" y="4565903"/>
            <a:chExt cx="2715895" cy="593090"/>
          </a:xfrm>
        </p:grpSpPr>
        <p:sp>
          <p:nvSpPr>
            <p:cNvPr id="42" name="object 42"/>
            <p:cNvSpPr/>
            <p:nvPr/>
          </p:nvSpPr>
          <p:spPr>
            <a:xfrm>
              <a:off x="7671816" y="4565903"/>
              <a:ext cx="0" cy="555625"/>
            </a:xfrm>
            <a:custGeom>
              <a:avLst/>
              <a:gdLst/>
              <a:ahLst/>
              <a:cxnLst/>
              <a:rect l="l" t="t" r="r" b="b"/>
              <a:pathLst>
                <a:path h="555625">
                  <a:moveTo>
                    <a:pt x="0" y="0"/>
                  </a:moveTo>
                  <a:lnTo>
                    <a:pt x="0" y="555117"/>
                  </a:lnTo>
                </a:path>
              </a:pathLst>
            </a:custGeom>
            <a:ln w="6096">
              <a:solidFill>
                <a:srgbClr val="000000"/>
              </a:solidFill>
            </a:ln>
          </p:spPr>
          <p:txBody>
            <a:bodyPr wrap="square" lIns="0" tIns="0" rIns="0" bIns="0" rtlCol="0"/>
            <a:lstStyle/>
            <a:p>
              <a:endParaRPr/>
            </a:p>
          </p:txBody>
        </p:sp>
        <p:sp>
          <p:nvSpPr>
            <p:cNvPr id="43" name="object 43"/>
            <p:cNvSpPr/>
            <p:nvPr/>
          </p:nvSpPr>
          <p:spPr>
            <a:xfrm>
              <a:off x="4959096" y="5082539"/>
              <a:ext cx="2714625" cy="76200"/>
            </a:xfrm>
            <a:custGeom>
              <a:avLst/>
              <a:gdLst/>
              <a:ahLst/>
              <a:cxnLst/>
              <a:rect l="l" t="t" r="r" b="b"/>
              <a:pathLst>
                <a:path w="2714625" h="76200">
                  <a:moveTo>
                    <a:pt x="76200" y="0"/>
                  </a:moveTo>
                  <a:lnTo>
                    <a:pt x="0" y="38100"/>
                  </a:lnTo>
                  <a:lnTo>
                    <a:pt x="76200" y="76200"/>
                  </a:lnTo>
                  <a:lnTo>
                    <a:pt x="76200" y="44450"/>
                  </a:lnTo>
                  <a:lnTo>
                    <a:pt x="63500" y="44450"/>
                  </a:lnTo>
                  <a:lnTo>
                    <a:pt x="63500" y="31750"/>
                  </a:lnTo>
                  <a:lnTo>
                    <a:pt x="76200" y="31750"/>
                  </a:lnTo>
                  <a:lnTo>
                    <a:pt x="76200" y="0"/>
                  </a:lnTo>
                  <a:close/>
                </a:path>
                <a:path w="2714625" h="76200">
                  <a:moveTo>
                    <a:pt x="76200" y="31750"/>
                  </a:moveTo>
                  <a:lnTo>
                    <a:pt x="63500" y="31750"/>
                  </a:lnTo>
                  <a:lnTo>
                    <a:pt x="63500" y="44450"/>
                  </a:lnTo>
                  <a:lnTo>
                    <a:pt x="76200" y="44450"/>
                  </a:lnTo>
                  <a:lnTo>
                    <a:pt x="76200" y="31750"/>
                  </a:lnTo>
                  <a:close/>
                </a:path>
                <a:path w="2714625" h="76200">
                  <a:moveTo>
                    <a:pt x="2714498" y="31750"/>
                  </a:moveTo>
                  <a:lnTo>
                    <a:pt x="76200" y="31750"/>
                  </a:lnTo>
                  <a:lnTo>
                    <a:pt x="76200" y="44450"/>
                  </a:lnTo>
                  <a:lnTo>
                    <a:pt x="2714498" y="44450"/>
                  </a:lnTo>
                  <a:lnTo>
                    <a:pt x="2714498" y="31750"/>
                  </a:lnTo>
                  <a:close/>
                </a:path>
              </a:pathLst>
            </a:custGeom>
            <a:solidFill>
              <a:srgbClr val="000000"/>
            </a:solidFill>
          </p:spPr>
          <p:txBody>
            <a:bodyPr wrap="square" lIns="0" tIns="0" rIns="0" bIns="0" rtlCol="0"/>
            <a:lstStyle/>
            <a:p>
              <a:endParaRPr/>
            </a:p>
          </p:txBody>
        </p:sp>
      </p:grpSp>
      <p:sp>
        <p:nvSpPr>
          <p:cNvPr id="44" name="object 44"/>
          <p:cNvSpPr txBox="1"/>
          <p:nvPr/>
        </p:nvSpPr>
        <p:spPr>
          <a:xfrm>
            <a:off x="3243072" y="6069362"/>
            <a:ext cx="2172970" cy="773032"/>
          </a:xfrm>
          <a:prstGeom prst="rect">
            <a:avLst/>
          </a:prstGeom>
        </p:spPr>
        <p:txBody>
          <a:bodyPr vert="horz" wrap="square" lIns="0" tIns="0" rIns="0" bIns="0" rtlCol="0">
            <a:spAutoFit/>
          </a:bodyPr>
          <a:lstStyle/>
          <a:p>
            <a:pPr marL="12700">
              <a:lnSpc>
                <a:spcPts val="1995"/>
              </a:lnSpc>
            </a:pPr>
            <a:r>
              <a:rPr sz="2000" spc="-20" dirty="0">
                <a:latin typeface="Calibri"/>
                <a:cs typeface="Calibri"/>
              </a:rPr>
              <a:t>Water</a:t>
            </a:r>
            <a:r>
              <a:rPr sz="2000" spc="-65" dirty="0">
                <a:latin typeface="Calibri"/>
                <a:cs typeface="Calibri"/>
              </a:rPr>
              <a:t> </a:t>
            </a:r>
            <a:r>
              <a:rPr sz="2000" dirty="0">
                <a:latin typeface="Calibri"/>
                <a:cs typeface="Calibri"/>
              </a:rPr>
              <a:t>level</a:t>
            </a:r>
            <a:r>
              <a:rPr sz="2000" spc="-50" dirty="0">
                <a:latin typeface="Calibri"/>
                <a:cs typeface="Calibri"/>
              </a:rPr>
              <a:t> </a:t>
            </a:r>
            <a:r>
              <a:rPr sz="2000" spc="-55" dirty="0">
                <a:latin typeface="Calibri"/>
                <a:cs typeface="Calibri"/>
              </a:rPr>
              <a:t>I</a:t>
            </a:r>
            <a:r>
              <a:rPr sz="1350" spc="-82" baseline="3086" dirty="0">
                <a:solidFill>
                  <a:srgbClr val="888888"/>
                </a:solidFill>
                <a:latin typeface="Arial MT"/>
                <a:cs typeface="Arial MT"/>
              </a:rPr>
              <a:t>6</a:t>
            </a:r>
            <a:r>
              <a:rPr sz="2000" spc="-55" dirty="0">
                <a:latin typeface="Calibri"/>
                <a:cs typeface="Calibri"/>
              </a:rPr>
              <a:t>ndicator</a:t>
            </a:r>
            <a:endParaRPr lang="en-US" sz="2000" spc="-55" dirty="0">
              <a:latin typeface="Calibri"/>
              <a:cs typeface="Calibri"/>
            </a:endParaRPr>
          </a:p>
          <a:p>
            <a:pPr marL="12700">
              <a:lnSpc>
                <a:spcPts val="1995"/>
              </a:lnSpc>
            </a:pPr>
            <a:endParaRPr lang="en-IN" sz="2000" spc="-55" dirty="0">
              <a:latin typeface="Calibri"/>
              <a:cs typeface="Calibri"/>
            </a:endParaRPr>
          </a:p>
          <a:p>
            <a:pPr marL="12700">
              <a:lnSpc>
                <a:spcPts val="1995"/>
              </a:lnSpc>
            </a:pPr>
            <a:r>
              <a:rPr lang="en-IN" sz="2000" spc="-55" dirty="0">
                <a:latin typeface="Calibri"/>
                <a:cs typeface="Calibri"/>
              </a:rPr>
              <a:t>              </a:t>
            </a:r>
          </a:p>
        </p:txBody>
      </p:sp>
      <p:sp>
        <p:nvSpPr>
          <p:cNvPr id="45" name="object 45"/>
          <p:cNvSpPr txBox="1"/>
          <p:nvPr/>
        </p:nvSpPr>
        <p:spPr>
          <a:xfrm>
            <a:off x="8350122" y="6465518"/>
            <a:ext cx="90170" cy="154940"/>
          </a:xfrm>
          <a:prstGeom prst="rect">
            <a:avLst/>
          </a:prstGeom>
        </p:spPr>
        <p:txBody>
          <a:bodyPr vert="horz" wrap="square" lIns="0" tIns="3175" rIns="0" bIns="0" rtlCol="0">
            <a:spAutoFit/>
          </a:bodyPr>
          <a:lstStyle/>
          <a:p>
            <a:pPr marL="12700">
              <a:lnSpc>
                <a:spcPct val="100000"/>
              </a:lnSpc>
              <a:spcBef>
                <a:spcPts val="25"/>
              </a:spcBef>
            </a:pPr>
            <a:r>
              <a:rPr sz="900" spc="-50" dirty="0">
                <a:solidFill>
                  <a:srgbClr val="888888"/>
                </a:solidFill>
                <a:latin typeface="Arial MT"/>
                <a:cs typeface="Arial MT"/>
              </a:rPr>
              <a:t>8</a:t>
            </a:r>
            <a:endParaRPr sz="900">
              <a:latin typeface="Arial MT"/>
              <a:cs typeface="Arial MT"/>
            </a:endParaRPr>
          </a:p>
        </p:txBody>
      </p:sp>
      <p:sp>
        <p:nvSpPr>
          <p:cNvPr id="46" name="TextBox 45">
            <a:extLst>
              <a:ext uri="{FF2B5EF4-FFF2-40B4-BE49-F238E27FC236}">
                <a16:creationId xmlns:a16="http://schemas.microsoft.com/office/drawing/2014/main" id="{3DB03DD6-129F-324F-37A9-958E8FF8C352}"/>
              </a:ext>
            </a:extLst>
          </p:cNvPr>
          <p:cNvSpPr txBox="1"/>
          <p:nvPr/>
        </p:nvSpPr>
        <p:spPr>
          <a:xfrm>
            <a:off x="753262" y="6324600"/>
            <a:ext cx="923138" cy="369332"/>
          </a:xfrm>
          <a:prstGeom prst="rect">
            <a:avLst/>
          </a:prstGeom>
          <a:noFill/>
        </p:spPr>
        <p:txBody>
          <a:bodyPr wrap="square" rtlCol="0">
            <a:spAutoFit/>
          </a:bodyPr>
          <a:lstStyle/>
          <a:p>
            <a:r>
              <a:rPr lang="en-US" dirty="0"/>
              <a:t>Fig. 2</a:t>
            </a:r>
            <a:endParaRPr lang="en-IN"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419862"/>
            <a:ext cx="1396593" cy="376555"/>
          </a:xfrm>
          <a:prstGeom prst="rect">
            <a:avLst/>
          </a:prstGeom>
        </p:spPr>
        <p:txBody>
          <a:bodyPr vert="horz" wrap="square" lIns="0" tIns="13335" rIns="0" bIns="0" rtlCol="0">
            <a:spAutoFit/>
          </a:bodyPr>
          <a:lstStyle/>
          <a:p>
            <a:pPr marL="12700">
              <a:lnSpc>
                <a:spcPct val="100000"/>
              </a:lnSpc>
              <a:spcBef>
                <a:spcPts val="105"/>
              </a:spcBef>
            </a:pPr>
            <a:r>
              <a:rPr sz="2300" dirty="0">
                <a:latin typeface="Times New Roman"/>
                <a:cs typeface="Times New Roman"/>
              </a:rPr>
              <a:t>Flow</a:t>
            </a:r>
            <a:r>
              <a:rPr sz="2300" spc="-25" dirty="0">
                <a:latin typeface="Times New Roman"/>
                <a:cs typeface="Times New Roman"/>
              </a:rPr>
              <a:t> </a:t>
            </a:r>
            <a:r>
              <a:rPr sz="2300" spc="-10" dirty="0">
                <a:latin typeface="Times New Roman"/>
                <a:cs typeface="Times New Roman"/>
              </a:rPr>
              <a:t>chart</a:t>
            </a:r>
            <a:endParaRPr sz="2300" dirty="0">
              <a:latin typeface="Times New Roman"/>
              <a:cs typeface="Times New Roman"/>
            </a:endParaRPr>
          </a:p>
        </p:txBody>
      </p:sp>
      <p:sp>
        <p:nvSpPr>
          <p:cNvPr id="3" name="object 3"/>
          <p:cNvSpPr txBox="1"/>
          <p:nvPr/>
        </p:nvSpPr>
        <p:spPr>
          <a:xfrm>
            <a:off x="2220848" y="3286125"/>
            <a:ext cx="255270" cy="238125"/>
          </a:xfrm>
          <a:prstGeom prst="rect">
            <a:avLst/>
          </a:prstGeom>
        </p:spPr>
        <p:txBody>
          <a:bodyPr vert="horz" wrap="square" lIns="0" tIns="11430" rIns="0" bIns="0" rtlCol="0">
            <a:spAutoFit/>
          </a:bodyPr>
          <a:lstStyle/>
          <a:p>
            <a:pPr marL="12700">
              <a:lnSpc>
                <a:spcPct val="100000"/>
              </a:lnSpc>
              <a:spcBef>
                <a:spcPts val="90"/>
              </a:spcBef>
            </a:pPr>
            <a:r>
              <a:rPr sz="1400" spc="-25" dirty="0">
                <a:latin typeface="Calibri"/>
                <a:cs typeface="Calibri"/>
              </a:rPr>
              <a:t>NO</a:t>
            </a:r>
            <a:endParaRPr sz="1400">
              <a:latin typeface="Calibri"/>
              <a:cs typeface="Calibri"/>
            </a:endParaRPr>
          </a:p>
        </p:txBody>
      </p:sp>
      <p:sp>
        <p:nvSpPr>
          <p:cNvPr id="4" name="object 4"/>
          <p:cNvSpPr txBox="1"/>
          <p:nvPr/>
        </p:nvSpPr>
        <p:spPr>
          <a:xfrm>
            <a:off x="4870841" y="3286125"/>
            <a:ext cx="111760" cy="238125"/>
          </a:xfrm>
          <a:prstGeom prst="rect">
            <a:avLst/>
          </a:prstGeom>
        </p:spPr>
        <p:txBody>
          <a:bodyPr vert="horz" wrap="square" lIns="0" tIns="11430" rIns="0" bIns="0" rtlCol="0">
            <a:spAutoFit/>
          </a:bodyPr>
          <a:lstStyle/>
          <a:p>
            <a:pPr marL="12700">
              <a:lnSpc>
                <a:spcPct val="100000"/>
              </a:lnSpc>
              <a:spcBef>
                <a:spcPts val="90"/>
              </a:spcBef>
            </a:pPr>
            <a:r>
              <a:rPr sz="1400" spc="-50" dirty="0">
                <a:latin typeface="Calibri"/>
                <a:cs typeface="Calibri"/>
              </a:rPr>
              <a:t>Y</a:t>
            </a:r>
            <a:endParaRPr sz="1400">
              <a:latin typeface="Calibri"/>
              <a:cs typeface="Calibri"/>
            </a:endParaRPr>
          </a:p>
        </p:txBody>
      </p:sp>
      <p:sp>
        <p:nvSpPr>
          <p:cNvPr id="5" name="object 5"/>
          <p:cNvSpPr txBox="1"/>
          <p:nvPr/>
        </p:nvSpPr>
        <p:spPr>
          <a:xfrm>
            <a:off x="4736338" y="3832097"/>
            <a:ext cx="358775" cy="238125"/>
          </a:xfrm>
          <a:prstGeom prst="rect">
            <a:avLst/>
          </a:prstGeom>
        </p:spPr>
        <p:txBody>
          <a:bodyPr vert="horz" wrap="square" lIns="0" tIns="11430" rIns="0" bIns="0" rtlCol="0">
            <a:spAutoFit/>
          </a:bodyPr>
          <a:lstStyle/>
          <a:p>
            <a:pPr marL="12700">
              <a:lnSpc>
                <a:spcPct val="100000"/>
              </a:lnSpc>
              <a:spcBef>
                <a:spcPts val="90"/>
              </a:spcBef>
            </a:pPr>
            <a:r>
              <a:rPr sz="1400" spc="-25" dirty="0">
                <a:latin typeface="Times New Roman"/>
                <a:cs typeface="Times New Roman"/>
              </a:rPr>
              <a:t>YES</a:t>
            </a:r>
            <a:endParaRPr sz="1400">
              <a:latin typeface="Times New Roman"/>
              <a:cs typeface="Times New Roman"/>
            </a:endParaRPr>
          </a:p>
        </p:txBody>
      </p:sp>
      <p:sp>
        <p:nvSpPr>
          <p:cNvPr id="6" name="object 6"/>
          <p:cNvSpPr/>
          <p:nvPr/>
        </p:nvSpPr>
        <p:spPr>
          <a:xfrm>
            <a:off x="4023359" y="728472"/>
            <a:ext cx="942340" cy="478790"/>
          </a:xfrm>
          <a:custGeom>
            <a:avLst/>
            <a:gdLst/>
            <a:ahLst/>
            <a:cxnLst/>
            <a:rect l="l" t="t" r="r" b="b"/>
            <a:pathLst>
              <a:path w="942339" h="478790">
                <a:moveTo>
                  <a:pt x="0" y="239267"/>
                </a:moveTo>
                <a:lnTo>
                  <a:pt x="16820" y="175639"/>
                </a:lnTo>
                <a:lnTo>
                  <a:pt x="64290" y="118476"/>
                </a:lnTo>
                <a:lnTo>
                  <a:pt x="98116" y="93031"/>
                </a:lnTo>
                <a:lnTo>
                  <a:pt x="137921" y="70056"/>
                </a:lnTo>
                <a:lnTo>
                  <a:pt x="183146" y="49835"/>
                </a:lnTo>
                <a:lnTo>
                  <a:pt x="233228" y="32653"/>
                </a:lnTo>
                <a:lnTo>
                  <a:pt x="287607" y="18794"/>
                </a:lnTo>
                <a:lnTo>
                  <a:pt x="345722" y="8542"/>
                </a:lnTo>
                <a:lnTo>
                  <a:pt x="407012" y="2183"/>
                </a:lnTo>
                <a:lnTo>
                  <a:pt x="470915" y="0"/>
                </a:lnTo>
                <a:lnTo>
                  <a:pt x="534819" y="2183"/>
                </a:lnTo>
                <a:lnTo>
                  <a:pt x="596109" y="8542"/>
                </a:lnTo>
                <a:lnTo>
                  <a:pt x="654224" y="18794"/>
                </a:lnTo>
                <a:lnTo>
                  <a:pt x="708603" y="32653"/>
                </a:lnTo>
                <a:lnTo>
                  <a:pt x="758685" y="49835"/>
                </a:lnTo>
                <a:lnTo>
                  <a:pt x="803909" y="70056"/>
                </a:lnTo>
                <a:lnTo>
                  <a:pt x="843715" y="93031"/>
                </a:lnTo>
                <a:lnTo>
                  <a:pt x="877541" y="118476"/>
                </a:lnTo>
                <a:lnTo>
                  <a:pt x="904827" y="146107"/>
                </a:lnTo>
                <a:lnTo>
                  <a:pt x="937533" y="206787"/>
                </a:lnTo>
                <a:lnTo>
                  <a:pt x="941831" y="239267"/>
                </a:lnTo>
                <a:lnTo>
                  <a:pt x="937533" y="271748"/>
                </a:lnTo>
                <a:lnTo>
                  <a:pt x="904827" y="332428"/>
                </a:lnTo>
                <a:lnTo>
                  <a:pt x="877541" y="360059"/>
                </a:lnTo>
                <a:lnTo>
                  <a:pt x="843715" y="385504"/>
                </a:lnTo>
                <a:lnTo>
                  <a:pt x="803910" y="408479"/>
                </a:lnTo>
                <a:lnTo>
                  <a:pt x="758685" y="428700"/>
                </a:lnTo>
                <a:lnTo>
                  <a:pt x="708603" y="445882"/>
                </a:lnTo>
                <a:lnTo>
                  <a:pt x="654224" y="459741"/>
                </a:lnTo>
                <a:lnTo>
                  <a:pt x="596109" y="469993"/>
                </a:lnTo>
                <a:lnTo>
                  <a:pt x="534819" y="476352"/>
                </a:lnTo>
                <a:lnTo>
                  <a:pt x="470915" y="478536"/>
                </a:lnTo>
                <a:lnTo>
                  <a:pt x="407012" y="476352"/>
                </a:lnTo>
                <a:lnTo>
                  <a:pt x="345722" y="469993"/>
                </a:lnTo>
                <a:lnTo>
                  <a:pt x="287607" y="459741"/>
                </a:lnTo>
                <a:lnTo>
                  <a:pt x="233228" y="445882"/>
                </a:lnTo>
                <a:lnTo>
                  <a:pt x="183146" y="428700"/>
                </a:lnTo>
                <a:lnTo>
                  <a:pt x="137922" y="408479"/>
                </a:lnTo>
                <a:lnTo>
                  <a:pt x="98116" y="385504"/>
                </a:lnTo>
                <a:lnTo>
                  <a:pt x="64290" y="360059"/>
                </a:lnTo>
                <a:lnTo>
                  <a:pt x="37004" y="332428"/>
                </a:lnTo>
                <a:lnTo>
                  <a:pt x="4298" y="271748"/>
                </a:lnTo>
                <a:lnTo>
                  <a:pt x="0" y="239267"/>
                </a:lnTo>
                <a:close/>
              </a:path>
            </a:pathLst>
          </a:custGeom>
          <a:ln w="12192">
            <a:solidFill>
              <a:srgbClr val="000000"/>
            </a:solidFill>
          </a:ln>
        </p:spPr>
        <p:txBody>
          <a:bodyPr wrap="square" lIns="0" tIns="0" rIns="0" bIns="0" rtlCol="0"/>
          <a:lstStyle/>
          <a:p>
            <a:endParaRPr/>
          </a:p>
        </p:txBody>
      </p:sp>
      <p:sp>
        <p:nvSpPr>
          <p:cNvPr id="7" name="object 7"/>
          <p:cNvSpPr txBox="1"/>
          <p:nvPr/>
        </p:nvSpPr>
        <p:spPr>
          <a:xfrm>
            <a:off x="4309109" y="840435"/>
            <a:ext cx="371475" cy="238125"/>
          </a:xfrm>
          <a:prstGeom prst="rect">
            <a:avLst/>
          </a:prstGeom>
        </p:spPr>
        <p:txBody>
          <a:bodyPr vert="horz" wrap="square" lIns="0" tIns="12065" rIns="0" bIns="0" rtlCol="0">
            <a:spAutoFit/>
          </a:bodyPr>
          <a:lstStyle/>
          <a:p>
            <a:pPr marL="12700">
              <a:lnSpc>
                <a:spcPct val="100000"/>
              </a:lnSpc>
              <a:spcBef>
                <a:spcPts val="95"/>
              </a:spcBef>
            </a:pPr>
            <a:r>
              <a:rPr sz="1400" spc="-10" dirty="0">
                <a:latin typeface="Calibri"/>
                <a:cs typeface="Calibri"/>
              </a:rPr>
              <a:t>Start</a:t>
            </a:r>
            <a:endParaRPr sz="1400">
              <a:latin typeface="Calibri"/>
              <a:cs typeface="Calibri"/>
            </a:endParaRPr>
          </a:p>
        </p:txBody>
      </p:sp>
      <p:sp>
        <p:nvSpPr>
          <p:cNvPr id="8" name="object 8"/>
          <p:cNvSpPr txBox="1"/>
          <p:nvPr/>
        </p:nvSpPr>
        <p:spPr>
          <a:xfrm>
            <a:off x="3243072" y="1435608"/>
            <a:ext cx="2524125" cy="317500"/>
          </a:xfrm>
          <a:prstGeom prst="rect">
            <a:avLst/>
          </a:prstGeom>
          <a:ln w="12192">
            <a:solidFill>
              <a:srgbClr val="000000"/>
            </a:solidFill>
          </a:ln>
        </p:spPr>
        <p:txBody>
          <a:bodyPr vert="horz" wrap="square" lIns="0" tIns="43180" rIns="0" bIns="0" rtlCol="0">
            <a:spAutoFit/>
          </a:bodyPr>
          <a:lstStyle/>
          <a:p>
            <a:pPr marL="790575">
              <a:lnSpc>
                <a:spcPct val="100000"/>
              </a:lnSpc>
              <a:spcBef>
                <a:spcPts val="340"/>
              </a:spcBef>
            </a:pPr>
            <a:r>
              <a:rPr sz="1400" dirty="0">
                <a:latin typeface="Calibri"/>
                <a:cs typeface="Calibri"/>
              </a:rPr>
              <a:t>Initialize</a:t>
            </a:r>
            <a:r>
              <a:rPr sz="1400" spc="-40" dirty="0">
                <a:latin typeface="Calibri"/>
                <a:cs typeface="Calibri"/>
              </a:rPr>
              <a:t> </a:t>
            </a:r>
            <a:r>
              <a:rPr sz="1400" spc="-20" dirty="0">
                <a:latin typeface="Calibri"/>
                <a:cs typeface="Calibri"/>
              </a:rPr>
              <a:t>part</a:t>
            </a:r>
            <a:endParaRPr sz="1400">
              <a:latin typeface="Calibri"/>
              <a:cs typeface="Calibri"/>
            </a:endParaRPr>
          </a:p>
        </p:txBody>
      </p:sp>
      <p:sp>
        <p:nvSpPr>
          <p:cNvPr id="9" name="object 9"/>
          <p:cNvSpPr txBox="1"/>
          <p:nvPr/>
        </p:nvSpPr>
        <p:spPr>
          <a:xfrm>
            <a:off x="3221735" y="2066544"/>
            <a:ext cx="2545080" cy="326390"/>
          </a:xfrm>
          <a:prstGeom prst="rect">
            <a:avLst/>
          </a:prstGeom>
          <a:ln w="12192">
            <a:solidFill>
              <a:srgbClr val="000000"/>
            </a:solidFill>
          </a:ln>
        </p:spPr>
        <p:txBody>
          <a:bodyPr vert="horz" wrap="square" lIns="0" tIns="48260" rIns="0" bIns="0" rtlCol="0">
            <a:spAutoFit/>
          </a:bodyPr>
          <a:lstStyle/>
          <a:p>
            <a:pPr marL="702310">
              <a:lnSpc>
                <a:spcPct val="100000"/>
              </a:lnSpc>
              <a:spcBef>
                <a:spcPts val="380"/>
              </a:spcBef>
            </a:pPr>
            <a:r>
              <a:rPr sz="1400" dirty="0">
                <a:latin typeface="Calibri"/>
                <a:cs typeface="Calibri"/>
              </a:rPr>
              <a:t>Camera</a:t>
            </a:r>
            <a:r>
              <a:rPr sz="1400" spc="-45" dirty="0">
                <a:latin typeface="Calibri"/>
                <a:cs typeface="Calibri"/>
              </a:rPr>
              <a:t> </a:t>
            </a:r>
            <a:r>
              <a:rPr sz="1400" spc="-10" dirty="0">
                <a:latin typeface="Calibri"/>
                <a:cs typeface="Calibri"/>
              </a:rPr>
              <a:t>(image)</a:t>
            </a:r>
            <a:endParaRPr sz="1400">
              <a:latin typeface="Calibri"/>
              <a:cs typeface="Calibri"/>
            </a:endParaRPr>
          </a:p>
        </p:txBody>
      </p:sp>
      <p:sp>
        <p:nvSpPr>
          <p:cNvPr id="10" name="object 10"/>
          <p:cNvSpPr txBox="1"/>
          <p:nvPr/>
        </p:nvSpPr>
        <p:spPr>
          <a:xfrm>
            <a:off x="3221735" y="4239767"/>
            <a:ext cx="2545080" cy="375285"/>
          </a:xfrm>
          <a:prstGeom prst="rect">
            <a:avLst/>
          </a:prstGeom>
          <a:ln w="12192">
            <a:solidFill>
              <a:srgbClr val="000000"/>
            </a:solidFill>
          </a:ln>
        </p:spPr>
        <p:txBody>
          <a:bodyPr vert="horz" wrap="square" lIns="0" tIns="73025" rIns="0" bIns="0" rtlCol="0">
            <a:spAutoFit/>
          </a:bodyPr>
          <a:lstStyle/>
          <a:p>
            <a:pPr marL="387985">
              <a:lnSpc>
                <a:spcPct val="100000"/>
              </a:lnSpc>
              <a:spcBef>
                <a:spcPts val="575"/>
              </a:spcBef>
            </a:pPr>
            <a:r>
              <a:rPr sz="1400" dirty="0">
                <a:latin typeface="Calibri"/>
                <a:cs typeface="Calibri"/>
              </a:rPr>
              <a:t>Display</a:t>
            </a:r>
            <a:r>
              <a:rPr sz="1400" spc="-15" dirty="0">
                <a:latin typeface="Calibri"/>
                <a:cs typeface="Calibri"/>
              </a:rPr>
              <a:t> </a:t>
            </a:r>
            <a:r>
              <a:rPr sz="1400" dirty="0">
                <a:latin typeface="Calibri"/>
                <a:cs typeface="Calibri"/>
              </a:rPr>
              <a:t>crack</a:t>
            </a:r>
            <a:r>
              <a:rPr sz="1400" spc="-60" dirty="0">
                <a:latin typeface="Calibri"/>
                <a:cs typeface="Calibri"/>
              </a:rPr>
              <a:t> </a:t>
            </a:r>
            <a:r>
              <a:rPr sz="1400" dirty="0">
                <a:latin typeface="Calibri"/>
                <a:cs typeface="Calibri"/>
              </a:rPr>
              <a:t>is</a:t>
            </a:r>
            <a:r>
              <a:rPr sz="1400" spc="-25" dirty="0">
                <a:latin typeface="Calibri"/>
                <a:cs typeface="Calibri"/>
              </a:rPr>
              <a:t> </a:t>
            </a:r>
            <a:r>
              <a:rPr sz="1400" spc="-10" dirty="0">
                <a:latin typeface="Calibri"/>
                <a:cs typeface="Calibri"/>
              </a:rPr>
              <a:t>detected</a:t>
            </a:r>
            <a:endParaRPr sz="1400">
              <a:latin typeface="Calibri"/>
              <a:cs typeface="Calibri"/>
            </a:endParaRPr>
          </a:p>
        </p:txBody>
      </p:sp>
      <p:sp>
        <p:nvSpPr>
          <p:cNvPr id="11" name="object 11"/>
          <p:cNvSpPr txBox="1"/>
          <p:nvPr/>
        </p:nvSpPr>
        <p:spPr>
          <a:xfrm>
            <a:off x="3243072" y="4989576"/>
            <a:ext cx="2545080" cy="375285"/>
          </a:xfrm>
          <a:prstGeom prst="rect">
            <a:avLst/>
          </a:prstGeom>
          <a:ln w="12192">
            <a:solidFill>
              <a:srgbClr val="000000"/>
            </a:solidFill>
          </a:ln>
        </p:spPr>
        <p:txBody>
          <a:bodyPr vert="horz" wrap="square" lIns="0" tIns="73660" rIns="0" bIns="0" rtlCol="0">
            <a:spAutoFit/>
          </a:bodyPr>
          <a:lstStyle/>
          <a:p>
            <a:pPr marL="3175" algn="ctr">
              <a:lnSpc>
                <a:spcPct val="100000"/>
              </a:lnSpc>
              <a:spcBef>
                <a:spcPts val="580"/>
              </a:spcBef>
            </a:pPr>
            <a:r>
              <a:rPr sz="1400" spc="-10" dirty="0">
                <a:latin typeface="Calibri"/>
                <a:cs typeface="Calibri"/>
              </a:rPr>
              <a:t>Buzzer</a:t>
            </a:r>
            <a:endParaRPr sz="1400">
              <a:latin typeface="Calibri"/>
              <a:cs typeface="Calibri"/>
            </a:endParaRPr>
          </a:p>
        </p:txBody>
      </p:sp>
      <p:sp>
        <p:nvSpPr>
          <p:cNvPr id="12" name="object 12"/>
          <p:cNvSpPr/>
          <p:nvPr/>
        </p:nvSpPr>
        <p:spPr>
          <a:xfrm>
            <a:off x="3938015" y="5650993"/>
            <a:ext cx="1112520" cy="545718"/>
          </a:xfrm>
          <a:custGeom>
            <a:avLst/>
            <a:gdLst/>
            <a:ahLst/>
            <a:cxnLst/>
            <a:rect l="l" t="t" r="r" b="b"/>
            <a:pathLst>
              <a:path w="1112520" h="506095">
                <a:moveTo>
                  <a:pt x="0" y="252984"/>
                </a:moveTo>
                <a:lnTo>
                  <a:pt x="14691" y="194975"/>
                </a:lnTo>
                <a:lnTo>
                  <a:pt x="56539" y="141725"/>
                </a:lnTo>
                <a:lnTo>
                  <a:pt x="86603" y="117359"/>
                </a:lnTo>
                <a:lnTo>
                  <a:pt x="122204" y="94752"/>
                </a:lnTo>
                <a:lnTo>
                  <a:pt x="162925" y="74094"/>
                </a:lnTo>
                <a:lnTo>
                  <a:pt x="208348" y="55575"/>
                </a:lnTo>
                <a:lnTo>
                  <a:pt x="258055" y="39385"/>
                </a:lnTo>
                <a:lnTo>
                  <a:pt x="311631" y="25712"/>
                </a:lnTo>
                <a:lnTo>
                  <a:pt x="368656" y="14747"/>
                </a:lnTo>
                <a:lnTo>
                  <a:pt x="428714" y="6681"/>
                </a:lnTo>
                <a:lnTo>
                  <a:pt x="491388" y="1701"/>
                </a:lnTo>
                <a:lnTo>
                  <a:pt x="556260" y="0"/>
                </a:lnTo>
                <a:lnTo>
                  <a:pt x="621131" y="1701"/>
                </a:lnTo>
                <a:lnTo>
                  <a:pt x="683805" y="6681"/>
                </a:lnTo>
                <a:lnTo>
                  <a:pt x="743863" y="14747"/>
                </a:lnTo>
                <a:lnTo>
                  <a:pt x="800888" y="25712"/>
                </a:lnTo>
                <a:lnTo>
                  <a:pt x="854464" y="39385"/>
                </a:lnTo>
                <a:lnTo>
                  <a:pt x="904171" y="55575"/>
                </a:lnTo>
                <a:lnTo>
                  <a:pt x="949594" y="74094"/>
                </a:lnTo>
                <a:lnTo>
                  <a:pt x="990315" y="94752"/>
                </a:lnTo>
                <a:lnTo>
                  <a:pt x="1025916" y="117359"/>
                </a:lnTo>
                <a:lnTo>
                  <a:pt x="1055980" y="141725"/>
                </a:lnTo>
                <a:lnTo>
                  <a:pt x="1097828" y="194975"/>
                </a:lnTo>
                <a:lnTo>
                  <a:pt x="1112520" y="252984"/>
                </a:lnTo>
                <a:lnTo>
                  <a:pt x="1108777" y="282486"/>
                </a:lnTo>
                <a:lnTo>
                  <a:pt x="1080090" y="338302"/>
                </a:lnTo>
                <a:lnTo>
                  <a:pt x="1025916" y="388602"/>
                </a:lnTo>
                <a:lnTo>
                  <a:pt x="990315" y="411209"/>
                </a:lnTo>
                <a:lnTo>
                  <a:pt x="949594" y="431868"/>
                </a:lnTo>
                <a:lnTo>
                  <a:pt x="904171" y="450388"/>
                </a:lnTo>
                <a:lnTo>
                  <a:pt x="854464" y="466579"/>
                </a:lnTo>
                <a:lnTo>
                  <a:pt x="800888" y="480253"/>
                </a:lnTo>
                <a:lnTo>
                  <a:pt x="743863" y="491218"/>
                </a:lnTo>
                <a:lnTo>
                  <a:pt x="683805" y="499286"/>
                </a:lnTo>
                <a:lnTo>
                  <a:pt x="621131" y="504265"/>
                </a:lnTo>
                <a:lnTo>
                  <a:pt x="556260" y="505968"/>
                </a:lnTo>
                <a:lnTo>
                  <a:pt x="491388" y="504265"/>
                </a:lnTo>
                <a:lnTo>
                  <a:pt x="428714" y="499286"/>
                </a:lnTo>
                <a:lnTo>
                  <a:pt x="368656" y="491218"/>
                </a:lnTo>
                <a:lnTo>
                  <a:pt x="311631" y="480253"/>
                </a:lnTo>
                <a:lnTo>
                  <a:pt x="258055" y="466579"/>
                </a:lnTo>
                <a:lnTo>
                  <a:pt x="208348" y="450388"/>
                </a:lnTo>
                <a:lnTo>
                  <a:pt x="162925" y="431868"/>
                </a:lnTo>
                <a:lnTo>
                  <a:pt x="122204" y="411209"/>
                </a:lnTo>
                <a:lnTo>
                  <a:pt x="86603" y="388602"/>
                </a:lnTo>
                <a:lnTo>
                  <a:pt x="56539" y="364237"/>
                </a:lnTo>
                <a:lnTo>
                  <a:pt x="14691" y="310988"/>
                </a:lnTo>
                <a:lnTo>
                  <a:pt x="0" y="252984"/>
                </a:lnTo>
                <a:close/>
              </a:path>
            </a:pathLst>
          </a:custGeom>
          <a:ln w="12192">
            <a:solidFill>
              <a:srgbClr val="000000"/>
            </a:solidFill>
          </a:ln>
        </p:spPr>
        <p:txBody>
          <a:bodyPr wrap="square" lIns="0" tIns="0" rIns="0" bIns="0" rtlCol="0"/>
          <a:lstStyle/>
          <a:p>
            <a:endParaRPr/>
          </a:p>
        </p:txBody>
      </p:sp>
      <p:sp>
        <p:nvSpPr>
          <p:cNvPr id="13" name="object 13"/>
          <p:cNvSpPr txBox="1"/>
          <p:nvPr/>
        </p:nvSpPr>
        <p:spPr>
          <a:xfrm>
            <a:off x="4328921" y="5818123"/>
            <a:ext cx="332740" cy="238125"/>
          </a:xfrm>
          <a:prstGeom prst="rect">
            <a:avLst/>
          </a:prstGeom>
        </p:spPr>
        <p:txBody>
          <a:bodyPr vert="horz" wrap="square" lIns="0" tIns="11430" rIns="0" bIns="0" rtlCol="0">
            <a:spAutoFit/>
          </a:bodyPr>
          <a:lstStyle/>
          <a:p>
            <a:pPr marL="12700">
              <a:lnSpc>
                <a:spcPct val="100000"/>
              </a:lnSpc>
              <a:spcBef>
                <a:spcPts val="90"/>
              </a:spcBef>
            </a:pPr>
            <a:r>
              <a:rPr sz="1400" spc="-25" dirty="0">
                <a:latin typeface="Calibri"/>
                <a:cs typeface="Calibri"/>
              </a:rPr>
              <a:t>END</a:t>
            </a:r>
            <a:endParaRPr sz="1400" dirty="0">
              <a:latin typeface="Calibri"/>
              <a:cs typeface="Calibri"/>
            </a:endParaRPr>
          </a:p>
        </p:txBody>
      </p:sp>
      <p:pic>
        <p:nvPicPr>
          <p:cNvPr id="14" name="object 14"/>
          <p:cNvPicPr/>
          <p:nvPr/>
        </p:nvPicPr>
        <p:blipFill>
          <a:blip r:embed="rId2" cstate="print"/>
          <a:stretch>
            <a:fillRect/>
          </a:stretch>
        </p:blipFill>
        <p:spPr>
          <a:xfrm>
            <a:off x="4457700" y="1207008"/>
            <a:ext cx="76200" cy="228472"/>
          </a:xfrm>
          <a:prstGeom prst="rect">
            <a:avLst/>
          </a:prstGeom>
        </p:spPr>
      </p:pic>
      <p:sp>
        <p:nvSpPr>
          <p:cNvPr id="15" name="object 15"/>
          <p:cNvSpPr/>
          <p:nvPr/>
        </p:nvSpPr>
        <p:spPr>
          <a:xfrm>
            <a:off x="4460240" y="1752345"/>
            <a:ext cx="76200" cy="314960"/>
          </a:xfrm>
          <a:custGeom>
            <a:avLst/>
            <a:gdLst/>
            <a:ahLst/>
            <a:cxnLst/>
            <a:rect l="l" t="t" r="r" b="b"/>
            <a:pathLst>
              <a:path w="76200" h="314960">
                <a:moveTo>
                  <a:pt x="0" y="237362"/>
                </a:moveTo>
                <a:lnTo>
                  <a:pt x="35560" y="314832"/>
                </a:lnTo>
                <a:lnTo>
                  <a:pt x="69862" y="251587"/>
                </a:lnTo>
                <a:lnTo>
                  <a:pt x="44069" y="251587"/>
                </a:lnTo>
                <a:lnTo>
                  <a:pt x="31369" y="251078"/>
                </a:lnTo>
                <a:lnTo>
                  <a:pt x="31742" y="239902"/>
                </a:lnTo>
                <a:lnTo>
                  <a:pt x="31791" y="238422"/>
                </a:lnTo>
                <a:lnTo>
                  <a:pt x="0" y="237362"/>
                </a:lnTo>
                <a:close/>
              </a:path>
              <a:path w="76200" h="314960">
                <a:moveTo>
                  <a:pt x="31791" y="238422"/>
                </a:moveTo>
                <a:lnTo>
                  <a:pt x="31369" y="251078"/>
                </a:lnTo>
                <a:lnTo>
                  <a:pt x="44069" y="251587"/>
                </a:lnTo>
                <a:lnTo>
                  <a:pt x="44459" y="239902"/>
                </a:lnTo>
                <a:lnTo>
                  <a:pt x="44494" y="238846"/>
                </a:lnTo>
                <a:lnTo>
                  <a:pt x="31791" y="238422"/>
                </a:lnTo>
                <a:close/>
              </a:path>
              <a:path w="76200" h="314960">
                <a:moveTo>
                  <a:pt x="44494" y="238846"/>
                </a:moveTo>
                <a:lnTo>
                  <a:pt x="44085" y="251078"/>
                </a:lnTo>
                <a:lnTo>
                  <a:pt x="44069" y="251587"/>
                </a:lnTo>
                <a:lnTo>
                  <a:pt x="69862" y="251587"/>
                </a:lnTo>
                <a:lnTo>
                  <a:pt x="76200" y="239902"/>
                </a:lnTo>
                <a:lnTo>
                  <a:pt x="44494" y="238846"/>
                </a:lnTo>
                <a:close/>
              </a:path>
              <a:path w="76200" h="314960">
                <a:moveTo>
                  <a:pt x="39750" y="0"/>
                </a:moveTo>
                <a:lnTo>
                  <a:pt x="31826" y="237362"/>
                </a:lnTo>
                <a:lnTo>
                  <a:pt x="31791" y="238422"/>
                </a:lnTo>
                <a:lnTo>
                  <a:pt x="44494" y="238846"/>
                </a:lnTo>
                <a:lnTo>
                  <a:pt x="52450" y="507"/>
                </a:lnTo>
                <a:lnTo>
                  <a:pt x="39750" y="0"/>
                </a:lnTo>
                <a:close/>
              </a:path>
            </a:pathLst>
          </a:custGeom>
          <a:solidFill>
            <a:srgbClr val="000000"/>
          </a:solidFill>
        </p:spPr>
        <p:txBody>
          <a:bodyPr wrap="square" lIns="0" tIns="0" rIns="0" bIns="0" rtlCol="0"/>
          <a:lstStyle/>
          <a:p>
            <a:endParaRPr/>
          </a:p>
        </p:txBody>
      </p:sp>
      <p:sp>
        <p:nvSpPr>
          <p:cNvPr id="16" name="object 16"/>
          <p:cNvSpPr/>
          <p:nvPr/>
        </p:nvSpPr>
        <p:spPr>
          <a:xfrm>
            <a:off x="4457700" y="4614671"/>
            <a:ext cx="76200" cy="375920"/>
          </a:xfrm>
          <a:custGeom>
            <a:avLst/>
            <a:gdLst/>
            <a:ahLst/>
            <a:cxnLst/>
            <a:rect l="l" t="t" r="r" b="b"/>
            <a:pathLst>
              <a:path w="76200" h="375920">
                <a:moveTo>
                  <a:pt x="31750" y="299211"/>
                </a:moveTo>
                <a:lnTo>
                  <a:pt x="0" y="299211"/>
                </a:lnTo>
                <a:lnTo>
                  <a:pt x="38100" y="375411"/>
                </a:lnTo>
                <a:lnTo>
                  <a:pt x="69850" y="311911"/>
                </a:lnTo>
                <a:lnTo>
                  <a:pt x="31750" y="311911"/>
                </a:lnTo>
                <a:lnTo>
                  <a:pt x="31750" y="299211"/>
                </a:lnTo>
                <a:close/>
              </a:path>
              <a:path w="76200" h="375920">
                <a:moveTo>
                  <a:pt x="44450" y="0"/>
                </a:moveTo>
                <a:lnTo>
                  <a:pt x="31750" y="0"/>
                </a:lnTo>
                <a:lnTo>
                  <a:pt x="31750" y="311911"/>
                </a:lnTo>
                <a:lnTo>
                  <a:pt x="44450" y="311911"/>
                </a:lnTo>
                <a:lnTo>
                  <a:pt x="44450" y="0"/>
                </a:lnTo>
                <a:close/>
              </a:path>
              <a:path w="76200" h="375920">
                <a:moveTo>
                  <a:pt x="76200" y="299211"/>
                </a:moveTo>
                <a:lnTo>
                  <a:pt x="44450" y="299211"/>
                </a:lnTo>
                <a:lnTo>
                  <a:pt x="44450" y="311911"/>
                </a:lnTo>
                <a:lnTo>
                  <a:pt x="69850" y="311911"/>
                </a:lnTo>
                <a:lnTo>
                  <a:pt x="76200" y="299211"/>
                </a:lnTo>
                <a:close/>
              </a:path>
            </a:pathLst>
          </a:custGeom>
          <a:solidFill>
            <a:srgbClr val="000000"/>
          </a:solidFill>
        </p:spPr>
        <p:txBody>
          <a:bodyPr wrap="square" lIns="0" tIns="0" rIns="0" bIns="0" rtlCol="0"/>
          <a:lstStyle/>
          <a:p>
            <a:endParaRPr/>
          </a:p>
        </p:txBody>
      </p:sp>
      <p:sp>
        <p:nvSpPr>
          <p:cNvPr id="17" name="object 17"/>
          <p:cNvSpPr/>
          <p:nvPr/>
        </p:nvSpPr>
        <p:spPr>
          <a:xfrm>
            <a:off x="4479035" y="5364479"/>
            <a:ext cx="76200" cy="354330"/>
          </a:xfrm>
          <a:custGeom>
            <a:avLst/>
            <a:gdLst/>
            <a:ahLst/>
            <a:cxnLst/>
            <a:rect l="l" t="t" r="r" b="b"/>
            <a:pathLst>
              <a:path w="76200" h="354329">
                <a:moveTo>
                  <a:pt x="31750" y="278066"/>
                </a:moveTo>
                <a:lnTo>
                  <a:pt x="0" y="278066"/>
                </a:lnTo>
                <a:lnTo>
                  <a:pt x="38100" y="354266"/>
                </a:lnTo>
                <a:lnTo>
                  <a:pt x="69850" y="290766"/>
                </a:lnTo>
                <a:lnTo>
                  <a:pt x="31750" y="290766"/>
                </a:lnTo>
                <a:lnTo>
                  <a:pt x="31750" y="278066"/>
                </a:lnTo>
                <a:close/>
              </a:path>
              <a:path w="76200" h="354329">
                <a:moveTo>
                  <a:pt x="44450" y="0"/>
                </a:moveTo>
                <a:lnTo>
                  <a:pt x="31750" y="0"/>
                </a:lnTo>
                <a:lnTo>
                  <a:pt x="31750" y="290766"/>
                </a:lnTo>
                <a:lnTo>
                  <a:pt x="44450" y="290766"/>
                </a:lnTo>
                <a:lnTo>
                  <a:pt x="44450" y="0"/>
                </a:lnTo>
                <a:close/>
              </a:path>
              <a:path w="76200" h="354329">
                <a:moveTo>
                  <a:pt x="76200" y="278066"/>
                </a:moveTo>
                <a:lnTo>
                  <a:pt x="44450" y="278066"/>
                </a:lnTo>
                <a:lnTo>
                  <a:pt x="44450" y="290766"/>
                </a:lnTo>
                <a:lnTo>
                  <a:pt x="69850" y="290766"/>
                </a:lnTo>
                <a:lnTo>
                  <a:pt x="76200" y="278066"/>
                </a:lnTo>
                <a:close/>
              </a:path>
            </a:pathLst>
          </a:custGeom>
          <a:solidFill>
            <a:srgbClr val="000000"/>
          </a:solidFill>
        </p:spPr>
        <p:txBody>
          <a:bodyPr wrap="square" lIns="0" tIns="0" rIns="0" bIns="0" rtlCol="0"/>
          <a:lstStyle/>
          <a:p>
            <a:endParaRPr/>
          </a:p>
        </p:txBody>
      </p:sp>
      <p:grpSp>
        <p:nvGrpSpPr>
          <p:cNvPr id="18" name="object 18"/>
          <p:cNvGrpSpPr/>
          <p:nvPr/>
        </p:nvGrpSpPr>
        <p:grpSpPr>
          <a:xfrm>
            <a:off x="3181667" y="2376423"/>
            <a:ext cx="2704465" cy="1847850"/>
            <a:chOff x="3163570" y="2392679"/>
            <a:chExt cx="2704465" cy="1847850"/>
          </a:xfrm>
        </p:grpSpPr>
        <p:sp>
          <p:nvSpPr>
            <p:cNvPr id="19" name="object 19"/>
            <p:cNvSpPr/>
            <p:nvPr/>
          </p:nvSpPr>
          <p:spPr>
            <a:xfrm>
              <a:off x="4448302" y="3949953"/>
              <a:ext cx="76200" cy="290830"/>
            </a:xfrm>
            <a:custGeom>
              <a:avLst/>
              <a:gdLst/>
              <a:ahLst/>
              <a:cxnLst/>
              <a:rect l="l" t="t" r="r" b="b"/>
              <a:pathLst>
                <a:path w="76200" h="290829">
                  <a:moveTo>
                    <a:pt x="0" y="212852"/>
                  </a:moveTo>
                  <a:lnTo>
                    <a:pt x="35306" y="290449"/>
                  </a:lnTo>
                  <a:lnTo>
                    <a:pt x="69881" y="227203"/>
                  </a:lnTo>
                  <a:lnTo>
                    <a:pt x="43942" y="227203"/>
                  </a:lnTo>
                  <a:lnTo>
                    <a:pt x="31242" y="226695"/>
                  </a:lnTo>
                  <a:lnTo>
                    <a:pt x="31644" y="215646"/>
                  </a:lnTo>
                  <a:lnTo>
                    <a:pt x="31703" y="214014"/>
                  </a:lnTo>
                  <a:lnTo>
                    <a:pt x="0" y="212852"/>
                  </a:lnTo>
                  <a:close/>
                </a:path>
                <a:path w="76200" h="290829">
                  <a:moveTo>
                    <a:pt x="31703" y="214014"/>
                  </a:moveTo>
                  <a:lnTo>
                    <a:pt x="31242" y="226695"/>
                  </a:lnTo>
                  <a:lnTo>
                    <a:pt x="43942" y="227203"/>
                  </a:lnTo>
                  <a:lnTo>
                    <a:pt x="44362" y="215646"/>
                  </a:lnTo>
                  <a:lnTo>
                    <a:pt x="44405" y="214480"/>
                  </a:lnTo>
                  <a:lnTo>
                    <a:pt x="31703" y="214014"/>
                  </a:lnTo>
                  <a:close/>
                </a:path>
                <a:path w="76200" h="290829">
                  <a:moveTo>
                    <a:pt x="44405" y="214480"/>
                  </a:moveTo>
                  <a:lnTo>
                    <a:pt x="43960" y="226695"/>
                  </a:lnTo>
                  <a:lnTo>
                    <a:pt x="43942" y="227203"/>
                  </a:lnTo>
                  <a:lnTo>
                    <a:pt x="69881" y="227203"/>
                  </a:lnTo>
                  <a:lnTo>
                    <a:pt x="76200" y="215646"/>
                  </a:lnTo>
                  <a:lnTo>
                    <a:pt x="44405" y="214480"/>
                  </a:lnTo>
                  <a:close/>
                </a:path>
                <a:path w="76200" h="290829">
                  <a:moveTo>
                    <a:pt x="39497" y="0"/>
                  </a:moveTo>
                  <a:lnTo>
                    <a:pt x="31746" y="212852"/>
                  </a:lnTo>
                  <a:lnTo>
                    <a:pt x="31703" y="214014"/>
                  </a:lnTo>
                  <a:lnTo>
                    <a:pt x="44405" y="214480"/>
                  </a:lnTo>
                  <a:lnTo>
                    <a:pt x="52197" y="508"/>
                  </a:lnTo>
                  <a:lnTo>
                    <a:pt x="39497" y="0"/>
                  </a:lnTo>
                  <a:close/>
                </a:path>
              </a:pathLst>
            </a:custGeom>
            <a:solidFill>
              <a:srgbClr val="000000"/>
            </a:solidFill>
          </p:spPr>
          <p:txBody>
            <a:bodyPr wrap="square" lIns="0" tIns="0" rIns="0" bIns="0" rtlCol="0"/>
            <a:lstStyle/>
            <a:p>
              <a:endParaRPr/>
            </a:p>
          </p:txBody>
        </p:sp>
        <p:pic>
          <p:nvPicPr>
            <p:cNvPr id="20" name="object 20"/>
            <p:cNvPicPr/>
            <p:nvPr/>
          </p:nvPicPr>
          <p:blipFill>
            <a:blip r:embed="rId3" cstate="print"/>
            <a:stretch>
              <a:fillRect/>
            </a:stretch>
          </p:blipFill>
          <p:spPr>
            <a:xfrm>
              <a:off x="4457700" y="2392679"/>
              <a:ext cx="76200" cy="240537"/>
            </a:xfrm>
            <a:prstGeom prst="rect">
              <a:avLst/>
            </a:prstGeom>
          </p:spPr>
        </p:pic>
        <p:sp>
          <p:nvSpPr>
            <p:cNvPr id="21" name="object 21"/>
            <p:cNvSpPr/>
            <p:nvPr/>
          </p:nvSpPr>
          <p:spPr>
            <a:xfrm>
              <a:off x="3169920" y="2682239"/>
              <a:ext cx="2691765" cy="1231900"/>
            </a:xfrm>
            <a:custGeom>
              <a:avLst/>
              <a:gdLst/>
              <a:ahLst/>
              <a:cxnLst/>
              <a:rect l="l" t="t" r="r" b="b"/>
              <a:pathLst>
                <a:path w="2691765" h="1231900">
                  <a:moveTo>
                    <a:pt x="1345692" y="0"/>
                  </a:moveTo>
                  <a:lnTo>
                    <a:pt x="0" y="615696"/>
                  </a:lnTo>
                  <a:lnTo>
                    <a:pt x="1345692" y="1231392"/>
                  </a:lnTo>
                  <a:lnTo>
                    <a:pt x="2691384" y="615696"/>
                  </a:lnTo>
                  <a:lnTo>
                    <a:pt x="1345692" y="0"/>
                  </a:lnTo>
                  <a:close/>
                </a:path>
              </a:pathLst>
            </a:custGeom>
            <a:solidFill>
              <a:srgbClr val="FFFFFF"/>
            </a:solidFill>
          </p:spPr>
          <p:txBody>
            <a:bodyPr wrap="square" lIns="0" tIns="0" rIns="0" bIns="0" rtlCol="0"/>
            <a:lstStyle/>
            <a:p>
              <a:endParaRPr/>
            </a:p>
          </p:txBody>
        </p:sp>
        <p:sp>
          <p:nvSpPr>
            <p:cNvPr id="22" name="object 22"/>
            <p:cNvSpPr/>
            <p:nvPr/>
          </p:nvSpPr>
          <p:spPr>
            <a:xfrm>
              <a:off x="3169920" y="2682239"/>
              <a:ext cx="2691765" cy="1231900"/>
            </a:xfrm>
            <a:custGeom>
              <a:avLst/>
              <a:gdLst/>
              <a:ahLst/>
              <a:cxnLst/>
              <a:rect l="l" t="t" r="r" b="b"/>
              <a:pathLst>
                <a:path w="2691765" h="1231900">
                  <a:moveTo>
                    <a:pt x="0" y="615696"/>
                  </a:moveTo>
                  <a:lnTo>
                    <a:pt x="1345692" y="0"/>
                  </a:lnTo>
                  <a:lnTo>
                    <a:pt x="2691384" y="615696"/>
                  </a:lnTo>
                  <a:lnTo>
                    <a:pt x="1345692" y="1231392"/>
                  </a:lnTo>
                  <a:lnTo>
                    <a:pt x="0" y="615696"/>
                  </a:lnTo>
                  <a:close/>
                </a:path>
              </a:pathLst>
            </a:custGeom>
            <a:ln w="12192">
              <a:solidFill>
                <a:srgbClr val="000000"/>
              </a:solidFill>
            </a:ln>
          </p:spPr>
          <p:txBody>
            <a:bodyPr wrap="square" lIns="0" tIns="0" rIns="0" bIns="0" rtlCol="0"/>
            <a:lstStyle/>
            <a:p>
              <a:endParaRPr/>
            </a:p>
          </p:txBody>
        </p:sp>
      </p:grpSp>
      <p:sp>
        <p:nvSpPr>
          <p:cNvPr id="23" name="object 23"/>
          <p:cNvSpPr txBox="1"/>
          <p:nvPr/>
        </p:nvSpPr>
        <p:spPr>
          <a:xfrm>
            <a:off x="4170426" y="2957906"/>
            <a:ext cx="692150" cy="451484"/>
          </a:xfrm>
          <a:prstGeom prst="rect">
            <a:avLst/>
          </a:prstGeom>
        </p:spPr>
        <p:txBody>
          <a:bodyPr vert="horz" wrap="square" lIns="0" tIns="12065" rIns="0" bIns="0" rtlCol="0">
            <a:spAutoFit/>
          </a:bodyPr>
          <a:lstStyle/>
          <a:p>
            <a:pPr algn="ctr">
              <a:lnSpc>
                <a:spcPct val="100000"/>
              </a:lnSpc>
              <a:spcBef>
                <a:spcPts val="95"/>
              </a:spcBef>
            </a:pPr>
            <a:r>
              <a:rPr sz="1400" dirty="0">
                <a:latin typeface="Calibri"/>
                <a:cs typeface="Calibri"/>
              </a:rPr>
              <a:t>Data</a:t>
            </a:r>
            <a:r>
              <a:rPr sz="1400" spc="-35" dirty="0">
                <a:latin typeface="Calibri"/>
                <a:cs typeface="Calibri"/>
              </a:rPr>
              <a:t> </a:t>
            </a:r>
            <a:r>
              <a:rPr sz="1400" spc="-20" dirty="0">
                <a:latin typeface="Calibri"/>
                <a:cs typeface="Calibri"/>
              </a:rPr>
              <a:t>sets</a:t>
            </a:r>
            <a:endParaRPr sz="1400">
              <a:latin typeface="Calibri"/>
              <a:cs typeface="Calibri"/>
            </a:endParaRPr>
          </a:p>
          <a:p>
            <a:pPr algn="ctr">
              <a:lnSpc>
                <a:spcPct val="100000"/>
              </a:lnSpc>
            </a:pPr>
            <a:r>
              <a:rPr sz="1400" dirty="0">
                <a:latin typeface="Calibri"/>
                <a:cs typeface="Calibri"/>
              </a:rPr>
              <a:t>If</a:t>
            </a:r>
            <a:r>
              <a:rPr sz="1400" spc="-25" dirty="0">
                <a:latin typeface="Calibri"/>
                <a:cs typeface="Calibri"/>
              </a:rPr>
              <a:t> </a:t>
            </a:r>
            <a:r>
              <a:rPr sz="1400" spc="-20" dirty="0">
                <a:latin typeface="Calibri"/>
                <a:cs typeface="Calibri"/>
              </a:rPr>
              <a:t>data</a:t>
            </a:r>
            <a:endParaRPr sz="1400">
              <a:latin typeface="Calibri"/>
              <a:cs typeface="Calibri"/>
            </a:endParaRPr>
          </a:p>
        </p:txBody>
      </p:sp>
      <p:sp>
        <p:nvSpPr>
          <p:cNvPr id="24" name="object 24"/>
          <p:cNvSpPr txBox="1"/>
          <p:nvPr/>
        </p:nvSpPr>
        <p:spPr>
          <a:xfrm>
            <a:off x="4097273" y="3385184"/>
            <a:ext cx="835660" cy="238125"/>
          </a:xfrm>
          <a:prstGeom prst="rect">
            <a:avLst/>
          </a:prstGeom>
        </p:spPr>
        <p:txBody>
          <a:bodyPr vert="horz" wrap="square" lIns="0" tIns="11430" rIns="0" bIns="0" rtlCol="0">
            <a:spAutoFit/>
          </a:bodyPr>
          <a:lstStyle/>
          <a:p>
            <a:pPr marL="12700">
              <a:lnSpc>
                <a:spcPct val="100000"/>
              </a:lnSpc>
              <a:spcBef>
                <a:spcPts val="90"/>
              </a:spcBef>
            </a:pPr>
            <a:r>
              <a:rPr sz="1400" spc="-10" dirty="0">
                <a:latin typeface="Calibri"/>
                <a:cs typeface="Calibri"/>
              </a:rPr>
              <a:t>sets=image</a:t>
            </a:r>
            <a:endParaRPr sz="1400">
              <a:latin typeface="Calibri"/>
              <a:cs typeface="Calibri"/>
            </a:endParaRPr>
          </a:p>
        </p:txBody>
      </p:sp>
      <p:grpSp>
        <p:nvGrpSpPr>
          <p:cNvPr id="25" name="object 25"/>
          <p:cNvGrpSpPr/>
          <p:nvPr/>
        </p:nvGrpSpPr>
        <p:grpSpPr>
          <a:xfrm>
            <a:off x="2584704" y="2193035"/>
            <a:ext cx="1909445" cy="1906905"/>
            <a:chOff x="2584704" y="2193035"/>
            <a:chExt cx="1909445" cy="1906905"/>
          </a:xfrm>
        </p:grpSpPr>
        <p:sp>
          <p:nvSpPr>
            <p:cNvPr id="26" name="object 26"/>
            <p:cNvSpPr/>
            <p:nvPr/>
          </p:nvSpPr>
          <p:spPr>
            <a:xfrm>
              <a:off x="2587752" y="2231135"/>
              <a:ext cx="1906270" cy="1865630"/>
            </a:xfrm>
            <a:custGeom>
              <a:avLst/>
              <a:gdLst/>
              <a:ahLst/>
              <a:cxnLst/>
              <a:rect l="l" t="t" r="r" b="b"/>
              <a:pathLst>
                <a:path w="1906270" h="1865629">
                  <a:moveTo>
                    <a:pt x="1906143" y="1865376"/>
                  </a:moveTo>
                  <a:lnTo>
                    <a:pt x="0" y="1865376"/>
                  </a:lnTo>
                </a:path>
                <a:path w="1906270" h="1865629">
                  <a:moveTo>
                    <a:pt x="0" y="1864868"/>
                  </a:moveTo>
                  <a:lnTo>
                    <a:pt x="0" y="0"/>
                  </a:lnTo>
                </a:path>
              </a:pathLst>
            </a:custGeom>
            <a:ln w="6096">
              <a:solidFill>
                <a:srgbClr val="000000"/>
              </a:solidFill>
            </a:ln>
          </p:spPr>
          <p:txBody>
            <a:bodyPr wrap="square" lIns="0" tIns="0" rIns="0" bIns="0" rtlCol="0"/>
            <a:lstStyle/>
            <a:p>
              <a:endParaRPr/>
            </a:p>
          </p:txBody>
        </p:sp>
        <p:sp>
          <p:nvSpPr>
            <p:cNvPr id="27" name="object 27"/>
            <p:cNvSpPr/>
            <p:nvPr/>
          </p:nvSpPr>
          <p:spPr>
            <a:xfrm>
              <a:off x="2587752" y="2193035"/>
              <a:ext cx="633095" cy="76200"/>
            </a:xfrm>
            <a:custGeom>
              <a:avLst/>
              <a:gdLst/>
              <a:ahLst/>
              <a:cxnLst/>
              <a:rect l="l" t="t" r="r" b="b"/>
              <a:pathLst>
                <a:path w="633094" h="76200">
                  <a:moveTo>
                    <a:pt x="556895" y="0"/>
                  </a:moveTo>
                  <a:lnTo>
                    <a:pt x="556895" y="76200"/>
                  </a:lnTo>
                  <a:lnTo>
                    <a:pt x="620395" y="44450"/>
                  </a:lnTo>
                  <a:lnTo>
                    <a:pt x="569595" y="44450"/>
                  </a:lnTo>
                  <a:lnTo>
                    <a:pt x="569595" y="31750"/>
                  </a:lnTo>
                  <a:lnTo>
                    <a:pt x="620395" y="31750"/>
                  </a:lnTo>
                  <a:lnTo>
                    <a:pt x="556895" y="0"/>
                  </a:lnTo>
                  <a:close/>
                </a:path>
                <a:path w="633094" h="76200">
                  <a:moveTo>
                    <a:pt x="556895" y="31750"/>
                  </a:moveTo>
                  <a:lnTo>
                    <a:pt x="0" y="31750"/>
                  </a:lnTo>
                  <a:lnTo>
                    <a:pt x="0" y="44450"/>
                  </a:lnTo>
                  <a:lnTo>
                    <a:pt x="556895" y="44450"/>
                  </a:lnTo>
                  <a:lnTo>
                    <a:pt x="556895" y="31750"/>
                  </a:lnTo>
                  <a:close/>
                </a:path>
                <a:path w="633094" h="76200">
                  <a:moveTo>
                    <a:pt x="620395" y="31750"/>
                  </a:moveTo>
                  <a:lnTo>
                    <a:pt x="569595" y="31750"/>
                  </a:lnTo>
                  <a:lnTo>
                    <a:pt x="569595" y="44450"/>
                  </a:lnTo>
                  <a:lnTo>
                    <a:pt x="620395" y="44450"/>
                  </a:lnTo>
                  <a:lnTo>
                    <a:pt x="633095" y="38100"/>
                  </a:lnTo>
                  <a:lnTo>
                    <a:pt x="620395" y="31750"/>
                  </a:lnTo>
                  <a:close/>
                </a:path>
              </a:pathLst>
            </a:custGeom>
            <a:solidFill>
              <a:srgbClr val="000000"/>
            </a:solidFill>
          </p:spPr>
          <p:txBody>
            <a:bodyPr wrap="square" lIns="0" tIns="0" rIns="0" bIns="0" rtlCol="0"/>
            <a:lstStyle/>
            <a:p>
              <a:endParaRPr/>
            </a:p>
          </p:txBody>
        </p:sp>
      </p:grpSp>
      <p:sp>
        <p:nvSpPr>
          <p:cNvPr id="28" name="object 28"/>
          <p:cNvSpPr txBox="1"/>
          <p:nvPr/>
        </p:nvSpPr>
        <p:spPr>
          <a:xfrm>
            <a:off x="3690175" y="6456554"/>
            <a:ext cx="1687448" cy="773032"/>
          </a:xfrm>
          <a:prstGeom prst="rect">
            <a:avLst/>
          </a:prstGeom>
        </p:spPr>
        <p:txBody>
          <a:bodyPr vert="horz" wrap="square" lIns="0" tIns="0" rIns="0" bIns="0" rtlCol="0">
            <a:spAutoFit/>
          </a:bodyPr>
          <a:lstStyle/>
          <a:p>
            <a:pPr marL="12700">
              <a:lnSpc>
                <a:spcPts val="1995"/>
              </a:lnSpc>
            </a:pPr>
            <a:r>
              <a:rPr sz="2000" dirty="0">
                <a:latin typeface="Calibri"/>
                <a:cs typeface="Calibri"/>
              </a:rPr>
              <a:t>Crack</a:t>
            </a:r>
            <a:r>
              <a:rPr sz="2000" spc="-70" dirty="0">
                <a:latin typeface="Calibri"/>
                <a:cs typeface="Calibri"/>
              </a:rPr>
              <a:t> </a:t>
            </a:r>
            <a:r>
              <a:rPr sz="2000" spc="-10" dirty="0">
                <a:latin typeface="Calibri"/>
                <a:cs typeface="Calibri"/>
              </a:rPr>
              <a:t>detection</a:t>
            </a:r>
            <a:endParaRPr lang="en-US" sz="2000" spc="-10" dirty="0">
              <a:latin typeface="Calibri"/>
              <a:cs typeface="Calibri"/>
            </a:endParaRPr>
          </a:p>
          <a:p>
            <a:pPr marL="12700">
              <a:lnSpc>
                <a:spcPts val="1995"/>
              </a:lnSpc>
            </a:pPr>
            <a:endParaRPr lang="en-US" sz="2000" spc="-10" dirty="0">
              <a:latin typeface="Calibri"/>
              <a:cs typeface="Calibri"/>
            </a:endParaRPr>
          </a:p>
          <a:p>
            <a:pPr marL="12700">
              <a:lnSpc>
                <a:spcPts val="1995"/>
              </a:lnSpc>
            </a:pPr>
            <a:endParaRPr sz="2000" dirty="0">
              <a:latin typeface="Calibri"/>
              <a:cs typeface="Calibri"/>
            </a:endParaRPr>
          </a:p>
        </p:txBody>
      </p:sp>
      <p:sp>
        <p:nvSpPr>
          <p:cNvPr id="29" name="object 29"/>
          <p:cNvSpPr txBox="1"/>
          <p:nvPr/>
        </p:nvSpPr>
        <p:spPr>
          <a:xfrm>
            <a:off x="8350122" y="6465518"/>
            <a:ext cx="90170" cy="154940"/>
          </a:xfrm>
          <a:prstGeom prst="rect">
            <a:avLst/>
          </a:prstGeom>
        </p:spPr>
        <p:txBody>
          <a:bodyPr vert="horz" wrap="square" lIns="0" tIns="3175" rIns="0" bIns="0" rtlCol="0">
            <a:spAutoFit/>
          </a:bodyPr>
          <a:lstStyle/>
          <a:p>
            <a:pPr marL="12700">
              <a:lnSpc>
                <a:spcPct val="100000"/>
              </a:lnSpc>
              <a:spcBef>
                <a:spcPts val="25"/>
              </a:spcBef>
            </a:pPr>
            <a:r>
              <a:rPr sz="900" spc="-50" dirty="0">
                <a:solidFill>
                  <a:srgbClr val="888888"/>
                </a:solidFill>
                <a:latin typeface="Arial MT"/>
                <a:cs typeface="Arial MT"/>
              </a:rPr>
              <a:t>9</a:t>
            </a:r>
            <a:endParaRPr sz="900">
              <a:latin typeface="Arial MT"/>
              <a:cs typeface="Arial MT"/>
            </a:endParaRPr>
          </a:p>
        </p:txBody>
      </p:sp>
      <p:sp>
        <p:nvSpPr>
          <p:cNvPr id="30" name="TextBox 29">
            <a:extLst>
              <a:ext uri="{FF2B5EF4-FFF2-40B4-BE49-F238E27FC236}">
                <a16:creationId xmlns:a16="http://schemas.microsoft.com/office/drawing/2014/main" id="{164986C6-3ADE-A11C-72B8-8CF7BC150B49}"/>
              </a:ext>
            </a:extLst>
          </p:cNvPr>
          <p:cNvSpPr txBox="1"/>
          <p:nvPr/>
        </p:nvSpPr>
        <p:spPr>
          <a:xfrm>
            <a:off x="990600" y="6435792"/>
            <a:ext cx="1066800" cy="369332"/>
          </a:xfrm>
          <a:prstGeom prst="rect">
            <a:avLst/>
          </a:prstGeom>
          <a:noFill/>
        </p:spPr>
        <p:txBody>
          <a:bodyPr wrap="square" rtlCol="0">
            <a:spAutoFit/>
          </a:bodyPr>
          <a:lstStyle/>
          <a:p>
            <a:r>
              <a:rPr lang="en-US" dirty="0"/>
              <a:t>Fig.3</a:t>
            </a:r>
            <a:endParaRPr lang="en-IN"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44602" rIns="0" bIns="0" rtlCol="0">
            <a:spAutoFit/>
          </a:bodyPr>
          <a:lstStyle/>
          <a:p>
            <a:pPr marL="283845">
              <a:lnSpc>
                <a:spcPct val="100000"/>
              </a:lnSpc>
              <a:spcBef>
                <a:spcPts val="95"/>
              </a:spcBef>
            </a:pPr>
            <a:r>
              <a:rPr sz="3200" b="0" spc="-55" dirty="0">
                <a:latin typeface="Times New Roman"/>
                <a:cs typeface="Times New Roman"/>
              </a:rPr>
              <a:t>IMPLEMENTATION</a:t>
            </a:r>
            <a:endParaRPr sz="3200">
              <a:latin typeface="Times New Roman"/>
              <a:cs typeface="Times New Roman"/>
            </a:endParaRPr>
          </a:p>
        </p:txBody>
      </p:sp>
      <p:sp>
        <p:nvSpPr>
          <p:cNvPr id="3" name="object 3"/>
          <p:cNvSpPr txBox="1"/>
          <p:nvPr/>
        </p:nvSpPr>
        <p:spPr>
          <a:xfrm>
            <a:off x="602691" y="1928887"/>
            <a:ext cx="7837805" cy="3044190"/>
          </a:xfrm>
          <a:prstGeom prst="rect">
            <a:avLst/>
          </a:prstGeom>
        </p:spPr>
        <p:txBody>
          <a:bodyPr vert="horz" wrap="square" lIns="0" tIns="12065" rIns="0" bIns="0" rtlCol="0">
            <a:spAutoFit/>
          </a:bodyPr>
          <a:lstStyle/>
          <a:p>
            <a:pPr marL="12700" marR="5080" algn="just">
              <a:lnSpc>
                <a:spcPct val="110100"/>
              </a:lnSpc>
              <a:spcBef>
                <a:spcPts val="95"/>
              </a:spcBef>
            </a:pPr>
            <a:r>
              <a:rPr sz="2000" dirty="0">
                <a:latin typeface="Times New Roman"/>
                <a:cs typeface="Times New Roman"/>
              </a:rPr>
              <a:t>A</a:t>
            </a:r>
            <a:r>
              <a:rPr sz="2000" spc="484" dirty="0">
                <a:latin typeface="Times New Roman"/>
                <a:cs typeface="Times New Roman"/>
              </a:rPr>
              <a:t> </a:t>
            </a:r>
            <a:r>
              <a:rPr sz="2000" dirty="0">
                <a:latin typeface="Times New Roman"/>
                <a:cs typeface="Times New Roman"/>
              </a:rPr>
              <a:t>water</a:t>
            </a:r>
            <a:r>
              <a:rPr sz="2000" spc="45" dirty="0">
                <a:latin typeface="Times New Roman"/>
                <a:cs typeface="Times New Roman"/>
              </a:rPr>
              <a:t>  </a:t>
            </a:r>
            <a:r>
              <a:rPr sz="2000" dirty="0">
                <a:latin typeface="Times New Roman"/>
                <a:cs typeface="Times New Roman"/>
              </a:rPr>
              <a:t>level</a:t>
            </a:r>
            <a:r>
              <a:rPr sz="2000" spc="40" dirty="0">
                <a:latin typeface="Times New Roman"/>
                <a:cs typeface="Times New Roman"/>
              </a:rPr>
              <a:t>  </a:t>
            </a:r>
            <a:r>
              <a:rPr sz="2000" dirty="0">
                <a:latin typeface="Times New Roman"/>
                <a:cs typeface="Times New Roman"/>
              </a:rPr>
              <a:t>monitoring</a:t>
            </a:r>
            <a:r>
              <a:rPr sz="2000" spc="40" dirty="0">
                <a:latin typeface="Times New Roman"/>
                <a:cs typeface="Times New Roman"/>
              </a:rPr>
              <a:t>  </a:t>
            </a:r>
            <a:r>
              <a:rPr sz="2000" dirty="0">
                <a:latin typeface="Times New Roman"/>
                <a:cs typeface="Times New Roman"/>
              </a:rPr>
              <a:t>system</a:t>
            </a:r>
            <a:r>
              <a:rPr sz="2000" spc="30" dirty="0">
                <a:latin typeface="Times New Roman"/>
                <a:cs typeface="Times New Roman"/>
              </a:rPr>
              <a:t>  </a:t>
            </a:r>
            <a:r>
              <a:rPr sz="2000" dirty="0">
                <a:latin typeface="Times New Roman"/>
                <a:cs typeface="Times New Roman"/>
              </a:rPr>
              <a:t>helps</a:t>
            </a:r>
            <a:r>
              <a:rPr sz="2000" spc="35" dirty="0">
                <a:latin typeface="Times New Roman"/>
                <a:cs typeface="Times New Roman"/>
              </a:rPr>
              <a:t>  </a:t>
            </a:r>
            <a:r>
              <a:rPr sz="2000" dirty="0">
                <a:latin typeface="Times New Roman"/>
                <a:cs typeface="Times New Roman"/>
              </a:rPr>
              <a:t>track</a:t>
            </a:r>
            <a:r>
              <a:rPr sz="2000" spc="35" dirty="0">
                <a:latin typeface="Times New Roman"/>
                <a:cs typeface="Times New Roman"/>
              </a:rPr>
              <a:t>  </a:t>
            </a:r>
            <a:r>
              <a:rPr sz="2000" dirty="0">
                <a:latin typeface="Times New Roman"/>
                <a:cs typeface="Times New Roman"/>
              </a:rPr>
              <a:t>and</a:t>
            </a:r>
            <a:r>
              <a:rPr sz="2000" spc="45" dirty="0">
                <a:latin typeface="Times New Roman"/>
                <a:cs typeface="Times New Roman"/>
              </a:rPr>
              <a:t>  </a:t>
            </a:r>
            <a:r>
              <a:rPr sz="2000" dirty="0">
                <a:latin typeface="Times New Roman"/>
                <a:cs typeface="Times New Roman"/>
              </a:rPr>
              <a:t>manage</a:t>
            </a:r>
            <a:r>
              <a:rPr sz="2000" spc="50" dirty="0">
                <a:latin typeface="Times New Roman"/>
                <a:cs typeface="Times New Roman"/>
              </a:rPr>
              <a:t>  </a:t>
            </a:r>
            <a:r>
              <a:rPr sz="2000" dirty="0">
                <a:latin typeface="Times New Roman"/>
                <a:cs typeface="Times New Roman"/>
              </a:rPr>
              <a:t>water</a:t>
            </a:r>
            <a:r>
              <a:rPr sz="2000" spc="45" dirty="0">
                <a:latin typeface="Times New Roman"/>
                <a:cs typeface="Times New Roman"/>
              </a:rPr>
              <a:t>  </a:t>
            </a:r>
            <a:r>
              <a:rPr sz="2000" spc="-10" dirty="0">
                <a:latin typeface="Times New Roman"/>
                <a:cs typeface="Times New Roman"/>
              </a:rPr>
              <a:t>usage </a:t>
            </a:r>
            <a:r>
              <a:rPr sz="2000" dirty="0">
                <a:latin typeface="Times New Roman"/>
                <a:cs typeface="Times New Roman"/>
              </a:rPr>
              <a:t>efficiently</a:t>
            </a:r>
            <a:r>
              <a:rPr sz="2000" spc="155" dirty="0">
                <a:latin typeface="Times New Roman"/>
                <a:cs typeface="Times New Roman"/>
              </a:rPr>
              <a:t> </a:t>
            </a:r>
            <a:r>
              <a:rPr sz="2000" dirty="0">
                <a:latin typeface="Times New Roman"/>
                <a:cs typeface="Times New Roman"/>
              </a:rPr>
              <a:t>by</a:t>
            </a:r>
            <a:r>
              <a:rPr sz="2000" spc="150" dirty="0">
                <a:latin typeface="Times New Roman"/>
                <a:cs typeface="Times New Roman"/>
              </a:rPr>
              <a:t> </a:t>
            </a:r>
            <a:r>
              <a:rPr sz="2000" dirty="0">
                <a:latin typeface="Times New Roman"/>
                <a:cs typeface="Times New Roman"/>
              </a:rPr>
              <a:t>measuring</a:t>
            </a:r>
            <a:r>
              <a:rPr sz="2000" spc="160" dirty="0">
                <a:latin typeface="Times New Roman"/>
                <a:cs typeface="Times New Roman"/>
              </a:rPr>
              <a:t> </a:t>
            </a:r>
            <a:r>
              <a:rPr sz="2000" dirty="0">
                <a:latin typeface="Times New Roman"/>
                <a:cs typeface="Times New Roman"/>
              </a:rPr>
              <a:t>the</a:t>
            </a:r>
            <a:r>
              <a:rPr sz="2000" spc="195" dirty="0">
                <a:latin typeface="Times New Roman"/>
                <a:cs typeface="Times New Roman"/>
              </a:rPr>
              <a:t> </a:t>
            </a:r>
            <a:r>
              <a:rPr sz="2000" dirty="0">
                <a:latin typeface="Times New Roman"/>
                <a:cs typeface="Times New Roman"/>
              </a:rPr>
              <a:t>height</a:t>
            </a:r>
            <a:r>
              <a:rPr sz="2000" spc="170" dirty="0">
                <a:latin typeface="Times New Roman"/>
                <a:cs typeface="Times New Roman"/>
              </a:rPr>
              <a:t> </a:t>
            </a:r>
            <a:r>
              <a:rPr sz="2000" dirty="0">
                <a:latin typeface="Times New Roman"/>
                <a:cs typeface="Times New Roman"/>
              </a:rPr>
              <a:t>of</a:t>
            </a:r>
            <a:r>
              <a:rPr sz="2000" spc="200" dirty="0">
                <a:latin typeface="Times New Roman"/>
                <a:cs typeface="Times New Roman"/>
              </a:rPr>
              <a:t> </a:t>
            </a:r>
            <a:r>
              <a:rPr sz="2000" dirty="0">
                <a:latin typeface="Times New Roman"/>
                <a:cs typeface="Times New Roman"/>
              </a:rPr>
              <a:t>water</a:t>
            </a:r>
            <a:r>
              <a:rPr sz="2000" spc="175" dirty="0">
                <a:latin typeface="Times New Roman"/>
                <a:cs typeface="Times New Roman"/>
              </a:rPr>
              <a:t> </a:t>
            </a:r>
            <a:r>
              <a:rPr sz="2000" dirty="0">
                <a:latin typeface="Times New Roman"/>
                <a:cs typeface="Times New Roman"/>
              </a:rPr>
              <a:t>in</a:t>
            </a:r>
            <a:r>
              <a:rPr sz="2000" spc="175" dirty="0">
                <a:latin typeface="Times New Roman"/>
                <a:cs typeface="Times New Roman"/>
              </a:rPr>
              <a:t> </a:t>
            </a:r>
            <a:r>
              <a:rPr sz="2000" dirty="0">
                <a:latin typeface="Times New Roman"/>
                <a:cs typeface="Times New Roman"/>
              </a:rPr>
              <a:t>dam.It</a:t>
            </a:r>
            <a:r>
              <a:rPr sz="2000" spc="165" dirty="0">
                <a:latin typeface="Times New Roman"/>
                <a:cs typeface="Times New Roman"/>
              </a:rPr>
              <a:t> </a:t>
            </a:r>
            <a:r>
              <a:rPr sz="2000" dirty="0">
                <a:latin typeface="Times New Roman"/>
                <a:cs typeface="Times New Roman"/>
              </a:rPr>
              <a:t>can</a:t>
            </a:r>
            <a:r>
              <a:rPr sz="2000" spc="175" dirty="0">
                <a:latin typeface="Times New Roman"/>
                <a:cs typeface="Times New Roman"/>
              </a:rPr>
              <a:t> </a:t>
            </a:r>
            <a:r>
              <a:rPr sz="2000" dirty="0">
                <a:latin typeface="Times New Roman"/>
                <a:cs typeface="Times New Roman"/>
              </a:rPr>
              <a:t>be</a:t>
            </a:r>
            <a:r>
              <a:rPr sz="2000" spc="165" dirty="0">
                <a:latin typeface="Times New Roman"/>
                <a:cs typeface="Times New Roman"/>
              </a:rPr>
              <a:t> </a:t>
            </a:r>
            <a:r>
              <a:rPr sz="2000" spc="-10" dirty="0">
                <a:latin typeface="Times New Roman"/>
                <a:cs typeface="Times New Roman"/>
              </a:rPr>
              <a:t>implemented </a:t>
            </a:r>
            <a:r>
              <a:rPr sz="2000" dirty="0">
                <a:latin typeface="Times New Roman"/>
                <a:cs typeface="Times New Roman"/>
              </a:rPr>
              <a:t>using</a:t>
            </a:r>
            <a:r>
              <a:rPr sz="2000" spc="95" dirty="0">
                <a:latin typeface="Times New Roman"/>
                <a:cs typeface="Times New Roman"/>
              </a:rPr>
              <a:t>  </a:t>
            </a:r>
            <a:r>
              <a:rPr sz="2000" dirty="0">
                <a:latin typeface="Times New Roman"/>
                <a:cs typeface="Times New Roman"/>
              </a:rPr>
              <a:t>sensors</a:t>
            </a:r>
            <a:r>
              <a:rPr sz="2000" spc="90" dirty="0">
                <a:latin typeface="Times New Roman"/>
                <a:cs typeface="Times New Roman"/>
              </a:rPr>
              <a:t>  </a:t>
            </a:r>
            <a:r>
              <a:rPr sz="2000" dirty="0">
                <a:latin typeface="Times New Roman"/>
                <a:cs typeface="Times New Roman"/>
              </a:rPr>
              <a:t>such</a:t>
            </a:r>
            <a:r>
              <a:rPr sz="2000" spc="90" dirty="0">
                <a:latin typeface="Times New Roman"/>
                <a:cs typeface="Times New Roman"/>
              </a:rPr>
              <a:t>  </a:t>
            </a:r>
            <a:r>
              <a:rPr sz="2000" dirty="0">
                <a:latin typeface="Times New Roman"/>
                <a:cs typeface="Times New Roman"/>
              </a:rPr>
              <a:t>as</a:t>
            </a:r>
            <a:r>
              <a:rPr sz="2000" spc="100" dirty="0">
                <a:latin typeface="Times New Roman"/>
                <a:cs typeface="Times New Roman"/>
              </a:rPr>
              <a:t>  </a:t>
            </a:r>
            <a:r>
              <a:rPr sz="2000" dirty="0">
                <a:latin typeface="Times New Roman"/>
                <a:cs typeface="Times New Roman"/>
              </a:rPr>
              <a:t>ultrasonic,</a:t>
            </a:r>
            <a:r>
              <a:rPr sz="2000" spc="95" dirty="0">
                <a:latin typeface="Times New Roman"/>
                <a:cs typeface="Times New Roman"/>
              </a:rPr>
              <a:t>  </a:t>
            </a:r>
            <a:r>
              <a:rPr sz="2000" dirty="0">
                <a:latin typeface="Times New Roman"/>
                <a:cs typeface="Times New Roman"/>
              </a:rPr>
              <a:t>float,</a:t>
            </a:r>
            <a:r>
              <a:rPr sz="2000" spc="90" dirty="0">
                <a:latin typeface="Times New Roman"/>
                <a:cs typeface="Times New Roman"/>
              </a:rPr>
              <a:t>  </a:t>
            </a:r>
            <a:r>
              <a:rPr sz="2000" dirty="0">
                <a:latin typeface="Times New Roman"/>
                <a:cs typeface="Times New Roman"/>
              </a:rPr>
              <a:t>pressure</a:t>
            </a:r>
            <a:r>
              <a:rPr sz="2000" spc="100" dirty="0">
                <a:latin typeface="Times New Roman"/>
                <a:cs typeface="Times New Roman"/>
              </a:rPr>
              <a:t>  </a:t>
            </a:r>
            <a:r>
              <a:rPr sz="2000" dirty="0">
                <a:latin typeface="Times New Roman"/>
                <a:cs typeface="Times New Roman"/>
              </a:rPr>
              <a:t>transducers,</a:t>
            </a:r>
            <a:r>
              <a:rPr sz="2000" spc="100" dirty="0">
                <a:latin typeface="Times New Roman"/>
                <a:cs typeface="Times New Roman"/>
              </a:rPr>
              <a:t>  </a:t>
            </a:r>
            <a:r>
              <a:rPr sz="2000" dirty="0">
                <a:latin typeface="Times New Roman"/>
                <a:cs typeface="Times New Roman"/>
              </a:rPr>
              <a:t>or</a:t>
            </a:r>
            <a:r>
              <a:rPr sz="2000" spc="95" dirty="0">
                <a:latin typeface="Times New Roman"/>
                <a:cs typeface="Times New Roman"/>
              </a:rPr>
              <a:t>  </a:t>
            </a:r>
            <a:r>
              <a:rPr sz="2000" spc="-10" dirty="0">
                <a:latin typeface="Times New Roman"/>
                <a:cs typeface="Times New Roman"/>
              </a:rPr>
              <a:t>radar, </a:t>
            </a:r>
            <a:r>
              <a:rPr sz="2000" dirty="0">
                <a:latin typeface="Times New Roman"/>
                <a:cs typeface="Times New Roman"/>
              </a:rPr>
              <a:t>depending</a:t>
            </a:r>
            <a:r>
              <a:rPr sz="2000" spc="-25" dirty="0">
                <a:latin typeface="Times New Roman"/>
                <a:cs typeface="Times New Roman"/>
              </a:rPr>
              <a:t> </a:t>
            </a:r>
            <a:r>
              <a:rPr sz="2000" dirty="0">
                <a:latin typeface="Times New Roman"/>
                <a:cs typeface="Times New Roman"/>
              </a:rPr>
              <a:t>on</a:t>
            </a:r>
            <a:r>
              <a:rPr sz="2000" spc="-30" dirty="0">
                <a:latin typeface="Times New Roman"/>
                <a:cs typeface="Times New Roman"/>
              </a:rPr>
              <a:t> </a:t>
            </a:r>
            <a:r>
              <a:rPr sz="2000" dirty="0">
                <a:latin typeface="Times New Roman"/>
                <a:cs typeface="Times New Roman"/>
              </a:rPr>
              <a:t>the</a:t>
            </a:r>
            <a:r>
              <a:rPr sz="2000" spc="-10" dirty="0">
                <a:latin typeface="Times New Roman"/>
                <a:cs typeface="Times New Roman"/>
              </a:rPr>
              <a:t> </a:t>
            </a:r>
            <a:r>
              <a:rPr sz="2000" dirty="0">
                <a:latin typeface="Times New Roman"/>
                <a:cs typeface="Times New Roman"/>
              </a:rPr>
              <a:t>environment</a:t>
            </a:r>
            <a:r>
              <a:rPr sz="2000" spc="15" dirty="0">
                <a:latin typeface="Times New Roman"/>
                <a:cs typeface="Times New Roman"/>
              </a:rPr>
              <a:t> </a:t>
            </a:r>
            <a:r>
              <a:rPr sz="2000" dirty="0">
                <a:latin typeface="Times New Roman"/>
                <a:cs typeface="Times New Roman"/>
              </a:rPr>
              <a:t>and</a:t>
            </a:r>
            <a:r>
              <a:rPr sz="2000" spc="-5" dirty="0">
                <a:latin typeface="Times New Roman"/>
                <a:cs typeface="Times New Roman"/>
              </a:rPr>
              <a:t> </a:t>
            </a:r>
            <a:r>
              <a:rPr sz="2000" dirty="0">
                <a:latin typeface="Times New Roman"/>
                <a:cs typeface="Times New Roman"/>
              </a:rPr>
              <a:t>accuracy</a:t>
            </a:r>
            <a:r>
              <a:rPr sz="2000" spc="-40" dirty="0">
                <a:latin typeface="Times New Roman"/>
                <a:cs typeface="Times New Roman"/>
              </a:rPr>
              <a:t> </a:t>
            </a:r>
            <a:r>
              <a:rPr sz="2000" dirty="0">
                <a:latin typeface="Times New Roman"/>
                <a:cs typeface="Times New Roman"/>
              </a:rPr>
              <a:t>required.</a:t>
            </a:r>
            <a:r>
              <a:rPr sz="2000" spc="10" dirty="0">
                <a:latin typeface="Times New Roman"/>
                <a:cs typeface="Times New Roman"/>
              </a:rPr>
              <a:t> </a:t>
            </a:r>
            <a:r>
              <a:rPr sz="2000" dirty="0">
                <a:latin typeface="Times New Roman"/>
                <a:cs typeface="Times New Roman"/>
              </a:rPr>
              <a:t>A</a:t>
            </a:r>
            <a:r>
              <a:rPr sz="2000" spc="-125" dirty="0">
                <a:latin typeface="Times New Roman"/>
                <a:cs typeface="Times New Roman"/>
              </a:rPr>
              <a:t> </a:t>
            </a:r>
            <a:r>
              <a:rPr sz="2000" dirty="0">
                <a:latin typeface="Times New Roman"/>
                <a:cs typeface="Times New Roman"/>
              </a:rPr>
              <a:t>microcontroller</a:t>
            </a:r>
            <a:r>
              <a:rPr sz="2000" spc="10" dirty="0">
                <a:latin typeface="Times New Roman"/>
                <a:cs typeface="Times New Roman"/>
              </a:rPr>
              <a:t> </a:t>
            </a:r>
            <a:r>
              <a:rPr sz="2000" spc="-20" dirty="0">
                <a:latin typeface="Times New Roman"/>
                <a:cs typeface="Times New Roman"/>
              </a:rPr>
              <a:t>like </a:t>
            </a:r>
            <a:r>
              <a:rPr sz="2000" dirty="0">
                <a:latin typeface="Times New Roman"/>
                <a:cs typeface="Times New Roman"/>
              </a:rPr>
              <a:t>an</a:t>
            </a:r>
            <a:r>
              <a:rPr sz="2000" spc="95" dirty="0">
                <a:latin typeface="Times New Roman"/>
                <a:cs typeface="Times New Roman"/>
              </a:rPr>
              <a:t> </a:t>
            </a:r>
            <a:r>
              <a:rPr sz="2000" dirty="0">
                <a:latin typeface="Times New Roman"/>
                <a:cs typeface="Times New Roman"/>
              </a:rPr>
              <a:t>Arduino</a:t>
            </a:r>
            <a:r>
              <a:rPr sz="2000" spc="105" dirty="0">
                <a:latin typeface="Times New Roman"/>
                <a:cs typeface="Times New Roman"/>
              </a:rPr>
              <a:t> </a:t>
            </a:r>
            <a:r>
              <a:rPr sz="2000" dirty="0">
                <a:latin typeface="Times New Roman"/>
                <a:cs typeface="Times New Roman"/>
              </a:rPr>
              <a:t>or</a:t>
            </a:r>
            <a:r>
              <a:rPr sz="2000" spc="95" dirty="0">
                <a:latin typeface="Times New Roman"/>
                <a:cs typeface="Times New Roman"/>
              </a:rPr>
              <a:t> </a:t>
            </a:r>
            <a:r>
              <a:rPr sz="2000" dirty="0">
                <a:latin typeface="Times New Roman"/>
                <a:cs typeface="Times New Roman"/>
              </a:rPr>
              <a:t>ESP8266</a:t>
            </a:r>
            <a:r>
              <a:rPr sz="2000" spc="80" dirty="0">
                <a:latin typeface="Times New Roman"/>
                <a:cs typeface="Times New Roman"/>
              </a:rPr>
              <a:t> </a:t>
            </a:r>
            <a:r>
              <a:rPr sz="2000" dirty="0">
                <a:latin typeface="Times New Roman"/>
                <a:cs typeface="Times New Roman"/>
              </a:rPr>
              <a:t>collects</a:t>
            </a:r>
            <a:r>
              <a:rPr sz="2000" spc="85" dirty="0">
                <a:latin typeface="Times New Roman"/>
                <a:cs typeface="Times New Roman"/>
              </a:rPr>
              <a:t> </a:t>
            </a:r>
            <a:r>
              <a:rPr sz="2000" dirty="0">
                <a:latin typeface="Times New Roman"/>
                <a:cs typeface="Times New Roman"/>
              </a:rPr>
              <a:t>sensor</a:t>
            </a:r>
            <a:r>
              <a:rPr sz="2000" spc="100" dirty="0">
                <a:latin typeface="Times New Roman"/>
                <a:cs typeface="Times New Roman"/>
              </a:rPr>
              <a:t> </a:t>
            </a:r>
            <a:r>
              <a:rPr sz="2000" dirty="0">
                <a:latin typeface="Times New Roman"/>
                <a:cs typeface="Times New Roman"/>
              </a:rPr>
              <a:t>data</a:t>
            </a:r>
            <a:r>
              <a:rPr sz="2000" spc="95" dirty="0">
                <a:latin typeface="Times New Roman"/>
                <a:cs typeface="Times New Roman"/>
              </a:rPr>
              <a:t> </a:t>
            </a:r>
            <a:r>
              <a:rPr sz="2000" dirty="0">
                <a:latin typeface="Times New Roman"/>
                <a:cs typeface="Times New Roman"/>
              </a:rPr>
              <a:t>and</a:t>
            </a:r>
            <a:r>
              <a:rPr sz="2000" spc="90" dirty="0">
                <a:latin typeface="Times New Roman"/>
                <a:cs typeface="Times New Roman"/>
              </a:rPr>
              <a:t> </a:t>
            </a:r>
            <a:r>
              <a:rPr sz="2000" dirty="0">
                <a:latin typeface="Times New Roman"/>
                <a:cs typeface="Times New Roman"/>
              </a:rPr>
              <a:t>transmits</a:t>
            </a:r>
            <a:r>
              <a:rPr sz="2000" spc="85" dirty="0">
                <a:latin typeface="Times New Roman"/>
                <a:cs typeface="Times New Roman"/>
              </a:rPr>
              <a:t> </a:t>
            </a:r>
            <a:r>
              <a:rPr sz="2000" dirty="0">
                <a:latin typeface="Times New Roman"/>
                <a:cs typeface="Times New Roman"/>
              </a:rPr>
              <a:t>it</a:t>
            </a:r>
            <a:r>
              <a:rPr sz="2000" spc="85" dirty="0">
                <a:latin typeface="Times New Roman"/>
                <a:cs typeface="Times New Roman"/>
              </a:rPr>
              <a:t> </a:t>
            </a:r>
            <a:r>
              <a:rPr sz="2000" dirty="0">
                <a:latin typeface="Times New Roman"/>
                <a:cs typeface="Times New Roman"/>
              </a:rPr>
              <a:t>via</a:t>
            </a:r>
            <a:r>
              <a:rPr sz="2000" spc="90" dirty="0">
                <a:latin typeface="Times New Roman"/>
                <a:cs typeface="Times New Roman"/>
              </a:rPr>
              <a:t> </a:t>
            </a:r>
            <a:r>
              <a:rPr sz="2000" spc="-45" dirty="0">
                <a:latin typeface="Times New Roman"/>
                <a:cs typeface="Times New Roman"/>
              </a:rPr>
              <a:t>Wi-</a:t>
            </a:r>
            <a:r>
              <a:rPr sz="2000" dirty="0">
                <a:latin typeface="Times New Roman"/>
                <a:cs typeface="Times New Roman"/>
              </a:rPr>
              <a:t>Fi,</a:t>
            </a:r>
            <a:r>
              <a:rPr sz="2000" spc="90" dirty="0">
                <a:latin typeface="Times New Roman"/>
                <a:cs typeface="Times New Roman"/>
              </a:rPr>
              <a:t> </a:t>
            </a:r>
            <a:r>
              <a:rPr sz="2000" dirty="0">
                <a:latin typeface="Times New Roman"/>
                <a:cs typeface="Times New Roman"/>
              </a:rPr>
              <a:t>to</a:t>
            </a:r>
            <a:r>
              <a:rPr sz="2000" spc="50" dirty="0">
                <a:latin typeface="Times New Roman"/>
                <a:cs typeface="Times New Roman"/>
              </a:rPr>
              <a:t> </a:t>
            </a:r>
            <a:r>
              <a:rPr sz="2000" spc="-50" dirty="0">
                <a:latin typeface="Times New Roman"/>
                <a:cs typeface="Times New Roman"/>
              </a:rPr>
              <a:t>a </a:t>
            </a:r>
            <a:r>
              <a:rPr sz="2000" dirty="0">
                <a:latin typeface="Times New Roman"/>
                <a:cs typeface="Times New Roman"/>
              </a:rPr>
              <a:t>display</a:t>
            </a:r>
            <a:r>
              <a:rPr sz="2000" spc="-40" dirty="0">
                <a:latin typeface="Times New Roman"/>
                <a:cs typeface="Times New Roman"/>
              </a:rPr>
              <a:t> </a:t>
            </a:r>
            <a:r>
              <a:rPr sz="2000" dirty="0">
                <a:latin typeface="Times New Roman"/>
                <a:cs typeface="Times New Roman"/>
              </a:rPr>
              <a:t>or</a:t>
            </a:r>
            <a:r>
              <a:rPr sz="2000" spc="5" dirty="0">
                <a:latin typeface="Times New Roman"/>
                <a:cs typeface="Times New Roman"/>
              </a:rPr>
              <a:t> </a:t>
            </a:r>
            <a:r>
              <a:rPr sz="2000" dirty="0">
                <a:latin typeface="Times New Roman"/>
                <a:cs typeface="Times New Roman"/>
              </a:rPr>
              <a:t>cloud</a:t>
            </a:r>
            <a:r>
              <a:rPr sz="2000" spc="10" dirty="0">
                <a:latin typeface="Times New Roman"/>
                <a:cs typeface="Times New Roman"/>
              </a:rPr>
              <a:t> </a:t>
            </a:r>
            <a:r>
              <a:rPr sz="2000" dirty="0">
                <a:latin typeface="Times New Roman"/>
                <a:cs typeface="Times New Roman"/>
              </a:rPr>
              <a:t>platform.</a:t>
            </a:r>
            <a:r>
              <a:rPr sz="2000" spc="-5" dirty="0">
                <a:latin typeface="Times New Roman"/>
                <a:cs typeface="Times New Roman"/>
              </a:rPr>
              <a:t> </a:t>
            </a:r>
            <a:r>
              <a:rPr sz="2000" dirty="0">
                <a:latin typeface="Times New Roman"/>
                <a:cs typeface="Times New Roman"/>
              </a:rPr>
              <a:t>This</a:t>
            </a:r>
            <a:r>
              <a:rPr sz="2000" spc="-10" dirty="0">
                <a:latin typeface="Times New Roman"/>
                <a:cs typeface="Times New Roman"/>
              </a:rPr>
              <a:t> </a:t>
            </a:r>
            <a:r>
              <a:rPr sz="2000" dirty="0">
                <a:latin typeface="Times New Roman"/>
                <a:cs typeface="Times New Roman"/>
              </a:rPr>
              <a:t>allows</a:t>
            </a:r>
            <a:r>
              <a:rPr sz="2000" spc="-10" dirty="0">
                <a:latin typeface="Times New Roman"/>
                <a:cs typeface="Times New Roman"/>
              </a:rPr>
              <a:t> real-</a:t>
            </a:r>
            <a:r>
              <a:rPr sz="2000" dirty="0">
                <a:latin typeface="Times New Roman"/>
                <a:cs typeface="Times New Roman"/>
              </a:rPr>
              <a:t>time</a:t>
            </a:r>
            <a:r>
              <a:rPr sz="2000" spc="20" dirty="0">
                <a:latin typeface="Times New Roman"/>
                <a:cs typeface="Times New Roman"/>
              </a:rPr>
              <a:t> </a:t>
            </a:r>
            <a:r>
              <a:rPr sz="2000" dirty="0">
                <a:latin typeface="Times New Roman"/>
                <a:cs typeface="Times New Roman"/>
              </a:rPr>
              <a:t>monitoring,</a:t>
            </a:r>
            <a:r>
              <a:rPr sz="2000" spc="15" dirty="0">
                <a:latin typeface="Times New Roman"/>
                <a:cs typeface="Times New Roman"/>
              </a:rPr>
              <a:t> </a:t>
            </a:r>
            <a:r>
              <a:rPr sz="2000" dirty="0">
                <a:latin typeface="Times New Roman"/>
                <a:cs typeface="Times New Roman"/>
              </a:rPr>
              <a:t>automatic </a:t>
            </a:r>
            <a:r>
              <a:rPr sz="2000" spc="-10" dirty="0">
                <a:latin typeface="Times New Roman"/>
                <a:cs typeface="Times New Roman"/>
              </a:rPr>
              <a:t>alerts </a:t>
            </a:r>
            <a:r>
              <a:rPr sz="2000" dirty="0">
                <a:latin typeface="Times New Roman"/>
                <a:cs typeface="Times New Roman"/>
              </a:rPr>
              <a:t>for</a:t>
            </a:r>
            <a:r>
              <a:rPr sz="2000" spc="35" dirty="0">
                <a:latin typeface="Times New Roman"/>
                <a:cs typeface="Times New Roman"/>
              </a:rPr>
              <a:t> </a:t>
            </a:r>
            <a:r>
              <a:rPr sz="2000" dirty="0">
                <a:latin typeface="Times New Roman"/>
                <a:cs typeface="Times New Roman"/>
              </a:rPr>
              <a:t>low</a:t>
            </a:r>
            <a:r>
              <a:rPr sz="2000" spc="-10" dirty="0">
                <a:latin typeface="Times New Roman"/>
                <a:cs typeface="Times New Roman"/>
              </a:rPr>
              <a:t> </a:t>
            </a:r>
            <a:r>
              <a:rPr sz="2000" dirty="0">
                <a:latin typeface="Times New Roman"/>
                <a:cs typeface="Times New Roman"/>
              </a:rPr>
              <a:t>or</a:t>
            </a:r>
            <a:r>
              <a:rPr sz="2000" spc="35" dirty="0">
                <a:latin typeface="Times New Roman"/>
                <a:cs typeface="Times New Roman"/>
              </a:rPr>
              <a:t> </a:t>
            </a:r>
            <a:r>
              <a:rPr sz="2000" dirty="0">
                <a:latin typeface="Times New Roman"/>
                <a:cs typeface="Times New Roman"/>
              </a:rPr>
              <a:t>high</a:t>
            </a:r>
            <a:r>
              <a:rPr sz="2000" spc="35" dirty="0">
                <a:latin typeface="Times New Roman"/>
                <a:cs typeface="Times New Roman"/>
              </a:rPr>
              <a:t> </a:t>
            </a:r>
            <a:r>
              <a:rPr sz="2000" dirty="0">
                <a:latin typeface="Times New Roman"/>
                <a:cs typeface="Times New Roman"/>
              </a:rPr>
              <a:t>water</a:t>
            </a:r>
            <a:r>
              <a:rPr sz="2000" spc="45" dirty="0">
                <a:latin typeface="Times New Roman"/>
                <a:cs typeface="Times New Roman"/>
              </a:rPr>
              <a:t> </a:t>
            </a:r>
            <a:r>
              <a:rPr sz="2000" dirty="0">
                <a:latin typeface="Times New Roman"/>
                <a:cs typeface="Times New Roman"/>
              </a:rPr>
              <a:t>levels,</a:t>
            </a:r>
            <a:r>
              <a:rPr sz="2000" spc="30" dirty="0">
                <a:latin typeface="Times New Roman"/>
                <a:cs typeface="Times New Roman"/>
              </a:rPr>
              <a:t> </a:t>
            </a:r>
            <a:r>
              <a:rPr sz="2000" dirty="0">
                <a:latin typeface="Times New Roman"/>
                <a:cs typeface="Times New Roman"/>
              </a:rPr>
              <a:t>and</a:t>
            </a:r>
            <a:r>
              <a:rPr sz="2000" spc="35" dirty="0">
                <a:latin typeface="Times New Roman"/>
                <a:cs typeface="Times New Roman"/>
              </a:rPr>
              <a:t> </a:t>
            </a:r>
            <a:r>
              <a:rPr sz="2000" dirty="0">
                <a:latin typeface="Times New Roman"/>
                <a:cs typeface="Times New Roman"/>
              </a:rPr>
              <a:t>better</a:t>
            </a:r>
            <a:r>
              <a:rPr sz="2000" spc="25" dirty="0">
                <a:latin typeface="Times New Roman"/>
                <a:cs typeface="Times New Roman"/>
              </a:rPr>
              <a:t> </a:t>
            </a:r>
            <a:r>
              <a:rPr sz="2000" dirty="0">
                <a:latin typeface="Times New Roman"/>
                <a:cs typeface="Times New Roman"/>
              </a:rPr>
              <a:t>resource</a:t>
            </a:r>
            <a:r>
              <a:rPr sz="2000" spc="20" dirty="0">
                <a:latin typeface="Times New Roman"/>
                <a:cs typeface="Times New Roman"/>
              </a:rPr>
              <a:t> </a:t>
            </a:r>
            <a:r>
              <a:rPr sz="2000" dirty="0">
                <a:latin typeface="Times New Roman"/>
                <a:cs typeface="Times New Roman"/>
              </a:rPr>
              <a:t>management.</a:t>
            </a:r>
            <a:r>
              <a:rPr sz="2000" spc="35" dirty="0">
                <a:latin typeface="Times New Roman"/>
                <a:cs typeface="Times New Roman"/>
              </a:rPr>
              <a:t> </a:t>
            </a:r>
            <a:r>
              <a:rPr sz="2000" dirty="0">
                <a:latin typeface="Times New Roman"/>
                <a:cs typeface="Times New Roman"/>
              </a:rPr>
              <a:t>Such</a:t>
            </a:r>
            <a:r>
              <a:rPr sz="2000" spc="20" dirty="0">
                <a:latin typeface="Times New Roman"/>
                <a:cs typeface="Times New Roman"/>
              </a:rPr>
              <a:t> </a:t>
            </a:r>
            <a:r>
              <a:rPr sz="2000" spc="-10" dirty="0">
                <a:latin typeface="Times New Roman"/>
                <a:cs typeface="Times New Roman"/>
              </a:rPr>
              <a:t>systems </a:t>
            </a:r>
            <a:r>
              <a:rPr sz="2000" dirty="0">
                <a:latin typeface="Times New Roman"/>
                <a:cs typeface="Times New Roman"/>
              </a:rPr>
              <a:t>save</a:t>
            </a:r>
            <a:r>
              <a:rPr sz="2000" spc="285" dirty="0">
                <a:latin typeface="Times New Roman"/>
                <a:cs typeface="Times New Roman"/>
              </a:rPr>
              <a:t> </a:t>
            </a:r>
            <a:r>
              <a:rPr sz="2000" dirty="0">
                <a:latin typeface="Times New Roman"/>
                <a:cs typeface="Times New Roman"/>
              </a:rPr>
              <a:t>water,</a:t>
            </a:r>
            <a:r>
              <a:rPr sz="2000" spc="270" dirty="0">
                <a:latin typeface="Times New Roman"/>
                <a:cs typeface="Times New Roman"/>
              </a:rPr>
              <a:t> </a:t>
            </a:r>
            <a:r>
              <a:rPr sz="2000" dirty="0">
                <a:latin typeface="Times New Roman"/>
                <a:cs typeface="Times New Roman"/>
              </a:rPr>
              <a:t>prevent</a:t>
            </a:r>
            <a:r>
              <a:rPr sz="2000" spc="265" dirty="0">
                <a:latin typeface="Times New Roman"/>
                <a:cs typeface="Times New Roman"/>
              </a:rPr>
              <a:t> </a:t>
            </a:r>
            <a:r>
              <a:rPr sz="2000" dirty="0">
                <a:latin typeface="Times New Roman"/>
                <a:cs typeface="Times New Roman"/>
              </a:rPr>
              <a:t>overflow,</a:t>
            </a:r>
            <a:r>
              <a:rPr sz="2000" spc="300" dirty="0">
                <a:latin typeface="Times New Roman"/>
                <a:cs typeface="Times New Roman"/>
              </a:rPr>
              <a:t> </a:t>
            </a:r>
            <a:r>
              <a:rPr sz="2000" dirty="0">
                <a:latin typeface="Times New Roman"/>
                <a:cs typeface="Times New Roman"/>
              </a:rPr>
              <a:t>reduce</a:t>
            </a:r>
            <a:r>
              <a:rPr sz="2000" spc="275" dirty="0">
                <a:latin typeface="Times New Roman"/>
                <a:cs typeface="Times New Roman"/>
              </a:rPr>
              <a:t> </a:t>
            </a:r>
            <a:r>
              <a:rPr sz="2000" dirty="0">
                <a:latin typeface="Times New Roman"/>
                <a:cs typeface="Times New Roman"/>
              </a:rPr>
              <a:t>pump</a:t>
            </a:r>
            <a:r>
              <a:rPr sz="2000" spc="300" dirty="0">
                <a:latin typeface="Times New Roman"/>
                <a:cs typeface="Times New Roman"/>
              </a:rPr>
              <a:t> </a:t>
            </a:r>
            <a:r>
              <a:rPr sz="2000" dirty="0">
                <a:latin typeface="Times New Roman"/>
                <a:cs typeface="Times New Roman"/>
              </a:rPr>
              <a:t>wear,</a:t>
            </a:r>
            <a:r>
              <a:rPr sz="2000" spc="265" dirty="0">
                <a:latin typeface="Times New Roman"/>
                <a:cs typeface="Times New Roman"/>
              </a:rPr>
              <a:t> </a:t>
            </a:r>
            <a:r>
              <a:rPr sz="2000" dirty="0">
                <a:latin typeface="Times New Roman"/>
                <a:cs typeface="Times New Roman"/>
              </a:rPr>
              <a:t>and</a:t>
            </a:r>
            <a:r>
              <a:rPr sz="2000" spc="275" dirty="0">
                <a:latin typeface="Times New Roman"/>
                <a:cs typeface="Times New Roman"/>
              </a:rPr>
              <a:t> </a:t>
            </a:r>
            <a:r>
              <a:rPr sz="2000" dirty="0">
                <a:latin typeface="Times New Roman"/>
                <a:cs typeface="Times New Roman"/>
              </a:rPr>
              <a:t>support</a:t>
            </a:r>
            <a:r>
              <a:rPr sz="2000" spc="275" dirty="0">
                <a:latin typeface="Times New Roman"/>
                <a:cs typeface="Times New Roman"/>
              </a:rPr>
              <a:t> </a:t>
            </a:r>
            <a:r>
              <a:rPr sz="2000" spc="-10" dirty="0">
                <a:latin typeface="Times New Roman"/>
                <a:cs typeface="Times New Roman"/>
              </a:rPr>
              <a:t>sustainable </a:t>
            </a:r>
            <a:r>
              <a:rPr sz="2000" dirty="0">
                <a:latin typeface="Times New Roman"/>
                <a:cs typeface="Times New Roman"/>
              </a:rPr>
              <a:t>water</a:t>
            </a:r>
            <a:r>
              <a:rPr sz="2000" spc="-30" dirty="0">
                <a:latin typeface="Times New Roman"/>
                <a:cs typeface="Times New Roman"/>
              </a:rPr>
              <a:t> </a:t>
            </a:r>
            <a:r>
              <a:rPr sz="2000" spc="-10" dirty="0">
                <a:latin typeface="Times New Roman"/>
                <a:cs typeface="Times New Roman"/>
              </a:rPr>
              <a:t>practices.</a:t>
            </a:r>
            <a:endParaRPr sz="2000">
              <a:latin typeface="Times New Roman"/>
              <a:cs typeface="Times New Roman"/>
            </a:endParaRPr>
          </a:p>
        </p:txBody>
      </p:sp>
      <p:pic>
        <p:nvPicPr>
          <p:cNvPr id="4" name="object 4"/>
          <p:cNvPicPr/>
          <p:nvPr/>
        </p:nvPicPr>
        <p:blipFill>
          <a:blip r:embed="rId2" cstate="print"/>
          <a:stretch>
            <a:fillRect/>
          </a:stretch>
        </p:blipFill>
        <p:spPr>
          <a:xfrm>
            <a:off x="237743" y="137160"/>
            <a:ext cx="981455" cy="1100328"/>
          </a:xfrm>
          <a:prstGeom prst="rect">
            <a:avLst/>
          </a:prstGeom>
        </p:spPr>
      </p:pic>
      <p:pic>
        <p:nvPicPr>
          <p:cNvPr id="5" name="object 5"/>
          <p:cNvPicPr/>
          <p:nvPr/>
        </p:nvPicPr>
        <p:blipFill>
          <a:blip r:embed="rId3" cstate="print"/>
          <a:stretch>
            <a:fillRect/>
          </a:stretch>
        </p:blipFill>
        <p:spPr>
          <a:xfrm>
            <a:off x="7818119" y="103631"/>
            <a:ext cx="1051559" cy="1100328"/>
          </a:xfrm>
          <a:prstGeom prst="rect">
            <a:avLst/>
          </a:prstGeom>
        </p:spPr>
      </p:pic>
      <p:sp>
        <p:nvSpPr>
          <p:cNvPr id="6" name="object 6"/>
          <p:cNvSpPr txBox="1">
            <a:spLocks noGrp="1"/>
          </p:cNvSpPr>
          <p:nvPr>
            <p:ph type="ftr" sz="quarter" idx="5"/>
          </p:nvPr>
        </p:nvSpPr>
        <p:spPr>
          <a:prstGeom prst="rect">
            <a:avLst/>
          </a:prstGeom>
        </p:spPr>
        <p:txBody>
          <a:bodyPr vert="horz" wrap="square" lIns="0" tIns="3175" rIns="0" bIns="0" rtlCol="0">
            <a:spAutoFit/>
          </a:bodyPr>
          <a:lstStyle/>
          <a:p>
            <a:pPr marL="201295">
              <a:lnSpc>
                <a:spcPct val="100000"/>
              </a:lnSpc>
              <a:spcBef>
                <a:spcPts val="25"/>
              </a:spcBef>
            </a:pPr>
            <a:r>
              <a:rPr sz="900" b="0" dirty="0">
                <a:solidFill>
                  <a:srgbClr val="888888"/>
                </a:solidFill>
                <a:latin typeface="Arial MT"/>
                <a:cs typeface="Arial MT"/>
              </a:rPr>
              <a:t>Dept.</a:t>
            </a:r>
            <a:r>
              <a:rPr sz="900" b="0" spc="-10" dirty="0">
                <a:solidFill>
                  <a:srgbClr val="888888"/>
                </a:solidFill>
                <a:latin typeface="Arial MT"/>
                <a:cs typeface="Arial MT"/>
              </a:rPr>
              <a:t> </a:t>
            </a:r>
            <a:r>
              <a:rPr sz="900" b="0" dirty="0">
                <a:solidFill>
                  <a:srgbClr val="888888"/>
                </a:solidFill>
                <a:latin typeface="Arial MT"/>
                <a:cs typeface="Arial MT"/>
              </a:rPr>
              <a:t>of</a:t>
            </a:r>
            <a:r>
              <a:rPr sz="900" b="0" spc="-5" dirty="0">
                <a:solidFill>
                  <a:srgbClr val="888888"/>
                </a:solidFill>
                <a:latin typeface="Arial MT"/>
                <a:cs typeface="Arial MT"/>
              </a:rPr>
              <a:t> </a:t>
            </a:r>
            <a:r>
              <a:rPr sz="900" b="0" dirty="0">
                <a:solidFill>
                  <a:srgbClr val="888888"/>
                </a:solidFill>
                <a:latin typeface="Arial MT"/>
                <a:cs typeface="Arial MT"/>
              </a:rPr>
              <a:t>ECE</a:t>
            </a:r>
            <a:r>
              <a:rPr sz="900" b="0" spc="-20" dirty="0">
                <a:solidFill>
                  <a:srgbClr val="888888"/>
                </a:solidFill>
                <a:latin typeface="Arial MT"/>
                <a:cs typeface="Arial MT"/>
              </a:rPr>
              <a:t> </a:t>
            </a:r>
            <a:r>
              <a:rPr sz="900" b="0" dirty="0">
                <a:solidFill>
                  <a:srgbClr val="888888"/>
                </a:solidFill>
                <a:latin typeface="Arial MT"/>
                <a:cs typeface="Arial MT"/>
              </a:rPr>
              <a:t>2025-</a:t>
            </a:r>
            <a:r>
              <a:rPr sz="900" b="0" spc="-25" dirty="0">
                <a:solidFill>
                  <a:srgbClr val="888888"/>
                </a:solidFill>
                <a:latin typeface="Arial MT"/>
                <a:cs typeface="Arial MT"/>
              </a:rPr>
              <a:t>26</a:t>
            </a:r>
            <a:endParaRPr sz="900">
              <a:latin typeface="Arial MT"/>
              <a:cs typeface="Arial MT"/>
            </a:endParaRPr>
          </a:p>
        </p:txBody>
      </p:sp>
      <p:sp>
        <p:nvSpPr>
          <p:cNvPr id="7" name="object 7"/>
          <p:cNvSpPr txBox="1">
            <a:spLocks noGrp="1"/>
          </p:cNvSpPr>
          <p:nvPr>
            <p:ph type="sldNum" sz="quarter" idx="7"/>
          </p:nvPr>
        </p:nvSpPr>
        <p:spPr>
          <a:prstGeom prst="rect">
            <a:avLst/>
          </a:prstGeom>
        </p:spPr>
        <p:txBody>
          <a:bodyPr vert="horz" wrap="square" lIns="0" tIns="3175" rIns="0" bIns="0" rtlCol="0">
            <a:spAutoFit/>
          </a:bodyPr>
          <a:lstStyle/>
          <a:p>
            <a:pPr marL="62230">
              <a:lnSpc>
                <a:spcPct val="100000"/>
              </a:lnSpc>
              <a:spcBef>
                <a:spcPts val="25"/>
              </a:spcBef>
            </a:pPr>
            <a:fld id="{81D60167-4931-47E6-BA6A-407CBD079E47}" type="slidenum">
              <a:rPr sz="900" b="0" spc="-25" dirty="0">
                <a:solidFill>
                  <a:srgbClr val="888888"/>
                </a:solidFill>
                <a:latin typeface="Arial MT"/>
                <a:cs typeface="Arial MT"/>
              </a:rPr>
              <a:t>18</a:t>
            </a:fld>
            <a:endParaRPr sz="900">
              <a:latin typeface="Arial MT"/>
              <a:cs typeface="Arial M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13995" rIns="0" bIns="0" rtlCol="0">
            <a:spAutoFit/>
          </a:bodyPr>
          <a:lstStyle/>
          <a:p>
            <a:pPr marL="602615">
              <a:lnSpc>
                <a:spcPts val="3770"/>
              </a:lnSpc>
              <a:spcBef>
                <a:spcPts val="115"/>
              </a:spcBef>
            </a:pPr>
            <a:r>
              <a:rPr b="0" dirty="0">
                <a:latin typeface="Times New Roman"/>
                <a:cs typeface="Times New Roman"/>
              </a:rPr>
              <a:t>CIRCUIT</a:t>
            </a:r>
            <a:r>
              <a:rPr b="0" spc="-130" dirty="0">
                <a:latin typeface="Times New Roman"/>
                <a:cs typeface="Times New Roman"/>
              </a:rPr>
              <a:t> </a:t>
            </a:r>
            <a:r>
              <a:rPr b="0" spc="-10" dirty="0">
                <a:latin typeface="Times New Roman"/>
                <a:cs typeface="Times New Roman"/>
              </a:rPr>
              <a:t>DIAGRAM</a:t>
            </a:r>
          </a:p>
          <a:p>
            <a:pPr marL="602615">
              <a:lnSpc>
                <a:spcPts val="3770"/>
              </a:lnSpc>
            </a:pPr>
            <a:r>
              <a:rPr b="0" dirty="0">
                <a:latin typeface="Times New Roman"/>
                <a:cs typeface="Times New Roman"/>
              </a:rPr>
              <a:t>(water</a:t>
            </a:r>
            <a:r>
              <a:rPr b="0" spc="-45" dirty="0">
                <a:latin typeface="Times New Roman"/>
                <a:cs typeface="Times New Roman"/>
              </a:rPr>
              <a:t> </a:t>
            </a:r>
            <a:r>
              <a:rPr b="0" spc="-10" dirty="0">
                <a:latin typeface="Times New Roman"/>
                <a:cs typeface="Times New Roman"/>
              </a:rPr>
              <a:t>level)</a:t>
            </a:r>
          </a:p>
        </p:txBody>
      </p:sp>
      <p:pic>
        <p:nvPicPr>
          <p:cNvPr id="3" name="object 3"/>
          <p:cNvPicPr/>
          <p:nvPr/>
        </p:nvPicPr>
        <p:blipFill>
          <a:blip r:embed="rId2" cstate="print"/>
          <a:stretch>
            <a:fillRect/>
          </a:stretch>
        </p:blipFill>
        <p:spPr>
          <a:xfrm>
            <a:off x="0" y="1871471"/>
            <a:ext cx="9144000" cy="4771117"/>
          </a:xfrm>
          <a:prstGeom prst="rect">
            <a:avLst/>
          </a:prstGeom>
        </p:spPr>
      </p:pic>
      <p:pic>
        <p:nvPicPr>
          <p:cNvPr id="4" name="object 4"/>
          <p:cNvPicPr/>
          <p:nvPr/>
        </p:nvPicPr>
        <p:blipFill>
          <a:blip r:embed="rId3" cstate="print"/>
          <a:stretch>
            <a:fillRect/>
          </a:stretch>
        </p:blipFill>
        <p:spPr>
          <a:xfrm>
            <a:off x="222504" y="121920"/>
            <a:ext cx="981456" cy="1097279"/>
          </a:xfrm>
          <a:prstGeom prst="rect">
            <a:avLst/>
          </a:prstGeom>
        </p:spPr>
      </p:pic>
      <p:pic>
        <p:nvPicPr>
          <p:cNvPr id="5" name="object 5"/>
          <p:cNvPicPr/>
          <p:nvPr/>
        </p:nvPicPr>
        <p:blipFill>
          <a:blip r:embed="rId4" cstate="print"/>
          <a:stretch>
            <a:fillRect/>
          </a:stretch>
        </p:blipFill>
        <p:spPr>
          <a:xfrm>
            <a:off x="7818119" y="103631"/>
            <a:ext cx="1051559" cy="1100328"/>
          </a:xfrm>
          <a:prstGeom prst="rect">
            <a:avLst/>
          </a:prstGeom>
        </p:spPr>
      </p:pic>
      <p:sp>
        <p:nvSpPr>
          <p:cNvPr id="6" name="object 6"/>
          <p:cNvSpPr txBox="1">
            <a:spLocks noGrp="1"/>
          </p:cNvSpPr>
          <p:nvPr>
            <p:ph type="ftr" sz="quarter" idx="5"/>
          </p:nvPr>
        </p:nvSpPr>
        <p:spPr>
          <a:prstGeom prst="rect">
            <a:avLst/>
          </a:prstGeom>
        </p:spPr>
        <p:txBody>
          <a:bodyPr vert="horz" wrap="square" lIns="0" tIns="3175" rIns="0" bIns="0" rtlCol="0">
            <a:spAutoFit/>
          </a:bodyPr>
          <a:lstStyle/>
          <a:p>
            <a:pPr marL="201295">
              <a:lnSpc>
                <a:spcPct val="100000"/>
              </a:lnSpc>
              <a:spcBef>
                <a:spcPts val="25"/>
              </a:spcBef>
            </a:pPr>
            <a:r>
              <a:rPr sz="900" b="0" dirty="0">
                <a:solidFill>
                  <a:srgbClr val="888888"/>
                </a:solidFill>
                <a:latin typeface="Arial MT"/>
                <a:cs typeface="Arial MT"/>
              </a:rPr>
              <a:t>Dept.</a:t>
            </a:r>
            <a:r>
              <a:rPr sz="900" b="0" spc="-10" dirty="0">
                <a:solidFill>
                  <a:srgbClr val="888888"/>
                </a:solidFill>
                <a:latin typeface="Arial MT"/>
                <a:cs typeface="Arial MT"/>
              </a:rPr>
              <a:t> </a:t>
            </a:r>
            <a:r>
              <a:rPr sz="900" b="0" dirty="0">
                <a:solidFill>
                  <a:srgbClr val="888888"/>
                </a:solidFill>
                <a:latin typeface="Arial MT"/>
                <a:cs typeface="Arial MT"/>
              </a:rPr>
              <a:t>of</a:t>
            </a:r>
            <a:r>
              <a:rPr sz="900" b="0" spc="-5" dirty="0">
                <a:solidFill>
                  <a:srgbClr val="888888"/>
                </a:solidFill>
                <a:latin typeface="Arial MT"/>
                <a:cs typeface="Arial MT"/>
              </a:rPr>
              <a:t> </a:t>
            </a:r>
            <a:r>
              <a:rPr sz="900" b="0" dirty="0">
                <a:solidFill>
                  <a:srgbClr val="888888"/>
                </a:solidFill>
                <a:latin typeface="Arial MT"/>
                <a:cs typeface="Arial MT"/>
              </a:rPr>
              <a:t>ECE</a:t>
            </a:r>
            <a:r>
              <a:rPr sz="900" b="0" spc="-20" dirty="0">
                <a:solidFill>
                  <a:srgbClr val="888888"/>
                </a:solidFill>
                <a:latin typeface="Arial MT"/>
                <a:cs typeface="Arial MT"/>
              </a:rPr>
              <a:t> </a:t>
            </a:r>
            <a:r>
              <a:rPr sz="900" b="0" dirty="0">
                <a:solidFill>
                  <a:srgbClr val="888888"/>
                </a:solidFill>
                <a:latin typeface="Arial MT"/>
                <a:cs typeface="Arial MT"/>
              </a:rPr>
              <a:t>2025-</a:t>
            </a:r>
            <a:r>
              <a:rPr sz="900" b="0" spc="-25" dirty="0">
                <a:solidFill>
                  <a:srgbClr val="888888"/>
                </a:solidFill>
                <a:latin typeface="Arial MT"/>
                <a:cs typeface="Arial MT"/>
              </a:rPr>
              <a:t>26</a:t>
            </a:r>
            <a:endParaRPr sz="900">
              <a:latin typeface="Arial MT"/>
              <a:cs typeface="Arial MT"/>
            </a:endParaRPr>
          </a:p>
        </p:txBody>
      </p:sp>
      <p:sp>
        <p:nvSpPr>
          <p:cNvPr id="7" name="object 7"/>
          <p:cNvSpPr txBox="1">
            <a:spLocks noGrp="1"/>
          </p:cNvSpPr>
          <p:nvPr>
            <p:ph type="sldNum" sz="quarter" idx="7"/>
          </p:nvPr>
        </p:nvSpPr>
        <p:spPr>
          <a:prstGeom prst="rect">
            <a:avLst/>
          </a:prstGeom>
        </p:spPr>
        <p:txBody>
          <a:bodyPr vert="horz" wrap="square" lIns="0" tIns="3175" rIns="0" bIns="0" rtlCol="0">
            <a:spAutoFit/>
          </a:bodyPr>
          <a:lstStyle/>
          <a:p>
            <a:pPr marL="62230">
              <a:lnSpc>
                <a:spcPct val="100000"/>
              </a:lnSpc>
              <a:spcBef>
                <a:spcPts val="25"/>
              </a:spcBef>
            </a:pPr>
            <a:fld id="{81D60167-4931-47E6-BA6A-407CBD079E47}" type="slidenum">
              <a:rPr sz="900" b="0" spc="-25" dirty="0">
                <a:solidFill>
                  <a:srgbClr val="888888"/>
                </a:solidFill>
                <a:latin typeface="Arial MT"/>
                <a:cs typeface="Arial MT"/>
              </a:rPr>
              <a:t>19</a:t>
            </a:fld>
            <a:endParaRPr sz="900">
              <a:latin typeface="Arial MT"/>
              <a:cs typeface="Arial MT"/>
            </a:endParaRPr>
          </a:p>
        </p:txBody>
      </p:sp>
      <p:sp>
        <p:nvSpPr>
          <p:cNvPr id="8" name="TextBox 7">
            <a:extLst>
              <a:ext uri="{FF2B5EF4-FFF2-40B4-BE49-F238E27FC236}">
                <a16:creationId xmlns:a16="http://schemas.microsoft.com/office/drawing/2014/main" id="{C949576F-C63C-2E68-CF6A-31C1D391773B}"/>
              </a:ext>
            </a:extLst>
          </p:cNvPr>
          <p:cNvSpPr txBox="1"/>
          <p:nvPr/>
        </p:nvSpPr>
        <p:spPr>
          <a:xfrm>
            <a:off x="762000" y="6172200"/>
            <a:ext cx="990600" cy="369332"/>
          </a:xfrm>
          <a:prstGeom prst="rect">
            <a:avLst/>
          </a:prstGeom>
          <a:noFill/>
        </p:spPr>
        <p:txBody>
          <a:bodyPr wrap="square" rtlCol="0">
            <a:spAutoFit/>
          </a:bodyPr>
          <a:lstStyle/>
          <a:p>
            <a:r>
              <a:rPr lang="en-US" dirty="0"/>
              <a:t>Fig.4</a:t>
            </a:r>
            <a:endParaRPr lang="en-IN"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77288" y="756030"/>
            <a:ext cx="1808480" cy="530225"/>
          </a:xfrm>
          <a:prstGeom prst="rect">
            <a:avLst/>
          </a:prstGeom>
        </p:spPr>
        <p:txBody>
          <a:bodyPr vert="horz" wrap="square" lIns="0" tIns="13970" rIns="0" bIns="0" rtlCol="0">
            <a:spAutoFit/>
          </a:bodyPr>
          <a:lstStyle/>
          <a:p>
            <a:pPr marL="12700">
              <a:lnSpc>
                <a:spcPct val="100000"/>
              </a:lnSpc>
              <a:spcBef>
                <a:spcPts val="110"/>
              </a:spcBef>
            </a:pPr>
            <a:r>
              <a:rPr b="0" spc="-30" dirty="0">
                <a:latin typeface="Times New Roman"/>
                <a:cs typeface="Times New Roman"/>
              </a:rPr>
              <a:t>RESULTS</a:t>
            </a:r>
          </a:p>
        </p:txBody>
      </p:sp>
      <p:sp>
        <p:nvSpPr>
          <p:cNvPr id="3" name="object 3"/>
          <p:cNvSpPr txBox="1"/>
          <p:nvPr/>
        </p:nvSpPr>
        <p:spPr>
          <a:xfrm>
            <a:off x="823366" y="1923669"/>
            <a:ext cx="7618730" cy="3074035"/>
          </a:xfrm>
          <a:prstGeom prst="rect">
            <a:avLst/>
          </a:prstGeom>
        </p:spPr>
        <p:txBody>
          <a:bodyPr vert="horz" wrap="square" lIns="0" tIns="41910" rIns="0" bIns="0" rtlCol="0">
            <a:spAutoFit/>
          </a:bodyPr>
          <a:lstStyle/>
          <a:p>
            <a:pPr marL="12700" marR="5080" algn="just">
              <a:lnSpc>
                <a:spcPct val="90000"/>
              </a:lnSpc>
              <a:spcBef>
                <a:spcPts val="330"/>
              </a:spcBef>
            </a:pPr>
            <a:r>
              <a:rPr sz="2000" dirty="0">
                <a:latin typeface="Times New Roman"/>
                <a:cs typeface="Times New Roman"/>
              </a:rPr>
              <a:t>The</a:t>
            </a:r>
            <a:r>
              <a:rPr sz="2000" spc="25" dirty="0">
                <a:latin typeface="Times New Roman"/>
                <a:cs typeface="Times New Roman"/>
              </a:rPr>
              <a:t> </a:t>
            </a:r>
            <a:r>
              <a:rPr sz="2000" dirty="0">
                <a:latin typeface="Times New Roman"/>
                <a:cs typeface="Times New Roman"/>
              </a:rPr>
              <a:t>result</a:t>
            </a:r>
            <a:r>
              <a:rPr sz="2000" spc="25" dirty="0">
                <a:latin typeface="Times New Roman"/>
                <a:cs typeface="Times New Roman"/>
              </a:rPr>
              <a:t> </a:t>
            </a:r>
            <a:r>
              <a:rPr sz="2000" dirty="0">
                <a:latin typeface="Times New Roman"/>
                <a:cs typeface="Times New Roman"/>
              </a:rPr>
              <a:t>of</a:t>
            </a:r>
            <a:r>
              <a:rPr sz="2000" spc="5" dirty="0">
                <a:latin typeface="Times New Roman"/>
                <a:cs typeface="Times New Roman"/>
              </a:rPr>
              <a:t> </a:t>
            </a:r>
            <a:r>
              <a:rPr sz="2000" dirty="0">
                <a:latin typeface="Times New Roman"/>
                <a:cs typeface="Times New Roman"/>
              </a:rPr>
              <a:t>the</a:t>
            </a:r>
            <a:r>
              <a:rPr sz="2000" spc="55" dirty="0">
                <a:latin typeface="Times New Roman"/>
                <a:cs typeface="Times New Roman"/>
              </a:rPr>
              <a:t> </a:t>
            </a:r>
            <a:r>
              <a:rPr sz="2000" dirty="0">
                <a:latin typeface="Times New Roman"/>
                <a:cs typeface="Times New Roman"/>
              </a:rPr>
              <a:t>water</a:t>
            </a:r>
            <a:r>
              <a:rPr sz="2000" spc="25" dirty="0">
                <a:latin typeface="Times New Roman"/>
                <a:cs typeface="Times New Roman"/>
              </a:rPr>
              <a:t> </a:t>
            </a:r>
            <a:r>
              <a:rPr sz="2000" dirty="0">
                <a:latin typeface="Times New Roman"/>
                <a:cs typeface="Times New Roman"/>
              </a:rPr>
              <a:t>level</a:t>
            </a:r>
            <a:r>
              <a:rPr sz="2000" spc="55" dirty="0">
                <a:latin typeface="Times New Roman"/>
                <a:cs typeface="Times New Roman"/>
              </a:rPr>
              <a:t> </a:t>
            </a:r>
            <a:r>
              <a:rPr sz="2000" dirty="0">
                <a:latin typeface="Times New Roman"/>
                <a:cs typeface="Times New Roman"/>
              </a:rPr>
              <a:t>indicator</a:t>
            </a:r>
            <a:r>
              <a:rPr sz="2000" spc="35" dirty="0">
                <a:latin typeface="Times New Roman"/>
                <a:cs typeface="Times New Roman"/>
              </a:rPr>
              <a:t> </a:t>
            </a:r>
            <a:r>
              <a:rPr sz="2000" dirty="0">
                <a:latin typeface="Times New Roman"/>
                <a:cs typeface="Times New Roman"/>
              </a:rPr>
              <a:t>in</a:t>
            </a:r>
            <a:r>
              <a:rPr sz="2000" spc="15" dirty="0">
                <a:latin typeface="Times New Roman"/>
                <a:cs typeface="Times New Roman"/>
              </a:rPr>
              <a:t> </a:t>
            </a:r>
            <a:r>
              <a:rPr sz="2000" dirty="0">
                <a:latin typeface="Times New Roman"/>
                <a:cs typeface="Times New Roman"/>
              </a:rPr>
              <a:t>a</a:t>
            </a:r>
            <a:r>
              <a:rPr sz="2000" spc="25" dirty="0">
                <a:latin typeface="Times New Roman"/>
                <a:cs typeface="Times New Roman"/>
              </a:rPr>
              <a:t> </a:t>
            </a:r>
            <a:r>
              <a:rPr sz="2000" dirty="0">
                <a:latin typeface="Times New Roman"/>
                <a:cs typeface="Times New Roman"/>
              </a:rPr>
              <a:t>dam</a:t>
            </a:r>
            <a:r>
              <a:rPr sz="2000" spc="15" dirty="0">
                <a:latin typeface="Times New Roman"/>
                <a:cs typeface="Times New Roman"/>
              </a:rPr>
              <a:t> </a:t>
            </a:r>
            <a:r>
              <a:rPr sz="2000" dirty="0">
                <a:latin typeface="Times New Roman"/>
                <a:cs typeface="Times New Roman"/>
              </a:rPr>
              <a:t>using</a:t>
            </a:r>
            <a:r>
              <a:rPr sz="2000" spc="15" dirty="0">
                <a:latin typeface="Times New Roman"/>
                <a:cs typeface="Times New Roman"/>
              </a:rPr>
              <a:t> </a:t>
            </a:r>
            <a:r>
              <a:rPr sz="2000" dirty="0">
                <a:latin typeface="Times New Roman"/>
                <a:cs typeface="Times New Roman"/>
              </a:rPr>
              <a:t>an</a:t>
            </a:r>
            <a:r>
              <a:rPr sz="2000" spc="30" dirty="0">
                <a:latin typeface="Times New Roman"/>
                <a:cs typeface="Times New Roman"/>
              </a:rPr>
              <a:t> </a:t>
            </a:r>
            <a:r>
              <a:rPr sz="2000" dirty="0">
                <a:latin typeface="Times New Roman"/>
                <a:cs typeface="Times New Roman"/>
              </a:rPr>
              <a:t>ultrasonic</a:t>
            </a:r>
            <a:r>
              <a:rPr sz="2000" spc="35" dirty="0">
                <a:latin typeface="Times New Roman"/>
                <a:cs typeface="Times New Roman"/>
              </a:rPr>
              <a:t> </a:t>
            </a:r>
            <a:r>
              <a:rPr sz="2000" spc="-10" dirty="0">
                <a:latin typeface="Times New Roman"/>
                <a:cs typeface="Times New Roman"/>
              </a:rPr>
              <a:t>sensor, </a:t>
            </a:r>
            <a:r>
              <a:rPr sz="2000" dirty="0">
                <a:latin typeface="Times New Roman"/>
                <a:cs typeface="Times New Roman"/>
              </a:rPr>
              <a:t>ESP8266</a:t>
            </a:r>
            <a:r>
              <a:rPr sz="2000" spc="425" dirty="0">
                <a:latin typeface="Times New Roman"/>
                <a:cs typeface="Times New Roman"/>
              </a:rPr>
              <a:t> </a:t>
            </a:r>
            <a:r>
              <a:rPr sz="2000" dirty="0">
                <a:latin typeface="Times New Roman"/>
                <a:cs typeface="Times New Roman"/>
              </a:rPr>
              <a:t>controller,</a:t>
            </a:r>
            <a:r>
              <a:rPr sz="2000" spc="400" dirty="0">
                <a:latin typeface="Times New Roman"/>
                <a:cs typeface="Times New Roman"/>
              </a:rPr>
              <a:t> </a:t>
            </a:r>
            <a:r>
              <a:rPr sz="2000" dirty="0">
                <a:latin typeface="Times New Roman"/>
                <a:cs typeface="Times New Roman"/>
              </a:rPr>
              <a:t>and</a:t>
            </a:r>
            <a:r>
              <a:rPr sz="2000" spc="420" dirty="0">
                <a:latin typeface="Times New Roman"/>
                <a:cs typeface="Times New Roman"/>
              </a:rPr>
              <a:t> </a:t>
            </a:r>
            <a:r>
              <a:rPr sz="2000" spc="-25" dirty="0">
                <a:latin typeface="Times New Roman"/>
                <a:cs typeface="Times New Roman"/>
              </a:rPr>
              <a:t>actuator-</a:t>
            </a:r>
            <a:r>
              <a:rPr sz="2000" dirty="0">
                <a:latin typeface="Times New Roman"/>
                <a:cs typeface="Times New Roman"/>
              </a:rPr>
              <a:t>based</a:t>
            </a:r>
            <a:r>
              <a:rPr sz="2000" spc="420" dirty="0">
                <a:latin typeface="Times New Roman"/>
                <a:cs typeface="Times New Roman"/>
              </a:rPr>
              <a:t> </a:t>
            </a:r>
            <a:r>
              <a:rPr sz="2000" dirty="0">
                <a:latin typeface="Times New Roman"/>
                <a:cs typeface="Times New Roman"/>
              </a:rPr>
              <a:t>gate</a:t>
            </a:r>
            <a:r>
              <a:rPr sz="2000" spc="420" dirty="0">
                <a:latin typeface="Times New Roman"/>
                <a:cs typeface="Times New Roman"/>
              </a:rPr>
              <a:t> </a:t>
            </a:r>
            <a:r>
              <a:rPr sz="2000" dirty="0">
                <a:latin typeface="Times New Roman"/>
                <a:cs typeface="Times New Roman"/>
              </a:rPr>
              <a:t>opening</a:t>
            </a:r>
            <a:r>
              <a:rPr sz="2000" spc="409" dirty="0">
                <a:latin typeface="Times New Roman"/>
                <a:cs typeface="Times New Roman"/>
              </a:rPr>
              <a:t> </a:t>
            </a:r>
            <a:r>
              <a:rPr sz="2000" dirty="0">
                <a:latin typeface="Times New Roman"/>
                <a:cs typeface="Times New Roman"/>
              </a:rPr>
              <a:t>shows</a:t>
            </a:r>
            <a:r>
              <a:rPr sz="2000" spc="405" dirty="0">
                <a:latin typeface="Times New Roman"/>
                <a:cs typeface="Times New Roman"/>
              </a:rPr>
              <a:t> </a:t>
            </a:r>
            <a:r>
              <a:rPr sz="2000" spc="-10" dirty="0">
                <a:latin typeface="Times New Roman"/>
                <a:cs typeface="Times New Roman"/>
              </a:rPr>
              <a:t>successful </a:t>
            </a:r>
            <a:r>
              <a:rPr sz="2000" dirty="0">
                <a:latin typeface="Times New Roman"/>
                <a:cs typeface="Times New Roman"/>
              </a:rPr>
              <a:t>automation</a:t>
            </a:r>
            <a:r>
              <a:rPr sz="2000" spc="110" dirty="0">
                <a:latin typeface="Times New Roman"/>
                <a:cs typeface="Times New Roman"/>
              </a:rPr>
              <a:t>  </a:t>
            </a:r>
            <a:r>
              <a:rPr sz="2000" dirty="0">
                <a:latin typeface="Times New Roman"/>
                <a:cs typeface="Times New Roman"/>
              </a:rPr>
              <a:t>and</a:t>
            </a:r>
            <a:r>
              <a:rPr sz="2000" spc="130" dirty="0">
                <a:latin typeface="Times New Roman"/>
                <a:cs typeface="Times New Roman"/>
              </a:rPr>
              <a:t>  </a:t>
            </a:r>
            <a:r>
              <a:rPr sz="2000" dirty="0">
                <a:latin typeface="Times New Roman"/>
                <a:cs typeface="Times New Roman"/>
              </a:rPr>
              <a:t>safety</a:t>
            </a:r>
            <a:r>
              <a:rPr sz="2000" spc="120" dirty="0">
                <a:latin typeface="Times New Roman"/>
                <a:cs typeface="Times New Roman"/>
              </a:rPr>
              <a:t>  </a:t>
            </a:r>
            <a:r>
              <a:rPr sz="2000" dirty="0">
                <a:latin typeface="Times New Roman"/>
                <a:cs typeface="Times New Roman"/>
              </a:rPr>
              <a:t>in</a:t>
            </a:r>
            <a:r>
              <a:rPr sz="2000" spc="125" dirty="0">
                <a:latin typeface="Times New Roman"/>
                <a:cs typeface="Times New Roman"/>
              </a:rPr>
              <a:t>  </a:t>
            </a:r>
            <a:r>
              <a:rPr sz="2000" dirty="0">
                <a:latin typeface="Times New Roman"/>
                <a:cs typeface="Times New Roman"/>
              </a:rPr>
              <a:t>water</a:t>
            </a:r>
            <a:r>
              <a:rPr sz="2000" spc="145" dirty="0">
                <a:latin typeface="Times New Roman"/>
                <a:cs typeface="Times New Roman"/>
              </a:rPr>
              <a:t>  </a:t>
            </a:r>
            <a:r>
              <a:rPr sz="2000" dirty="0">
                <a:latin typeface="Times New Roman"/>
                <a:cs typeface="Times New Roman"/>
              </a:rPr>
              <a:t>management.</a:t>
            </a:r>
            <a:r>
              <a:rPr sz="2000" spc="125" dirty="0">
                <a:latin typeface="Times New Roman"/>
                <a:cs typeface="Times New Roman"/>
              </a:rPr>
              <a:t>  </a:t>
            </a:r>
            <a:r>
              <a:rPr sz="2000" dirty="0">
                <a:latin typeface="Times New Roman"/>
                <a:cs typeface="Times New Roman"/>
              </a:rPr>
              <a:t>The</a:t>
            </a:r>
            <a:r>
              <a:rPr sz="2000" spc="120" dirty="0">
                <a:latin typeface="Times New Roman"/>
                <a:cs typeface="Times New Roman"/>
              </a:rPr>
              <a:t>  </a:t>
            </a:r>
            <a:r>
              <a:rPr sz="2000" dirty="0">
                <a:latin typeface="Times New Roman"/>
                <a:cs typeface="Times New Roman"/>
              </a:rPr>
              <a:t>ultrasonic</a:t>
            </a:r>
            <a:r>
              <a:rPr sz="2000" spc="130" dirty="0">
                <a:latin typeface="Times New Roman"/>
                <a:cs typeface="Times New Roman"/>
              </a:rPr>
              <a:t>  </a:t>
            </a:r>
            <a:r>
              <a:rPr sz="2000" spc="-10" dirty="0">
                <a:latin typeface="Times New Roman"/>
                <a:cs typeface="Times New Roman"/>
              </a:rPr>
              <a:t>sensor </a:t>
            </a:r>
            <a:r>
              <a:rPr sz="2000" dirty="0">
                <a:latin typeface="Times New Roman"/>
                <a:cs typeface="Times New Roman"/>
              </a:rPr>
              <a:t>accurately</a:t>
            </a:r>
            <a:r>
              <a:rPr sz="2000" spc="270" dirty="0">
                <a:latin typeface="Times New Roman"/>
                <a:cs typeface="Times New Roman"/>
              </a:rPr>
              <a:t> </a:t>
            </a:r>
            <a:r>
              <a:rPr sz="2000" dirty="0">
                <a:latin typeface="Times New Roman"/>
                <a:cs typeface="Times New Roman"/>
              </a:rPr>
              <a:t>measured</a:t>
            </a:r>
            <a:r>
              <a:rPr sz="2000" spc="310" dirty="0">
                <a:latin typeface="Times New Roman"/>
                <a:cs typeface="Times New Roman"/>
              </a:rPr>
              <a:t> </a:t>
            </a:r>
            <a:r>
              <a:rPr sz="2000" dirty="0">
                <a:latin typeface="Times New Roman"/>
                <a:cs typeface="Times New Roman"/>
              </a:rPr>
              <a:t>the</a:t>
            </a:r>
            <a:r>
              <a:rPr sz="2000" spc="285" dirty="0">
                <a:latin typeface="Times New Roman"/>
                <a:cs typeface="Times New Roman"/>
              </a:rPr>
              <a:t> </a:t>
            </a:r>
            <a:r>
              <a:rPr sz="2000" dirty="0">
                <a:latin typeface="Times New Roman"/>
                <a:cs typeface="Times New Roman"/>
              </a:rPr>
              <a:t>rising</a:t>
            </a:r>
            <a:r>
              <a:rPr sz="2000" spc="295" dirty="0">
                <a:latin typeface="Times New Roman"/>
                <a:cs typeface="Times New Roman"/>
              </a:rPr>
              <a:t> </a:t>
            </a:r>
            <a:r>
              <a:rPr sz="2000" dirty="0">
                <a:latin typeface="Times New Roman"/>
                <a:cs typeface="Times New Roman"/>
              </a:rPr>
              <a:t>water</a:t>
            </a:r>
            <a:r>
              <a:rPr sz="2000" spc="300" dirty="0">
                <a:latin typeface="Times New Roman"/>
                <a:cs typeface="Times New Roman"/>
              </a:rPr>
              <a:t> </a:t>
            </a:r>
            <a:r>
              <a:rPr sz="2000" dirty="0">
                <a:latin typeface="Times New Roman"/>
                <a:cs typeface="Times New Roman"/>
              </a:rPr>
              <a:t>level,</a:t>
            </a:r>
            <a:r>
              <a:rPr sz="2000" spc="300" dirty="0">
                <a:latin typeface="Times New Roman"/>
                <a:cs typeface="Times New Roman"/>
              </a:rPr>
              <a:t> </a:t>
            </a:r>
            <a:r>
              <a:rPr sz="2000" dirty="0">
                <a:latin typeface="Times New Roman"/>
                <a:cs typeface="Times New Roman"/>
              </a:rPr>
              <a:t>and</a:t>
            </a:r>
            <a:r>
              <a:rPr sz="2000" spc="295" dirty="0">
                <a:latin typeface="Times New Roman"/>
                <a:cs typeface="Times New Roman"/>
              </a:rPr>
              <a:t> </a:t>
            </a:r>
            <a:r>
              <a:rPr sz="2000" dirty="0">
                <a:latin typeface="Times New Roman"/>
                <a:cs typeface="Times New Roman"/>
              </a:rPr>
              <a:t>the</a:t>
            </a:r>
            <a:r>
              <a:rPr sz="2000" spc="295" dirty="0">
                <a:latin typeface="Times New Roman"/>
                <a:cs typeface="Times New Roman"/>
              </a:rPr>
              <a:t> </a:t>
            </a:r>
            <a:r>
              <a:rPr sz="2000" dirty="0">
                <a:latin typeface="Times New Roman"/>
                <a:cs typeface="Times New Roman"/>
              </a:rPr>
              <a:t>ESP8266</a:t>
            </a:r>
            <a:r>
              <a:rPr sz="2000" spc="280" dirty="0">
                <a:latin typeface="Times New Roman"/>
                <a:cs typeface="Times New Roman"/>
              </a:rPr>
              <a:t> </a:t>
            </a:r>
            <a:r>
              <a:rPr sz="2000" spc="-10" dirty="0">
                <a:latin typeface="Times New Roman"/>
                <a:cs typeface="Times New Roman"/>
              </a:rPr>
              <a:t>processed </a:t>
            </a:r>
            <a:r>
              <a:rPr sz="2000" dirty="0">
                <a:latin typeface="Times New Roman"/>
                <a:cs typeface="Times New Roman"/>
              </a:rPr>
              <a:t>this</a:t>
            </a:r>
            <a:r>
              <a:rPr sz="2000" spc="110" dirty="0">
                <a:latin typeface="Times New Roman"/>
                <a:cs typeface="Times New Roman"/>
              </a:rPr>
              <a:t> </a:t>
            </a:r>
            <a:r>
              <a:rPr sz="2000" dirty="0">
                <a:latin typeface="Times New Roman"/>
                <a:cs typeface="Times New Roman"/>
              </a:rPr>
              <a:t>data</a:t>
            </a:r>
            <a:r>
              <a:rPr sz="2000" spc="135" dirty="0">
                <a:latin typeface="Times New Roman"/>
                <a:cs typeface="Times New Roman"/>
              </a:rPr>
              <a:t> </a:t>
            </a:r>
            <a:r>
              <a:rPr sz="2000" dirty="0">
                <a:latin typeface="Times New Roman"/>
                <a:cs typeface="Times New Roman"/>
              </a:rPr>
              <a:t>to</a:t>
            </a:r>
            <a:r>
              <a:rPr sz="2000" spc="135" dirty="0">
                <a:latin typeface="Times New Roman"/>
                <a:cs typeface="Times New Roman"/>
              </a:rPr>
              <a:t> </a:t>
            </a:r>
            <a:r>
              <a:rPr sz="2000" dirty="0">
                <a:latin typeface="Times New Roman"/>
                <a:cs typeface="Times New Roman"/>
              </a:rPr>
              <a:t>compare</a:t>
            </a:r>
            <a:r>
              <a:rPr sz="2000" spc="155" dirty="0">
                <a:latin typeface="Times New Roman"/>
                <a:cs typeface="Times New Roman"/>
              </a:rPr>
              <a:t> </a:t>
            </a:r>
            <a:r>
              <a:rPr sz="2000" dirty="0">
                <a:latin typeface="Times New Roman"/>
                <a:cs typeface="Times New Roman"/>
              </a:rPr>
              <a:t>with</a:t>
            </a:r>
            <a:r>
              <a:rPr sz="2000" spc="114" dirty="0">
                <a:latin typeface="Times New Roman"/>
                <a:cs typeface="Times New Roman"/>
              </a:rPr>
              <a:t> </a:t>
            </a:r>
            <a:r>
              <a:rPr sz="2000" dirty="0">
                <a:latin typeface="Times New Roman"/>
                <a:cs typeface="Times New Roman"/>
              </a:rPr>
              <a:t>predefined</a:t>
            </a:r>
            <a:r>
              <a:rPr sz="2000" spc="150" dirty="0">
                <a:latin typeface="Times New Roman"/>
                <a:cs typeface="Times New Roman"/>
              </a:rPr>
              <a:t> </a:t>
            </a:r>
            <a:r>
              <a:rPr sz="2000" dirty="0">
                <a:latin typeface="Times New Roman"/>
                <a:cs typeface="Times New Roman"/>
              </a:rPr>
              <a:t>thresholds.</a:t>
            </a:r>
            <a:r>
              <a:rPr sz="2000" spc="130" dirty="0">
                <a:latin typeface="Times New Roman"/>
                <a:cs typeface="Times New Roman"/>
              </a:rPr>
              <a:t> </a:t>
            </a:r>
            <a:r>
              <a:rPr sz="2000" dirty="0">
                <a:latin typeface="Times New Roman"/>
                <a:cs typeface="Times New Roman"/>
              </a:rPr>
              <a:t>When</a:t>
            </a:r>
            <a:r>
              <a:rPr sz="2000" spc="120" dirty="0">
                <a:latin typeface="Times New Roman"/>
                <a:cs typeface="Times New Roman"/>
              </a:rPr>
              <a:t> </a:t>
            </a:r>
            <a:r>
              <a:rPr sz="2000" dirty="0">
                <a:latin typeface="Times New Roman"/>
                <a:cs typeface="Times New Roman"/>
              </a:rPr>
              <a:t>the</a:t>
            </a:r>
            <a:r>
              <a:rPr sz="2000" spc="170" dirty="0">
                <a:latin typeface="Times New Roman"/>
                <a:cs typeface="Times New Roman"/>
              </a:rPr>
              <a:t> </a:t>
            </a:r>
            <a:r>
              <a:rPr sz="2000" dirty="0">
                <a:latin typeface="Times New Roman"/>
                <a:cs typeface="Times New Roman"/>
              </a:rPr>
              <a:t>water</a:t>
            </a:r>
            <a:r>
              <a:rPr sz="2000" spc="125" dirty="0">
                <a:latin typeface="Times New Roman"/>
                <a:cs typeface="Times New Roman"/>
              </a:rPr>
              <a:t> </a:t>
            </a:r>
            <a:r>
              <a:rPr sz="2000" spc="-10" dirty="0">
                <a:latin typeface="Times New Roman"/>
                <a:cs typeface="Times New Roman"/>
              </a:rPr>
              <a:t>crossed </a:t>
            </a:r>
            <a:r>
              <a:rPr sz="2000" dirty="0">
                <a:latin typeface="Times New Roman"/>
                <a:cs typeface="Times New Roman"/>
              </a:rPr>
              <a:t>the</a:t>
            </a:r>
            <a:r>
              <a:rPr sz="2000" spc="220" dirty="0">
                <a:latin typeface="Times New Roman"/>
                <a:cs typeface="Times New Roman"/>
              </a:rPr>
              <a:t>  </a:t>
            </a:r>
            <a:r>
              <a:rPr sz="2000" dirty="0">
                <a:latin typeface="Times New Roman"/>
                <a:cs typeface="Times New Roman"/>
              </a:rPr>
              <a:t>danger</a:t>
            </a:r>
            <a:r>
              <a:rPr sz="2000" spc="229" dirty="0">
                <a:latin typeface="Times New Roman"/>
                <a:cs typeface="Times New Roman"/>
              </a:rPr>
              <a:t>  </a:t>
            </a:r>
            <a:r>
              <a:rPr sz="2000" dirty="0">
                <a:latin typeface="Times New Roman"/>
                <a:cs typeface="Times New Roman"/>
              </a:rPr>
              <a:t>level,</a:t>
            </a:r>
            <a:r>
              <a:rPr sz="2000" spc="225" dirty="0">
                <a:latin typeface="Times New Roman"/>
                <a:cs typeface="Times New Roman"/>
              </a:rPr>
              <a:t>  </a:t>
            </a:r>
            <a:r>
              <a:rPr sz="2000" dirty="0">
                <a:latin typeface="Times New Roman"/>
                <a:cs typeface="Times New Roman"/>
              </a:rPr>
              <a:t>the</a:t>
            </a:r>
            <a:r>
              <a:rPr sz="2000" spc="220" dirty="0">
                <a:latin typeface="Times New Roman"/>
                <a:cs typeface="Times New Roman"/>
              </a:rPr>
              <a:t>  </a:t>
            </a:r>
            <a:r>
              <a:rPr sz="2000" dirty="0">
                <a:latin typeface="Times New Roman"/>
                <a:cs typeface="Times New Roman"/>
              </a:rPr>
              <a:t>actuators</a:t>
            </a:r>
            <a:r>
              <a:rPr sz="2000" spc="229" dirty="0">
                <a:latin typeface="Times New Roman"/>
                <a:cs typeface="Times New Roman"/>
              </a:rPr>
              <a:t>  </a:t>
            </a:r>
            <a:r>
              <a:rPr sz="2000" dirty="0">
                <a:latin typeface="Times New Roman"/>
                <a:cs typeface="Times New Roman"/>
              </a:rPr>
              <a:t>were</a:t>
            </a:r>
            <a:r>
              <a:rPr sz="2000" spc="225" dirty="0">
                <a:latin typeface="Times New Roman"/>
                <a:cs typeface="Times New Roman"/>
              </a:rPr>
              <a:t>  </a:t>
            </a:r>
            <a:r>
              <a:rPr sz="2000" dirty="0">
                <a:latin typeface="Times New Roman"/>
                <a:cs typeface="Times New Roman"/>
              </a:rPr>
              <a:t>activated</a:t>
            </a:r>
            <a:r>
              <a:rPr sz="2000" spc="225" dirty="0">
                <a:latin typeface="Times New Roman"/>
                <a:cs typeface="Times New Roman"/>
              </a:rPr>
              <a:t>  </a:t>
            </a:r>
            <a:r>
              <a:rPr sz="2000" dirty="0">
                <a:latin typeface="Times New Roman"/>
                <a:cs typeface="Times New Roman"/>
              </a:rPr>
              <a:t>to</a:t>
            </a:r>
            <a:r>
              <a:rPr sz="2000" spc="215" dirty="0">
                <a:latin typeface="Times New Roman"/>
                <a:cs typeface="Times New Roman"/>
              </a:rPr>
              <a:t>  </a:t>
            </a:r>
            <a:r>
              <a:rPr sz="2000" dirty="0">
                <a:latin typeface="Times New Roman"/>
                <a:cs typeface="Times New Roman"/>
              </a:rPr>
              <a:t>open</a:t>
            </a:r>
            <a:r>
              <a:rPr sz="2000" spc="220" dirty="0">
                <a:latin typeface="Times New Roman"/>
                <a:cs typeface="Times New Roman"/>
              </a:rPr>
              <a:t>  </a:t>
            </a:r>
            <a:r>
              <a:rPr sz="2000" dirty="0">
                <a:latin typeface="Times New Roman"/>
                <a:cs typeface="Times New Roman"/>
              </a:rPr>
              <a:t>the</a:t>
            </a:r>
            <a:r>
              <a:rPr sz="2000" spc="220" dirty="0">
                <a:latin typeface="Times New Roman"/>
                <a:cs typeface="Times New Roman"/>
              </a:rPr>
              <a:t>  </a:t>
            </a:r>
            <a:r>
              <a:rPr sz="2000" spc="-10" dirty="0">
                <a:latin typeface="Times New Roman"/>
                <a:cs typeface="Times New Roman"/>
              </a:rPr>
              <a:t>gates </a:t>
            </a:r>
            <a:r>
              <a:rPr sz="2000" dirty="0">
                <a:latin typeface="Times New Roman"/>
                <a:cs typeface="Times New Roman"/>
              </a:rPr>
              <a:t>automatically,</a:t>
            </a:r>
            <a:r>
              <a:rPr sz="2000" spc="380" dirty="0">
                <a:latin typeface="Times New Roman"/>
                <a:cs typeface="Times New Roman"/>
              </a:rPr>
              <a:t> </a:t>
            </a:r>
            <a:r>
              <a:rPr sz="2000" dirty="0">
                <a:latin typeface="Times New Roman"/>
                <a:cs typeface="Times New Roman"/>
              </a:rPr>
              <a:t>allowing</a:t>
            </a:r>
            <a:r>
              <a:rPr sz="2000" spc="380" dirty="0">
                <a:latin typeface="Times New Roman"/>
                <a:cs typeface="Times New Roman"/>
              </a:rPr>
              <a:t> </a:t>
            </a:r>
            <a:r>
              <a:rPr sz="2000" dirty="0">
                <a:latin typeface="Times New Roman"/>
                <a:cs typeface="Times New Roman"/>
              </a:rPr>
              <a:t>controlled</a:t>
            </a:r>
            <a:r>
              <a:rPr sz="2000" spc="385" dirty="0">
                <a:latin typeface="Times New Roman"/>
                <a:cs typeface="Times New Roman"/>
              </a:rPr>
              <a:t> </a:t>
            </a:r>
            <a:r>
              <a:rPr sz="2000" dirty="0">
                <a:latin typeface="Times New Roman"/>
                <a:cs typeface="Times New Roman"/>
              </a:rPr>
              <a:t>release</a:t>
            </a:r>
            <a:r>
              <a:rPr sz="2000" spc="370" dirty="0">
                <a:latin typeface="Times New Roman"/>
                <a:cs typeface="Times New Roman"/>
              </a:rPr>
              <a:t> </a:t>
            </a:r>
            <a:r>
              <a:rPr sz="2000" dirty="0">
                <a:latin typeface="Times New Roman"/>
                <a:cs typeface="Times New Roman"/>
              </a:rPr>
              <a:t>of</a:t>
            </a:r>
            <a:r>
              <a:rPr sz="2000" spc="370" dirty="0">
                <a:latin typeface="Times New Roman"/>
                <a:cs typeface="Times New Roman"/>
              </a:rPr>
              <a:t> </a:t>
            </a:r>
            <a:r>
              <a:rPr sz="2000" dirty="0">
                <a:latin typeface="Times New Roman"/>
                <a:cs typeface="Times New Roman"/>
              </a:rPr>
              <a:t>excess</a:t>
            </a:r>
            <a:r>
              <a:rPr sz="2000" spc="400" dirty="0">
                <a:latin typeface="Times New Roman"/>
                <a:cs typeface="Times New Roman"/>
              </a:rPr>
              <a:t> </a:t>
            </a:r>
            <a:r>
              <a:rPr sz="2000" dirty="0">
                <a:latin typeface="Times New Roman"/>
                <a:cs typeface="Times New Roman"/>
              </a:rPr>
              <a:t>water.</a:t>
            </a:r>
            <a:r>
              <a:rPr sz="2000" spc="370" dirty="0">
                <a:latin typeface="Times New Roman"/>
                <a:cs typeface="Times New Roman"/>
              </a:rPr>
              <a:t> </a:t>
            </a:r>
            <a:r>
              <a:rPr sz="2000" dirty="0">
                <a:latin typeface="Times New Roman"/>
                <a:cs typeface="Times New Roman"/>
              </a:rPr>
              <a:t>The</a:t>
            </a:r>
            <a:r>
              <a:rPr sz="2000" spc="390" dirty="0">
                <a:latin typeface="Times New Roman"/>
                <a:cs typeface="Times New Roman"/>
              </a:rPr>
              <a:t> </a:t>
            </a:r>
            <a:r>
              <a:rPr sz="2000" spc="-10" dirty="0">
                <a:latin typeface="Times New Roman"/>
                <a:cs typeface="Times New Roman"/>
              </a:rPr>
              <a:t>system </a:t>
            </a:r>
            <a:r>
              <a:rPr sz="2000" dirty="0">
                <a:latin typeface="Times New Roman"/>
                <a:cs typeface="Times New Roman"/>
              </a:rPr>
              <a:t>responded</a:t>
            </a:r>
            <a:r>
              <a:rPr sz="2000" spc="484" dirty="0">
                <a:latin typeface="Times New Roman"/>
                <a:cs typeface="Times New Roman"/>
              </a:rPr>
              <a:t>  </a:t>
            </a:r>
            <a:r>
              <a:rPr sz="2000" dirty="0">
                <a:latin typeface="Times New Roman"/>
                <a:cs typeface="Times New Roman"/>
              </a:rPr>
              <a:t>quickly,</a:t>
            </a:r>
            <a:r>
              <a:rPr sz="2000" spc="165" dirty="0">
                <a:latin typeface="Times New Roman"/>
                <a:cs typeface="Times New Roman"/>
              </a:rPr>
              <a:t>   </a:t>
            </a:r>
            <a:r>
              <a:rPr sz="2000" dirty="0">
                <a:latin typeface="Times New Roman"/>
                <a:cs typeface="Times New Roman"/>
              </a:rPr>
              <a:t>preventing</a:t>
            </a:r>
            <a:r>
              <a:rPr sz="2000" spc="495" dirty="0">
                <a:latin typeface="Times New Roman"/>
                <a:cs typeface="Times New Roman"/>
              </a:rPr>
              <a:t>  </a:t>
            </a:r>
            <a:r>
              <a:rPr sz="2000" dirty="0">
                <a:latin typeface="Times New Roman"/>
                <a:cs typeface="Times New Roman"/>
              </a:rPr>
              <a:t>overflow</a:t>
            </a:r>
            <a:r>
              <a:rPr sz="2000" spc="484" dirty="0">
                <a:latin typeface="Times New Roman"/>
                <a:cs typeface="Times New Roman"/>
              </a:rPr>
              <a:t>  </a:t>
            </a:r>
            <a:r>
              <a:rPr sz="2000" dirty="0">
                <a:latin typeface="Times New Roman"/>
                <a:cs typeface="Times New Roman"/>
              </a:rPr>
              <a:t>and</a:t>
            </a:r>
            <a:r>
              <a:rPr sz="2000" spc="165" dirty="0">
                <a:latin typeface="Times New Roman"/>
                <a:cs typeface="Times New Roman"/>
              </a:rPr>
              <a:t>   </a:t>
            </a:r>
            <a:r>
              <a:rPr sz="2000" dirty="0">
                <a:latin typeface="Times New Roman"/>
                <a:cs typeface="Times New Roman"/>
              </a:rPr>
              <a:t>potential</a:t>
            </a:r>
            <a:r>
              <a:rPr sz="2000" spc="165" dirty="0">
                <a:latin typeface="Times New Roman"/>
                <a:cs typeface="Times New Roman"/>
              </a:rPr>
              <a:t>   </a:t>
            </a:r>
            <a:r>
              <a:rPr sz="2000" spc="-10" dirty="0">
                <a:latin typeface="Times New Roman"/>
                <a:cs typeface="Times New Roman"/>
              </a:rPr>
              <a:t>flooding. </a:t>
            </a:r>
            <a:r>
              <a:rPr sz="2000" dirty="0">
                <a:latin typeface="Times New Roman"/>
                <a:cs typeface="Times New Roman"/>
              </a:rPr>
              <a:t>Additionally,</a:t>
            </a:r>
            <a:r>
              <a:rPr sz="2000" spc="385" dirty="0">
                <a:latin typeface="Times New Roman"/>
                <a:cs typeface="Times New Roman"/>
              </a:rPr>
              <a:t> </a:t>
            </a:r>
            <a:r>
              <a:rPr sz="2000" dirty="0">
                <a:latin typeface="Times New Roman"/>
                <a:cs typeface="Times New Roman"/>
              </a:rPr>
              <a:t>IoT</a:t>
            </a:r>
            <a:r>
              <a:rPr sz="2000" spc="345" dirty="0">
                <a:latin typeface="Times New Roman"/>
                <a:cs typeface="Times New Roman"/>
              </a:rPr>
              <a:t> </a:t>
            </a:r>
            <a:r>
              <a:rPr sz="2000" dirty="0">
                <a:latin typeface="Times New Roman"/>
                <a:cs typeface="Times New Roman"/>
              </a:rPr>
              <a:t>connectivity</a:t>
            </a:r>
            <a:r>
              <a:rPr sz="2000" spc="360" dirty="0">
                <a:latin typeface="Times New Roman"/>
                <a:cs typeface="Times New Roman"/>
              </a:rPr>
              <a:t> </a:t>
            </a:r>
            <a:r>
              <a:rPr sz="2000" dirty="0">
                <a:latin typeface="Times New Roman"/>
                <a:cs typeface="Times New Roman"/>
              </a:rPr>
              <a:t>enabled</a:t>
            </a:r>
            <a:r>
              <a:rPr sz="2000" spc="400" dirty="0">
                <a:latin typeface="Times New Roman"/>
                <a:cs typeface="Times New Roman"/>
              </a:rPr>
              <a:t> </a:t>
            </a:r>
            <a:r>
              <a:rPr sz="2000" spc="-10" dirty="0">
                <a:latin typeface="Times New Roman"/>
                <a:cs typeface="Times New Roman"/>
              </a:rPr>
              <a:t>real-</a:t>
            </a:r>
            <a:r>
              <a:rPr sz="2000" dirty="0">
                <a:latin typeface="Times New Roman"/>
                <a:cs typeface="Times New Roman"/>
              </a:rPr>
              <a:t>time</a:t>
            </a:r>
            <a:r>
              <a:rPr sz="2000" spc="409" dirty="0">
                <a:latin typeface="Times New Roman"/>
                <a:cs typeface="Times New Roman"/>
              </a:rPr>
              <a:t> </a:t>
            </a:r>
            <a:r>
              <a:rPr sz="2000" dirty="0">
                <a:latin typeface="Times New Roman"/>
                <a:cs typeface="Times New Roman"/>
              </a:rPr>
              <a:t>monitoring</a:t>
            </a:r>
            <a:r>
              <a:rPr sz="2000" spc="380" dirty="0">
                <a:latin typeface="Times New Roman"/>
                <a:cs typeface="Times New Roman"/>
              </a:rPr>
              <a:t> </a:t>
            </a:r>
            <a:r>
              <a:rPr sz="2000" dirty="0">
                <a:latin typeface="Times New Roman"/>
                <a:cs typeface="Times New Roman"/>
              </a:rPr>
              <a:t>and</a:t>
            </a:r>
            <a:r>
              <a:rPr sz="2000" spc="395" dirty="0">
                <a:latin typeface="Times New Roman"/>
                <a:cs typeface="Times New Roman"/>
              </a:rPr>
              <a:t> </a:t>
            </a:r>
            <a:r>
              <a:rPr sz="2000" spc="-10" dirty="0">
                <a:latin typeface="Times New Roman"/>
                <a:cs typeface="Times New Roman"/>
              </a:rPr>
              <a:t>alerts, </a:t>
            </a:r>
            <a:r>
              <a:rPr sz="2000" dirty="0">
                <a:latin typeface="Times New Roman"/>
                <a:cs typeface="Times New Roman"/>
              </a:rPr>
              <a:t>ensuring</a:t>
            </a:r>
            <a:r>
              <a:rPr sz="2000" spc="270" dirty="0">
                <a:latin typeface="Times New Roman"/>
                <a:cs typeface="Times New Roman"/>
              </a:rPr>
              <a:t> </a:t>
            </a:r>
            <a:r>
              <a:rPr sz="2000" dirty="0">
                <a:latin typeface="Times New Roman"/>
                <a:cs typeface="Times New Roman"/>
              </a:rPr>
              <a:t>reliability,</a:t>
            </a:r>
            <a:r>
              <a:rPr sz="2000" spc="295" dirty="0">
                <a:latin typeface="Times New Roman"/>
                <a:cs typeface="Times New Roman"/>
              </a:rPr>
              <a:t> </a:t>
            </a:r>
            <a:r>
              <a:rPr sz="2000" dirty="0">
                <a:latin typeface="Times New Roman"/>
                <a:cs typeface="Times New Roman"/>
              </a:rPr>
              <a:t>reducing</a:t>
            </a:r>
            <a:r>
              <a:rPr sz="2000" spc="285" dirty="0">
                <a:latin typeface="Times New Roman"/>
                <a:cs typeface="Times New Roman"/>
              </a:rPr>
              <a:t> </a:t>
            </a:r>
            <a:r>
              <a:rPr sz="2000" dirty="0">
                <a:latin typeface="Times New Roman"/>
                <a:cs typeface="Times New Roman"/>
              </a:rPr>
              <a:t>manual</a:t>
            </a:r>
            <a:r>
              <a:rPr sz="2000" spc="295" dirty="0">
                <a:latin typeface="Times New Roman"/>
                <a:cs typeface="Times New Roman"/>
              </a:rPr>
              <a:t> </a:t>
            </a:r>
            <a:r>
              <a:rPr sz="2000" dirty="0">
                <a:latin typeface="Times New Roman"/>
                <a:cs typeface="Times New Roman"/>
              </a:rPr>
              <a:t>effort,</a:t>
            </a:r>
            <a:r>
              <a:rPr sz="2000" spc="300" dirty="0">
                <a:latin typeface="Times New Roman"/>
                <a:cs typeface="Times New Roman"/>
              </a:rPr>
              <a:t> </a:t>
            </a:r>
            <a:r>
              <a:rPr sz="2000" dirty="0">
                <a:latin typeface="Times New Roman"/>
                <a:cs typeface="Times New Roman"/>
              </a:rPr>
              <a:t>and</a:t>
            </a:r>
            <a:r>
              <a:rPr sz="2000" spc="300" dirty="0">
                <a:latin typeface="Times New Roman"/>
                <a:cs typeface="Times New Roman"/>
              </a:rPr>
              <a:t> </a:t>
            </a:r>
            <a:r>
              <a:rPr sz="2000" dirty="0">
                <a:latin typeface="Times New Roman"/>
                <a:cs typeface="Times New Roman"/>
              </a:rPr>
              <a:t>improving</a:t>
            </a:r>
            <a:r>
              <a:rPr sz="2000" spc="310" dirty="0">
                <a:latin typeface="Times New Roman"/>
                <a:cs typeface="Times New Roman"/>
              </a:rPr>
              <a:t> </a:t>
            </a:r>
            <a:r>
              <a:rPr sz="2000" dirty="0">
                <a:latin typeface="Times New Roman"/>
                <a:cs typeface="Times New Roman"/>
              </a:rPr>
              <a:t>overall</a:t>
            </a:r>
            <a:r>
              <a:rPr sz="2000" spc="295" dirty="0">
                <a:latin typeface="Times New Roman"/>
                <a:cs typeface="Times New Roman"/>
              </a:rPr>
              <a:t> </a:t>
            </a:r>
            <a:r>
              <a:rPr sz="2000" spc="-25" dirty="0">
                <a:latin typeface="Times New Roman"/>
                <a:cs typeface="Times New Roman"/>
              </a:rPr>
              <a:t>dam </a:t>
            </a:r>
            <a:r>
              <a:rPr sz="2000" dirty="0">
                <a:latin typeface="Times New Roman"/>
                <a:cs typeface="Times New Roman"/>
              </a:rPr>
              <a:t>management</a:t>
            </a:r>
            <a:r>
              <a:rPr sz="2000" spc="-80" dirty="0">
                <a:latin typeface="Times New Roman"/>
                <a:cs typeface="Times New Roman"/>
              </a:rPr>
              <a:t> </a:t>
            </a:r>
            <a:r>
              <a:rPr sz="2000" spc="-10" dirty="0">
                <a:latin typeface="Times New Roman"/>
                <a:cs typeface="Times New Roman"/>
              </a:rPr>
              <a:t>efficiency.</a:t>
            </a:r>
            <a:endParaRPr sz="2000">
              <a:latin typeface="Times New Roman"/>
              <a:cs typeface="Times New Roman"/>
            </a:endParaRPr>
          </a:p>
        </p:txBody>
      </p:sp>
      <p:pic>
        <p:nvPicPr>
          <p:cNvPr id="4" name="object 4"/>
          <p:cNvPicPr/>
          <p:nvPr/>
        </p:nvPicPr>
        <p:blipFill>
          <a:blip r:embed="rId2" cstate="print"/>
          <a:stretch>
            <a:fillRect/>
          </a:stretch>
        </p:blipFill>
        <p:spPr>
          <a:xfrm>
            <a:off x="274320" y="219456"/>
            <a:ext cx="981456" cy="1100328"/>
          </a:xfrm>
          <a:prstGeom prst="rect">
            <a:avLst/>
          </a:prstGeom>
        </p:spPr>
      </p:pic>
      <p:pic>
        <p:nvPicPr>
          <p:cNvPr id="5" name="object 5"/>
          <p:cNvPicPr/>
          <p:nvPr/>
        </p:nvPicPr>
        <p:blipFill>
          <a:blip r:embed="rId3" cstate="print"/>
          <a:stretch>
            <a:fillRect/>
          </a:stretch>
        </p:blipFill>
        <p:spPr>
          <a:xfrm>
            <a:off x="7818119" y="103631"/>
            <a:ext cx="1051559" cy="1100328"/>
          </a:xfrm>
          <a:prstGeom prst="rect">
            <a:avLst/>
          </a:prstGeom>
        </p:spPr>
      </p:pic>
      <p:sp>
        <p:nvSpPr>
          <p:cNvPr id="6" name="object 6"/>
          <p:cNvSpPr txBox="1">
            <a:spLocks noGrp="1"/>
          </p:cNvSpPr>
          <p:nvPr>
            <p:ph type="ftr" sz="quarter" idx="5"/>
          </p:nvPr>
        </p:nvSpPr>
        <p:spPr>
          <a:prstGeom prst="rect">
            <a:avLst/>
          </a:prstGeom>
        </p:spPr>
        <p:txBody>
          <a:bodyPr vert="horz" wrap="square" lIns="0" tIns="3175" rIns="0" bIns="0" rtlCol="0">
            <a:spAutoFit/>
          </a:bodyPr>
          <a:lstStyle/>
          <a:p>
            <a:pPr marL="201295">
              <a:lnSpc>
                <a:spcPct val="100000"/>
              </a:lnSpc>
              <a:spcBef>
                <a:spcPts val="25"/>
              </a:spcBef>
            </a:pPr>
            <a:r>
              <a:rPr sz="900" b="0" dirty="0">
                <a:solidFill>
                  <a:srgbClr val="888888"/>
                </a:solidFill>
                <a:latin typeface="Arial MT"/>
                <a:cs typeface="Arial MT"/>
              </a:rPr>
              <a:t>Dept.</a:t>
            </a:r>
            <a:r>
              <a:rPr sz="900" b="0" spc="-10" dirty="0">
                <a:solidFill>
                  <a:srgbClr val="888888"/>
                </a:solidFill>
                <a:latin typeface="Arial MT"/>
                <a:cs typeface="Arial MT"/>
              </a:rPr>
              <a:t> </a:t>
            </a:r>
            <a:r>
              <a:rPr sz="900" b="0" dirty="0">
                <a:solidFill>
                  <a:srgbClr val="888888"/>
                </a:solidFill>
                <a:latin typeface="Arial MT"/>
                <a:cs typeface="Arial MT"/>
              </a:rPr>
              <a:t>of</a:t>
            </a:r>
            <a:r>
              <a:rPr sz="900" b="0" spc="-5" dirty="0">
                <a:solidFill>
                  <a:srgbClr val="888888"/>
                </a:solidFill>
                <a:latin typeface="Arial MT"/>
                <a:cs typeface="Arial MT"/>
              </a:rPr>
              <a:t> </a:t>
            </a:r>
            <a:r>
              <a:rPr sz="900" b="0" dirty="0">
                <a:solidFill>
                  <a:srgbClr val="888888"/>
                </a:solidFill>
                <a:latin typeface="Arial MT"/>
                <a:cs typeface="Arial MT"/>
              </a:rPr>
              <a:t>ECE</a:t>
            </a:r>
            <a:r>
              <a:rPr sz="900" b="0" spc="-20" dirty="0">
                <a:solidFill>
                  <a:srgbClr val="888888"/>
                </a:solidFill>
                <a:latin typeface="Arial MT"/>
                <a:cs typeface="Arial MT"/>
              </a:rPr>
              <a:t> </a:t>
            </a:r>
            <a:r>
              <a:rPr sz="900" b="0" dirty="0">
                <a:solidFill>
                  <a:srgbClr val="888888"/>
                </a:solidFill>
                <a:latin typeface="Arial MT"/>
                <a:cs typeface="Arial MT"/>
              </a:rPr>
              <a:t>2025-</a:t>
            </a:r>
            <a:r>
              <a:rPr sz="900" b="0" spc="-25" dirty="0">
                <a:solidFill>
                  <a:srgbClr val="888888"/>
                </a:solidFill>
                <a:latin typeface="Arial MT"/>
                <a:cs typeface="Arial MT"/>
              </a:rPr>
              <a:t>26</a:t>
            </a:r>
            <a:endParaRPr sz="900">
              <a:latin typeface="Arial MT"/>
              <a:cs typeface="Arial MT"/>
            </a:endParaRPr>
          </a:p>
        </p:txBody>
      </p:sp>
      <p:sp>
        <p:nvSpPr>
          <p:cNvPr id="7" name="object 7"/>
          <p:cNvSpPr txBox="1">
            <a:spLocks noGrp="1"/>
          </p:cNvSpPr>
          <p:nvPr>
            <p:ph type="sldNum" sz="quarter" idx="7"/>
          </p:nvPr>
        </p:nvSpPr>
        <p:spPr>
          <a:prstGeom prst="rect">
            <a:avLst/>
          </a:prstGeom>
        </p:spPr>
        <p:txBody>
          <a:bodyPr vert="horz" wrap="square" lIns="0" tIns="3175" rIns="0" bIns="0" rtlCol="0">
            <a:spAutoFit/>
          </a:bodyPr>
          <a:lstStyle/>
          <a:p>
            <a:pPr marL="62230">
              <a:lnSpc>
                <a:spcPct val="100000"/>
              </a:lnSpc>
              <a:spcBef>
                <a:spcPts val="25"/>
              </a:spcBef>
            </a:pPr>
            <a:fld id="{81D60167-4931-47E6-BA6A-407CBD079E47}" type="slidenum">
              <a:rPr sz="900" b="0" spc="-25" dirty="0">
                <a:solidFill>
                  <a:srgbClr val="888888"/>
                </a:solidFill>
                <a:latin typeface="Arial MT"/>
                <a:cs typeface="Arial MT"/>
              </a:rPr>
              <a:t>20</a:t>
            </a:fld>
            <a:endParaRPr sz="900">
              <a:latin typeface="Arial MT"/>
              <a:cs typeface="Arial M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74320" y="219456"/>
            <a:ext cx="981456" cy="1100328"/>
          </a:xfrm>
          <a:prstGeom prst="rect">
            <a:avLst/>
          </a:prstGeom>
        </p:spPr>
      </p:pic>
      <p:pic>
        <p:nvPicPr>
          <p:cNvPr id="3" name="object 3"/>
          <p:cNvPicPr/>
          <p:nvPr/>
        </p:nvPicPr>
        <p:blipFill>
          <a:blip r:embed="rId3" cstate="print"/>
          <a:stretch>
            <a:fillRect/>
          </a:stretch>
        </p:blipFill>
        <p:spPr>
          <a:xfrm>
            <a:off x="7818119" y="103631"/>
            <a:ext cx="1051559" cy="1100328"/>
          </a:xfrm>
          <a:prstGeom prst="rect">
            <a:avLst/>
          </a:prstGeom>
        </p:spPr>
      </p:pic>
      <p:sp>
        <p:nvSpPr>
          <p:cNvPr id="4" name="object 4"/>
          <p:cNvSpPr txBox="1">
            <a:spLocks noGrp="1"/>
          </p:cNvSpPr>
          <p:nvPr>
            <p:ph type="title"/>
          </p:nvPr>
        </p:nvSpPr>
        <p:spPr>
          <a:prstGeom prst="rect">
            <a:avLst/>
          </a:prstGeom>
        </p:spPr>
        <p:txBody>
          <a:bodyPr vert="horz" wrap="square" lIns="0" tIns="460883" rIns="0" bIns="0" rtlCol="0">
            <a:spAutoFit/>
          </a:bodyPr>
          <a:lstStyle/>
          <a:p>
            <a:pPr marL="144780">
              <a:lnSpc>
                <a:spcPct val="100000"/>
              </a:lnSpc>
              <a:spcBef>
                <a:spcPts val="115"/>
              </a:spcBef>
            </a:pPr>
            <a:r>
              <a:rPr b="0" spc="-70" dirty="0">
                <a:latin typeface="Times New Roman"/>
                <a:cs typeface="Times New Roman"/>
              </a:rPr>
              <a:t>PARAMETERS(WATER</a:t>
            </a:r>
            <a:r>
              <a:rPr b="0" spc="-100" dirty="0">
                <a:latin typeface="Times New Roman"/>
                <a:cs typeface="Times New Roman"/>
              </a:rPr>
              <a:t> </a:t>
            </a:r>
            <a:r>
              <a:rPr b="0" spc="-10" dirty="0">
                <a:latin typeface="Times New Roman"/>
                <a:cs typeface="Times New Roman"/>
              </a:rPr>
              <a:t>LEVEL)</a:t>
            </a:r>
          </a:p>
        </p:txBody>
      </p:sp>
      <p:sp>
        <p:nvSpPr>
          <p:cNvPr id="6" name="object 6"/>
          <p:cNvSpPr txBox="1">
            <a:spLocks noGrp="1"/>
          </p:cNvSpPr>
          <p:nvPr>
            <p:ph type="ftr" sz="quarter" idx="5"/>
          </p:nvPr>
        </p:nvSpPr>
        <p:spPr>
          <a:prstGeom prst="rect">
            <a:avLst/>
          </a:prstGeom>
        </p:spPr>
        <p:txBody>
          <a:bodyPr vert="horz" wrap="square" lIns="0" tIns="3175" rIns="0" bIns="0" rtlCol="0">
            <a:spAutoFit/>
          </a:bodyPr>
          <a:lstStyle/>
          <a:p>
            <a:pPr marL="201295">
              <a:lnSpc>
                <a:spcPct val="100000"/>
              </a:lnSpc>
              <a:spcBef>
                <a:spcPts val="25"/>
              </a:spcBef>
            </a:pPr>
            <a:r>
              <a:rPr sz="900" b="0" dirty="0">
                <a:solidFill>
                  <a:srgbClr val="888888"/>
                </a:solidFill>
                <a:latin typeface="Arial MT"/>
                <a:cs typeface="Arial MT"/>
              </a:rPr>
              <a:t>Dept.</a:t>
            </a:r>
            <a:r>
              <a:rPr sz="900" b="0" spc="-10" dirty="0">
                <a:solidFill>
                  <a:srgbClr val="888888"/>
                </a:solidFill>
                <a:latin typeface="Arial MT"/>
                <a:cs typeface="Arial MT"/>
              </a:rPr>
              <a:t> </a:t>
            </a:r>
            <a:r>
              <a:rPr sz="900" b="0" dirty="0">
                <a:solidFill>
                  <a:srgbClr val="888888"/>
                </a:solidFill>
                <a:latin typeface="Arial MT"/>
                <a:cs typeface="Arial MT"/>
              </a:rPr>
              <a:t>of</a:t>
            </a:r>
            <a:r>
              <a:rPr sz="900" b="0" spc="-5" dirty="0">
                <a:solidFill>
                  <a:srgbClr val="888888"/>
                </a:solidFill>
                <a:latin typeface="Arial MT"/>
                <a:cs typeface="Arial MT"/>
              </a:rPr>
              <a:t> </a:t>
            </a:r>
            <a:r>
              <a:rPr sz="900" b="0" dirty="0">
                <a:solidFill>
                  <a:srgbClr val="888888"/>
                </a:solidFill>
                <a:latin typeface="Arial MT"/>
                <a:cs typeface="Arial MT"/>
              </a:rPr>
              <a:t>ECE</a:t>
            </a:r>
            <a:r>
              <a:rPr sz="900" b="0" spc="-20" dirty="0">
                <a:solidFill>
                  <a:srgbClr val="888888"/>
                </a:solidFill>
                <a:latin typeface="Arial MT"/>
                <a:cs typeface="Arial MT"/>
              </a:rPr>
              <a:t> </a:t>
            </a:r>
            <a:r>
              <a:rPr sz="900" b="0" dirty="0">
                <a:solidFill>
                  <a:srgbClr val="888888"/>
                </a:solidFill>
                <a:latin typeface="Arial MT"/>
                <a:cs typeface="Arial MT"/>
              </a:rPr>
              <a:t>2025-</a:t>
            </a:r>
            <a:r>
              <a:rPr sz="900" b="0" spc="-25" dirty="0">
                <a:solidFill>
                  <a:srgbClr val="888888"/>
                </a:solidFill>
                <a:latin typeface="Arial MT"/>
                <a:cs typeface="Arial MT"/>
              </a:rPr>
              <a:t>26</a:t>
            </a:r>
            <a:endParaRPr sz="900">
              <a:latin typeface="Arial MT"/>
              <a:cs typeface="Arial MT"/>
            </a:endParaRPr>
          </a:p>
        </p:txBody>
      </p:sp>
      <p:sp>
        <p:nvSpPr>
          <p:cNvPr id="7" name="object 7"/>
          <p:cNvSpPr txBox="1">
            <a:spLocks noGrp="1"/>
          </p:cNvSpPr>
          <p:nvPr>
            <p:ph type="sldNum" sz="quarter" idx="7"/>
          </p:nvPr>
        </p:nvSpPr>
        <p:spPr>
          <a:prstGeom prst="rect">
            <a:avLst/>
          </a:prstGeom>
        </p:spPr>
        <p:txBody>
          <a:bodyPr vert="horz" wrap="square" lIns="0" tIns="3175" rIns="0" bIns="0" rtlCol="0">
            <a:spAutoFit/>
          </a:bodyPr>
          <a:lstStyle/>
          <a:p>
            <a:pPr marL="62230">
              <a:lnSpc>
                <a:spcPct val="100000"/>
              </a:lnSpc>
              <a:spcBef>
                <a:spcPts val="25"/>
              </a:spcBef>
            </a:pPr>
            <a:fld id="{81D60167-4931-47E6-BA6A-407CBD079E47}" type="slidenum">
              <a:rPr sz="900" b="0" spc="-25" dirty="0">
                <a:solidFill>
                  <a:srgbClr val="888888"/>
                </a:solidFill>
                <a:latin typeface="Arial MT"/>
                <a:cs typeface="Arial MT"/>
              </a:rPr>
              <a:t>21</a:t>
            </a:fld>
            <a:endParaRPr sz="900">
              <a:latin typeface="Arial MT"/>
              <a:cs typeface="Arial MT"/>
            </a:endParaRPr>
          </a:p>
        </p:txBody>
      </p:sp>
      <p:graphicFrame>
        <p:nvGraphicFramePr>
          <p:cNvPr id="5" name="object 5"/>
          <p:cNvGraphicFramePr>
            <a:graphicFrameLocks noGrp="1"/>
          </p:cNvGraphicFramePr>
          <p:nvPr/>
        </p:nvGraphicFramePr>
        <p:xfrm>
          <a:off x="1079500" y="1946910"/>
          <a:ext cx="5821679" cy="4304665"/>
        </p:xfrm>
        <a:graphic>
          <a:graphicData uri="http://schemas.openxmlformats.org/drawingml/2006/table">
            <a:tbl>
              <a:tblPr firstRow="1" bandRow="1">
                <a:tableStyleId>{2D5ABB26-0587-4C30-8999-92F81FD0307C}</a:tableStyleId>
              </a:tblPr>
              <a:tblGrid>
                <a:gridCol w="3092450">
                  <a:extLst>
                    <a:ext uri="{9D8B030D-6E8A-4147-A177-3AD203B41FA5}">
                      <a16:colId xmlns:a16="http://schemas.microsoft.com/office/drawing/2014/main" val="20000"/>
                    </a:ext>
                  </a:extLst>
                </a:gridCol>
                <a:gridCol w="2729229">
                  <a:extLst>
                    <a:ext uri="{9D8B030D-6E8A-4147-A177-3AD203B41FA5}">
                      <a16:colId xmlns:a16="http://schemas.microsoft.com/office/drawing/2014/main" val="20001"/>
                    </a:ext>
                  </a:extLst>
                </a:gridCol>
              </a:tblGrid>
              <a:tr h="983615">
                <a:tc>
                  <a:txBody>
                    <a:bodyPr/>
                    <a:lstStyle/>
                    <a:p>
                      <a:pPr marL="91440">
                        <a:lnSpc>
                          <a:spcPct val="100000"/>
                        </a:lnSpc>
                        <a:spcBef>
                          <a:spcPts val="1870"/>
                        </a:spcBef>
                      </a:pPr>
                      <a:r>
                        <a:rPr sz="2000" b="1" spc="-55" dirty="0">
                          <a:latin typeface="Calibri"/>
                          <a:cs typeface="Calibri"/>
                        </a:rPr>
                        <a:t>WATER</a:t>
                      </a:r>
                      <a:r>
                        <a:rPr sz="2000" b="1" spc="-40" dirty="0">
                          <a:latin typeface="Calibri"/>
                          <a:cs typeface="Calibri"/>
                        </a:rPr>
                        <a:t> </a:t>
                      </a:r>
                      <a:r>
                        <a:rPr sz="2000" b="1" spc="-10" dirty="0">
                          <a:latin typeface="Calibri"/>
                          <a:cs typeface="Calibri"/>
                        </a:rPr>
                        <a:t>LEVEL/DISTANCE</a:t>
                      </a:r>
                      <a:endParaRPr sz="2000">
                        <a:latin typeface="Calibri"/>
                        <a:cs typeface="Calibri"/>
                      </a:endParaRPr>
                    </a:p>
                  </a:txBody>
                  <a:tcPr marL="0" marR="0" marT="2374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340"/>
                        </a:spcBef>
                      </a:pPr>
                      <a:endParaRPr sz="2000">
                        <a:latin typeface="Times New Roman"/>
                        <a:cs typeface="Times New Roman"/>
                      </a:endParaRPr>
                    </a:p>
                    <a:p>
                      <a:pPr marL="92710">
                        <a:lnSpc>
                          <a:spcPct val="100000"/>
                        </a:lnSpc>
                      </a:pPr>
                      <a:r>
                        <a:rPr sz="2000" b="1" spc="-10" dirty="0">
                          <a:latin typeface="Calibri"/>
                          <a:cs typeface="Calibri"/>
                        </a:rPr>
                        <a:t>OPERATIONS</a:t>
                      </a:r>
                      <a:endParaRPr sz="2000">
                        <a:latin typeface="Calibri"/>
                        <a:cs typeface="Calibri"/>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1149350">
                <a:tc>
                  <a:txBody>
                    <a:bodyPr/>
                    <a:lstStyle/>
                    <a:p>
                      <a:pPr marL="91440">
                        <a:lnSpc>
                          <a:spcPct val="100000"/>
                        </a:lnSpc>
                        <a:spcBef>
                          <a:spcPts val="240"/>
                        </a:spcBef>
                      </a:pPr>
                      <a:r>
                        <a:rPr sz="2000" dirty="0">
                          <a:latin typeface="Calibri"/>
                          <a:cs typeface="Calibri"/>
                        </a:rPr>
                        <a:t>SERVO</a:t>
                      </a:r>
                      <a:r>
                        <a:rPr sz="2000" spc="340" dirty="0">
                          <a:latin typeface="Calibri"/>
                          <a:cs typeface="Calibri"/>
                        </a:rPr>
                        <a:t> </a:t>
                      </a:r>
                      <a:r>
                        <a:rPr sz="2000" spc="-50" dirty="0">
                          <a:latin typeface="Calibri"/>
                          <a:cs typeface="Calibri"/>
                        </a:rPr>
                        <a:t>1</a:t>
                      </a:r>
                      <a:endParaRPr sz="2000">
                        <a:latin typeface="Calibri"/>
                        <a:cs typeface="Calibri"/>
                      </a:endParaRPr>
                    </a:p>
                    <a:p>
                      <a:pPr>
                        <a:lnSpc>
                          <a:spcPct val="100000"/>
                        </a:lnSpc>
                        <a:spcBef>
                          <a:spcPts val="105"/>
                        </a:spcBef>
                      </a:pPr>
                      <a:endParaRPr sz="2000">
                        <a:latin typeface="Times New Roman"/>
                        <a:cs typeface="Times New Roman"/>
                      </a:endParaRPr>
                    </a:p>
                    <a:p>
                      <a:pPr marL="91440">
                        <a:lnSpc>
                          <a:spcPct val="100000"/>
                        </a:lnSpc>
                      </a:pPr>
                      <a:r>
                        <a:rPr sz="2000" dirty="0">
                          <a:latin typeface="Calibri"/>
                          <a:cs typeface="Calibri"/>
                        </a:rPr>
                        <a:t>15</a:t>
                      </a:r>
                      <a:r>
                        <a:rPr sz="2000" spc="-50" dirty="0">
                          <a:latin typeface="Calibri"/>
                          <a:cs typeface="Calibri"/>
                        </a:rPr>
                        <a:t> </a:t>
                      </a:r>
                      <a:r>
                        <a:rPr sz="2000" dirty="0">
                          <a:latin typeface="Calibri"/>
                          <a:cs typeface="Calibri"/>
                        </a:rPr>
                        <a:t>TO</a:t>
                      </a:r>
                      <a:r>
                        <a:rPr sz="2000" spc="-40" dirty="0">
                          <a:latin typeface="Calibri"/>
                          <a:cs typeface="Calibri"/>
                        </a:rPr>
                        <a:t> </a:t>
                      </a:r>
                      <a:r>
                        <a:rPr sz="2000" dirty="0">
                          <a:latin typeface="Calibri"/>
                          <a:cs typeface="Calibri"/>
                        </a:rPr>
                        <a:t>10</a:t>
                      </a:r>
                      <a:r>
                        <a:rPr sz="2000" spc="-45" dirty="0">
                          <a:latin typeface="Calibri"/>
                          <a:cs typeface="Calibri"/>
                        </a:rPr>
                        <a:t> </a:t>
                      </a:r>
                      <a:r>
                        <a:rPr sz="2000" spc="-25" dirty="0">
                          <a:latin typeface="Calibri"/>
                          <a:cs typeface="Calibri"/>
                        </a:rPr>
                        <a:t>CM</a:t>
                      </a:r>
                      <a:endParaRPr sz="20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1185"/>
                        </a:spcBef>
                      </a:pPr>
                      <a:endParaRPr sz="2000">
                        <a:latin typeface="Times New Roman"/>
                        <a:cs typeface="Times New Roman"/>
                      </a:endParaRPr>
                    </a:p>
                    <a:p>
                      <a:pPr marL="92710">
                        <a:lnSpc>
                          <a:spcPct val="100000"/>
                        </a:lnSpc>
                      </a:pPr>
                      <a:r>
                        <a:rPr sz="2000" spc="-25" dirty="0">
                          <a:latin typeface="Calibri"/>
                          <a:cs typeface="Calibri"/>
                        </a:rPr>
                        <a:t>GATE</a:t>
                      </a:r>
                      <a:r>
                        <a:rPr sz="2000" spc="-30" dirty="0">
                          <a:latin typeface="Calibri"/>
                          <a:cs typeface="Calibri"/>
                        </a:rPr>
                        <a:t> </a:t>
                      </a:r>
                      <a:r>
                        <a:rPr sz="2000" dirty="0">
                          <a:latin typeface="Calibri"/>
                          <a:cs typeface="Calibri"/>
                        </a:rPr>
                        <a:t>1</a:t>
                      </a:r>
                      <a:r>
                        <a:rPr sz="2000" spc="-85" dirty="0">
                          <a:latin typeface="Calibri"/>
                          <a:cs typeface="Calibri"/>
                        </a:rPr>
                        <a:t> </a:t>
                      </a:r>
                      <a:r>
                        <a:rPr sz="2000" spc="-20" dirty="0">
                          <a:latin typeface="Calibri"/>
                          <a:cs typeface="Calibri"/>
                        </a:rPr>
                        <a:t>OPEN</a:t>
                      </a:r>
                      <a:endParaRPr sz="2000">
                        <a:latin typeface="Calibri"/>
                        <a:cs typeface="Calibri"/>
                      </a:endParaRPr>
                    </a:p>
                  </a:txBody>
                  <a:tcPr marL="0" marR="0" marT="150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1085850">
                <a:tc>
                  <a:txBody>
                    <a:bodyPr/>
                    <a:lstStyle/>
                    <a:p>
                      <a:pPr marL="91440">
                        <a:lnSpc>
                          <a:spcPct val="100000"/>
                        </a:lnSpc>
                        <a:spcBef>
                          <a:spcPts val="245"/>
                        </a:spcBef>
                      </a:pPr>
                      <a:r>
                        <a:rPr sz="2000" dirty="0">
                          <a:latin typeface="Calibri"/>
                          <a:cs typeface="Calibri"/>
                        </a:rPr>
                        <a:t>SERVO</a:t>
                      </a:r>
                      <a:r>
                        <a:rPr sz="2000" spc="340" dirty="0">
                          <a:latin typeface="Calibri"/>
                          <a:cs typeface="Calibri"/>
                        </a:rPr>
                        <a:t> </a:t>
                      </a:r>
                      <a:r>
                        <a:rPr sz="2000" spc="-50" dirty="0">
                          <a:latin typeface="Calibri"/>
                          <a:cs typeface="Calibri"/>
                        </a:rPr>
                        <a:t>2</a:t>
                      </a:r>
                      <a:endParaRPr sz="2000">
                        <a:latin typeface="Calibri"/>
                        <a:cs typeface="Calibri"/>
                      </a:endParaRPr>
                    </a:p>
                    <a:p>
                      <a:pPr>
                        <a:lnSpc>
                          <a:spcPct val="100000"/>
                        </a:lnSpc>
                        <a:spcBef>
                          <a:spcPts val="105"/>
                        </a:spcBef>
                      </a:pPr>
                      <a:endParaRPr sz="2000">
                        <a:latin typeface="Times New Roman"/>
                        <a:cs typeface="Times New Roman"/>
                      </a:endParaRPr>
                    </a:p>
                    <a:p>
                      <a:pPr marL="91440">
                        <a:lnSpc>
                          <a:spcPct val="100000"/>
                        </a:lnSpc>
                      </a:pPr>
                      <a:r>
                        <a:rPr sz="2000" dirty="0">
                          <a:latin typeface="Calibri"/>
                          <a:cs typeface="Calibri"/>
                        </a:rPr>
                        <a:t>10</a:t>
                      </a:r>
                      <a:r>
                        <a:rPr sz="2000" spc="-40" dirty="0">
                          <a:latin typeface="Calibri"/>
                          <a:cs typeface="Calibri"/>
                        </a:rPr>
                        <a:t> </a:t>
                      </a:r>
                      <a:r>
                        <a:rPr sz="2000" dirty="0">
                          <a:latin typeface="Calibri"/>
                          <a:cs typeface="Calibri"/>
                        </a:rPr>
                        <a:t>TO</a:t>
                      </a:r>
                      <a:r>
                        <a:rPr sz="2000" spc="-35" dirty="0">
                          <a:latin typeface="Calibri"/>
                          <a:cs typeface="Calibri"/>
                        </a:rPr>
                        <a:t> </a:t>
                      </a:r>
                      <a:r>
                        <a:rPr sz="2000" dirty="0">
                          <a:latin typeface="Calibri"/>
                          <a:cs typeface="Calibri"/>
                        </a:rPr>
                        <a:t>5</a:t>
                      </a:r>
                      <a:r>
                        <a:rPr sz="2000" spc="-40" dirty="0">
                          <a:latin typeface="Calibri"/>
                          <a:cs typeface="Calibri"/>
                        </a:rPr>
                        <a:t> </a:t>
                      </a:r>
                      <a:r>
                        <a:rPr sz="2000" spc="-25" dirty="0">
                          <a:latin typeface="Calibri"/>
                          <a:cs typeface="Calibri"/>
                        </a:rPr>
                        <a:t>CM</a:t>
                      </a:r>
                      <a:endParaRPr sz="20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1880"/>
                        </a:spcBef>
                      </a:pPr>
                      <a:r>
                        <a:rPr sz="2000" spc="-35" dirty="0">
                          <a:latin typeface="Calibri"/>
                          <a:cs typeface="Calibri"/>
                        </a:rPr>
                        <a:t>GATE</a:t>
                      </a:r>
                      <a:r>
                        <a:rPr sz="2000" spc="-5" dirty="0">
                          <a:latin typeface="Calibri"/>
                          <a:cs typeface="Calibri"/>
                        </a:rPr>
                        <a:t> </a:t>
                      </a:r>
                      <a:r>
                        <a:rPr sz="2000" dirty="0">
                          <a:latin typeface="Calibri"/>
                          <a:cs typeface="Calibri"/>
                        </a:rPr>
                        <a:t>1and</a:t>
                      </a:r>
                      <a:r>
                        <a:rPr sz="2000" spc="-65" dirty="0">
                          <a:latin typeface="Calibri"/>
                          <a:cs typeface="Calibri"/>
                        </a:rPr>
                        <a:t> </a:t>
                      </a:r>
                      <a:r>
                        <a:rPr sz="2000" dirty="0">
                          <a:latin typeface="Calibri"/>
                          <a:cs typeface="Calibri"/>
                        </a:rPr>
                        <a:t>2</a:t>
                      </a:r>
                      <a:r>
                        <a:rPr sz="2000" spc="-35" dirty="0">
                          <a:latin typeface="Calibri"/>
                          <a:cs typeface="Calibri"/>
                        </a:rPr>
                        <a:t> </a:t>
                      </a:r>
                      <a:r>
                        <a:rPr sz="2000" spc="-20" dirty="0">
                          <a:latin typeface="Calibri"/>
                          <a:cs typeface="Calibri"/>
                        </a:rPr>
                        <a:t>OPEN</a:t>
                      </a:r>
                      <a:endParaRPr sz="2000">
                        <a:latin typeface="Calibri"/>
                        <a:cs typeface="Calibri"/>
                      </a:endParaRPr>
                    </a:p>
                  </a:txBody>
                  <a:tcPr marL="0" marR="0" marT="2387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1085850">
                <a:tc>
                  <a:txBody>
                    <a:bodyPr/>
                    <a:lstStyle/>
                    <a:p>
                      <a:pPr marL="91440">
                        <a:lnSpc>
                          <a:spcPct val="100000"/>
                        </a:lnSpc>
                        <a:spcBef>
                          <a:spcPts val="250"/>
                        </a:spcBef>
                      </a:pPr>
                      <a:r>
                        <a:rPr sz="2000" dirty="0">
                          <a:latin typeface="Calibri"/>
                          <a:cs typeface="Calibri"/>
                        </a:rPr>
                        <a:t>SERVO</a:t>
                      </a:r>
                      <a:r>
                        <a:rPr sz="2000" spc="-90" dirty="0">
                          <a:latin typeface="Calibri"/>
                          <a:cs typeface="Calibri"/>
                        </a:rPr>
                        <a:t> </a:t>
                      </a:r>
                      <a:r>
                        <a:rPr sz="2000" spc="-50" dirty="0">
                          <a:latin typeface="Calibri"/>
                          <a:cs typeface="Calibri"/>
                        </a:rPr>
                        <a:t>3</a:t>
                      </a:r>
                      <a:endParaRPr sz="2000">
                        <a:latin typeface="Calibri"/>
                        <a:cs typeface="Calibri"/>
                      </a:endParaRPr>
                    </a:p>
                    <a:p>
                      <a:pPr>
                        <a:lnSpc>
                          <a:spcPct val="100000"/>
                        </a:lnSpc>
                        <a:spcBef>
                          <a:spcPts val="100"/>
                        </a:spcBef>
                      </a:pPr>
                      <a:endParaRPr sz="2000">
                        <a:latin typeface="Times New Roman"/>
                        <a:cs typeface="Times New Roman"/>
                      </a:endParaRPr>
                    </a:p>
                    <a:p>
                      <a:pPr marL="91440">
                        <a:lnSpc>
                          <a:spcPct val="100000"/>
                        </a:lnSpc>
                      </a:pPr>
                      <a:r>
                        <a:rPr sz="2000" dirty="0">
                          <a:latin typeface="Calibri"/>
                          <a:cs typeface="Calibri"/>
                        </a:rPr>
                        <a:t>5TO</a:t>
                      </a:r>
                      <a:r>
                        <a:rPr sz="2000" spc="-55" dirty="0">
                          <a:latin typeface="Calibri"/>
                          <a:cs typeface="Calibri"/>
                        </a:rPr>
                        <a:t> </a:t>
                      </a:r>
                      <a:r>
                        <a:rPr sz="2000" dirty="0">
                          <a:latin typeface="Calibri"/>
                          <a:cs typeface="Calibri"/>
                        </a:rPr>
                        <a:t>1</a:t>
                      </a:r>
                      <a:r>
                        <a:rPr sz="2000" spc="-50" dirty="0">
                          <a:latin typeface="Calibri"/>
                          <a:cs typeface="Calibri"/>
                        </a:rPr>
                        <a:t> </a:t>
                      </a:r>
                      <a:r>
                        <a:rPr sz="2000" spc="-25" dirty="0">
                          <a:latin typeface="Calibri"/>
                          <a:cs typeface="Calibri"/>
                        </a:rPr>
                        <a:t>CM</a:t>
                      </a:r>
                      <a:endParaRPr sz="2000">
                        <a:latin typeface="Calibri"/>
                        <a:cs typeface="Calibri"/>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1880"/>
                        </a:spcBef>
                      </a:pPr>
                      <a:r>
                        <a:rPr sz="2000" spc="-35" dirty="0">
                          <a:latin typeface="Calibri"/>
                          <a:cs typeface="Calibri"/>
                        </a:rPr>
                        <a:t>GATE</a:t>
                      </a:r>
                      <a:r>
                        <a:rPr sz="2000" spc="10" dirty="0">
                          <a:latin typeface="Calibri"/>
                          <a:cs typeface="Calibri"/>
                        </a:rPr>
                        <a:t> </a:t>
                      </a:r>
                      <a:r>
                        <a:rPr sz="2000" dirty="0">
                          <a:latin typeface="Calibri"/>
                          <a:cs typeface="Calibri"/>
                        </a:rPr>
                        <a:t>1,2</a:t>
                      </a:r>
                      <a:r>
                        <a:rPr sz="2000" spc="-65" dirty="0">
                          <a:latin typeface="Calibri"/>
                          <a:cs typeface="Calibri"/>
                        </a:rPr>
                        <a:t> </a:t>
                      </a:r>
                      <a:r>
                        <a:rPr sz="2000" dirty="0">
                          <a:latin typeface="Calibri"/>
                          <a:cs typeface="Calibri"/>
                        </a:rPr>
                        <a:t>and</a:t>
                      </a:r>
                      <a:r>
                        <a:rPr sz="2000" spc="-20" dirty="0">
                          <a:latin typeface="Calibri"/>
                          <a:cs typeface="Calibri"/>
                        </a:rPr>
                        <a:t> </a:t>
                      </a:r>
                      <a:r>
                        <a:rPr sz="2000" dirty="0">
                          <a:latin typeface="Calibri"/>
                          <a:cs typeface="Calibri"/>
                        </a:rPr>
                        <a:t>3</a:t>
                      </a:r>
                      <a:r>
                        <a:rPr sz="2000" spc="-40" dirty="0">
                          <a:latin typeface="Calibri"/>
                          <a:cs typeface="Calibri"/>
                        </a:rPr>
                        <a:t> </a:t>
                      </a:r>
                      <a:r>
                        <a:rPr sz="2000" spc="-20" dirty="0">
                          <a:latin typeface="Calibri"/>
                          <a:cs typeface="Calibri"/>
                        </a:rPr>
                        <a:t>OPEN</a:t>
                      </a:r>
                      <a:endParaRPr sz="2000">
                        <a:latin typeface="Calibri"/>
                        <a:cs typeface="Calibri"/>
                      </a:endParaRPr>
                    </a:p>
                  </a:txBody>
                  <a:tcPr marL="0" marR="0" marT="2387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44424" y="1761744"/>
            <a:ext cx="4084320" cy="4029456"/>
          </a:xfrm>
          <a:prstGeom prst="rect">
            <a:avLst/>
          </a:prstGeom>
        </p:spPr>
      </p:pic>
      <p:pic>
        <p:nvPicPr>
          <p:cNvPr id="3" name="object 3"/>
          <p:cNvPicPr/>
          <p:nvPr/>
        </p:nvPicPr>
        <p:blipFill>
          <a:blip r:embed="rId3" cstate="print"/>
          <a:stretch>
            <a:fillRect/>
          </a:stretch>
        </p:blipFill>
        <p:spPr>
          <a:xfrm>
            <a:off x="344424" y="128015"/>
            <a:ext cx="981456" cy="1097279"/>
          </a:xfrm>
          <a:prstGeom prst="rect">
            <a:avLst/>
          </a:prstGeom>
        </p:spPr>
      </p:pic>
      <p:pic>
        <p:nvPicPr>
          <p:cNvPr id="4" name="object 4"/>
          <p:cNvPicPr/>
          <p:nvPr/>
        </p:nvPicPr>
        <p:blipFill>
          <a:blip r:embed="rId4" cstate="print"/>
          <a:stretch>
            <a:fillRect/>
          </a:stretch>
        </p:blipFill>
        <p:spPr>
          <a:xfrm>
            <a:off x="7818119" y="27432"/>
            <a:ext cx="1051559" cy="1100328"/>
          </a:xfrm>
          <a:prstGeom prst="rect">
            <a:avLst/>
          </a:prstGeom>
        </p:spPr>
      </p:pic>
      <p:pic>
        <p:nvPicPr>
          <p:cNvPr id="5" name="object 5"/>
          <p:cNvPicPr/>
          <p:nvPr/>
        </p:nvPicPr>
        <p:blipFill>
          <a:blip r:embed="rId5" cstate="print"/>
          <a:stretch>
            <a:fillRect/>
          </a:stretch>
        </p:blipFill>
        <p:spPr>
          <a:xfrm>
            <a:off x="4779264" y="1761744"/>
            <a:ext cx="3843528" cy="4029456"/>
          </a:xfrm>
          <a:prstGeom prst="rect">
            <a:avLst/>
          </a:prstGeom>
        </p:spPr>
      </p:pic>
      <p:sp>
        <p:nvSpPr>
          <p:cNvPr id="6" name="object 6"/>
          <p:cNvSpPr txBox="1">
            <a:spLocks noGrp="1"/>
          </p:cNvSpPr>
          <p:nvPr>
            <p:ph type="ftr" sz="quarter" idx="5"/>
          </p:nvPr>
        </p:nvSpPr>
        <p:spPr>
          <a:prstGeom prst="rect">
            <a:avLst/>
          </a:prstGeom>
        </p:spPr>
        <p:txBody>
          <a:bodyPr vert="horz" wrap="square" lIns="0" tIns="3175" rIns="0" bIns="0" rtlCol="0">
            <a:spAutoFit/>
          </a:bodyPr>
          <a:lstStyle/>
          <a:p>
            <a:pPr marL="201295">
              <a:lnSpc>
                <a:spcPct val="100000"/>
              </a:lnSpc>
              <a:spcBef>
                <a:spcPts val="25"/>
              </a:spcBef>
            </a:pPr>
            <a:r>
              <a:rPr sz="900" b="0" dirty="0">
                <a:solidFill>
                  <a:srgbClr val="888888"/>
                </a:solidFill>
                <a:latin typeface="Arial MT"/>
                <a:cs typeface="Arial MT"/>
              </a:rPr>
              <a:t>Dept.</a:t>
            </a:r>
            <a:r>
              <a:rPr sz="900" b="0" spc="-10" dirty="0">
                <a:solidFill>
                  <a:srgbClr val="888888"/>
                </a:solidFill>
                <a:latin typeface="Arial MT"/>
                <a:cs typeface="Arial MT"/>
              </a:rPr>
              <a:t> </a:t>
            </a:r>
            <a:r>
              <a:rPr sz="900" b="0" dirty="0">
                <a:solidFill>
                  <a:srgbClr val="888888"/>
                </a:solidFill>
                <a:latin typeface="Arial MT"/>
                <a:cs typeface="Arial MT"/>
              </a:rPr>
              <a:t>of</a:t>
            </a:r>
            <a:r>
              <a:rPr sz="900" b="0" spc="-5" dirty="0">
                <a:solidFill>
                  <a:srgbClr val="888888"/>
                </a:solidFill>
                <a:latin typeface="Arial MT"/>
                <a:cs typeface="Arial MT"/>
              </a:rPr>
              <a:t> </a:t>
            </a:r>
            <a:r>
              <a:rPr sz="900" b="0" dirty="0">
                <a:solidFill>
                  <a:srgbClr val="888888"/>
                </a:solidFill>
                <a:latin typeface="Arial MT"/>
                <a:cs typeface="Arial MT"/>
              </a:rPr>
              <a:t>ECE</a:t>
            </a:r>
            <a:r>
              <a:rPr sz="900" b="0" spc="-20" dirty="0">
                <a:solidFill>
                  <a:srgbClr val="888888"/>
                </a:solidFill>
                <a:latin typeface="Arial MT"/>
                <a:cs typeface="Arial MT"/>
              </a:rPr>
              <a:t> </a:t>
            </a:r>
            <a:r>
              <a:rPr sz="900" b="0" dirty="0">
                <a:solidFill>
                  <a:srgbClr val="888888"/>
                </a:solidFill>
                <a:latin typeface="Arial MT"/>
                <a:cs typeface="Arial MT"/>
              </a:rPr>
              <a:t>2025-</a:t>
            </a:r>
            <a:r>
              <a:rPr sz="900" b="0" spc="-25" dirty="0">
                <a:solidFill>
                  <a:srgbClr val="888888"/>
                </a:solidFill>
                <a:latin typeface="Arial MT"/>
                <a:cs typeface="Arial MT"/>
              </a:rPr>
              <a:t>26</a:t>
            </a:r>
            <a:endParaRPr sz="900">
              <a:latin typeface="Arial MT"/>
              <a:cs typeface="Arial MT"/>
            </a:endParaRPr>
          </a:p>
        </p:txBody>
      </p:sp>
      <p:sp>
        <p:nvSpPr>
          <p:cNvPr id="7" name="object 7"/>
          <p:cNvSpPr txBox="1">
            <a:spLocks noGrp="1"/>
          </p:cNvSpPr>
          <p:nvPr>
            <p:ph type="sldNum" sz="quarter" idx="7"/>
          </p:nvPr>
        </p:nvSpPr>
        <p:spPr>
          <a:prstGeom prst="rect">
            <a:avLst/>
          </a:prstGeom>
        </p:spPr>
        <p:txBody>
          <a:bodyPr vert="horz" wrap="square" lIns="0" tIns="3175" rIns="0" bIns="0" rtlCol="0">
            <a:spAutoFit/>
          </a:bodyPr>
          <a:lstStyle/>
          <a:p>
            <a:pPr marL="62230">
              <a:lnSpc>
                <a:spcPct val="100000"/>
              </a:lnSpc>
              <a:spcBef>
                <a:spcPts val="25"/>
              </a:spcBef>
            </a:pPr>
            <a:fld id="{81D60167-4931-47E6-BA6A-407CBD079E47}" type="slidenum">
              <a:rPr sz="900" b="0" spc="-25" dirty="0">
                <a:solidFill>
                  <a:srgbClr val="888888"/>
                </a:solidFill>
                <a:latin typeface="Arial MT"/>
                <a:cs typeface="Arial MT"/>
              </a:rPr>
              <a:t>22</a:t>
            </a:fld>
            <a:endParaRPr sz="900">
              <a:latin typeface="Arial MT"/>
              <a:cs typeface="Arial MT"/>
            </a:endParaRPr>
          </a:p>
        </p:txBody>
      </p:sp>
      <p:sp>
        <p:nvSpPr>
          <p:cNvPr id="9" name="TextBox 8">
            <a:extLst>
              <a:ext uri="{FF2B5EF4-FFF2-40B4-BE49-F238E27FC236}">
                <a16:creationId xmlns:a16="http://schemas.microsoft.com/office/drawing/2014/main" id="{4528FCA6-DC89-6097-F8DA-F0DFB3020F60}"/>
              </a:ext>
            </a:extLst>
          </p:cNvPr>
          <p:cNvSpPr txBox="1"/>
          <p:nvPr/>
        </p:nvSpPr>
        <p:spPr>
          <a:xfrm>
            <a:off x="1066800" y="6448280"/>
            <a:ext cx="1143000" cy="369332"/>
          </a:xfrm>
          <a:prstGeom prst="rect">
            <a:avLst/>
          </a:prstGeom>
          <a:noFill/>
        </p:spPr>
        <p:txBody>
          <a:bodyPr wrap="square" rtlCol="0">
            <a:spAutoFit/>
          </a:bodyPr>
          <a:lstStyle/>
          <a:p>
            <a:r>
              <a:rPr lang="en-US" dirty="0"/>
              <a:t>Fig.5</a:t>
            </a:r>
            <a:endParaRPr lang="en-IN"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44424" y="128015"/>
            <a:ext cx="981456" cy="1097279"/>
          </a:xfrm>
          <a:prstGeom prst="rect">
            <a:avLst/>
          </a:prstGeom>
        </p:spPr>
      </p:pic>
      <p:pic>
        <p:nvPicPr>
          <p:cNvPr id="3" name="object 3"/>
          <p:cNvPicPr/>
          <p:nvPr/>
        </p:nvPicPr>
        <p:blipFill>
          <a:blip r:embed="rId3" cstate="print"/>
          <a:stretch>
            <a:fillRect/>
          </a:stretch>
        </p:blipFill>
        <p:spPr>
          <a:xfrm>
            <a:off x="7818119" y="103631"/>
            <a:ext cx="1051559" cy="1100328"/>
          </a:xfrm>
          <a:prstGeom prst="rect">
            <a:avLst/>
          </a:prstGeom>
        </p:spPr>
      </p:pic>
      <p:pic>
        <p:nvPicPr>
          <p:cNvPr id="4" name="object 4"/>
          <p:cNvPicPr/>
          <p:nvPr/>
        </p:nvPicPr>
        <p:blipFill>
          <a:blip r:embed="rId4" cstate="print"/>
          <a:stretch>
            <a:fillRect/>
          </a:stretch>
        </p:blipFill>
        <p:spPr>
          <a:xfrm>
            <a:off x="533400" y="1426463"/>
            <a:ext cx="8077200" cy="4136137"/>
          </a:xfrm>
          <a:prstGeom prst="rect">
            <a:avLst/>
          </a:prstGeom>
        </p:spPr>
      </p:pic>
      <p:sp>
        <p:nvSpPr>
          <p:cNvPr id="5" name="object 5"/>
          <p:cNvSpPr txBox="1">
            <a:spLocks noGrp="1"/>
          </p:cNvSpPr>
          <p:nvPr>
            <p:ph type="ftr" sz="quarter" idx="5"/>
          </p:nvPr>
        </p:nvSpPr>
        <p:spPr>
          <a:prstGeom prst="rect">
            <a:avLst/>
          </a:prstGeom>
        </p:spPr>
        <p:txBody>
          <a:bodyPr vert="horz" wrap="square" lIns="0" tIns="3175" rIns="0" bIns="0" rtlCol="0">
            <a:spAutoFit/>
          </a:bodyPr>
          <a:lstStyle/>
          <a:p>
            <a:pPr marL="201295">
              <a:lnSpc>
                <a:spcPct val="100000"/>
              </a:lnSpc>
              <a:spcBef>
                <a:spcPts val="25"/>
              </a:spcBef>
            </a:pPr>
            <a:r>
              <a:rPr sz="900" b="0" dirty="0">
                <a:solidFill>
                  <a:srgbClr val="888888"/>
                </a:solidFill>
                <a:latin typeface="Arial MT"/>
                <a:cs typeface="Arial MT"/>
              </a:rPr>
              <a:t>Dept.</a:t>
            </a:r>
            <a:r>
              <a:rPr sz="900" b="0" spc="-10" dirty="0">
                <a:solidFill>
                  <a:srgbClr val="888888"/>
                </a:solidFill>
                <a:latin typeface="Arial MT"/>
                <a:cs typeface="Arial MT"/>
              </a:rPr>
              <a:t> </a:t>
            </a:r>
            <a:r>
              <a:rPr sz="900" b="0" dirty="0">
                <a:solidFill>
                  <a:srgbClr val="888888"/>
                </a:solidFill>
                <a:latin typeface="Arial MT"/>
                <a:cs typeface="Arial MT"/>
              </a:rPr>
              <a:t>of</a:t>
            </a:r>
            <a:r>
              <a:rPr sz="900" b="0" spc="-5" dirty="0">
                <a:solidFill>
                  <a:srgbClr val="888888"/>
                </a:solidFill>
                <a:latin typeface="Arial MT"/>
                <a:cs typeface="Arial MT"/>
              </a:rPr>
              <a:t> </a:t>
            </a:r>
            <a:r>
              <a:rPr sz="900" b="0" dirty="0">
                <a:solidFill>
                  <a:srgbClr val="888888"/>
                </a:solidFill>
                <a:latin typeface="Arial MT"/>
                <a:cs typeface="Arial MT"/>
              </a:rPr>
              <a:t>ECE</a:t>
            </a:r>
            <a:r>
              <a:rPr sz="900" b="0" spc="-20" dirty="0">
                <a:solidFill>
                  <a:srgbClr val="888888"/>
                </a:solidFill>
                <a:latin typeface="Arial MT"/>
                <a:cs typeface="Arial MT"/>
              </a:rPr>
              <a:t> </a:t>
            </a:r>
            <a:r>
              <a:rPr sz="900" b="0" dirty="0">
                <a:solidFill>
                  <a:srgbClr val="888888"/>
                </a:solidFill>
                <a:latin typeface="Arial MT"/>
                <a:cs typeface="Arial MT"/>
              </a:rPr>
              <a:t>2025-</a:t>
            </a:r>
            <a:r>
              <a:rPr sz="900" b="0" spc="-25" dirty="0">
                <a:solidFill>
                  <a:srgbClr val="888888"/>
                </a:solidFill>
                <a:latin typeface="Arial MT"/>
                <a:cs typeface="Arial MT"/>
              </a:rPr>
              <a:t>26</a:t>
            </a:r>
            <a:endParaRPr sz="900">
              <a:latin typeface="Arial MT"/>
              <a:cs typeface="Arial MT"/>
            </a:endParaRPr>
          </a:p>
        </p:txBody>
      </p:sp>
      <p:sp>
        <p:nvSpPr>
          <p:cNvPr id="6" name="object 6"/>
          <p:cNvSpPr txBox="1">
            <a:spLocks noGrp="1"/>
          </p:cNvSpPr>
          <p:nvPr>
            <p:ph type="sldNum" sz="quarter" idx="7"/>
          </p:nvPr>
        </p:nvSpPr>
        <p:spPr>
          <a:prstGeom prst="rect">
            <a:avLst/>
          </a:prstGeom>
        </p:spPr>
        <p:txBody>
          <a:bodyPr vert="horz" wrap="square" lIns="0" tIns="3175" rIns="0" bIns="0" rtlCol="0">
            <a:spAutoFit/>
          </a:bodyPr>
          <a:lstStyle/>
          <a:p>
            <a:pPr marL="62230">
              <a:lnSpc>
                <a:spcPct val="100000"/>
              </a:lnSpc>
              <a:spcBef>
                <a:spcPts val="25"/>
              </a:spcBef>
            </a:pPr>
            <a:fld id="{81D60167-4931-47E6-BA6A-407CBD079E47}" type="slidenum">
              <a:rPr sz="900" b="0" spc="-25" dirty="0">
                <a:solidFill>
                  <a:srgbClr val="888888"/>
                </a:solidFill>
                <a:latin typeface="Arial MT"/>
                <a:cs typeface="Arial MT"/>
              </a:rPr>
              <a:t>23</a:t>
            </a:fld>
            <a:endParaRPr sz="900">
              <a:latin typeface="Arial MT"/>
              <a:cs typeface="Arial MT"/>
            </a:endParaRPr>
          </a:p>
        </p:txBody>
      </p:sp>
      <p:sp>
        <p:nvSpPr>
          <p:cNvPr id="7" name="TextBox 6">
            <a:extLst>
              <a:ext uri="{FF2B5EF4-FFF2-40B4-BE49-F238E27FC236}">
                <a16:creationId xmlns:a16="http://schemas.microsoft.com/office/drawing/2014/main" id="{2391A09C-A68E-DB3B-A6C0-C1B577C45720}"/>
              </a:ext>
            </a:extLst>
          </p:cNvPr>
          <p:cNvSpPr txBox="1"/>
          <p:nvPr/>
        </p:nvSpPr>
        <p:spPr>
          <a:xfrm>
            <a:off x="838200" y="6172200"/>
            <a:ext cx="838200" cy="369332"/>
          </a:xfrm>
          <a:prstGeom prst="rect">
            <a:avLst/>
          </a:prstGeom>
          <a:noFill/>
        </p:spPr>
        <p:txBody>
          <a:bodyPr wrap="square" rtlCol="0">
            <a:spAutoFit/>
          </a:bodyPr>
          <a:lstStyle/>
          <a:p>
            <a:r>
              <a:rPr lang="en-US" dirty="0"/>
              <a:t>Fig.6</a:t>
            </a:r>
            <a:endParaRPr lang="en-IN"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44424" y="195071"/>
            <a:ext cx="981456" cy="1097279"/>
          </a:xfrm>
          <a:prstGeom prst="rect">
            <a:avLst/>
          </a:prstGeom>
        </p:spPr>
      </p:pic>
      <p:pic>
        <p:nvPicPr>
          <p:cNvPr id="3" name="object 3"/>
          <p:cNvPicPr/>
          <p:nvPr/>
        </p:nvPicPr>
        <p:blipFill>
          <a:blip r:embed="rId3" cstate="print"/>
          <a:stretch>
            <a:fillRect/>
          </a:stretch>
        </p:blipFill>
        <p:spPr>
          <a:xfrm>
            <a:off x="7818119" y="103631"/>
            <a:ext cx="1051559" cy="1100328"/>
          </a:xfrm>
          <a:prstGeom prst="rect">
            <a:avLst/>
          </a:prstGeom>
        </p:spPr>
      </p:pic>
      <p:pic>
        <p:nvPicPr>
          <p:cNvPr id="4" name="object 4"/>
          <p:cNvPicPr/>
          <p:nvPr/>
        </p:nvPicPr>
        <p:blipFill>
          <a:blip r:embed="rId4" cstate="print"/>
          <a:stretch>
            <a:fillRect/>
          </a:stretch>
        </p:blipFill>
        <p:spPr>
          <a:xfrm>
            <a:off x="533400" y="1716023"/>
            <a:ext cx="8077200" cy="3989831"/>
          </a:xfrm>
          <a:prstGeom prst="rect">
            <a:avLst/>
          </a:prstGeom>
        </p:spPr>
      </p:pic>
      <p:sp>
        <p:nvSpPr>
          <p:cNvPr id="5" name="object 5"/>
          <p:cNvSpPr txBox="1">
            <a:spLocks noGrp="1"/>
          </p:cNvSpPr>
          <p:nvPr>
            <p:ph type="ftr" sz="quarter" idx="5"/>
          </p:nvPr>
        </p:nvSpPr>
        <p:spPr>
          <a:prstGeom prst="rect">
            <a:avLst/>
          </a:prstGeom>
        </p:spPr>
        <p:txBody>
          <a:bodyPr vert="horz" wrap="square" lIns="0" tIns="3175" rIns="0" bIns="0" rtlCol="0">
            <a:spAutoFit/>
          </a:bodyPr>
          <a:lstStyle/>
          <a:p>
            <a:pPr marL="201295">
              <a:lnSpc>
                <a:spcPct val="100000"/>
              </a:lnSpc>
              <a:spcBef>
                <a:spcPts val="25"/>
              </a:spcBef>
            </a:pPr>
            <a:r>
              <a:rPr sz="900" b="0" dirty="0">
                <a:solidFill>
                  <a:srgbClr val="888888"/>
                </a:solidFill>
                <a:latin typeface="Arial MT"/>
                <a:cs typeface="Arial MT"/>
              </a:rPr>
              <a:t>Dept.</a:t>
            </a:r>
            <a:r>
              <a:rPr sz="900" b="0" spc="-10" dirty="0">
                <a:solidFill>
                  <a:srgbClr val="888888"/>
                </a:solidFill>
                <a:latin typeface="Arial MT"/>
                <a:cs typeface="Arial MT"/>
              </a:rPr>
              <a:t> </a:t>
            </a:r>
            <a:r>
              <a:rPr sz="900" b="0" dirty="0">
                <a:solidFill>
                  <a:srgbClr val="888888"/>
                </a:solidFill>
                <a:latin typeface="Arial MT"/>
                <a:cs typeface="Arial MT"/>
              </a:rPr>
              <a:t>of</a:t>
            </a:r>
            <a:r>
              <a:rPr sz="900" b="0" spc="-5" dirty="0">
                <a:solidFill>
                  <a:srgbClr val="888888"/>
                </a:solidFill>
                <a:latin typeface="Arial MT"/>
                <a:cs typeface="Arial MT"/>
              </a:rPr>
              <a:t> </a:t>
            </a:r>
            <a:r>
              <a:rPr sz="900" b="0" dirty="0">
                <a:solidFill>
                  <a:srgbClr val="888888"/>
                </a:solidFill>
                <a:latin typeface="Arial MT"/>
                <a:cs typeface="Arial MT"/>
              </a:rPr>
              <a:t>ECE</a:t>
            </a:r>
            <a:r>
              <a:rPr sz="900" b="0" spc="-20" dirty="0">
                <a:solidFill>
                  <a:srgbClr val="888888"/>
                </a:solidFill>
                <a:latin typeface="Arial MT"/>
                <a:cs typeface="Arial MT"/>
              </a:rPr>
              <a:t> </a:t>
            </a:r>
            <a:r>
              <a:rPr sz="900" b="0" dirty="0">
                <a:solidFill>
                  <a:srgbClr val="888888"/>
                </a:solidFill>
                <a:latin typeface="Arial MT"/>
                <a:cs typeface="Arial MT"/>
              </a:rPr>
              <a:t>2025-</a:t>
            </a:r>
            <a:r>
              <a:rPr sz="900" b="0" spc="-25" dirty="0">
                <a:solidFill>
                  <a:srgbClr val="888888"/>
                </a:solidFill>
                <a:latin typeface="Arial MT"/>
                <a:cs typeface="Arial MT"/>
              </a:rPr>
              <a:t>26</a:t>
            </a:r>
            <a:endParaRPr sz="900">
              <a:latin typeface="Arial MT"/>
              <a:cs typeface="Arial MT"/>
            </a:endParaRPr>
          </a:p>
        </p:txBody>
      </p:sp>
      <p:sp>
        <p:nvSpPr>
          <p:cNvPr id="6" name="object 6"/>
          <p:cNvSpPr txBox="1">
            <a:spLocks noGrp="1"/>
          </p:cNvSpPr>
          <p:nvPr>
            <p:ph type="sldNum" sz="quarter" idx="7"/>
          </p:nvPr>
        </p:nvSpPr>
        <p:spPr>
          <a:prstGeom prst="rect">
            <a:avLst/>
          </a:prstGeom>
        </p:spPr>
        <p:txBody>
          <a:bodyPr vert="horz" wrap="square" lIns="0" tIns="3175" rIns="0" bIns="0" rtlCol="0">
            <a:spAutoFit/>
          </a:bodyPr>
          <a:lstStyle/>
          <a:p>
            <a:pPr marL="62230">
              <a:lnSpc>
                <a:spcPct val="100000"/>
              </a:lnSpc>
              <a:spcBef>
                <a:spcPts val="25"/>
              </a:spcBef>
            </a:pPr>
            <a:fld id="{81D60167-4931-47E6-BA6A-407CBD079E47}" type="slidenum">
              <a:rPr sz="900" b="0" spc="-25" dirty="0">
                <a:solidFill>
                  <a:srgbClr val="888888"/>
                </a:solidFill>
                <a:latin typeface="Arial MT"/>
                <a:cs typeface="Arial MT"/>
              </a:rPr>
              <a:t>24</a:t>
            </a:fld>
            <a:endParaRPr sz="900">
              <a:latin typeface="Arial MT"/>
              <a:cs typeface="Arial MT"/>
            </a:endParaRPr>
          </a:p>
        </p:txBody>
      </p:sp>
      <p:sp>
        <p:nvSpPr>
          <p:cNvPr id="7" name="TextBox 6">
            <a:extLst>
              <a:ext uri="{FF2B5EF4-FFF2-40B4-BE49-F238E27FC236}">
                <a16:creationId xmlns:a16="http://schemas.microsoft.com/office/drawing/2014/main" id="{32CEA4B9-EADA-6903-07F9-A441615E8C43}"/>
              </a:ext>
            </a:extLst>
          </p:cNvPr>
          <p:cNvSpPr txBox="1"/>
          <p:nvPr/>
        </p:nvSpPr>
        <p:spPr>
          <a:xfrm>
            <a:off x="990600" y="6172200"/>
            <a:ext cx="1066800" cy="369332"/>
          </a:xfrm>
          <a:prstGeom prst="rect">
            <a:avLst/>
          </a:prstGeom>
          <a:noFill/>
        </p:spPr>
        <p:txBody>
          <a:bodyPr wrap="square" rtlCol="0">
            <a:spAutoFit/>
          </a:bodyPr>
          <a:lstStyle/>
          <a:p>
            <a:r>
              <a:rPr lang="en-US" dirty="0"/>
              <a:t>Fig.7</a:t>
            </a:r>
            <a:endParaRPr lang="en-IN"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40080" y="1417319"/>
            <a:ext cx="8077200" cy="4221481"/>
          </a:xfrm>
          <a:prstGeom prst="rect">
            <a:avLst/>
          </a:prstGeom>
        </p:spPr>
      </p:pic>
      <p:pic>
        <p:nvPicPr>
          <p:cNvPr id="3" name="object 3"/>
          <p:cNvPicPr/>
          <p:nvPr/>
        </p:nvPicPr>
        <p:blipFill>
          <a:blip r:embed="rId3" cstate="print"/>
          <a:stretch>
            <a:fillRect/>
          </a:stretch>
        </p:blipFill>
        <p:spPr>
          <a:xfrm>
            <a:off x="344424" y="210311"/>
            <a:ext cx="981456" cy="1097280"/>
          </a:xfrm>
          <a:prstGeom prst="rect">
            <a:avLst/>
          </a:prstGeom>
        </p:spPr>
      </p:pic>
      <p:pic>
        <p:nvPicPr>
          <p:cNvPr id="4" name="object 4"/>
          <p:cNvPicPr/>
          <p:nvPr/>
        </p:nvPicPr>
        <p:blipFill>
          <a:blip r:embed="rId4" cstate="print"/>
          <a:stretch>
            <a:fillRect/>
          </a:stretch>
        </p:blipFill>
        <p:spPr>
          <a:xfrm>
            <a:off x="7818119" y="118871"/>
            <a:ext cx="1051559" cy="1100327"/>
          </a:xfrm>
          <a:prstGeom prst="rect">
            <a:avLst/>
          </a:prstGeom>
        </p:spPr>
      </p:pic>
      <p:sp>
        <p:nvSpPr>
          <p:cNvPr id="5" name="object 5"/>
          <p:cNvSpPr txBox="1">
            <a:spLocks noGrp="1"/>
          </p:cNvSpPr>
          <p:nvPr>
            <p:ph type="ftr" sz="quarter" idx="5"/>
          </p:nvPr>
        </p:nvSpPr>
        <p:spPr>
          <a:prstGeom prst="rect">
            <a:avLst/>
          </a:prstGeom>
        </p:spPr>
        <p:txBody>
          <a:bodyPr vert="horz" wrap="square" lIns="0" tIns="3175" rIns="0" bIns="0" rtlCol="0">
            <a:spAutoFit/>
          </a:bodyPr>
          <a:lstStyle/>
          <a:p>
            <a:pPr marL="201295">
              <a:lnSpc>
                <a:spcPct val="100000"/>
              </a:lnSpc>
              <a:spcBef>
                <a:spcPts val="25"/>
              </a:spcBef>
            </a:pPr>
            <a:r>
              <a:rPr sz="900" b="0" dirty="0">
                <a:solidFill>
                  <a:srgbClr val="888888"/>
                </a:solidFill>
                <a:latin typeface="Arial MT"/>
                <a:cs typeface="Arial MT"/>
              </a:rPr>
              <a:t>Dept.</a:t>
            </a:r>
            <a:r>
              <a:rPr sz="900" b="0" spc="-10" dirty="0">
                <a:solidFill>
                  <a:srgbClr val="888888"/>
                </a:solidFill>
                <a:latin typeface="Arial MT"/>
                <a:cs typeface="Arial MT"/>
              </a:rPr>
              <a:t> </a:t>
            </a:r>
            <a:r>
              <a:rPr sz="900" b="0" dirty="0">
                <a:solidFill>
                  <a:srgbClr val="888888"/>
                </a:solidFill>
                <a:latin typeface="Arial MT"/>
                <a:cs typeface="Arial MT"/>
              </a:rPr>
              <a:t>of</a:t>
            </a:r>
            <a:r>
              <a:rPr sz="900" b="0" spc="-5" dirty="0">
                <a:solidFill>
                  <a:srgbClr val="888888"/>
                </a:solidFill>
                <a:latin typeface="Arial MT"/>
                <a:cs typeface="Arial MT"/>
              </a:rPr>
              <a:t> </a:t>
            </a:r>
            <a:r>
              <a:rPr sz="900" b="0" dirty="0">
                <a:solidFill>
                  <a:srgbClr val="888888"/>
                </a:solidFill>
                <a:latin typeface="Arial MT"/>
                <a:cs typeface="Arial MT"/>
              </a:rPr>
              <a:t>ECE</a:t>
            </a:r>
            <a:r>
              <a:rPr sz="900" b="0" spc="-20" dirty="0">
                <a:solidFill>
                  <a:srgbClr val="888888"/>
                </a:solidFill>
                <a:latin typeface="Arial MT"/>
                <a:cs typeface="Arial MT"/>
              </a:rPr>
              <a:t> </a:t>
            </a:r>
            <a:r>
              <a:rPr sz="900" b="0" dirty="0">
                <a:solidFill>
                  <a:srgbClr val="888888"/>
                </a:solidFill>
                <a:latin typeface="Arial MT"/>
                <a:cs typeface="Arial MT"/>
              </a:rPr>
              <a:t>2025-</a:t>
            </a:r>
            <a:r>
              <a:rPr sz="900" b="0" spc="-25" dirty="0">
                <a:solidFill>
                  <a:srgbClr val="888888"/>
                </a:solidFill>
                <a:latin typeface="Arial MT"/>
                <a:cs typeface="Arial MT"/>
              </a:rPr>
              <a:t>26</a:t>
            </a:r>
            <a:endParaRPr sz="900">
              <a:latin typeface="Arial MT"/>
              <a:cs typeface="Arial MT"/>
            </a:endParaRPr>
          </a:p>
        </p:txBody>
      </p:sp>
      <p:sp>
        <p:nvSpPr>
          <p:cNvPr id="6" name="object 6"/>
          <p:cNvSpPr txBox="1">
            <a:spLocks noGrp="1"/>
          </p:cNvSpPr>
          <p:nvPr>
            <p:ph type="sldNum" sz="quarter" idx="7"/>
          </p:nvPr>
        </p:nvSpPr>
        <p:spPr>
          <a:prstGeom prst="rect">
            <a:avLst/>
          </a:prstGeom>
        </p:spPr>
        <p:txBody>
          <a:bodyPr vert="horz" wrap="square" lIns="0" tIns="3175" rIns="0" bIns="0" rtlCol="0">
            <a:spAutoFit/>
          </a:bodyPr>
          <a:lstStyle/>
          <a:p>
            <a:pPr marL="62230">
              <a:lnSpc>
                <a:spcPct val="100000"/>
              </a:lnSpc>
              <a:spcBef>
                <a:spcPts val="25"/>
              </a:spcBef>
            </a:pPr>
            <a:fld id="{81D60167-4931-47E6-BA6A-407CBD079E47}" type="slidenum">
              <a:rPr sz="900" b="0" spc="-25" dirty="0">
                <a:solidFill>
                  <a:srgbClr val="888888"/>
                </a:solidFill>
                <a:latin typeface="Arial MT"/>
                <a:cs typeface="Arial MT"/>
              </a:rPr>
              <a:t>25</a:t>
            </a:fld>
            <a:endParaRPr sz="900">
              <a:latin typeface="Arial MT"/>
              <a:cs typeface="Arial MT"/>
            </a:endParaRPr>
          </a:p>
        </p:txBody>
      </p:sp>
      <p:sp>
        <p:nvSpPr>
          <p:cNvPr id="7" name="TextBox 6">
            <a:extLst>
              <a:ext uri="{FF2B5EF4-FFF2-40B4-BE49-F238E27FC236}">
                <a16:creationId xmlns:a16="http://schemas.microsoft.com/office/drawing/2014/main" id="{5280D0A0-8871-4BAD-AE45-31798A61EEED}"/>
              </a:ext>
            </a:extLst>
          </p:cNvPr>
          <p:cNvSpPr txBox="1"/>
          <p:nvPr/>
        </p:nvSpPr>
        <p:spPr>
          <a:xfrm>
            <a:off x="907920" y="6248400"/>
            <a:ext cx="1378080" cy="369332"/>
          </a:xfrm>
          <a:prstGeom prst="rect">
            <a:avLst/>
          </a:prstGeom>
          <a:noFill/>
        </p:spPr>
        <p:txBody>
          <a:bodyPr wrap="square" rtlCol="0">
            <a:spAutoFit/>
          </a:bodyPr>
          <a:lstStyle/>
          <a:p>
            <a:r>
              <a:rPr lang="en-US" dirty="0"/>
              <a:t>Fig.8</a:t>
            </a:r>
            <a:endParaRPr lang="en-IN"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60552" rIns="0" bIns="0" rtlCol="0">
            <a:spAutoFit/>
          </a:bodyPr>
          <a:lstStyle/>
          <a:p>
            <a:pPr marL="1135380">
              <a:lnSpc>
                <a:spcPct val="100000"/>
              </a:lnSpc>
              <a:spcBef>
                <a:spcPts val="110"/>
              </a:spcBef>
            </a:pPr>
            <a:r>
              <a:rPr dirty="0"/>
              <a:t>CRACK</a:t>
            </a:r>
            <a:r>
              <a:rPr spc="-50" dirty="0"/>
              <a:t> </a:t>
            </a:r>
            <a:r>
              <a:rPr spc="-10" dirty="0"/>
              <a:t>DETECTION</a:t>
            </a:r>
          </a:p>
        </p:txBody>
      </p:sp>
      <p:pic>
        <p:nvPicPr>
          <p:cNvPr id="3" name="object 3"/>
          <p:cNvPicPr/>
          <p:nvPr/>
        </p:nvPicPr>
        <p:blipFill>
          <a:blip r:embed="rId2" cstate="print"/>
          <a:stretch>
            <a:fillRect/>
          </a:stretch>
        </p:blipFill>
        <p:spPr>
          <a:xfrm>
            <a:off x="713231" y="1825751"/>
            <a:ext cx="7717535" cy="3736849"/>
          </a:xfrm>
          <a:prstGeom prst="rect">
            <a:avLst/>
          </a:prstGeom>
        </p:spPr>
      </p:pic>
      <p:pic>
        <p:nvPicPr>
          <p:cNvPr id="4" name="object 4"/>
          <p:cNvPicPr/>
          <p:nvPr/>
        </p:nvPicPr>
        <p:blipFill>
          <a:blip r:embed="rId3" cstate="print"/>
          <a:stretch>
            <a:fillRect/>
          </a:stretch>
        </p:blipFill>
        <p:spPr>
          <a:xfrm>
            <a:off x="344424" y="201168"/>
            <a:ext cx="981456" cy="1100327"/>
          </a:xfrm>
          <a:prstGeom prst="rect">
            <a:avLst/>
          </a:prstGeom>
        </p:spPr>
      </p:pic>
      <p:pic>
        <p:nvPicPr>
          <p:cNvPr id="5" name="object 5"/>
          <p:cNvPicPr/>
          <p:nvPr/>
        </p:nvPicPr>
        <p:blipFill>
          <a:blip r:embed="rId4" cstate="print"/>
          <a:stretch>
            <a:fillRect/>
          </a:stretch>
        </p:blipFill>
        <p:spPr>
          <a:xfrm>
            <a:off x="7818119" y="112776"/>
            <a:ext cx="1051559" cy="1100327"/>
          </a:xfrm>
          <a:prstGeom prst="rect">
            <a:avLst/>
          </a:prstGeom>
        </p:spPr>
      </p:pic>
      <p:sp>
        <p:nvSpPr>
          <p:cNvPr id="6" name="object 6"/>
          <p:cNvSpPr txBox="1">
            <a:spLocks noGrp="1"/>
          </p:cNvSpPr>
          <p:nvPr>
            <p:ph type="ftr" sz="quarter" idx="5"/>
          </p:nvPr>
        </p:nvSpPr>
        <p:spPr>
          <a:prstGeom prst="rect">
            <a:avLst/>
          </a:prstGeom>
        </p:spPr>
        <p:txBody>
          <a:bodyPr vert="horz" wrap="square" lIns="0" tIns="3175" rIns="0" bIns="0" rtlCol="0">
            <a:spAutoFit/>
          </a:bodyPr>
          <a:lstStyle/>
          <a:p>
            <a:pPr marL="201295">
              <a:lnSpc>
                <a:spcPct val="100000"/>
              </a:lnSpc>
              <a:spcBef>
                <a:spcPts val="25"/>
              </a:spcBef>
            </a:pPr>
            <a:r>
              <a:rPr sz="900" b="0" dirty="0">
                <a:solidFill>
                  <a:srgbClr val="888888"/>
                </a:solidFill>
                <a:latin typeface="Arial MT"/>
                <a:cs typeface="Arial MT"/>
              </a:rPr>
              <a:t>Dept.</a:t>
            </a:r>
            <a:r>
              <a:rPr sz="900" b="0" spc="-10" dirty="0">
                <a:solidFill>
                  <a:srgbClr val="888888"/>
                </a:solidFill>
                <a:latin typeface="Arial MT"/>
                <a:cs typeface="Arial MT"/>
              </a:rPr>
              <a:t> </a:t>
            </a:r>
            <a:r>
              <a:rPr sz="900" b="0" dirty="0">
                <a:solidFill>
                  <a:srgbClr val="888888"/>
                </a:solidFill>
                <a:latin typeface="Arial MT"/>
                <a:cs typeface="Arial MT"/>
              </a:rPr>
              <a:t>of</a:t>
            </a:r>
            <a:r>
              <a:rPr sz="900" b="0" spc="-5" dirty="0">
                <a:solidFill>
                  <a:srgbClr val="888888"/>
                </a:solidFill>
                <a:latin typeface="Arial MT"/>
                <a:cs typeface="Arial MT"/>
              </a:rPr>
              <a:t> </a:t>
            </a:r>
            <a:r>
              <a:rPr sz="900" b="0" dirty="0">
                <a:solidFill>
                  <a:srgbClr val="888888"/>
                </a:solidFill>
                <a:latin typeface="Arial MT"/>
                <a:cs typeface="Arial MT"/>
              </a:rPr>
              <a:t>ECE</a:t>
            </a:r>
            <a:r>
              <a:rPr sz="900" b="0" spc="-20" dirty="0">
                <a:solidFill>
                  <a:srgbClr val="888888"/>
                </a:solidFill>
                <a:latin typeface="Arial MT"/>
                <a:cs typeface="Arial MT"/>
              </a:rPr>
              <a:t> </a:t>
            </a:r>
            <a:r>
              <a:rPr sz="900" b="0" dirty="0">
                <a:solidFill>
                  <a:srgbClr val="888888"/>
                </a:solidFill>
                <a:latin typeface="Arial MT"/>
                <a:cs typeface="Arial MT"/>
              </a:rPr>
              <a:t>2025-</a:t>
            </a:r>
            <a:r>
              <a:rPr sz="900" b="0" spc="-25" dirty="0">
                <a:solidFill>
                  <a:srgbClr val="888888"/>
                </a:solidFill>
                <a:latin typeface="Arial MT"/>
                <a:cs typeface="Arial MT"/>
              </a:rPr>
              <a:t>26</a:t>
            </a:r>
            <a:endParaRPr sz="900">
              <a:latin typeface="Arial MT"/>
              <a:cs typeface="Arial MT"/>
            </a:endParaRPr>
          </a:p>
        </p:txBody>
      </p:sp>
      <p:sp>
        <p:nvSpPr>
          <p:cNvPr id="7" name="object 7"/>
          <p:cNvSpPr txBox="1">
            <a:spLocks noGrp="1"/>
          </p:cNvSpPr>
          <p:nvPr>
            <p:ph type="sldNum" sz="quarter" idx="7"/>
          </p:nvPr>
        </p:nvSpPr>
        <p:spPr>
          <a:prstGeom prst="rect">
            <a:avLst/>
          </a:prstGeom>
        </p:spPr>
        <p:txBody>
          <a:bodyPr vert="horz" wrap="square" lIns="0" tIns="3175" rIns="0" bIns="0" rtlCol="0">
            <a:spAutoFit/>
          </a:bodyPr>
          <a:lstStyle/>
          <a:p>
            <a:pPr marL="62230">
              <a:lnSpc>
                <a:spcPct val="100000"/>
              </a:lnSpc>
              <a:spcBef>
                <a:spcPts val="25"/>
              </a:spcBef>
            </a:pPr>
            <a:fld id="{81D60167-4931-47E6-BA6A-407CBD079E47}" type="slidenum">
              <a:rPr sz="900" b="0" spc="-25" dirty="0">
                <a:solidFill>
                  <a:srgbClr val="888888"/>
                </a:solidFill>
                <a:latin typeface="Arial MT"/>
                <a:cs typeface="Arial MT"/>
              </a:rPr>
              <a:t>26</a:t>
            </a:fld>
            <a:endParaRPr sz="900">
              <a:latin typeface="Arial MT"/>
              <a:cs typeface="Arial MT"/>
            </a:endParaRPr>
          </a:p>
        </p:txBody>
      </p:sp>
      <p:sp>
        <p:nvSpPr>
          <p:cNvPr id="9" name="TextBox 8">
            <a:extLst>
              <a:ext uri="{FF2B5EF4-FFF2-40B4-BE49-F238E27FC236}">
                <a16:creationId xmlns:a16="http://schemas.microsoft.com/office/drawing/2014/main" id="{4DC0D5BA-B51E-F767-57F5-E0A8BFDD39AF}"/>
              </a:ext>
            </a:extLst>
          </p:cNvPr>
          <p:cNvSpPr txBox="1"/>
          <p:nvPr/>
        </p:nvSpPr>
        <p:spPr>
          <a:xfrm>
            <a:off x="990600" y="6324600"/>
            <a:ext cx="1143000" cy="369332"/>
          </a:xfrm>
          <a:prstGeom prst="rect">
            <a:avLst/>
          </a:prstGeom>
          <a:noFill/>
        </p:spPr>
        <p:txBody>
          <a:bodyPr wrap="square" rtlCol="0">
            <a:spAutoFit/>
          </a:bodyPr>
          <a:lstStyle/>
          <a:p>
            <a:r>
              <a:rPr lang="en-US" dirty="0"/>
              <a:t>Fig.9</a:t>
            </a:r>
            <a:endParaRPr lang="en-IN"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13231" y="1389888"/>
            <a:ext cx="7717535" cy="4248912"/>
          </a:xfrm>
          <a:prstGeom prst="rect">
            <a:avLst/>
          </a:prstGeom>
        </p:spPr>
      </p:pic>
      <p:pic>
        <p:nvPicPr>
          <p:cNvPr id="3" name="object 3"/>
          <p:cNvPicPr/>
          <p:nvPr/>
        </p:nvPicPr>
        <p:blipFill>
          <a:blip r:embed="rId3" cstate="print"/>
          <a:stretch>
            <a:fillRect/>
          </a:stretch>
        </p:blipFill>
        <p:spPr>
          <a:xfrm>
            <a:off x="274320" y="103631"/>
            <a:ext cx="981456" cy="1100328"/>
          </a:xfrm>
          <a:prstGeom prst="rect">
            <a:avLst/>
          </a:prstGeom>
        </p:spPr>
      </p:pic>
      <p:pic>
        <p:nvPicPr>
          <p:cNvPr id="4" name="object 4"/>
          <p:cNvPicPr/>
          <p:nvPr/>
        </p:nvPicPr>
        <p:blipFill>
          <a:blip r:embed="rId4" cstate="print"/>
          <a:stretch>
            <a:fillRect/>
          </a:stretch>
        </p:blipFill>
        <p:spPr>
          <a:xfrm>
            <a:off x="7818119" y="103631"/>
            <a:ext cx="1051559" cy="1100328"/>
          </a:xfrm>
          <a:prstGeom prst="rect">
            <a:avLst/>
          </a:prstGeom>
        </p:spPr>
      </p:pic>
      <p:sp>
        <p:nvSpPr>
          <p:cNvPr id="5" name="object 5"/>
          <p:cNvSpPr txBox="1">
            <a:spLocks noGrp="1"/>
          </p:cNvSpPr>
          <p:nvPr>
            <p:ph type="ftr" sz="quarter" idx="5"/>
          </p:nvPr>
        </p:nvSpPr>
        <p:spPr>
          <a:prstGeom prst="rect">
            <a:avLst/>
          </a:prstGeom>
        </p:spPr>
        <p:txBody>
          <a:bodyPr vert="horz" wrap="square" lIns="0" tIns="3175" rIns="0" bIns="0" rtlCol="0">
            <a:spAutoFit/>
          </a:bodyPr>
          <a:lstStyle/>
          <a:p>
            <a:pPr marL="201295">
              <a:lnSpc>
                <a:spcPct val="100000"/>
              </a:lnSpc>
              <a:spcBef>
                <a:spcPts val="25"/>
              </a:spcBef>
            </a:pPr>
            <a:r>
              <a:rPr sz="900" b="0" dirty="0">
                <a:solidFill>
                  <a:srgbClr val="888888"/>
                </a:solidFill>
                <a:latin typeface="Arial MT"/>
                <a:cs typeface="Arial MT"/>
              </a:rPr>
              <a:t>Dept.</a:t>
            </a:r>
            <a:r>
              <a:rPr sz="900" b="0" spc="-10" dirty="0">
                <a:solidFill>
                  <a:srgbClr val="888888"/>
                </a:solidFill>
                <a:latin typeface="Arial MT"/>
                <a:cs typeface="Arial MT"/>
              </a:rPr>
              <a:t> </a:t>
            </a:r>
            <a:r>
              <a:rPr sz="900" b="0" dirty="0">
                <a:solidFill>
                  <a:srgbClr val="888888"/>
                </a:solidFill>
                <a:latin typeface="Arial MT"/>
                <a:cs typeface="Arial MT"/>
              </a:rPr>
              <a:t>of</a:t>
            </a:r>
            <a:r>
              <a:rPr sz="900" b="0" spc="-5" dirty="0">
                <a:solidFill>
                  <a:srgbClr val="888888"/>
                </a:solidFill>
                <a:latin typeface="Arial MT"/>
                <a:cs typeface="Arial MT"/>
              </a:rPr>
              <a:t> </a:t>
            </a:r>
            <a:r>
              <a:rPr sz="900" b="0" dirty="0">
                <a:solidFill>
                  <a:srgbClr val="888888"/>
                </a:solidFill>
                <a:latin typeface="Arial MT"/>
                <a:cs typeface="Arial MT"/>
              </a:rPr>
              <a:t>ECE</a:t>
            </a:r>
            <a:r>
              <a:rPr sz="900" b="0" spc="-20" dirty="0">
                <a:solidFill>
                  <a:srgbClr val="888888"/>
                </a:solidFill>
                <a:latin typeface="Arial MT"/>
                <a:cs typeface="Arial MT"/>
              </a:rPr>
              <a:t> </a:t>
            </a:r>
            <a:r>
              <a:rPr sz="900" b="0" dirty="0">
                <a:solidFill>
                  <a:srgbClr val="888888"/>
                </a:solidFill>
                <a:latin typeface="Arial MT"/>
                <a:cs typeface="Arial MT"/>
              </a:rPr>
              <a:t>2025-</a:t>
            </a:r>
            <a:r>
              <a:rPr sz="900" b="0" spc="-25" dirty="0">
                <a:solidFill>
                  <a:srgbClr val="888888"/>
                </a:solidFill>
                <a:latin typeface="Arial MT"/>
                <a:cs typeface="Arial MT"/>
              </a:rPr>
              <a:t>26</a:t>
            </a:r>
            <a:endParaRPr sz="900">
              <a:latin typeface="Arial MT"/>
              <a:cs typeface="Arial MT"/>
            </a:endParaRPr>
          </a:p>
        </p:txBody>
      </p:sp>
      <p:sp>
        <p:nvSpPr>
          <p:cNvPr id="6" name="object 6"/>
          <p:cNvSpPr txBox="1">
            <a:spLocks noGrp="1"/>
          </p:cNvSpPr>
          <p:nvPr>
            <p:ph type="sldNum" sz="quarter" idx="7"/>
          </p:nvPr>
        </p:nvSpPr>
        <p:spPr>
          <a:prstGeom prst="rect">
            <a:avLst/>
          </a:prstGeom>
        </p:spPr>
        <p:txBody>
          <a:bodyPr vert="horz" wrap="square" lIns="0" tIns="3175" rIns="0" bIns="0" rtlCol="0">
            <a:spAutoFit/>
          </a:bodyPr>
          <a:lstStyle/>
          <a:p>
            <a:pPr marL="62230">
              <a:lnSpc>
                <a:spcPct val="100000"/>
              </a:lnSpc>
              <a:spcBef>
                <a:spcPts val="25"/>
              </a:spcBef>
            </a:pPr>
            <a:fld id="{81D60167-4931-47E6-BA6A-407CBD079E47}" type="slidenum">
              <a:rPr sz="900" b="0" spc="-25" dirty="0">
                <a:solidFill>
                  <a:srgbClr val="888888"/>
                </a:solidFill>
                <a:latin typeface="Arial MT"/>
                <a:cs typeface="Arial MT"/>
              </a:rPr>
              <a:t>27</a:t>
            </a:fld>
            <a:endParaRPr sz="900">
              <a:latin typeface="Arial MT"/>
              <a:cs typeface="Arial MT"/>
            </a:endParaRPr>
          </a:p>
        </p:txBody>
      </p:sp>
      <p:sp>
        <p:nvSpPr>
          <p:cNvPr id="7" name="TextBox 6">
            <a:extLst>
              <a:ext uri="{FF2B5EF4-FFF2-40B4-BE49-F238E27FC236}">
                <a16:creationId xmlns:a16="http://schemas.microsoft.com/office/drawing/2014/main" id="{813C8979-3F53-E744-4583-AEAE88FF0A3F}"/>
              </a:ext>
            </a:extLst>
          </p:cNvPr>
          <p:cNvSpPr txBox="1"/>
          <p:nvPr/>
        </p:nvSpPr>
        <p:spPr>
          <a:xfrm>
            <a:off x="907920" y="6096000"/>
            <a:ext cx="920880" cy="369332"/>
          </a:xfrm>
          <a:prstGeom prst="rect">
            <a:avLst/>
          </a:prstGeom>
          <a:noFill/>
        </p:spPr>
        <p:txBody>
          <a:bodyPr wrap="square" rtlCol="0">
            <a:spAutoFit/>
          </a:bodyPr>
          <a:lstStyle/>
          <a:p>
            <a:r>
              <a:rPr lang="en-US" dirty="0"/>
              <a:t>Fig.10</a:t>
            </a:r>
            <a:endParaRPr lang="en-IN"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13231" y="1377695"/>
            <a:ext cx="7717535" cy="4413505"/>
          </a:xfrm>
          <a:prstGeom prst="rect">
            <a:avLst/>
          </a:prstGeom>
        </p:spPr>
      </p:pic>
      <p:pic>
        <p:nvPicPr>
          <p:cNvPr id="3" name="object 3"/>
          <p:cNvPicPr/>
          <p:nvPr/>
        </p:nvPicPr>
        <p:blipFill>
          <a:blip r:embed="rId3" cstate="print"/>
          <a:stretch>
            <a:fillRect/>
          </a:stretch>
        </p:blipFill>
        <p:spPr>
          <a:xfrm>
            <a:off x="274320" y="88392"/>
            <a:ext cx="981456" cy="1100327"/>
          </a:xfrm>
          <a:prstGeom prst="rect">
            <a:avLst/>
          </a:prstGeom>
        </p:spPr>
      </p:pic>
      <p:pic>
        <p:nvPicPr>
          <p:cNvPr id="4" name="object 4"/>
          <p:cNvPicPr/>
          <p:nvPr/>
        </p:nvPicPr>
        <p:blipFill>
          <a:blip r:embed="rId4" cstate="print"/>
          <a:stretch>
            <a:fillRect/>
          </a:stretch>
        </p:blipFill>
        <p:spPr>
          <a:xfrm>
            <a:off x="7818119" y="88392"/>
            <a:ext cx="1051559" cy="1100327"/>
          </a:xfrm>
          <a:prstGeom prst="rect">
            <a:avLst/>
          </a:prstGeom>
        </p:spPr>
      </p:pic>
      <p:sp>
        <p:nvSpPr>
          <p:cNvPr id="5" name="object 5"/>
          <p:cNvSpPr txBox="1">
            <a:spLocks noGrp="1"/>
          </p:cNvSpPr>
          <p:nvPr>
            <p:ph type="ftr" sz="quarter" idx="5"/>
          </p:nvPr>
        </p:nvSpPr>
        <p:spPr>
          <a:prstGeom prst="rect">
            <a:avLst/>
          </a:prstGeom>
        </p:spPr>
        <p:txBody>
          <a:bodyPr vert="horz" wrap="square" lIns="0" tIns="3175" rIns="0" bIns="0" rtlCol="0">
            <a:spAutoFit/>
          </a:bodyPr>
          <a:lstStyle/>
          <a:p>
            <a:pPr marL="201295">
              <a:lnSpc>
                <a:spcPct val="100000"/>
              </a:lnSpc>
              <a:spcBef>
                <a:spcPts val="25"/>
              </a:spcBef>
            </a:pPr>
            <a:r>
              <a:rPr sz="900" b="0" dirty="0">
                <a:solidFill>
                  <a:srgbClr val="888888"/>
                </a:solidFill>
                <a:latin typeface="Arial MT"/>
                <a:cs typeface="Arial MT"/>
              </a:rPr>
              <a:t>Dept.</a:t>
            </a:r>
            <a:r>
              <a:rPr sz="900" b="0" spc="-10" dirty="0">
                <a:solidFill>
                  <a:srgbClr val="888888"/>
                </a:solidFill>
                <a:latin typeface="Arial MT"/>
                <a:cs typeface="Arial MT"/>
              </a:rPr>
              <a:t> </a:t>
            </a:r>
            <a:r>
              <a:rPr sz="900" b="0" dirty="0">
                <a:solidFill>
                  <a:srgbClr val="888888"/>
                </a:solidFill>
                <a:latin typeface="Arial MT"/>
                <a:cs typeface="Arial MT"/>
              </a:rPr>
              <a:t>of</a:t>
            </a:r>
            <a:r>
              <a:rPr sz="900" b="0" spc="-5" dirty="0">
                <a:solidFill>
                  <a:srgbClr val="888888"/>
                </a:solidFill>
                <a:latin typeface="Arial MT"/>
                <a:cs typeface="Arial MT"/>
              </a:rPr>
              <a:t> </a:t>
            </a:r>
            <a:r>
              <a:rPr sz="900" b="0" dirty="0">
                <a:solidFill>
                  <a:srgbClr val="888888"/>
                </a:solidFill>
                <a:latin typeface="Arial MT"/>
                <a:cs typeface="Arial MT"/>
              </a:rPr>
              <a:t>ECE</a:t>
            </a:r>
            <a:r>
              <a:rPr sz="900" b="0" spc="-20" dirty="0">
                <a:solidFill>
                  <a:srgbClr val="888888"/>
                </a:solidFill>
                <a:latin typeface="Arial MT"/>
                <a:cs typeface="Arial MT"/>
              </a:rPr>
              <a:t> </a:t>
            </a:r>
            <a:r>
              <a:rPr sz="900" b="0" dirty="0">
                <a:solidFill>
                  <a:srgbClr val="888888"/>
                </a:solidFill>
                <a:latin typeface="Arial MT"/>
                <a:cs typeface="Arial MT"/>
              </a:rPr>
              <a:t>2025-</a:t>
            </a:r>
            <a:r>
              <a:rPr sz="900" b="0" spc="-25" dirty="0">
                <a:solidFill>
                  <a:srgbClr val="888888"/>
                </a:solidFill>
                <a:latin typeface="Arial MT"/>
                <a:cs typeface="Arial MT"/>
              </a:rPr>
              <a:t>26</a:t>
            </a:r>
            <a:endParaRPr sz="900">
              <a:latin typeface="Arial MT"/>
              <a:cs typeface="Arial MT"/>
            </a:endParaRPr>
          </a:p>
        </p:txBody>
      </p:sp>
      <p:sp>
        <p:nvSpPr>
          <p:cNvPr id="6" name="object 6"/>
          <p:cNvSpPr txBox="1">
            <a:spLocks noGrp="1"/>
          </p:cNvSpPr>
          <p:nvPr>
            <p:ph type="sldNum" sz="quarter" idx="7"/>
          </p:nvPr>
        </p:nvSpPr>
        <p:spPr>
          <a:prstGeom prst="rect">
            <a:avLst/>
          </a:prstGeom>
        </p:spPr>
        <p:txBody>
          <a:bodyPr vert="horz" wrap="square" lIns="0" tIns="3175" rIns="0" bIns="0" rtlCol="0">
            <a:spAutoFit/>
          </a:bodyPr>
          <a:lstStyle/>
          <a:p>
            <a:pPr marL="62230">
              <a:lnSpc>
                <a:spcPct val="100000"/>
              </a:lnSpc>
              <a:spcBef>
                <a:spcPts val="25"/>
              </a:spcBef>
            </a:pPr>
            <a:fld id="{81D60167-4931-47E6-BA6A-407CBD079E47}" type="slidenum">
              <a:rPr sz="900" b="0" spc="-25" dirty="0">
                <a:solidFill>
                  <a:srgbClr val="888888"/>
                </a:solidFill>
                <a:latin typeface="Arial MT"/>
                <a:cs typeface="Arial MT"/>
              </a:rPr>
              <a:t>28</a:t>
            </a:fld>
            <a:endParaRPr sz="900">
              <a:latin typeface="Arial MT"/>
              <a:cs typeface="Arial MT"/>
            </a:endParaRPr>
          </a:p>
        </p:txBody>
      </p:sp>
      <p:sp>
        <p:nvSpPr>
          <p:cNvPr id="7" name="TextBox 6">
            <a:extLst>
              <a:ext uri="{FF2B5EF4-FFF2-40B4-BE49-F238E27FC236}">
                <a16:creationId xmlns:a16="http://schemas.microsoft.com/office/drawing/2014/main" id="{AE5D7244-076B-97C4-65D6-523331E7C8B3}"/>
              </a:ext>
            </a:extLst>
          </p:cNvPr>
          <p:cNvSpPr txBox="1"/>
          <p:nvPr/>
        </p:nvSpPr>
        <p:spPr>
          <a:xfrm>
            <a:off x="914400" y="6248400"/>
            <a:ext cx="1066800" cy="369332"/>
          </a:xfrm>
          <a:prstGeom prst="rect">
            <a:avLst/>
          </a:prstGeom>
          <a:noFill/>
        </p:spPr>
        <p:txBody>
          <a:bodyPr wrap="square" rtlCol="0">
            <a:spAutoFit/>
          </a:bodyPr>
          <a:lstStyle/>
          <a:p>
            <a:r>
              <a:rPr lang="en-US" dirty="0"/>
              <a:t>Fig.11</a:t>
            </a:r>
            <a:endParaRPr lang="en-IN"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86283" rIns="0" bIns="0" rtlCol="0">
            <a:spAutoFit/>
          </a:bodyPr>
          <a:lstStyle/>
          <a:p>
            <a:pPr marL="838835">
              <a:lnSpc>
                <a:spcPct val="100000"/>
              </a:lnSpc>
              <a:spcBef>
                <a:spcPts val="110"/>
              </a:spcBef>
            </a:pPr>
            <a:r>
              <a:rPr dirty="0"/>
              <a:t>FUTURE</a:t>
            </a:r>
            <a:r>
              <a:rPr spc="-75" dirty="0"/>
              <a:t> </a:t>
            </a:r>
            <a:r>
              <a:rPr spc="-20" dirty="0"/>
              <a:t>SCOPE</a:t>
            </a:r>
          </a:p>
        </p:txBody>
      </p:sp>
      <p:sp>
        <p:nvSpPr>
          <p:cNvPr id="6" name="object 6"/>
          <p:cNvSpPr txBox="1">
            <a:spLocks noGrp="1"/>
          </p:cNvSpPr>
          <p:nvPr>
            <p:ph type="ftr" sz="quarter" idx="5"/>
          </p:nvPr>
        </p:nvSpPr>
        <p:spPr>
          <a:prstGeom prst="rect">
            <a:avLst/>
          </a:prstGeom>
        </p:spPr>
        <p:txBody>
          <a:bodyPr vert="horz" wrap="square" lIns="0" tIns="3175" rIns="0" bIns="0" rtlCol="0">
            <a:spAutoFit/>
          </a:bodyPr>
          <a:lstStyle/>
          <a:p>
            <a:pPr marL="201295">
              <a:lnSpc>
                <a:spcPct val="100000"/>
              </a:lnSpc>
              <a:spcBef>
                <a:spcPts val="25"/>
              </a:spcBef>
            </a:pPr>
            <a:r>
              <a:rPr sz="900" b="0" dirty="0">
                <a:solidFill>
                  <a:srgbClr val="888888"/>
                </a:solidFill>
                <a:latin typeface="Arial MT"/>
                <a:cs typeface="Arial MT"/>
              </a:rPr>
              <a:t>Dept.</a:t>
            </a:r>
            <a:r>
              <a:rPr sz="900" b="0" spc="-10" dirty="0">
                <a:solidFill>
                  <a:srgbClr val="888888"/>
                </a:solidFill>
                <a:latin typeface="Arial MT"/>
                <a:cs typeface="Arial MT"/>
              </a:rPr>
              <a:t> </a:t>
            </a:r>
            <a:r>
              <a:rPr sz="900" b="0" dirty="0">
                <a:solidFill>
                  <a:srgbClr val="888888"/>
                </a:solidFill>
                <a:latin typeface="Arial MT"/>
                <a:cs typeface="Arial MT"/>
              </a:rPr>
              <a:t>of</a:t>
            </a:r>
            <a:r>
              <a:rPr sz="900" b="0" spc="-5" dirty="0">
                <a:solidFill>
                  <a:srgbClr val="888888"/>
                </a:solidFill>
                <a:latin typeface="Arial MT"/>
                <a:cs typeface="Arial MT"/>
              </a:rPr>
              <a:t> </a:t>
            </a:r>
            <a:r>
              <a:rPr sz="900" b="0" dirty="0">
                <a:solidFill>
                  <a:srgbClr val="888888"/>
                </a:solidFill>
                <a:latin typeface="Arial MT"/>
                <a:cs typeface="Arial MT"/>
              </a:rPr>
              <a:t>ECE</a:t>
            </a:r>
            <a:r>
              <a:rPr sz="900" b="0" spc="-20" dirty="0">
                <a:solidFill>
                  <a:srgbClr val="888888"/>
                </a:solidFill>
                <a:latin typeface="Arial MT"/>
                <a:cs typeface="Arial MT"/>
              </a:rPr>
              <a:t> </a:t>
            </a:r>
            <a:r>
              <a:rPr sz="900" b="0" dirty="0">
                <a:solidFill>
                  <a:srgbClr val="888888"/>
                </a:solidFill>
                <a:latin typeface="Arial MT"/>
                <a:cs typeface="Arial MT"/>
              </a:rPr>
              <a:t>2025-</a:t>
            </a:r>
            <a:r>
              <a:rPr sz="900" b="0" spc="-25" dirty="0">
                <a:solidFill>
                  <a:srgbClr val="888888"/>
                </a:solidFill>
                <a:latin typeface="Arial MT"/>
                <a:cs typeface="Arial MT"/>
              </a:rPr>
              <a:t>26</a:t>
            </a:r>
            <a:endParaRPr sz="900">
              <a:latin typeface="Arial MT"/>
              <a:cs typeface="Arial MT"/>
            </a:endParaRPr>
          </a:p>
        </p:txBody>
      </p:sp>
      <p:sp>
        <p:nvSpPr>
          <p:cNvPr id="7" name="object 7"/>
          <p:cNvSpPr txBox="1">
            <a:spLocks noGrp="1"/>
          </p:cNvSpPr>
          <p:nvPr>
            <p:ph type="sldNum" sz="quarter" idx="7"/>
          </p:nvPr>
        </p:nvSpPr>
        <p:spPr>
          <a:prstGeom prst="rect">
            <a:avLst/>
          </a:prstGeom>
        </p:spPr>
        <p:txBody>
          <a:bodyPr vert="horz" wrap="square" lIns="0" tIns="3175" rIns="0" bIns="0" rtlCol="0">
            <a:spAutoFit/>
          </a:bodyPr>
          <a:lstStyle/>
          <a:p>
            <a:pPr marL="62230">
              <a:lnSpc>
                <a:spcPct val="100000"/>
              </a:lnSpc>
              <a:spcBef>
                <a:spcPts val="25"/>
              </a:spcBef>
            </a:pPr>
            <a:fld id="{81D60167-4931-47E6-BA6A-407CBD079E47}" type="slidenum">
              <a:rPr sz="900" b="0" spc="-25" dirty="0">
                <a:solidFill>
                  <a:srgbClr val="888888"/>
                </a:solidFill>
                <a:latin typeface="Arial MT"/>
                <a:cs typeface="Arial MT"/>
              </a:rPr>
              <a:t>29</a:t>
            </a:fld>
            <a:endParaRPr sz="900">
              <a:latin typeface="Arial MT"/>
              <a:cs typeface="Arial MT"/>
            </a:endParaRPr>
          </a:p>
        </p:txBody>
      </p:sp>
      <p:pic>
        <p:nvPicPr>
          <p:cNvPr id="4" name="object 4"/>
          <p:cNvPicPr/>
          <p:nvPr/>
        </p:nvPicPr>
        <p:blipFill>
          <a:blip r:embed="rId2" cstate="print"/>
          <a:stretch>
            <a:fillRect/>
          </a:stretch>
        </p:blipFill>
        <p:spPr>
          <a:xfrm>
            <a:off x="304800" y="301752"/>
            <a:ext cx="981456" cy="1100327"/>
          </a:xfrm>
          <a:prstGeom prst="rect">
            <a:avLst/>
          </a:prstGeom>
        </p:spPr>
      </p:pic>
      <p:pic>
        <p:nvPicPr>
          <p:cNvPr id="5" name="object 5"/>
          <p:cNvPicPr/>
          <p:nvPr/>
        </p:nvPicPr>
        <p:blipFill>
          <a:blip r:embed="rId3" cstate="print"/>
          <a:stretch>
            <a:fillRect/>
          </a:stretch>
        </p:blipFill>
        <p:spPr>
          <a:xfrm>
            <a:off x="7818119" y="103631"/>
            <a:ext cx="1051559" cy="1100328"/>
          </a:xfrm>
          <a:prstGeom prst="rect">
            <a:avLst/>
          </a:prstGeom>
        </p:spPr>
      </p:pic>
      <p:sp>
        <p:nvSpPr>
          <p:cNvPr id="13" name="Rectangle 5">
            <a:extLst>
              <a:ext uri="{FF2B5EF4-FFF2-40B4-BE49-F238E27FC236}">
                <a16:creationId xmlns:a16="http://schemas.microsoft.com/office/drawing/2014/main" id="{92038846-4EDF-B41F-1E10-8D74DCF2FCC1}"/>
              </a:ext>
            </a:extLst>
          </p:cNvPr>
          <p:cNvSpPr>
            <a:spLocks noGrp="1" noChangeArrowheads="1"/>
          </p:cNvSpPr>
          <p:nvPr>
            <p:ph type="body" idx="1"/>
          </p:nvPr>
        </p:nvSpPr>
        <p:spPr bwMode="auto">
          <a:xfrm>
            <a:off x="762000" y="1499652"/>
            <a:ext cx="7715631" cy="4215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Future dam monitoring will use IoT sensors and wireless networks for real-time crack detection and water level monitoring from remote locations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 and machine learning will improve accuracy by detecting cracks early and predicting possible structural problems, with drones supporting detailed inspections.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Predictive systems using weather and past data will improve dam safety and help manage water resources effectively under changing climate conditions.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06831" rIns="0" bIns="0" rtlCol="0">
            <a:spAutoFit/>
          </a:bodyPr>
          <a:lstStyle/>
          <a:p>
            <a:pPr marL="586105">
              <a:lnSpc>
                <a:spcPct val="100000"/>
              </a:lnSpc>
              <a:spcBef>
                <a:spcPts val="110"/>
              </a:spcBef>
            </a:pPr>
            <a:r>
              <a:rPr spc="-10" dirty="0"/>
              <a:t>Advantages</a:t>
            </a:r>
          </a:p>
        </p:txBody>
      </p:sp>
      <p:sp>
        <p:nvSpPr>
          <p:cNvPr id="3" name="object 3"/>
          <p:cNvSpPr txBox="1"/>
          <p:nvPr/>
        </p:nvSpPr>
        <p:spPr>
          <a:xfrm>
            <a:off x="823366" y="1849679"/>
            <a:ext cx="6620509" cy="1976755"/>
          </a:xfrm>
          <a:prstGeom prst="rect">
            <a:avLst/>
          </a:prstGeom>
        </p:spPr>
        <p:txBody>
          <a:bodyPr vert="horz" wrap="square" lIns="0" tIns="81915" rIns="0" bIns="0" rtlCol="0">
            <a:spAutoFit/>
          </a:bodyPr>
          <a:lstStyle/>
          <a:p>
            <a:pPr marL="353695" indent="-340995">
              <a:lnSpc>
                <a:spcPct val="100000"/>
              </a:lnSpc>
              <a:spcBef>
                <a:spcPts val="645"/>
              </a:spcBef>
              <a:buSzPct val="85714"/>
              <a:buFont typeface="Arial MT"/>
              <a:buChar char="•"/>
              <a:tabLst>
                <a:tab pos="353695" algn="l"/>
              </a:tabLst>
            </a:pPr>
            <a:r>
              <a:rPr sz="2100" dirty="0">
                <a:latin typeface="Times New Roman"/>
                <a:cs typeface="Times New Roman"/>
              </a:rPr>
              <a:t>Ensuring</a:t>
            </a:r>
            <a:r>
              <a:rPr sz="2100" spc="-65" dirty="0">
                <a:latin typeface="Times New Roman"/>
                <a:cs typeface="Times New Roman"/>
              </a:rPr>
              <a:t> </a:t>
            </a:r>
            <a:r>
              <a:rPr sz="2100" dirty="0">
                <a:latin typeface="Times New Roman"/>
                <a:cs typeface="Times New Roman"/>
              </a:rPr>
              <a:t>safety</a:t>
            </a:r>
            <a:r>
              <a:rPr sz="2100" spc="-40" dirty="0">
                <a:latin typeface="Times New Roman"/>
                <a:cs typeface="Times New Roman"/>
              </a:rPr>
              <a:t> </a:t>
            </a:r>
            <a:r>
              <a:rPr sz="2100" dirty="0">
                <a:latin typeface="Times New Roman"/>
                <a:cs typeface="Times New Roman"/>
              </a:rPr>
              <a:t>by</a:t>
            </a:r>
            <a:r>
              <a:rPr sz="2100" spc="-40" dirty="0">
                <a:latin typeface="Times New Roman"/>
                <a:cs typeface="Times New Roman"/>
              </a:rPr>
              <a:t> </a:t>
            </a:r>
            <a:r>
              <a:rPr sz="2100" dirty="0">
                <a:latin typeface="Times New Roman"/>
                <a:cs typeface="Times New Roman"/>
              </a:rPr>
              <a:t>preventing</a:t>
            </a:r>
            <a:r>
              <a:rPr sz="2100" spc="-20" dirty="0">
                <a:latin typeface="Times New Roman"/>
                <a:cs typeface="Times New Roman"/>
              </a:rPr>
              <a:t> </a:t>
            </a:r>
            <a:r>
              <a:rPr sz="2100" spc="-10" dirty="0">
                <a:latin typeface="Times New Roman"/>
                <a:cs typeface="Times New Roman"/>
              </a:rPr>
              <a:t>failure</a:t>
            </a:r>
            <a:endParaRPr sz="2100">
              <a:latin typeface="Times New Roman"/>
              <a:cs typeface="Times New Roman"/>
            </a:endParaRPr>
          </a:p>
          <a:p>
            <a:pPr marL="353695" indent="-340995">
              <a:lnSpc>
                <a:spcPct val="100000"/>
              </a:lnSpc>
              <a:spcBef>
                <a:spcPts val="550"/>
              </a:spcBef>
              <a:buSzPct val="85714"/>
              <a:buFont typeface="Arial MT"/>
              <a:buChar char="•"/>
              <a:tabLst>
                <a:tab pos="353695" algn="l"/>
              </a:tabLst>
            </a:pPr>
            <a:r>
              <a:rPr sz="2100" dirty="0">
                <a:latin typeface="Times New Roman"/>
                <a:cs typeface="Times New Roman"/>
              </a:rPr>
              <a:t>optimizing</a:t>
            </a:r>
            <a:r>
              <a:rPr sz="2100" spc="-20" dirty="0">
                <a:latin typeface="Times New Roman"/>
                <a:cs typeface="Times New Roman"/>
              </a:rPr>
              <a:t> </a:t>
            </a:r>
            <a:r>
              <a:rPr sz="2100" dirty="0">
                <a:latin typeface="Times New Roman"/>
                <a:cs typeface="Times New Roman"/>
              </a:rPr>
              <a:t>water</a:t>
            </a:r>
            <a:r>
              <a:rPr sz="2100" spc="-55" dirty="0">
                <a:latin typeface="Times New Roman"/>
                <a:cs typeface="Times New Roman"/>
              </a:rPr>
              <a:t> </a:t>
            </a:r>
            <a:r>
              <a:rPr sz="2100" dirty="0">
                <a:latin typeface="Times New Roman"/>
                <a:cs typeface="Times New Roman"/>
              </a:rPr>
              <a:t>management</a:t>
            </a:r>
            <a:r>
              <a:rPr sz="2100" spc="-30" dirty="0">
                <a:latin typeface="Times New Roman"/>
                <a:cs typeface="Times New Roman"/>
              </a:rPr>
              <a:t> </a:t>
            </a:r>
            <a:r>
              <a:rPr sz="2100" dirty="0">
                <a:latin typeface="Times New Roman"/>
                <a:cs typeface="Times New Roman"/>
              </a:rPr>
              <a:t>for</a:t>
            </a:r>
            <a:r>
              <a:rPr sz="2100" spc="-65" dirty="0">
                <a:latin typeface="Times New Roman"/>
                <a:cs typeface="Times New Roman"/>
              </a:rPr>
              <a:t> </a:t>
            </a:r>
            <a:r>
              <a:rPr sz="2100" spc="-10" dirty="0">
                <a:latin typeface="Times New Roman"/>
                <a:cs typeface="Times New Roman"/>
              </a:rPr>
              <a:t>resources</a:t>
            </a:r>
            <a:endParaRPr sz="2100">
              <a:latin typeface="Times New Roman"/>
              <a:cs typeface="Times New Roman"/>
            </a:endParaRPr>
          </a:p>
          <a:p>
            <a:pPr marL="421005" indent="-408305">
              <a:lnSpc>
                <a:spcPct val="100000"/>
              </a:lnSpc>
              <a:spcBef>
                <a:spcPts val="555"/>
              </a:spcBef>
              <a:buSzPct val="85714"/>
              <a:buFont typeface="Arial MT"/>
              <a:buChar char="•"/>
              <a:tabLst>
                <a:tab pos="421005" algn="l"/>
              </a:tabLst>
            </a:pPr>
            <a:r>
              <a:rPr sz="2100" dirty="0">
                <a:latin typeface="Times New Roman"/>
                <a:cs typeface="Times New Roman"/>
              </a:rPr>
              <a:t>providing</a:t>
            </a:r>
            <a:r>
              <a:rPr sz="2100" spc="-50" dirty="0">
                <a:latin typeface="Times New Roman"/>
                <a:cs typeface="Times New Roman"/>
              </a:rPr>
              <a:t> </a:t>
            </a:r>
            <a:r>
              <a:rPr sz="2100" dirty="0">
                <a:latin typeface="Times New Roman"/>
                <a:cs typeface="Times New Roman"/>
              </a:rPr>
              <a:t>early</a:t>
            </a:r>
            <a:r>
              <a:rPr sz="2100" spc="-25" dirty="0">
                <a:latin typeface="Times New Roman"/>
                <a:cs typeface="Times New Roman"/>
              </a:rPr>
              <a:t> </a:t>
            </a:r>
            <a:r>
              <a:rPr sz="2100" dirty="0">
                <a:latin typeface="Times New Roman"/>
                <a:cs typeface="Times New Roman"/>
              </a:rPr>
              <a:t>flood</a:t>
            </a:r>
            <a:r>
              <a:rPr sz="2100" spc="-45" dirty="0">
                <a:latin typeface="Times New Roman"/>
                <a:cs typeface="Times New Roman"/>
              </a:rPr>
              <a:t> </a:t>
            </a:r>
            <a:r>
              <a:rPr sz="2100" spc="-10" dirty="0">
                <a:latin typeface="Times New Roman"/>
                <a:cs typeface="Times New Roman"/>
              </a:rPr>
              <a:t>warnings</a:t>
            </a:r>
            <a:endParaRPr sz="2100">
              <a:latin typeface="Times New Roman"/>
              <a:cs typeface="Times New Roman"/>
            </a:endParaRPr>
          </a:p>
          <a:p>
            <a:pPr marL="353695" indent="-340995">
              <a:lnSpc>
                <a:spcPct val="100000"/>
              </a:lnSpc>
              <a:spcBef>
                <a:spcPts val="555"/>
              </a:spcBef>
              <a:buSzPct val="85714"/>
              <a:buFont typeface="Arial MT"/>
              <a:buChar char="•"/>
              <a:tabLst>
                <a:tab pos="353695" algn="l"/>
              </a:tabLst>
            </a:pPr>
            <a:r>
              <a:rPr sz="2100" dirty="0">
                <a:latin typeface="Times New Roman"/>
                <a:cs typeface="Times New Roman"/>
              </a:rPr>
              <a:t>reducing</a:t>
            </a:r>
            <a:r>
              <a:rPr sz="2100" spc="-50" dirty="0">
                <a:latin typeface="Times New Roman"/>
                <a:cs typeface="Times New Roman"/>
              </a:rPr>
              <a:t> </a:t>
            </a:r>
            <a:r>
              <a:rPr sz="2100" dirty="0">
                <a:latin typeface="Times New Roman"/>
                <a:cs typeface="Times New Roman"/>
              </a:rPr>
              <a:t>maintenance</a:t>
            </a:r>
            <a:r>
              <a:rPr sz="2100" spc="-35" dirty="0">
                <a:latin typeface="Times New Roman"/>
                <a:cs typeface="Times New Roman"/>
              </a:rPr>
              <a:t> </a:t>
            </a:r>
            <a:r>
              <a:rPr sz="2100" dirty="0">
                <a:latin typeface="Times New Roman"/>
                <a:cs typeface="Times New Roman"/>
              </a:rPr>
              <a:t>costs</a:t>
            </a:r>
            <a:r>
              <a:rPr sz="2100" spc="-50" dirty="0">
                <a:latin typeface="Times New Roman"/>
                <a:cs typeface="Times New Roman"/>
              </a:rPr>
              <a:t> </a:t>
            </a:r>
            <a:r>
              <a:rPr sz="2100" dirty="0">
                <a:latin typeface="Times New Roman"/>
                <a:cs typeface="Times New Roman"/>
              </a:rPr>
              <a:t>through</a:t>
            </a:r>
            <a:r>
              <a:rPr sz="2100" spc="-75" dirty="0">
                <a:latin typeface="Times New Roman"/>
                <a:cs typeface="Times New Roman"/>
              </a:rPr>
              <a:t> </a:t>
            </a:r>
            <a:r>
              <a:rPr sz="2100" dirty="0">
                <a:latin typeface="Times New Roman"/>
                <a:cs typeface="Times New Roman"/>
              </a:rPr>
              <a:t>proactive</a:t>
            </a:r>
            <a:r>
              <a:rPr sz="2100" spc="-5" dirty="0">
                <a:latin typeface="Times New Roman"/>
                <a:cs typeface="Times New Roman"/>
              </a:rPr>
              <a:t> </a:t>
            </a:r>
            <a:r>
              <a:rPr sz="2100" spc="-10" dirty="0">
                <a:latin typeface="Times New Roman"/>
                <a:cs typeface="Times New Roman"/>
              </a:rPr>
              <a:t>repair</a:t>
            </a:r>
            <a:endParaRPr sz="2100">
              <a:latin typeface="Times New Roman"/>
              <a:cs typeface="Times New Roman"/>
            </a:endParaRPr>
          </a:p>
          <a:p>
            <a:pPr marL="421005" indent="-408305">
              <a:lnSpc>
                <a:spcPct val="100000"/>
              </a:lnSpc>
              <a:spcBef>
                <a:spcPts val="555"/>
              </a:spcBef>
              <a:buSzPct val="85714"/>
              <a:buFont typeface="Arial MT"/>
              <a:buChar char="•"/>
              <a:tabLst>
                <a:tab pos="421005" algn="l"/>
              </a:tabLst>
            </a:pPr>
            <a:r>
              <a:rPr sz="2100" dirty="0">
                <a:latin typeface="Times New Roman"/>
                <a:cs typeface="Times New Roman"/>
              </a:rPr>
              <a:t>extending</a:t>
            </a:r>
            <a:r>
              <a:rPr sz="2100" spc="-35" dirty="0">
                <a:latin typeface="Times New Roman"/>
                <a:cs typeface="Times New Roman"/>
              </a:rPr>
              <a:t> </a:t>
            </a:r>
            <a:r>
              <a:rPr sz="2100" dirty="0">
                <a:latin typeface="Times New Roman"/>
                <a:cs typeface="Times New Roman"/>
              </a:rPr>
              <a:t>the</a:t>
            </a:r>
            <a:r>
              <a:rPr sz="2100" spc="-35" dirty="0">
                <a:latin typeface="Times New Roman"/>
                <a:cs typeface="Times New Roman"/>
              </a:rPr>
              <a:t> </a:t>
            </a:r>
            <a:r>
              <a:rPr sz="2100" dirty="0">
                <a:latin typeface="Times New Roman"/>
                <a:cs typeface="Times New Roman"/>
              </a:rPr>
              <a:t>overall</a:t>
            </a:r>
            <a:r>
              <a:rPr sz="2100" spc="-30" dirty="0">
                <a:latin typeface="Times New Roman"/>
                <a:cs typeface="Times New Roman"/>
              </a:rPr>
              <a:t> </a:t>
            </a:r>
            <a:r>
              <a:rPr sz="2100" dirty="0">
                <a:latin typeface="Times New Roman"/>
                <a:cs typeface="Times New Roman"/>
              </a:rPr>
              <a:t>operational</a:t>
            </a:r>
            <a:r>
              <a:rPr sz="2100" spc="-30" dirty="0">
                <a:latin typeface="Times New Roman"/>
                <a:cs typeface="Times New Roman"/>
              </a:rPr>
              <a:t> </a:t>
            </a:r>
            <a:r>
              <a:rPr sz="2100" dirty="0">
                <a:latin typeface="Times New Roman"/>
                <a:cs typeface="Times New Roman"/>
              </a:rPr>
              <a:t>lifespan</a:t>
            </a:r>
            <a:r>
              <a:rPr sz="2100" spc="-15" dirty="0">
                <a:latin typeface="Times New Roman"/>
                <a:cs typeface="Times New Roman"/>
              </a:rPr>
              <a:t> </a:t>
            </a:r>
            <a:r>
              <a:rPr sz="2100" dirty="0">
                <a:latin typeface="Times New Roman"/>
                <a:cs typeface="Times New Roman"/>
              </a:rPr>
              <a:t>of</a:t>
            </a:r>
            <a:r>
              <a:rPr sz="2100" spc="-65" dirty="0">
                <a:latin typeface="Times New Roman"/>
                <a:cs typeface="Times New Roman"/>
              </a:rPr>
              <a:t> </a:t>
            </a:r>
            <a:r>
              <a:rPr sz="2100" dirty="0">
                <a:latin typeface="Times New Roman"/>
                <a:cs typeface="Times New Roman"/>
              </a:rPr>
              <a:t>the</a:t>
            </a:r>
            <a:r>
              <a:rPr sz="2100" spc="-35" dirty="0">
                <a:latin typeface="Times New Roman"/>
                <a:cs typeface="Times New Roman"/>
              </a:rPr>
              <a:t> </a:t>
            </a:r>
            <a:r>
              <a:rPr sz="2100" spc="-10" dirty="0">
                <a:latin typeface="Times New Roman"/>
                <a:cs typeface="Times New Roman"/>
              </a:rPr>
              <a:t>structure.</a:t>
            </a:r>
            <a:endParaRPr sz="2100">
              <a:latin typeface="Times New Roman"/>
              <a:cs typeface="Times New Roman"/>
            </a:endParaRPr>
          </a:p>
        </p:txBody>
      </p:sp>
      <p:pic>
        <p:nvPicPr>
          <p:cNvPr id="4" name="object 4"/>
          <p:cNvPicPr/>
          <p:nvPr/>
        </p:nvPicPr>
        <p:blipFill>
          <a:blip r:embed="rId2" cstate="print"/>
          <a:stretch>
            <a:fillRect/>
          </a:stretch>
        </p:blipFill>
        <p:spPr>
          <a:xfrm>
            <a:off x="344424" y="201168"/>
            <a:ext cx="981456" cy="1100327"/>
          </a:xfrm>
          <a:prstGeom prst="rect">
            <a:avLst/>
          </a:prstGeom>
        </p:spPr>
      </p:pic>
      <p:pic>
        <p:nvPicPr>
          <p:cNvPr id="5" name="object 5"/>
          <p:cNvPicPr/>
          <p:nvPr/>
        </p:nvPicPr>
        <p:blipFill>
          <a:blip r:embed="rId3" cstate="print"/>
          <a:stretch>
            <a:fillRect/>
          </a:stretch>
        </p:blipFill>
        <p:spPr>
          <a:xfrm>
            <a:off x="7818119" y="103631"/>
            <a:ext cx="1051559" cy="1100328"/>
          </a:xfrm>
          <a:prstGeom prst="rect">
            <a:avLst/>
          </a:prstGeom>
        </p:spPr>
      </p:pic>
      <p:sp>
        <p:nvSpPr>
          <p:cNvPr id="6" name="object 6"/>
          <p:cNvSpPr txBox="1">
            <a:spLocks noGrp="1"/>
          </p:cNvSpPr>
          <p:nvPr>
            <p:ph type="ftr" sz="quarter" idx="5"/>
          </p:nvPr>
        </p:nvSpPr>
        <p:spPr>
          <a:prstGeom prst="rect">
            <a:avLst/>
          </a:prstGeom>
        </p:spPr>
        <p:txBody>
          <a:bodyPr vert="horz" wrap="square" lIns="0" tIns="3175" rIns="0" bIns="0" rtlCol="0">
            <a:spAutoFit/>
          </a:bodyPr>
          <a:lstStyle/>
          <a:p>
            <a:pPr marL="201295">
              <a:lnSpc>
                <a:spcPct val="100000"/>
              </a:lnSpc>
              <a:spcBef>
                <a:spcPts val="25"/>
              </a:spcBef>
            </a:pPr>
            <a:r>
              <a:rPr sz="900" b="0" dirty="0">
                <a:solidFill>
                  <a:srgbClr val="888888"/>
                </a:solidFill>
                <a:latin typeface="Arial MT"/>
                <a:cs typeface="Arial MT"/>
              </a:rPr>
              <a:t>Dept.</a:t>
            </a:r>
            <a:r>
              <a:rPr sz="900" b="0" spc="-10" dirty="0">
                <a:solidFill>
                  <a:srgbClr val="888888"/>
                </a:solidFill>
                <a:latin typeface="Arial MT"/>
                <a:cs typeface="Arial MT"/>
              </a:rPr>
              <a:t> </a:t>
            </a:r>
            <a:r>
              <a:rPr sz="900" b="0" dirty="0">
                <a:solidFill>
                  <a:srgbClr val="888888"/>
                </a:solidFill>
                <a:latin typeface="Arial MT"/>
                <a:cs typeface="Arial MT"/>
              </a:rPr>
              <a:t>of</a:t>
            </a:r>
            <a:r>
              <a:rPr sz="900" b="0" spc="-5" dirty="0">
                <a:solidFill>
                  <a:srgbClr val="888888"/>
                </a:solidFill>
                <a:latin typeface="Arial MT"/>
                <a:cs typeface="Arial MT"/>
              </a:rPr>
              <a:t> </a:t>
            </a:r>
            <a:r>
              <a:rPr sz="900" b="0" dirty="0">
                <a:solidFill>
                  <a:srgbClr val="888888"/>
                </a:solidFill>
                <a:latin typeface="Arial MT"/>
                <a:cs typeface="Arial MT"/>
              </a:rPr>
              <a:t>ECE</a:t>
            </a:r>
            <a:r>
              <a:rPr sz="900" b="0" spc="-20" dirty="0">
                <a:solidFill>
                  <a:srgbClr val="888888"/>
                </a:solidFill>
                <a:latin typeface="Arial MT"/>
                <a:cs typeface="Arial MT"/>
              </a:rPr>
              <a:t> </a:t>
            </a:r>
            <a:r>
              <a:rPr sz="900" b="0" dirty="0">
                <a:solidFill>
                  <a:srgbClr val="888888"/>
                </a:solidFill>
                <a:latin typeface="Arial MT"/>
                <a:cs typeface="Arial MT"/>
              </a:rPr>
              <a:t>2025-</a:t>
            </a:r>
            <a:r>
              <a:rPr sz="900" b="0" spc="-25" dirty="0">
                <a:solidFill>
                  <a:srgbClr val="888888"/>
                </a:solidFill>
                <a:latin typeface="Arial MT"/>
                <a:cs typeface="Arial MT"/>
              </a:rPr>
              <a:t>26</a:t>
            </a:r>
            <a:endParaRPr sz="900">
              <a:latin typeface="Arial MT"/>
              <a:cs typeface="Arial MT"/>
            </a:endParaRPr>
          </a:p>
        </p:txBody>
      </p:sp>
      <p:sp>
        <p:nvSpPr>
          <p:cNvPr id="7" name="object 7"/>
          <p:cNvSpPr txBox="1">
            <a:spLocks noGrp="1"/>
          </p:cNvSpPr>
          <p:nvPr>
            <p:ph type="sldNum" sz="quarter" idx="7"/>
          </p:nvPr>
        </p:nvSpPr>
        <p:spPr>
          <a:prstGeom prst="rect">
            <a:avLst/>
          </a:prstGeom>
        </p:spPr>
        <p:txBody>
          <a:bodyPr vert="horz" wrap="square" lIns="0" tIns="3175" rIns="0" bIns="0" rtlCol="0">
            <a:spAutoFit/>
          </a:bodyPr>
          <a:lstStyle/>
          <a:p>
            <a:pPr marL="62230">
              <a:lnSpc>
                <a:spcPct val="100000"/>
              </a:lnSpc>
              <a:spcBef>
                <a:spcPts val="25"/>
              </a:spcBef>
            </a:pPr>
            <a:fld id="{81D60167-4931-47E6-BA6A-407CBD079E47}" type="slidenum">
              <a:rPr sz="900" b="0" spc="-25" dirty="0">
                <a:solidFill>
                  <a:srgbClr val="888888"/>
                </a:solidFill>
                <a:latin typeface="Arial MT"/>
                <a:cs typeface="Arial MT"/>
              </a:rPr>
              <a:t>30</a:t>
            </a:fld>
            <a:endParaRPr sz="900">
              <a:latin typeface="Arial MT"/>
              <a:cs typeface="Arial MT"/>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1408" rIns="0" bIns="0" rtlCol="0">
            <a:spAutoFit/>
          </a:bodyPr>
          <a:lstStyle/>
          <a:p>
            <a:pPr marL="598170">
              <a:lnSpc>
                <a:spcPct val="100000"/>
              </a:lnSpc>
              <a:spcBef>
                <a:spcPts val="110"/>
              </a:spcBef>
            </a:pPr>
            <a:r>
              <a:rPr spc="-10" dirty="0"/>
              <a:t>Disadvantages</a:t>
            </a:r>
          </a:p>
        </p:txBody>
      </p:sp>
      <p:sp>
        <p:nvSpPr>
          <p:cNvPr id="3" name="object 3"/>
          <p:cNvSpPr txBox="1"/>
          <p:nvPr/>
        </p:nvSpPr>
        <p:spPr>
          <a:xfrm>
            <a:off x="823366" y="1849679"/>
            <a:ext cx="7614920" cy="1485900"/>
          </a:xfrm>
          <a:prstGeom prst="rect">
            <a:avLst/>
          </a:prstGeom>
        </p:spPr>
        <p:txBody>
          <a:bodyPr vert="horz" wrap="square" lIns="0" tIns="81915" rIns="0" bIns="0" rtlCol="0">
            <a:spAutoFit/>
          </a:bodyPr>
          <a:lstStyle/>
          <a:p>
            <a:pPr marL="353695" indent="-340995">
              <a:lnSpc>
                <a:spcPct val="100000"/>
              </a:lnSpc>
              <a:spcBef>
                <a:spcPts val="645"/>
              </a:spcBef>
              <a:buSzPct val="85714"/>
              <a:buFont typeface="Arial MT"/>
              <a:buChar char="•"/>
              <a:tabLst>
                <a:tab pos="353695" algn="l"/>
              </a:tabLst>
            </a:pPr>
            <a:r>
              <a:rPr sz="2100" dirty="0">
                <a:latin typeface="Times New Roman"/>
                <a:cs typeface="Times New Roman"/>
              </a:rPr>
              <a:t>Complexity</a:t>
            </a:r>
            <a:r>
              <a:rPr sz="2100" spc="-10" dirty="0">
                <a:latin typeface="Times New Roman"/>
                <a:cs typeface="Times New Roman"/>
              </a:rPr>
              <a:t> </a:t>
            </a:r>
            <a:r>
              <a:rPr sz="2100" dirty="0">
                <a:latin typeface="Times New Roman"/>
                <a:cs typeface="Times New Roman"/>
              </a:rPr>
              <a:t>and</a:t>
            </a:r>
            <a:r>
              <a:rPr sz="2100" spc="-65" dirty="0">
                <a:latin typeface="Times New Roman"/>
                <a:cs typeface="Times New Roman"/>
              </a:rPr>
              <a:t> </a:t>
            </a:r>
            <a:r>
              <a:rPr sz="2100" dirty="0">
                <a:latin typeface="Times New Roman"/>
                <a:cs typeface="Times New Roman"/>
              </a:rPr>
              <a:t>data</a:t>
            </a:r>
            <a:r>
              <a:rPr sz="2100" spc="-15" dirty="0">
                <a:latin typeface="Times New Roman"/>
                <a:cs typeface="Times New Roman"/>
              </a:rPr>
              <a:t> </a:t>
            </a:r>
            <a:r>
              <a:rPr sz="2100" spc="-10" dirty="0">
                <a:latin typeface="Times New Roman"/>
                <a:cs typeface="Times New Roman"/>
              </a:rPr>
              <a:t>overload</a:t>
            </a:r>
            <a:endParaRPr sz="2100">
              <a:latin typeface="Times New Roman"/>
              <a:cs typeface="Times New Roman"/>
            </a:endParaRPr>
          </a:p>
          <a:p>
            <a:pPr marL="353695" indent="-340995">
              <a:lnSpc>
                <a:spcPts val="2400"/>
              </a:lnSpc>
              <a:spcBef>
                <a:spcPts val="550"/>
              </a:spcBef>
              <a:buSzPct val="85714"/>
              <a:buFont typeface="Arial MT"/>
              <a:buChar char="•"/>
              <a:tabLst>
                <a:tab pos="353695" algn="l"/>
              </a:tabLst>
            </a:pPr>
            <a:r>
              <a:rPr sz="2100" dirty="0">
                <a:latin typeface="Times New Roman"/>
                <a:cs typeface="Times New Roman"/>
              </a:rPr>
              <a:t>Reduced</a:t>
            </a:r>
            <a:r>
              <a:rPr sz="2100" spc="100" dirty="0">
                <a:latin typeface="Times New Roman"/>
                <a:cs typeface="Times New Roman"/>
              </a:rPr>
              <a:t> </a:t>
            </a:r>
            <a:r>
              <a:rPr sz="2100" dirty="0">
                <a:latin typeface="Times New Roman"/>
                <a:cs typeface="Times New Roman"/>
              </a:rPr>
              <a:t>accuracy</a:t>
            </a:r>
            <a:r>
              <a:rPr sz="2100" spc="50" dirty="0">
                <a:latin typeface="Times New Roman"/>
                <a:cs typeface="Times New Roman"/>
              </a:rPr>
              <a:t> </a:t>
            </a:r>
            <a:r>
              <a:rPr sz="2100" dirty="0">
                <a:latin typeface="Times New Roman"/>
                <a:cs typeface="Times New Roman"/>
              </a:rPr>
              <a:t>and</a:t>
            </a:r>
            <a:r>
              <a:rPr sz="2100" spc="105" dirty="0">
                <a:latin typeface="Times New Roman"/>
                <a:cs typeface="Times New Roman"/>
              </a:rPr>
              <a:t> </a:t>
            </a:r>
            <a:r>
              <a:rPr sz="2100" dirty="0">
                <a:latin typeface="Times New Roman"/>
                <a:cs typeface="Times New Roman"/>
              </a:rPr>
              <a:t>reliability</a:t>
            </a:r>
            <a:r>
              <a:rPr sz="2100" spc="90" dirty="0">
                <a:latin typeface="Times New Roman"/>
                <a:cs typeface="Times New Roman"/>
              </a:rPr>
              <a:t> </a:t>
            </a:r>
            <a:r>
              <a:rPr sz="2100" dirty="0">
                <a:latin typeface="Times New Roman"/>
                <a:cs typeface="Times New Roman"/>
              </a:rPr>
              <a:t>due</a:t>
            </a:r>
            <a:r>
              <a:rPr sz="2100" spc="100" dirty="0">
                <a:latin typeface="Times New Roman"/>
                <a:cs typeface="Times New Roman"/>
              </a:rPr>
              <a:t> </a:t>
            </a:r>
            <a:r>
              <a:rPr sz="2100" dirty="0">
                <a:latin typeface="Times New Roman"/>
                <a:cs typeface="Times New Roman"/>
              </a:rPr>
              <a:t>to</a:t>
            </a:r>
            <a:r>
              <a:rPr sz="2100" spc="105" dirty="0">
                <a:latin typeface="Times New Roman"/>
                <a:cs typeface="Times New Roman"/>
              </a:rPr>
              <a:t> </a:t>
            </a:r>
            <a:r>
              <a:rPr sz="2100" dirty="0">
                <a:latin typeface="Times New Roman"/>
                <a:cs typeface="Times New Roman"/>
              </a:rPr>
              <a:t>sensor</a:t>
            </a:r>
            <a:r>
              <a:rPr sz="2100" spc="95" dirty="0">
                <a:latin typeface="Times New Roman"/>
                <a:cs typeface="Times New Roman"/>
              </a:rPr>
              <a:t> </a:t>
            </a:r>
            <a:r>
              <a:rPr sz="2100" dirty="0">
                <a:latin typeface="Times New Roman"/>
                <a:cs typeface="Times New Roman"/>
              </a:rPr>
              <a:t>challenges</a:t>
            </a:r>
            <a:r>
              <a:rPr sz="2100" spc="100" dirty="0">
                <a:latin typeface="Times New Roman"/>
                <a:cs typeface="Times New Roman"/>
              </a:rPr>
              <a:t> </a:t>
            </a:r>
            <a:r>
              <a:rPr sz="2100" dirty="0">
                <a:latin typeface="Times New Roman"/>
                <a:cs typeface="Times New Roman"/>
              </a:rPr>
              <a:t>in</a:t>
            </a:r>
            <a:r>
              <a:rPr sz="2100" spc="105" dirty="0">
                <a:latin typeface="Times New Roman"/>
                <a:cs typeface="Times New Roman"/>
              </a:rPr>
              <a:t> </a:t>
            </a:r>
            <a:r>
              <a:rPr sz="2100" spc="-10" dirty="0">
                <a:latin typeface="Times New Roman"/>
                <a:cs typeface="Times New Roman"/>
              </a:rPr>
              <a:t>harsh</a:t>
            </a:r>
            <a:endParaRPr sz="2100">
              <a:latin typeface="Times New Roman"/>
              <a:cs typeface="Times New Roman"/>
            </a:endParaRPr>
          </a:p>
          <a:p>
            <a:pPr marL="354330">
              <a:lnSpc>
                <a:spcPts val="2400"/>
              </a:lnSpc>
            </a:pPr>
            <a:r>
              <a:rPr sz="2100" spc="-10" dirty="0">
                <a:latin typeface="Times New Roman"/>
                <a:cs typeface="Times New Roman"/>
              </a:rPr>
              <a:t>environments</a:t>
            </a:r>
            <a:endParaRPr sz="2100">
              <a:latin typeface="Times New Roman"/>
              <a:cs typeface="Times New Roman"/>
            </a:endParaRPr>
          </a:p>
          <a:p>
            <a:pPr marL="353695" indent="-340995">
              <a:lnSpc>
                <a:spcPct val="100000"/>
              </a:lnSpc>
              <a:spcBef>
                <a:spcPts val="555"/>
              </a:spcBef>
              <a:buSzPct val="85714"/>
              <a:buFont typeface="Arial MT"/>
              <a:buChar char="•"/>
              <a:tabLst>
                <a:tab pos="353695" algn="l"/>
              </a:tabLst>
            </a:pPr>
            <a:r>
              <a:rPr sz="2100" dirty="0">
                <a:latin typeface="Times New Roman"/>
                <a:cs typeface="Times New Roman"/>
              </a:rPr>
              <a:t>Periodic</a:t>
            </a:r>
            <a:r>
              <a:rPr sz="2100" spc="-55" dirty="0">
                <a:latin typeface="Times New Roman"/>
                <a:cs typeface="Times New Roman"/>
              </a:rPr>
              <a:t> </a:t>
            </a:r>
            <a:r>
              <a:rPr sz="2100" dirty="0">
                <a:latin typeface="Times New Roman"/>
                <a:cs typeface="Times New Roman"/>
              </a:rPr>
              <a:t>and</a:t>
            </a:r>
            <a:r>
              <a:rPr sz="2100" spc="-45" dirty="0">
                <a:latin typeface="Times New Roman"/>
                <a:cs typeface="Times New Roman"/>
              </a:rPr>
              <a:t> </a:t>
            </a:r>
            <a:r>
              <a:rPr sz="2100" dirty="0">
                <a:latin typeface="Times New Roman"/>
                <a:cs typeface="Times New Roman"/>
              </a:rPr>
              <a:t>disruptive</a:t>
            </a:r>
            <a:r>
              <a:rPr sz="2100" spc="-20" dirty="0">
                <a:latin typeface="Times New Roman"/>
                <a:cs typeface="Times New Roman"/>
              </a:rPr>
              <a:t> </a:t>
            </a:r>
            <a:r>
              <a:rPr sz="2100" dirty="0">
                <a:latin typeface="Times New Roman"/>
                <a:cs typeface="Times New Roman"/>
              </a:rPr>
              <a:t>sensor</a:t>
            </a:r>
            <a:r>
              <a:rPr sz="2100" spc="-65" dirty="0">
                <a:latin typeface="Times New Roman"/>
                <a:cs typeface="Times New Roman"/>
              </a:rPr>
              <a:t> </a:t>
            </a:r>
            <a:r>
              <a:rPr sz="2100" dirty="0">
                <a:latin typeface="Times New Roman"/>
                <a:cs typeface="Times New Roman"/>
              </a:rPr>
              <a:t>replacement</a:t>
            </a:r>
            <a:r>
              <a:rPr sz="2100" spc="5" dirty="0">
                <a:latin typeface="Times New Roman"/>
                <a:cs typeface="Times New Roman"/>
              </a:rPr>
              <a:t> </a:t>
            </a:r>
            <a:r>
              <a:rPr sz="2100" dirty="0">
                <a:latin typeface="Times New Roman"/>
                <a:cs typeface="Times New Roman"/>
              </a:rPr>
              <a:t>due</a:t>
            </a:r>
            <a:r>
              <a:rPr sz="2100" spc="-40" dirty="0">
                <a:latin typeface="Times New Roman"/>
                <a:cs typeface="Times New Roman"/>
              </a:rPr>
              <a:t> </a:t>
            </a:r>
            <a:r>
              <a:rPr sz="2100" dirty="0">
                <a:latin typeface="Times New Roman"/>
                <a:cs typeface="Times New Roman"/>
              </a:rPr>
              <a:t>to</a:t>
            </a:r>
            <a:r>
              <a:rPr sz="2100" spc="-35" dirty="0">
                <a:latin typeface="Times New Roman"/>
                <a:cs typeface="Times New Roman"/>
              </a:rPr>
              <a:t> </a:t>
            </a:r>
            <a:r>
              <a:rPr sz="2100" dirty="0">
                <a:latin typeface="Times New Roman"/>
                <a:cs typeface="Times New Roman"/>
              </a:rPr>
              <a:t>finite</a:t>
            </a:r>
            <a:r>
              <a:rPr sz="2100" spc="-10" dirty="0">
                <a:latin typeface="Times New Roman"/>
                <a:cs typeface="Times New Roman"/>
              </a:rPr>
              <a:t> lifespan.</a:t>
            </a:r>
            <a:endParaRPr sz="2100">
              <a:latin typeface="Times New Roman"/>
              <a:cs typeface="Times New Roman"/>
            </a:endParaRPr>
          </a:p>
        </p:txBody>
      </p:sp>
      <p:pic>
        <p:nvPicPr>
          <p:cNvPr id="4" name="object 4"/>
          <p:cNvPicPr/>
          <p:nvPr/>
        </p:nvPicPr>
        <p:blipFill>
          <a:blip r:embed="rId2" cstate="print"/>
          <a:stretch>
            <a:fillRect/>
          </a:stretch>
        </p:blipFill>
        <p:spPr>
          <a:xfrm>
            <a:off x="344424" y="201168"/>
            <a:ext cx="981456" cy="1100327"/>
          </a:xfrm>
          <a:prstGeom prst="rect">
            <a:avLst/>
          </a:prstGeom>
        </p:spPr>
      </p:pic>
      <p:pic>
        <p:nvPicPr>
          <p:cNvPr id="5" name="object 5"/>
          <p:cNvPicPr/>
          <p:nvPr/>
        </p:nvPicPr>
        <p:blipFill>
          <a:blip r:embed="rId3" cstate="print"/>
          <a:stretch>
            <a:fillRect/>
          </a:stretch>
        </p:blipFill>
        <p:spPr>
          <a:xfrm>
            <a:off x="7818119" y="103631"/>
            <a:ext cx="1051559" cy="1100328"/>
          </a:xfrm>
          <a:prstGeom prst="rect">
            <a:avLst/>
          </a:prstGeom>
        </p:spPr>
      </p:pic>
      <p:sp>
        <p:nvSpPr>
          <p:cNvPr id="6" name="object 6"/>
          <p:cNvSpPr txBox="1">
            <a:spLocks noGrp="1"/>
          </p:cNvSpPr>
          <p:nvPr>
            <p:ph type="ftr" sz="quarter" idx="5"/>
          </p:nvPr>
        </p:nvSpPr>
        <p:spPr>
          <a:prstGeom prst="rect">
            <a:avLst/>
          </a:prstGeom>
        </p:spPr>
        <p:txBody>
          <a:bodyPr vert="horz" wrap="square" lIns="0" tIns="3175" rIns="0" bIns="0" rtlCol="0">
            <a:spAutoFit/>
          </a:bodyPr>
          <a:lstStyle/>
          <a:p>
            <a:pPr marL="201295">
              <a:lnSpc>
                <a:spcPct val="100000"/>
              </a:lnSpc>
              <a:spcBef>
                <a:spcPts val="25"/>
              </a:spcBef>
            </a:pPr>
            <a:r>
              <a:rPr sz="900" b="0" dirty="0">
                <a:solidFill>
                  <a:srgbClr val="888888"/>
                </a:solidFill>
                <a:latin typeface="Arial MT"/>
                <a:cs typeface="Arial MT"/>
              </a:rPr>
              <a:t>Dept.</a:t>
            </a:r>
            <a:r>
              <a:rPr sz="900" b="0" spc="-10" dirty="0">
                <a:solidFill>
                  <a:srgbClr val="888888"/>
                </a:solidFill>
                <a:latin typeface="Arial MT"/>
                <a:cs typeface="Arial MT"/>
              </a:rPr>
              <a:t> </a:t>
            </a:r>
            <a:r>
              <a:rPr sz="900" b="0" dirty="0">
                <a:solidFill>
                  <a:srgbClr val="888888"/>
                </a:solidFill>
                <a:latin typeface="Arial MT"/>
                <a:cs typeface="Arial MT"/>
              </a:rPr>
              <a:t>of</a:t>
            </a:r>
            <a:r>
              <a:rPr sz="900" b="0" spc="-5" dirty="0">
                <a:solidFill>
                  <a:srgbClr val="888888"/>
                </a:solidFill>
                <a:latin typeface="Arial MT"/>
                <a:cs typeface="Arial MT"/>
              </a:rPr>
              <a:t> </a:t>
            </a:r>
            <a:r>
              <a:rPr sz="900" b="0" dirty="0">
                <a:solidFill>
                  <a:srgbClr val="888888"/>
                </a:solidFill>
                <a:latin typeface="Arial MT"/>
                <a:cs typeface="Arial MT"/>
              </a:rPr>
              <a:t>ECE</a:t>
            </a:r>
            <a:r>
              <a:rPr sz="900" b="0" spc="-20" dirty="0">
                <a:solidFill>
                  <a:srgbClr val="888888"/>
                </a:solidFill>
                <a:latin typeface="Arial MT"/>
                <a:cs typeface="Arial MT"/>
              </a:rPr>
              <a:t> </a:t>
            </a:r>
            <a:r>
              <a:rPr sz="900" b="0" dirty="0">
                <a:solidFill>
                  <a:srgbClr val="888888"/>
                </a:solidFill>
                <a:latin typeface="Arial MT"/>
                <a:cs typeface="Arial MT"/>
              </a:rPr>
              <a:t>2025-</a:t>
            </a:r>
            <a:r>
              <a:rPr sz="900" b="0" spc="-25" dirty="0">
                <a:solidFill>
                  <a:srgbClr val="888888"/>
                </a:solidFill>
                <a:latin typeface="Arial MT"/>
                <a:cs typeface="Arial MT"/>
              </a:rPr>
              <a:t>26</a:t>
            </a:r>
            <a:endParaRPr sz="900">
              <a:latin typeface="Arial MT"/>
              <a:cs typeface="Arial MT"/>
            </a:endParaRPr>
          </a:p>
        </p:txBody>
      </p:sp>
      <p:sp>
        <p:nvSpPr>
          <p:cNvPr id="7" name="object 7"/>
          <p:cNvSpPr txBox="1">
            <a:spLocks noGrp="1"/>
          </p:cNvSpPr>
          <p:nvPr>
            <p:ph type="sldNum" sz="quarter" idx="7"/>
          </p:nvPr>
        </p:nvSpPr>
        <p:spPr>
          <a:prstGeom prst="rect">
            <a:avLst/>
          </a:prstGeom>
        </p:spPr>
        <p:txBody>
          <a:bodyPr vert="horz" wrap="square" lIns="0" tIns="3175" rIns="0" bIns="0" rtlCol="0">
            <a:spAutoFit/>
          </a:bodyPr>
          <a:lstStyle/>
          <a:p>
            <a:pPr marL="62230">
              <a:lnSpc>
                <a:spcPct val="100000"/>
              </a:lnSpc>
              <a:spcBef>
                <a:spcPts val="25"/>
              </a:spcBef>
            </a:pPr>
            <a:fld id="{81D60167-4931-47E6-BA6A-407CBD079E47}" type="slidenum">
              <a:rPr sz="900" b="0" spc="-25" dirty="0">
                <a:solidFill>
                  <a:srgbClr val="888888"/>
                </a:solidFill>
                <a:latin typeface="Arial MT"/>
                <a:cs typeface="Arial MT"/>
              </a:rPr>
              <a:t>31</a:t>
            </a:fld>
            <a:endParaRPr sz="900">
              <a:latin typeface="Arial MT"/>
              <a:cs typeface="Arial MT"/>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50644" y="275920"/>
            <a:ext cx="6000623" cy="1071369"/>
          </a:xfrm>
          <a:prstGeom prst="rect">
            <a:avLst/>
          </a:prstGeom>
        </p:spPr>
        <p:txBody>
          <a:bodyPr vert="horz" wrap="square" lIns="0" tIns="451408" rIns="0" bIns="0" rtlCol="0">
            <a:spAutoFit/>
          </a:bodyPr>
          <a:lstStyle/>
          <a:p>
            <a:pPr marL="610235">
              <a:lnSpc>
                <a:spcPct val="100000"/>
              </a:lnSpc>
              <a:spcBef>
                <a:spcPts val="110"/>
              </a:spcBef>
            </a:pPr>
            <a:r>
              <a:rPr sz="4000" spc="-10" dirty="0"/>
              <a:t>Conclusion</a:t>
            </a:r>
          </a:p>
        </p:txBody>
      </p:sp>
      <p:sp>
        <p:nvSpPr>
          <p:cNvPr id="6" name="object 6"/>
          <p:cNvSpPr txBox="1">
            <a:spLocks noGrp="1"/>
          </p:cNvSpPr>
          <p:nvPr>
            <p:ph type="ftr" sz="quarter" idx="5"/>
          </p:nvPr>
        </p:nvSpPr>
        <p:spPr>
          <a:prstGeom prst="rect">
            <a:avLst/>
          </a:prstGeom>
        </p:spPr>
        <p:txBody>
          <a:bodyPr vert="horz" wrap="square" lIns="0" tIns="3175" rIns="0" bIns="0" rtlCol="0">
            <a:spAutoFit/>
          </a:bodyPr>
          <a:lstStyle/>
          <a:p>
            <a:pPr marL="201295">
              <a:lnSpc>
                <a:spcPct val="100000"/>
              </a:lnSpc>
              <a:spcBef>
                <a:spcPts val="25"/>
              </a:spcBef>
            </a:pPr>
            <a:r>
              <a:rPr sz="900" b="0" dirty="0">
                <a:solidFill>
                  <a:srgbClr val="888888"/>
                </a:solidFill>
                <a:latin typeface="Arial MT"/>
                <a:cs typeface="Arial MT"/>
              </a:rPr>
              <a:t>Dept.</a:t>
            </a:r>
            <a:r>
              <a:rPr sz="900" b="0" spc="-10" dirty="0">
                <a:solidFill>
                  <a:srgbClr val="888888"/>
                </a:solidFill>
                <a:latin typeface="Arial MT"/>
                <a:cs typeface="Arial MT"/>
              </a:rPr>
              <a:t> </a:t>
            </a:r>
            <a:r>
              <a:rPr sz="900" b="0" dirty="0">
                <a:solidFill>
                  <a:srgbClr val="888888"/>
                </a:solidFill>
                <a:latin typeface="Arial MT"/>
                <a:cs typeface="Arial MT"/>
              </a:rPr>
              <a:t>of</a:t>
            </a:r>
            <a:r>
              <a:rPr sz="900" b="0" spc="-5" dirty="0">
                <a:solidFill>
                  <a:srgbClr val="888888"/>
                </a:solidFill>
                <a:latin typeface="Arial MT"/>
                <a:cs typeface="Arial MT"/>
              </a:rPr>
              <a:t> </a:t>
            </a:r>
            <a:r>
              <a:rPr sz="900" b="0" dirty="0">
                <a:solidFill>
                  <a:srgbClr val="888888"/>
                </a:solidFill>
                <a:latin typeface="Arial MT"/>
                <a:cs typeface="Arial MT"/>
              </a:rPr>
              <a:t>ECE</a:t>
            </a:r>
            <a:r>
              <a:rPr sz="900" b="0" spc="-20" dirty="0">
                <a:solidFill>
                  <a:srgbClr val="888888"/>
                </a:solidFill>
                <a:latin typeface="Arial MT"/>
                <a:cs typeface="Arial MT"/>
              </a:rPr>
              <a:t> </a:t>
            </a:r>
            <a:r>
              <a:rPr sz="900" b="0" dirty="0">
                <a:solidFill>
                  <a:srgbClr val="888888"/>
                </a:solidFill>
                <a:latin typeface="Arial MT"/>
                <a:cs typeface="Arial MT"/>
              </a:rPr>
              <a:t>2025-</a:t>
            </a:r>
            <a:r>
              <a:rPr sz="900" b="0" spc="-25" dirty="0">
                <a:solidFill>
                  <a:srgbClr val="888888"/>
                </a:solidFill>
                <a:latin typeface="Arial MT"/>
                <a:cs typeface="Arial MT"/>
              </a:rPr>
              <a:t>26</a:t>
            </a:r>
            <a:endParaRPr sz="900">
              <a:latin typeface="Arial MT"/>
              <a:cs typeface="Arial MT"/>
            </a:endParaRPr>
          </a:p>
        </p:txBody>
      </p:sp>
      <p:sp>
        <p:nvSpPr>
          <p:cNvPr id="7" name="object 7"/>
          <p:cNvSpPr txBox="1">
            <a:spLocks noGrp="1"/>
          </p:cNvSpPr>
          <p:nvPr>
            <p:ph type="sldNum" sz="quarter" idx="7"/>
          </p:nvPr>
        </p:nvSpPr>
        <p:spPr>
          <a:prstGeom prst="rect">
            <a:avLst/>
          </a:prstGeom>
        </p:spPr>
        <p:txBody>
          <a:bodyPr vert="horz" wrap="square" lIns="0" tIns="3175" rIns="0" bIns="0" rtlCol="0">
            <a:spAutoFit/>
          </a:bodyPr>
          <a:lstStyle/>
          <a:p>
            <a:pPr marL="62230">
              <a:lnSpc>
                <a:spcPct val="100000"/>
              </a:lnSpc>
              <a:spcBef>
                <a:spcPts val="25"/>
              </a:spcBef>
            </a:pPr>
            <a:fld id="{81D60167-4931-47E6-BA6A-407CBD079E47}" type="slidenum">
              <a:rPr sz="900" b="0" spc="-25" dirty="0">
                <a:solidFill>
                  <a:srgbClr val="888888"/>
                </a:solidFill>
                <a:latin typeface="Arial MT"/>
                <a:cs typeface="Arial MT"/>
              </a:rPr>
              <a:t>32</a:t>
            </a:fld>
            <a:endParaRPr sz="900">
              <a:latin typeface="Arial MT"/>
              <a:cs typeface="Arial MT"/>
            </a:endParaRPr>
          </a:p>
        </p:txBody>
      </p:sp>
      <p:pic>
        <p:nvPicPr>
          <p:cNvPr id="4" name="object 4"/>
          <p:cNvPicPr/>
          <p:nvPr/>
        </p:nvPicPr>
        <p:blipFill>
          <a:blip r:embed="rId2" cstate="print"/>
          <a:stretch>
            <a:fillRect/>
          </a:stretch>
        </p:blipFill>
        <p:spPr>
          <a:xfrm>
            <a:off x="344424" y="201168"/>
            <a:ext cx="981456" cy="1100327"/>
          </a:xfrm>
          <a:prstGeom prst="rect">
            <a:avLst/>
          </a:prstGeom>
        </p:spPr>
      </p:pic>
      <p:pic>
        <p:nvPicPr>
          <p:cNvPr id="5" name="object 5"/>
          <p:cNvPicPr/>
          <p:nvPr/>
        </p:nvPicPr>
        <p:blipFill>
          <a:blip r:embed="rId3" cstate="print"/>
          <a:stretch>
            <a:fillRect/>
          </a:stretch>
        </p:blipFill>
        <p:spPr>
          <a:xfrm>
            <a:off x="7818119" y="103631"/>
            <a:ext cx="1051559" cy="1100328"/>
          </a:xfrm>
          <a:prstGeom prst="rect">
            <a:avLst/>
          </a:prstGeom>
        </p:spPr>
      </p:pic>
      <p:sp>
        <p:nvSpPr>
          <p:cNvPr id="10" name="Rectangle 2">
            <a:extLst>
              <a:ext uri="{FF2B5EF4-FFF2-40B4-BE49-F238E27FC236}">
                <a16:creationId xmlns:a16="http://schemas.microsoft.com/office/drawing/2014/main" id="{51FB7C41-A833-E2E0-DDF1-43D7481F1309}"/>
              </a:ext>
            </a:extLst>
          </p:cNvPr>
          <p:cNvSpPr>
            <a:spLocks noGrp="1" noChangeArrowheads="1"/>
          </p:cNvSpPr>
          <p:nvPr>
            <p:ph type="body" idx="1"/>
          </p:nvPr>
        </p:nvSpPr>
        <p:spPr bwMode="auto">
          <a:xfrm>
            <a:off x="344424" y="1752600"/>
            <a:ext cx="8525254" cy="2806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Integrating crack detection and water level monitoring is essential for dam safety as it helps prevent failures, floods, and damage to critical infrastructure. Although these systems involve high costs and technical challenges in harsh environments, they provide early warnings and improve water resource management. Overall, protecting human life and ensuring safe and responsible water management makes these advanced monitoring systems absolutely necessary.</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43225" y="385648"/>
            <a:ext cx="2753360" cy="512445"/>
          </a:xfrm>
          <a:prstGeom prst="rect">
            <a:avLst/>
          </a:prstGeom>
        </p:spPr>
        <p:txBody>
          <a:bodyPr vert="horz" wrap="square" lIns="0" tIns="12065" rIns="0" bIns="0" rtlCol="0">
            <a:spAutoFit/>
          </a:bodyPr>
          <a:lstStyle/>
          <a:p>
            <a:pPr marL="12700">
              <a:lnSpc>
                <a:spcPct val="100000"/>
              </a:lnSpc>
              <a:spcBef>
                <a:spcPts val="95"/>
              </a:spcBef>
            </a:pPr>
            <a:r>
              <a:rPr sz="3200" spc="-10" dirty="0"/>
              <a:t>REFERENCES</a:t>
            </a:r>
            <a:endParaRPr sz="3200"/>
          </a:p>
        </p:txBody>
      </p:sp>
      <p:sp>
        <p:nvSpPr>
          <p:cNvPr id="3" name="object 3"/>
          <p:cNvSpPr txBox="1"/>
          <p:nvPr/>
        </p:nvSpPr>
        <p:spPr>
          <a:xfrm>
            <a:off x="201879" y="1414348"/>
            <a:ext cx="8575675" cy="4472305"/>
          </a:xfrm>
          <a:prstGeom prst="rect">
            <a:avLst/>
          </a:prstGeom>
        </p:spPr>
        <p:txBody>
          <a:bodyPr vert="horz" wrap="square" lIns="0" tIns="67310" rIns="0" bIns="0" rtlCol="0">
            <a:spAutoFit/>
          </a:bodyPr>
          <a:lstStyle/>
          <a:p>
            <a:pPr marL="182880" marR="50800" indent="-113030">
              <a:lnSpc>
                <a:spcPct val="80100"/>
              </a:lnSpc>
              <a:spcBef>
                <a:spcPts val="530"/>
              </a:spcBef>
              <a:buAutoNum type="arabicPeriod"/>
              <a:tabLst>
                <a:tab pos="182880" algn="l"/>
                <a:tab pos="288290" algn="l"/>
              </a:tabLst>
            </a:pPr>
            <a:r>
              <a:rPr sz="1800" spc="-125" dirty="0">
                <a:latin typeface="Times New Roman"/>
                <a:cs typeface="Times New Roman"/>
              </a:rPr>
              <a:t>	Y.</a:t>
            </a:r>
            <a:r>
              <a:rPr sz="1800" spc="10" dirty="0">
                <a:latin typeface="Times New Roman"/>
                <a:cs typeface="Times New Roman"/>
              </a:rPr>
              <a:t> </a:t>
            </a:r>
            <a:r>
              <a:rPr sz="1800" dirty="0">
                <a:latin typeface="Times New Roman"/>
                <a:cs typeface="Times New Roman"/>
              </a:rPr>
              <a:t>Xu,</a:t>
            </a:r>
            <a:r>
              <a:rPr sz="1800" spc="-110" dirty="0">
                <a:latin typeface="Times New Roman"/>
                <a:cs typeface="Times New Roman"/>
              </a:rPr>
              <a:t> </a:t>
            </a:r>
            <a:r>
              <a:rPr sz="1800" spc="-30" dirty="0">
                <a:latin typeface="Times New Roman"/>
                <a:cs typeface="Times New Roman"/>
              </a:rPr>
              <a:t>T.</a:t>
            </a:r>
            <a:r>
              <a:rPr sz="1800" spc="15" dirty="0">
                <a:latin typeface="Times New Roman"/>
                <a:cs typeface="Times New Roman"/>
              </a:rPr>
              <a:t> </a:t>
            </a:r>
            <a:r>
              <a:rPr sz="1800" dirty="0">
                <a:latin typeface="Times New Roman"/>
                <a:cs typeface="Times New Roman"/>
              </a:rPr>
              <a:t>Bao,</a:t>
            </a:r>
            <a:r>
              <a:rPr sz="1800" spc="-30" dirty="0">
                <a:latin typeface="Times New Roman"/>
                <a:cs typeface="Times New Roman"/>
              </a:rPr>
              <a:t> </a:t>
            </a:r>
            <a:r>
              <a:rPr sz="1800" dirty="0">
                <a:latin typeface="Times New Roman"/>
                <a:cs typeface="Times New Roman"/>
              </a:rPr>
              <a:t>M.</a:t>
            </a:r>
            <a:r>
              <a:rPr sz="1800" spc="-100" dirty="0">
                <a:latin typeface="Times New Roman"/>
                <a:cs typeface="Times New Roman"/>
              </a:rPr>
              <a:t> </a:t>
            </a:r>
            <a:r>
              <a:rPr sz="1800" spc="-30" dirty="0">
                <a:latin typeface="Times New Roman"/>
                <a:cs typeface="Times New Roman"/>
              </a:rPr>
              <a:t>Yuan,</a:t>
            </a:r>
            <a:r>
              <a:rPr sz="1800" spc="-35" dirty="0">
                <a:latin typeface="Times New Roman"/>
                <a:cs typeface="Times New Roman"/>
              </a:rPr>
              <a:t> </a:t>
            </a:r>
            <a:r>
              <a:rPr sz="1800" dirty="0">
                <a:latin typeface="Times New Roman"/>
                <a:cs typeface="Times New Roman"/>
              </a:rPr>
              <a:t>and</a:t>
            </a:r>
            <a:r>
              <a:rPr sz="1800" spc="-25" dirty="0">
                <a:latin typeface="Times New Roman"/>
                <a:cs typeface="Times New Roman"/>
              </a:rPr>
              <a:t> </a:t>
            </a:r>
            <a:r>
              <a:rPr sz="1800" dirty="0">
                <a:latin typeface="Times New Roman"/>
                <a:cs typeface="Times New Roman"/>
              </a:rPr>
              <a:t>S.</a:t>
            </a:r>
            <a:r>
              <a:rPr sz="1800" spc="-35" dirty="0">
                <a:latin typeface="Times New Roman"/>
                <a:cs typeface="Times New Roman"/>
              </a:rPr>
              <a:t> </a:t>
            </a:r>
            <a:r>
              <a:rPr sz="1800" dirty="0">
                <a:latin typeface="Times New Roman"/>
                <a:cs typeface="Times New Roman"/>
              </a:rPr>
              <a:t>Zhang,</a:t>
            </a:r>
            <a:r>
              <a:rPr sz="1800" spc="-30" dirty="0">
                <a:latin typeface="Times New Roman"/>
                <a:cs typeface="Times New Roman"/>
              </a:rPr>
              <a:t> </a:t>
            </a:r>
            <a:r>
              <a:rPr sz="1800" dirty="0">
                <a:latin typeface="Times New Roman"/>
                <a:cs typeface="Times New Roman"/>
              </a:rPr>
              <a:t>"A</a:t>
            </a:r>
            <a:r>
              <a:rPr sz="1800" spc="-90" dirty="0">
                <a:latin typeface="Times New Roman"/>
                <a:cs typeface="Times New Roman"/>
              </a:rPr>
              <a:t> </a:t>
            </a:r>
            <a:r>
              <a:rPr sz="1800" dirty="0">
                <a:latin typeface="Times New Roman"/>
                <a:cs typeface="Times New Roman"/>
              </a:rPr>
              <a:t>Reservoir</a:t>
            </a:r>
            <a:r>
              <a:rPr sz="1800" spc="-15" dirty="0">
                <a:latin typeface="Times New Roman"/>
                <a:cs typeface="Times New Roman"/>
              </a:rPr>
              <a:t> </a:t>
            </a:r>
            <a:r>
              <a:rPr sz="1800" dirty="0">
                <a:latin typeface="Times New Roman"/>
                <a:cs typeface="Times New Roman"/>
              </a:rPr>
              <a:t>Dam</a:t>
            </a:r>
            <a:r>
              <a:rPr sz="1800" spc="-5" dirty="0">
                <a:latin typeface="Times New Roman"/>
                <a:cs typeface="Times New Roman"/>
              </a:rPr>
              <a:t> </a:t>
            </a:r>
            <a:r>
              <a:rPr sz="1800" dirty="0">
                <a:latin typeface="Times New Roman"/>
                <a:cs typeface="Times New Roman"/>
              </a:rPr>
              <a:t>Monitoring</a:t>
            </a:r>
            <a:r>
              <a:rPr sz="1800" spc="-110" dirty="0">
                <a:latin typeface="Times New Roman"/>
                <a:cs typeface="Times New Roman"/>
              </a:rPr>
              <a:t> </a:t>
            </a:r>
            <a:r>
              <a:rPr sz="1800" spc="-10" dirty="0">
                <a:latin typeface="Times New Roman"/>
                <a:cs typeface="Times New Roman"/>
              </a:rPr>
              <a:t>Technology </a:t>
            </a:r>
            <a:r>
              <a:rPr sz="1800" dirty="0">
                <a:latin typeface="Times New Roman"/>
                <a:cs typeface="Times New Roman"/>
              </a:rPr>
              <a:t>Integrating</a:t>
            </a:r>
            <a:r>
              <a:rPr sz="1800" spc="-40" dirty="0">
                <a:latin typeface="Times New Roman"/>
                <a:cs typeface="Times New Roman"/>
              </a:rPr>
              <a:t> </a:t>
            </a:r>
            <a:r>
              <a:rPr sz="1800" spc="-10" dirty="0">
                <a:latin typeface="Times New Roman"/>
                <a:cs typeface="Times New Roman"/>
              </a:rPr>
              <a:t>Improved</a:t>
            </a:r>
            <a:r>
              <a:rPr sz="1800" spc="-90" dirty="0">
                <a:latin typeface="Times New Roman"/>
                <a:cs typeface="Times New Roman"/>
              </a:rPr>
              <a:t> </a:t>
            </a:r>
            <a:r>
              <a:rPr sz="1800" dirty="0">
                <a:latin typeface="Times New Roman"/>
                <a:cs typeface="Times New Roman"/>
              </a:rPr>
              <a:t>ABC</a:t>
            </a:r>
            <a:r>
              <a:rPr sz="1800" spc="-80" dirty="0">
                <a:latin typeface="Times New Roman"/>
                <a:cs typeface="Times New Roman"/>
              </a:rPr>
              <a:t> </a:t>
            </a:r>
            <a:r>
              <a:rPr sz="1800" dirty="0">
                <a:latin typeface="Times New Roman"/>
                <a:cs typeface="Times New Roman"/>
              </a:rPr>
              <a:t>Algorithm</a:t>
            </a:r>
            <a:r>
              <a:rPr sz="1800" spc="-20" dirty="0">
                <a:latin typeface="Times New Roman"/>
                <a:cs typeface="Times New Roman"/>
              </a:rPr>
              <a:t> </a:t>
            </a:r>
            <a:r>
              <a:rPr sz="1800" dirty="0">
                <a:latin typeface="Times New Roman"/>
                <a:cs typeface="Times New Roman"/>
              </a:rPr>
              <a:t>and</a:t>
            </a:r>
            <a:r>
              <a:rPr sz="1800" spc="-25" dirty="0">
                <a:latin typeface="Times New Roman"/>
                <a:cs typeface="Times New Roman"/>
              </a:rPr>
              <a:t> </a:t>
            </a:r>
            <a:r>
              <a:rPr sz="1800" dirty="0">
                <a:latin typeface="Times New Roman"/>
                <a:cs typeface="Times New Roman"/>
              </a:rPr>
              <a:t>SVM</a:t>
            </a:r>
            <a:r>
              <a:rPr sz="1800" spc="-130" dirty="0">
                <a:latin typeface="Times New Roman"/>
                <a:cs typeface="Times New Roman"/>
              </a:rPr>
              <a:t> </a:t>
            </a:r>
            <a:r>
              <a:rPr sz="1800" dirty="0">
                <a:latin typeface="Times New Roman"/>
                <a:cs typeface="Times New Roman"/>
              </a:rPr>
              <a:t>Algorithm,"</a:t>
            </a:r>
            <a:r>
              <a:rPr sz="1800" spc="-5" dirty="0">
                <a:latin typeface="Times New Roman"/>
                <a:cs typeface="Times New Roman"/>
              </a:rPr>
              <a:t> </a:t>
            </a:r>
            <a:r>
              <a:rPr sz="1800" spc="-35" dirty="0">
                <a:latin typeface="Times New Roman"/>
                <a:cs typeface="Times New Roman"/>
              </a:rPr>
              <a:t>Water,</a:t>
            </a:r>
            <a:r>
              <a:rPr sz="1800" spc="10" dirty="0">
                <a:latin typeface="Times New Roman"/>
                <a:cs typeface="Times New Roman"/>
              </a:rPr>
              <a:t> </a:t>
            </a:r>
            <a:r>
              <a:rPr sz="1800" dirty="0">
                <a:latin typeface="Times New Roman"/>
                <a:cs typeface="Times New Roman"/>
              </a:rPr>
              <a:t>vol.</a:t>
            </a:r>
            <a:r>
              <a:rPr sz="1800" spc="-30" dirty="0">
                <a:latin typeface="Times New Roman"/>
                <a:cs typeface="Times New Roman"/>
              </a:rPr>
              <a:t> </a:t>
            </a:r>
            <a:r>
              <a:rPr sz="1800" dirty="0">
                <a:latin typeface="Times New Roman"/>
                <a:cs typeface="Times New Roman"/>
              </a:rPr>
              <a:t>17,</a:t>
            </a:r>
            <a:r>
              <a:rPr sz="1800" spc="-50" dirty="0">
                <a:latin typeface="Times New Roman"/>
                <a:cs typeface="Times New Roman"/>
              </a:rPr>
              <a:t> </a:t>
            </a:r>
            <a:r>
              <a:rPr sz="1800" dirty="0">
                <a:latin typeface="Times New Roman"/>
                <a:cs typeface="Times New Roman"/>
              </a:rPr>
              <a:t>no.</a:t>
            </a:r>
            <a:r>
              <a:rPr sz="1800" spc="-30" dirty="0">
                <a:latin typeface="Times New Roman"/>
                <a:cs typeface="Times New Roman"/>
              </a:rPr>
              <a:t> </a:t>
            </a:r>
            <a:r>
              <a:rPr sz="1800" dirty="0">
                <a:latin typeface="Times New Roman"/>
                <a:cs typeface="Times New Roman"/>
              </a:rPr>
              <a:t>302,</a:t>
            </a:r>
            <a:r>
              <a:rPr sz="1800" spc="-55" dirty="0">
                <a:latin typeface="Times New Roman"/>
                <a:cs typeface="Times New Roman"/>
              </a:rPr>
              <a:t> </a:t>
            </a:r>
            <a:r>
              <a:rPr sz="1800" dirty="0">
                <a:latin typeface="Times New Roman"/>
                <a:cs typeface="Times New Roman"/>
              </a:rPr>
              <a:t>pp.</a:t>
            </a:r>
            <a:r>
              <a:rPr sz="1800" spc="-55" dirty="0">
                <a:latin typeface="Times New Roman"/>
                <a:cs typeface="Times New Roman"/>
              </a:rPr>
              <a:t> </a:t>
            </a:r>
            <a:r>
              <a:rPr sz="1800" spc="-25" dirty="0">
                <a:latin typeface="Times New Roman"/>
                <a:cs typeface="Times New Roman"/>
              </a:rPr>
              <a:t>1- </a:t>
            </a:r>
            <a:r>
              <a:rPr sz="1800" dirty="0">
                <a:latin typeface="Times New Roman"/>
                <a:cs typeface="Times New Roman"/>
              </a:rPr>
              <a:t>16,</a:t>
            </a:r>
            <a:r>
              <a:rPr sz="1800" spc="-15" dirty="0">
                <a:latin typeface="Times New Roman"/>
                <a:cs typeface="Times New Roman"/>
              </a:rPr>
              <a:t> </a:t>
            </a:r>
            <a:r>
              <a:rPr sz="1800" dirty="0">
                <a:latin typeface="Times New Roman"/>
                <a:cs typeface="Times New Roman"/>
              </a:rPr>
              <a:t>Jan.</a:t>
            </a:r>
            <a:r>
              <a:rPr sz="1800" spc="-15" dirty="0">
                <a:latin typeface="Times New Roman"/>
                <a:cs typeface="Times New Roman"/>
              </a:rPr>
              <a:t> </a:t>
            </a:r>
            <a:r>
              <a:rPr sz="1800" spc="-20" dirty="0">
                <a:latin typeface="Times New Roman"/>
                <a:cs typeface="Times New Roman"/>
              </a:rPr>
              <a:t>2025.</a:t>
            </a:r>
            <a:endParaRPr sz="1800">
              <a:latin typeface="Times New Roman"/>
              <a:cs typeface="Times New Roman"/>
            </a:endParaRPr>
          </a:p>
          <a:p>
            <a:pPr marL="182880" marR="422275" indent="-170815">
              <a:lnSpc>
                <a:spcPct val="80000"/>
              </a:lnSpc>
              <a:spcBef>
                <a:spcPts val="1730"/>
              </a:spcBef>
              <a:buAutoNum type="arabicPeriod"/>
              <a:tabLst>
                <a:tab pos="182880" algn="l"/>
                <a:tab pos="227965" algn="l"/>
              </a:tabLst>
            </a:pPr>
            <a:r>
              <a:rPr sz="1800" dirty="0">
                <a:latin typeface="Times New Roman"/>
                <a:cs typeface="Times New Roman"/>
              </a:rPr>
              <a:t>	A.</a:t>
            </a:r>
            <a:r>
              <a:rPr sz="1800" spc="-15" dirty="0">
                <a:latin typeface="Times New Roman"/>
                <a:cs typeface="Times New Roman"/>
              </a:rPr>
              <a:t> </a:t>
            </a:r>
            <a:r>
              <a:rPr sz="1800" dirty="0">
                <a:latin typeface="Times New Roman"/>
                <a:cs typeface="Times New Roman"/>
              </a:rPr>
              <a:t>Conde,</a:t>
            </a:r>
            <a:r>
              <a:rPr sz="1800" spc="-65" dirty="0">
                <a:latin typeface="Times New Roman"/>
                <a:cs typeface="Times New Roman"/>
              </a:rPr>
              <a:t> </a:t>
            </a:r>
            <a:r>
              <a:rPr sz="1800" dirty="0">
                <a:latin typeface="Times New Roman"/>
                <a:cs typeface="Times New Roman"/>
              </a:rPr>
              <a:t>M.</a:t>
            </a:r>
            <a:r>
              <a:rPr sz="1800" spc="-45" dirty="0">
                <a:latin typeface="Times New Roman"/>
                <a:cs typeface="Times New Roman"/>
              </a:rPr>
              <a:t> </a:t>
            </a:r>
            <a:r>
              <a:rPr sz="1800" dirty="0">
                <a:latin typeface="Times New Roman"/>
                <a:cs typeface="Times New Roman"/>
              </a:rPr>
              <a:t>Á.</a:t>
            </a:r>
            <a:r>
              <a:rPr sz="1800" spc="-40" dirty="0">
                <a:latin typeface="Times New Roman"/>
                <a:cs typeface="Times New Roman"/>
              </a:rPr>
              <a:t> </a:t>
            </a:r>
            <a:r>
              <a:rPr sz="1800" spc="-10" dirty="0">
                <a:latin typeface="Times New Roman"/>
                <a:cs typeface="Times New Roman"/>
              </a:rPr>
              <a:t>Toledo,</a:t>
            </a:r>
            <a:r>
              <a:rPr sz="1800" spc="-40" dirty="0">
                <a:latin typeface="Times New Roman"/>
                <a:cs typeface="Times New Roman"/>
              </a:rPr>
              <a:t> </a:t>
            </a:r>
            <a:r>
              <a:rPr sz="1800" dirty="0">
                <a:latin typeface="Times New Roman"/>
                <a:cs typeface="Times New Roman"/>
              </a:rPr>
              <a:t>and</a:t>
            </a:r>
            <a:r>
              <a:rPr sz="1800" spc="-35" dirty="0">
                <a:latin typeface="Times New Roman"/>
                <a:cs typeface="Times New Roman"/>
              </a:rPr>
              <a:t> </a:t>
            </a:r>
            <a:r>
              <a:rPr sz="1800" dirty="0">
                <a:latin typeface="Times New Roman"/>
                <a:cs typeface="Times New Roman"/>
              </a:rPr>
              <a:t>E.</a:t>
            </a:r>
            <a:r>
              <a:rPr sz="1800" spc="-20" dirty="0">
                <a:latin typeface="Times New Roman"/>
                <a:cs typeface="Times New Roman"/>
              </a:rPr>
              <a:t> </a:t>
            </a:r>
            <a:r>
              <a:rPr sz="1800" dirty="0">
                <a:latin typeface="Times New Roman"/>
                <a:cs typeface="Times New Roman"/>
              </a:rPr>
              <a:t>Salete,</a:t>
            </a:r>
            <a:r>
              <a:rPr sz="1800" spc="-40" dirty="0">
                <a:latin typeface="Times New Roman"/>
                <a:cs typeface="Times New Roman"/>
              </a:rPr>
              <a:t> </a:t>
            </a:r>
            <a:r>
              <a:rPr sz="1800" dirty="0">
                <a:latin typeface="Times New Roman"/>
                <a:cs typeface="Times New Roman"/>
              </a:rPr>
              <a:t>"Impact</a:t>
            </a:r>
            <a:r>
              <a:rPr sz="1800" spc="25" dirty="0">
                <a:latin typeface="Times New Roman"/>
                <a:cs typeface="Times New Roman"/>
              </a:rPr>
              <a:t> </a:t>
            </a:r>
            <a:r>
              <a:rPr sz="1800" dirty="0">
                <a:latin typeface="Times New Roman"/>
                <a:cs typeface="Times New Roman"/>
              </a:rPr>
              <a:t>of</a:t>
            </a:r>
            <a:r>
              <a:rPr sz="1800" spc="-114" dirty="0">
                <a:latin typeface="Times New Roman"/>
                <a:cs typeface="Times New Roman"/>
              </a:rPr>
              <a:t> </a:t>
            </a:r>
            <a:r>
              <a:rPr sz="1800" dirty="0">
                <a:latin typeface="Times New Roman"/>
                <a:cs typeface="Times New Roman"/>
              </a:rPr>
              <a:t>Arch</a:t>
            </a:r>
            <a:r>
              <a:rPr sz="1800" spc="5" dirty="0">
                <a:latin typeface="Times New Roman"/>
                <a:cs typeface="Times New Roman"/>
              </a:rPr>
              <a:t> </a:t>
            </a:r>
            <a:r>
              <a:rPr sz="1800" dirty="0">
                <a:latin typeface="Times New Roman"/>
                <a:cs typeface="Times New Roman"/>
              </a:rPr>
              <a:t>Dam</a:t>
            </a:r>
            <a:r>
              <a:rPr sz="1800" spc="-10" dirty="0">
                <a:latin typeface="Times New Roman"/>
                <a:cs typeface="Times New Roman"/>
              </a:rPr>
              <a:t> </a:t>
            </a:r>
            <a:r>
              <a:rPr sz="1800" dirty="0">
                <a:latin typeface="Times New Roman"/>
                <a:cs typeface="Times New Roman"/>
              </a:rPr>
              <a:t>Cracking</a:t>
            </a:r>
            <a:r>
              <a:rPr sz="1800" spc="-35" dirty="0">
                <a:latin typeface="Times New Roman"/>
                <a:cs typeface="Times New Roman"/>
              </a:rPr>
              <a:t> </a:t>
            </a:r>
            <a:r>
              <a:rPr sz="1800" dirty="0">
                <a:latin typeface="Times New Roman"/>
                <a:cs typeface="Times New Roman"/>
              </a:rPr>
              <a:t>on</a:t>
            </a:r>
            <a:r>
              <a:rPr sz="1800" spc="-40" dirty="0">
                <a:latin typeface="Times New Roman"/>
                <a:cs typeface="Times New Roman"/>
              </a:rPr>
              <a:t> </a:t>
            </a:r>
            <a:r>
              <a:rPr sz="1800" spc="-10" dirty="0">
                <a:latin typeface="Times New Roman"/>
                <a:cs typeface="Times New Roman"/>
              </a:rPr>
              <a:t>Monitoring Data,"</a:t>
            </a:r>
            <a:r>
              <a:rPr sz="1800" spc="-75" dirty="0">
                <a:latin typeface="Times New Roman"/>
                <a:cs typeface="Times New Roman"/>
              </a:rPr>
              <a:t> </a:t>
            </a:r>
            <a:r>
              <a:rPr sz="1800" dirty="0">
                <a:latin typeface="Times New Roman"/>
                <a:cs typeface="Times New Roman"/>
              </a:rPr>
              <a:t>Applied</a:t>
            </a:r>
            <a:r>
              <a:rPr sz="1800" spc="-5" dirty="0">
                <a:latin typeface="Times New Roman"/>
                <a:cs typeface="Times New Roman"/>
              </a:rPr>
              <a:t> </a:t>
            </a:r>
            <a:r>
              <a:rPr sz="1800" dirty="0">
                <a:latin typeface="Times New Roman"/>
                <a:cs typeface="Times New Roman"/>
              </a:rPr>
              <a:t>Sciences,</a:t>
            </a:r>
            <a:r>
              <a:rPr sz="1800" spc="15" dirty="0">
                <a:latin typeface="Times New Roman"/>
                <a:cs typeface="Times New Roman"/>
              </a:rPr>
              <a:t> </a:t>
            </a:r>
            <a:r>
              <a:rPr sz="1800" dirty="0">
                <a:latin typeface="Times New Roman"/>
                <a:cs typeface="Times New Roman"/>
              </a:rPr>
              <a:t>vol.</a:t>
            </a:r>
            <a:r>
              <a:rPr sz="1800" spc="15" dirty="0">
                <a:latin typeface="Times New Roman"/>
                <a:cs typeface="Times New Roman"/>
              </a:rPr>
              <a:t> </a:t>
            </a:r>
            <a:r>
              <a:rPr sz="1800" dirty="0">
                <a:latin typeface="Times New Roman"/>
                <a:cs typeface="Times New Roman"/>
              </a:rPr>
              <a:t>15,</a:t>
            </a:r>
            <a:r>
              <a:rPr sz="1800" spc="-35" dirty="0">
                <a:latin typeface="Times New Roman"/>
                <a:cs typeface="Times New Roman"/>
              </a:rPr>
              <a:t> </a:t>
            </a:r>
            <a:r>
              <a:rPr sz="1800" dirty="0">
                <a:latin typeface="Times New Roman"/>
                <a:cs typeface="Times New Roman"/>
              </a:rPr>
              <a:t>no.</a:t>
            </a:r>
            <a:r>
              <a:rPr sz="1800" spc="-5" dirty="0">
                <a:latin typeface="Times New Roman"/>
                <a:cs typeface="Times New Roman"/>
              </a:rPr>
              <a:t> </a:t>
            </a:r>
            <a:r>
              <a:rPr sz="1800" dirty="0">
                <a:latin typeface="Times New Roman"/>
                <a:cs typeface="Times New Roman"/>
              </a:rPr>
              <a:t>1096,</a:t>
            </a:r>
            <a:r>
              <a:rPr sz="1800" spc="-60" dirty="0">
                <a:latin typeface="Times New Roman"/>
                <a:cs typeface="Times New Roman"/>
              </a:rPr>
              <a:t> </a:t>
            </a:r>
            <a:r>
              <a:rPr sz="1800" dirty="0">
                <a:latin typeface="Times New Roman"/>
                <a:cs typeface="Times New Roman"/>
              </a:rPr>
              <a:t>pp.</a:t>
            </a:r>
            <a:r>
              <a:rPr sz="1800" spc="-5" dirty="0">
                <a:latin typeface="Times New Roman"/>
                <a:cs typeface="Times New Roman"/>
              </a:rPr>
              <a:t> </a:t>
            </a:r>
            <a:r>
              <a:rPr sz="1800" dirty="0">
                <a:latin typeface="Times New Roman"/>
                <a:cs typeface="Times New Roman"/>
              </a:rPr>
              <a:t>1-20,</a:t>
            </a:r>
            <a:r>
              <a:rPr sz="1800" spc="-30" dirty="0">
                <a:latin typeface="Times New Roman"/>
                <a:cs typeface="Times New Roman"/>
              </a:rPr>
              <a:t> </a:t>
            </a:r>
            <a:r>
              <a:rPr sz="1800" dirty="0">
                <a:latin typeface="Times New Roman"/>
                <a:cs typeface="Times New Roman"/>
              </a:rPr>
              <a:t>Jan.</a:t>
            </a:r>
            <a:r>
              <a:rPr sz="1800" spc="-5" dirty="0">
                <a:latin typeface="Times New Roman"/>
                <a:cs typeface="Times New Roman"/>
              </a:rPr>
              <a:t> </a:t>
            </a:r>
            <a:r>
              <a:rPr sz="1800" spc="-10" dirty="0">
                <a:latin typeface="Times New Roman"/>
                <a:cs typeface="Times New Roman"/>
              </a:rPr>
              <a:t>2025.</a:t>
            </a:r>
            <a:endParaRPr sz="1800">
              <a:latin typeface="Times New Roman"/>
              <a:cs typeface="Times New Roman"/>
            </a:endParaRPr>
          </a:p>
          <a:p>
            <a:pPr marL="182880" marR="325755" indent="-170815" algn="just">
              <a:lnSpc>
                <a:spcPct val="80000"/>
              </a:lnSpc>
              <a:spcBef>
                <a:spcPts val="1730"/>
              </a:spcBef>
              <a:buAutoNum type="arabicPeriod"/>
              <a:tabLst>
                <a:tab pos="182880" algn="l"/>
                <a:tab pos="240029" algn="l"/>
              </a:tabLst>
            </a:pPr>
            <a:r>
              <a:rPr sz="1800" dirty="0">
                <a:latin typeface="Times New Roman"/>
                <a:cs typeface="Times New Roman"/>
              </a:rPr>
              <a:t>	D.</a:t>
            </a:r>
            <a:r>
              <a:rPr sz="1800" spc="-65" dirty="0">
                <a:latin typeface="Times New Roman"/>
                <a:cs typeface="Times New Roman"/>
              </a:rPr>
              <a:t> </a:t>
            </a:r>
            <a:r>
              <a:rPr sz="1800" dirty="0">
                <a:latin typeface="Times New Roman"/>
                <a:cs typeface="Times New Roman"/>
              </a:rPr>
              <a:t>Chen,</a:t>
            </a:r>
            <a:r>
              <a:rPr sz="1800" spc="-35" dirty="0">
                <a:latin typeface="Times New Roman"/>
                <a:cs typeface="Times New Roman"/>
              </a:rPr>
              <a:t> </a:t>
            </a:r>
            <a:r>
              <a:rPr sz="1800" dirty="0">
                <a:latin typeface="Times New Roman"/>
                <a:cs typeface="Times New Roman"/>
              </a:rPr>
              <a:t>B.</a:t>
            </a:r>
            <a:r>
              <a:rPr sz="1800" spc="-40" dirty="0">
                <a:latin typeface="Times New Roman"/>
                <a:cs typeface="Times New Roman"/>
              </a:rPr>
              <a:t> </a:t>
            </a:r>
            <a:r>
              <a:rPr sz="1800" dirty="0">
                <a:latin typeface="Times New Roman"/>
                <a:cs typeface="Times New Roman"/>
              </a:rPr>
              <a:t>Huang,</a:t>
            </a:r>
            <a:r>
              <a:rPr sz="1800" spc="-20" dirty="0">
                <a:latin typeface="Times New Roman"/>
                <a:cs typeface="Times New Roman"/>
              </a:rPr>
              <a:t> </a:t>
            </a:r>
            <a:r>
              <a:rPr sz="1800" dirty="0">
                <a:latin typeface="Times New Roman"/>
                <a:cs typeface="Times New Roman"/>
              </a:rPr>
              <a:t>and</a:t>
            </a:r>
            <a:r>
              <a:rPr sz="1800" spc="-30" dirty="0">
                <a:latin typeface="Times New Roman"/>
                <a:cs typeface="Times New Roman"/>
              </a:rPr>
              <a:t> </a:t>
            </a:r>
            <a:r>
              <a:rPr sz="1800" spc="-50" dirty="0">
                <a:latin typeface="Times New Roman"/>
                <a:cs typeface="Times New Roman"/>
              </a:rPr>
              <a:t>F.</a:t>
            </a:r>
            <a:r>
              <a:rPr sz="1800" spc="-40" dirty="0">
                <a:latin typeface="Times New Roman"/>
                <a:cs typeface="Times New Roman"/>
              </a:rPr>
              <a:t> </a:t>
            </a:r>
            <a:r>
              <a:rPr sz="1800" dirty="0">
                <a:latin typeface="Times New Roman"/>
                <a:cs typeface="Times New Roman"/>
              </a:rPr>
              <a:t>Kang,</a:t>
            </a:r>
            <a:r>
              <a:rPr sz="1800" spc="-20" dirty="0">
                <a:latin typeface="Times New Roman"/>
                <a:cs typeface="Times New Roman"/>
              </a:rPr>
              <a:t> </a:t>
            </a:r>
            <a:r>
              <a:rPr sz="1800" spc="-30" dirty="0">
                <a:latin typeface="Times New Roman"/>
                <a:cs typeface="Times New Roman"/>
              </a:rPr>
              <a:t>"A</a:t>
            </a:r>
            <a:r>
              <a:rPr sz="1800" spc="-80" dirty="0">
                <a:latin typeface="Times New Roman"/>
                <a:cs typeface="Times New Roman"/>
              </a:rPr>
              <a:t> </a:t>
            </a:r>
            <a:r>
              <a:rPr sz="1800" dirty="0">
                <a:latin typeface="Times New Roman"/>
                <a:cs typeface="Times New Roman"/>
              </a:rPr>
              <a:t>Review</a:t>
            </a:r>
            <a:r>
              <a:rPr sz="1800" spc="-5" dirty="0">
                <a:latin typeface="Times New Roman"/>
                <a:cs typeface="Times New Roman"/>
              </a:rPr>
              <a:t> </a:t>
            </a:r>
            <a:r>
              <a:rPr sz="1800" dirty="0">
                <a:latin typeface="Times New Roman"/>
                <a:cs typeface="Times New Roman"/>
              </a:rPr>
              <a:t>of</a:t>
            </a:r>
            <a:r>
              <a:rPr sz="1800" spc="-45" dirty="0">
                <a:latin typeface="Times New Roman"/>
                <a:cs typeface="Times New Roman"/>
              </a:rPr>
              <a:t> </a:t>
            </a:r>
            <a:r>
              <a:rPr sz="1800" dirty="0">
                <a:latin typeface="Times New Roman"/>
                <a:cs typeface="Times New Roman"/>
              </a:rPr>
              <a:t>Detection</a:t>
            </a:r>
            <a:r>
              <a:rPr sz="1800" spc="-55" dirty="0">
                <a:latin typeface="Times New Roman"/>
                <a:cs typeface="Times New Roman"/>
              </a:rPr>
              <a:t> </a:t>
            </a:r>
            <a:r>
              <a:rPr sz="1800" spc="-10" dirty="0">
                <a:latin typeface="Times New Roman"/>
                <a:cs typeface="Times New Roman"/>
              </a:rPr>
              <a:t>Technologies</a:t>
            </a:r>
            <a:r>
              <a:rPr sz="1800" spc="-30" dirty="0">
                <a:latin typeface="Times New Roman"/>
                <a:cs typeface="Times New Roman"/>
              </a:rPr>
              <a:t> </a:t>
            </a:r>
            <a:r>
              <a:rPr sz="1800" dirty="0">
                <a:latin typeface="Times New Roman"/>
                <a:cs typeface="Times New Roman"/>
              </a:rPr>
              <a:t>for</a:t>
            </a:r>
            <a:r>
              <a:rPr sz="1800" spc="-20" dirty="0">
                <a:latin typeface="Times New Roman"/>
                <a:cs typeface="Times New Roman"/>
              </a:rPr>
              <a:t> </a:t>
            </a:r>
            <a:r>
              <a:rPr sz="1800" spc="-10" dirty="0">
                <a:latin typeface="Times New Roman"/>
                <a:cs typeface="Times New Roman"/>
              </a:rPr>
              <a:t>Underwater </a:t>
            </a:r>
            <a:r>
              <a:rPr sz="1800" dirty="0">
                <a:latin typeface="Times New Roman"/>
                <a:cs typeface="Times New Roman"/>
              </a:rPr>
              <a:t>Cracks</a:t>
            </a:r>
            <a:r>
              <a:rPr sz="1800" spc="15" dirty="0">
                <a:latin typeface="Times New Roman"/>
                <a:cs typeface="Times New Roman"/>
              </a:rPr>
              <a:t> </a:t>
            </a:r>
            <a:r>
              <a:rPr sz="1800" dirty="0">
                <a:latin typeface="Times New Roman"/>
                <a:cs typeface="Times New Roman"/>
              </a:rPr>
              <a:t>on</a:t>
            </a:r>
            <a:r>
              <a:rPr sz="1800" spc="-10" dirty="0">
                <a:latin typeface="Times New Roman"/>
                <a:cs typeface="Times New Roman"/>
              </a:rPr>
              <a:t> </a:t>
            </a:r>
            <a:r>
              <a:rPr sz="1800" dirty="0">
                <a:latin typeface="Times New Roman"/>
                <a:cs typeface="Times New Roman"/>
              </a:rPr>
              <a:t>Concrete</a:t>
            </a:r>
            <a:r>
              <a:rPr sz="1800" spc="-25" dirty="0">
                <a:latin typeface="Times New Roman"/>
                <a:cs typeface="Times New Roman"/>
              </a:rPr>
              <a:t> </a:t>
            </a:r>
            <a:r>
              <a:rPr sz="1800" dirty="0">
                <a:latin typeface="Times New Roman"/>
                <a:cs typeface="Times New Roman"/>
              </a:rPr>
              <a:t>Dam</a:t>
            </a:r>
            <a:r>
              <a:rPr sz="1800" spc="15" dirty="0">
                <a:latin typeface="Times New Roman"/>
                <a:cs typeface="Times New Roman"/>
              </a:rPr>
              <a:t> </a:t>
            </a:r>
            <a:r>
              <a:rPr sz="1800" spc="-10" dirty="0">
                <a:latin typeface="Times New Roman"/>
                <a:cs typeface="Times New Roman"/>
              </a:rPr>
              <a:t>Surfaces,"</a:t>
            </a:r>
            <a:r>
              <a:rPr sz="1800" spc="-80" dirty="0">
                <a:latin typeface="Times New Roman"/>
                <a:cs typeface="Times New Roman"/>
              </a:rPr>
              <a:t> </a:t>
            </a:r>
            <a:r>
              <a:rPr sz="1800" dirty="0">
                <a:latin typeface="Times New Roman"/>
                <a:cs typeface="Times New Roman"/>
              </a:rPr>
              <a:t>Applied</a:t>
            </a:r>
            <a:r>
              <a:rPr sz="1800" spc="10" dirty="0">
                <a:latin typeface="Times New Roman"/>
                <a:cs typeface="Times New Roman"/>
              </a:rPr>
              <a:t> </a:t>
            </a:r>
            <a:r>
              <a:rPr sz="1800" dirty="0">
                <a:latin typeface="Times New Roman"/>
                <a:cs typeface="Times New Roman"/>
              </a:rPr>
              <a:t>Sciences, vol.</a:t>
            </a:r>
            <a:r>
              <a:rPr sz="1800" spc="-15" dirty="0">
                <a:latin typeface="Times New Roman"/>
                <a:cs typeface="Times New Roman"/>
              </a:rPr>
              <a:t> </a:t>
            </a:r>
            <a:r>
              <a:rPr sz="1800" dirty="0">
                <a:latin typeface="Times New Roman"/>
                <a:cs typeface="Times New Roman"/>
              </a:rPr>
              <a:t>13,</a:t>
            </a:r>
            <a:r>
              <a:rPr sz="1800" spc="-15" dirty="0">
                <a:latin typeface="Times New Roman"/>
                <a:cs typeface="Times New Roman"/>
              </a:rPr>
              <a:t> </a:t>
            </a:r>
            <a:r>
              <a:rPr sz="1800" dirty="0">
                <a:latin typeface="Times New Roman"/>
                <a:cs typeface="Times New Roman"/>
              </a:rPr>
              <a:t>no.</a:t>
            </a:r>
            <a:r>
              <a:rPr sz="1800" spc="-45" dirty="0">
                <a:latin typeface="Times New Roman"/>
                <a:cs typeface="Times New Roman"/>
              </a:rPr>
              <a:t> </a:t>
            </a:r>
            <a:r>
              <a:rPr sz="1800" dirty="0">
                <a:latin typeface="Times New Roman"/>
                <a:cs typeface="Times New Roman"/>
              </a:rPr>
              <a:t>3564,</a:t>
            </a:r>
            <a:r>
              <a:rPr sz="1800" spc="-40" dirty="0">
                <a:latin typeface="Times New Roman"/>
                <a:cs typeface="Times New Roman"/>
              </a:rPr>
              <a:t> </a:t>
            </a:r>
            <a:r>
              <a:rPr sz="1800" dirty="0">
                <a:latin typeface="Times New Roman"/>
                <a:cs typeface="Times New Roman"/>
              </a:rPr>
              <a:t>pp.</a:t>
            </a:r>
            <a:r>
              <a:rPr sz="1800" spc="-40" dirty="0">
                <a:latin typeface="Times New Roman"/>
                <a:cs typeface="Times New Roman"/>
              </a:rPr>
              <a:t> </a:t>
            </a:r>
            <a:r>
              <a:rPr sz="1800" dirty="0">
                <a:latin typeface="Times New Roman"/>
                <a:cs typeface="Times New Roman"/>
              </a:rPr>
              <a:t>1-17,</a:t>
            </a:r>
            <a:r>
              <a:rPr sz="1800" spc="-40" dirty="0">
                <a:latin typeface="Times New Roman"/>
                <a:cs typeface="Times New Roman"/>
              </a:rPr>
              <a:t> </a:t>
            </a:r>
            <a:r>
              <a:rPr sz="1800" spc="-20" dirty="0">
                <a:latin typeface="Times New Roman"/>
                <a:cs typeface="Times New Roman"/>
              </a:rPr>
              <a:t>Mar. </a:t>
            </a:r>
            <a:r>
              <a:rPr sz="1800" spc="-10" dirty="0">
                <a:latin typeface="Times New Roman"/>
                <a:cs typeface="Times New Roman"/>
              </a:rPr>
              <a:t>2023.</a:t>
            </a:r>
            <a:endParaRPr sz="1800">
              <a:latin typeface="Times New Roman"/>
              <a:cs typeface="Times New Roman"/>
            </a:endParaRPr>
          </a:p>
          <a:p>
            <a:pPr marL="182880" marR="59055" indent="-170815">
              <a:lnSpc>
                <a:spcPts val="1730"/>
              </a:lnSpc>
              <a:spcBef>
                <a:spcPts val="1714"/>
              </a:spcBef>
              <a:buAutoNum type="arabicPeriod"/>
              <a:tabLst>
                <a:tab pos="182880" algn="l"/>
                <a:tab pos="240029" algn="l"/>
              </a:tabLst>
            </a:pPr>
            <a:r>
              <a:rPr sz="1800" dirty="0">
                <a:latin typeface="Times New Roman"/>
                <a:cs typeface="Times New Roman"/>
              </a:rPr>
              <a:t>	J.</a:t>
            </a:r>
            <a:r>
              <a:rPr sz="1800" spc="-40" dirty="0">
                <a:latin typeface="Times New Roman"/>
                <a:cs typeface="Times New Roman"/>
              </a:rPr>
              <a:t> </a:t>
            </a:r>
            <a:r>
              <a:rPr sz="1800" dirty="0">
                <a:latin typeface="Times New Roman"/>
                <a:cs typeface="Times New Roman"/>
              </a:rPr>
              <a:t>Li,</a:t>
            </a:r>
            <a:r>
              <a:rPr sz="1800" spc="-15" dirty="0">
                <a:latin typeface="Times New Roman"/>
                <a:cs typeface="Times New Roman"/>
              </a:rPr>
              <a:t> </a:t>
            </a:r>
            <a:r>
              <a:rPr sz="1800" dirty="0">
                <a:latin typeface="Times New Roman"/>
                <a:cs typeface="Times New Roman"/>
              </a:rPr>
              <a:t>X.</a:t>
            </a:r>
            <a:r>
              <a:rPr sz="1800" spc="-35" dirty="0">
                <a:latin typeface="Times New Roman"/>
                <a:cs typeface="Times New Roman"/>
              </a:rPr>
              <a:t> </a:t>
            </a:r>
            <a:r>
              <a:rPr sz="1800" dirty="0">
                <a:latin typeface="Times New Roman"/>
                <a:cs typeface="Times New Roman"/>
              </a:rPr>
              <a:t>Lu,</a:t>
            </a:r>
            <a:r>
              <a:rPr sz="1800" spc="-35" dirty="0">
                <a:latin typeface="Times New Roman"/>
                <a:cs typeface="Times New Roman"/>
              </a:rPr>
              <a:t> </a:t>
            </a:r>
            <a:r>
              <a:rPr sz="1800" spc="-85" dirty="0">
                <a:latin typeface="Times New Roman"/>
                <a:cs typeface="Times New Roman"/>
              </a:rPr>
              <a:t>P.</a:t>
            </a:r>
            <a:r>
              <a:rPr sz="1800" spc="-40" dirty="0">
                <a:latin typeface="Times New Roman"/>
                <a:cs typeface="Times New Roman"/>
              </a:rPr>
              <a:t> </a:t>
            </a:r>
            <a:r>
              <a:rPr sz="1800" dirty="0">
                <a:latin typeface="Times New Roman"/>
                <a:cs typeface="Times New Roman"/>
              </a:rPr>
              <a:t>Zhang,</a:t>
            </a:r>
            <a:r>
              <a:rPr sz="1800" spc="-40" dirty="0">
                <a:latin typeface="Times New Roman"/>
                <a:cs typeface="Times New Roman"/>
              </a:rPr>
              <a:t> </a:t>
            </a:r>
            <a:r>
              <a:rPr sz="1800" dirty="0">
                <a:latin typeface="Times New Roman"/>
                <a:cs typeface="Times New Roman"/>
              </a:rPr>
              <a:t>and</a:t>
            </a:r>
            <a:r>
              <a:rPr sz="1800" spc="-30" dirty="0">
                <a:latin typeface="Times New Roman"/>
                <a:cs typeface="Times New Roman"/>
              </a:rPr>
              <a:t> </a:t>
            </a:r>
            <a:r>
              <a:rPr sz="1800" dirty="0">
                <a:latin typeface="Times New Roman"/>
                <a:cs typeface="Times New Roman"/>
              </a:rPr>
              <a:t>Q.</a:t>
            </a:r>
            <a:r>
              <a:rPr sz="1800" spc="-15" dirty="0">
                <a:latin typeface="Times New Roman"/>
                <a:cs typeface="Times New Roman"/>
              </a:rPr>
              <a:t> </a:t>
            </a:r>
            <a:r>
              <a:rPr sz="1800" dirty="0">
                <a:latin typeface="Times New Roman"/>
                <a:cs typeface="Times New Roman"/>
              </a:rPr>
              <a:t>Li,</a:t>
            </a:r>
            <a:r>
              <a:rPr sz="1800" spc="-15" dirty="0">
                <a:latin typeface="Times New Roman"/>
                <a:cs typeface="Times New Roman"/>
              </a:rPr>
              <a:t> </a:t>
            </a:r>
            <a:r>
              <a:rPr sz="1800" dirty="0">
                <a:latin typeface="Times New Roman"/>
                <a:cs typeface="Times New Roman"/>
              </a:rPr>
              <a:t>"Intelligent</a:t>
            </a:r>
            <a:r>
              <a:rPr sz="1800" spc="-20" dirty="0">
                <a:latin typeface="Times New Roman"/>
                <a:cs typeface="Times New Roman"/>
              </a:rPr>
              <a:t> </a:t>
            </a:r>
            <a:r>
              <a:rPr sz="1800" dirty="0">
                <a:latin typeface="Times New Roman"/>
                <a:cs typeface="Times New Roman"/>
              </a:rPr>
              <a:t>Detection</a:t>
            </a:r>
            <a:r>
              <a:rPr sz="1800" spc="-10" dirty="0">
                <a:latin typeface="Times New Roman"/>
                <a:cs typeface="Times New Roman"/>
              </a:rPr>
              <a:t> </a:t>
            </a:r>
            <a:r>
              <a:rPr sz="1800" dirty="0">
                <a:latin typeface="Times New Roman"/>
                <a:cs typeface="Times New Roman"/>
              </a:rPr>
              <a:t>Method</a:t>
            </a:r>
            <a:r>
              <a:rPr sz="1800" spc="-55" dirty="0">
                <a:latin typeface="Times New Roman"/>
                <a:cs typeface="Times New Roman"/>
              </a:rPr>
              <a:t> </a:t>
            </a:r>
            <a:r>
              <a:rPr sz="1800" dirty="0">
                <a:latin typeface="Times New Roman"/>
                <a:cs typeface="Times New Roman"/>
              </a:rPr>
              <a:t>for</a:t>
            </a:r>
            <a:r>
              <a:rPr sz="1800" spc="-20" dirty="0">
                <a:latin typeface="Times New Roman"/>
                <a:cs typeface="Times New Roman"/>
              </a:rPr>
              <a:t> </a:t>
            </a:r>
            <a:r>
              <a:rPr sz="1800" dirty="0">
                <a:latin typeface="Times New Roman"/>
                <a:cs typeface="Times New Roman"/>
              </a:rPr>
              <a:t>Concrete</a:t>
            </a:r>
            <a:r>
              <a:rPr sz="1800" spc="-45" dirty="0">
                <a:latin typeface="Times New Roman"/>
                <a:cs typeface="Times New Roman"/>
              </a:rPr>
              <a:t> </a:t>
            </a:r>
            <a:r>
              <a:rPr sz="1800" dirty="0">
                <a:latin typeface="Times New Roman"/>
                <a:cs typeface="Times New Roman"/>
              </a:rPr>
              <a:t>Dam</a:t>
            </a:r>
            <a:r>
              <a:rPr sz="1800" spc="-10" dirty="0">
                <a:latin typeface="Times New Roman"/>
                <a:cs typeface="Times New Roman"/>
              </a:rPr>
              <a:t> Surface </a:t>
            </a:r>
            <a:r>
              <a:rPr sz="1800" dirty="0">
                <a:latin typeface="Times New Roman"/>
                <a:cs typeface="Times New Roman"/>
              </a:rPr>
              <a:t>Cracks</a:t>
            </a:r>
            <a:r>
              <a:rPr sz="1800" spc="-5" dirty="0">
                <a:latin typeface="Times New Roman"/>
                <a:cs typeface="Times New Roman"/>
              </a:rPr>
              <a:t> </a:t>
            </a:r>
            <a:r>
              <a:rPr sz="1800" dirty="0">
                <a:latin typeface="Times New Roman"/>
                <a:cs typeface="Times New Roman"/>
              </a:rPr>
              <a:t>Based</a:t>
            </a:r>
            <a:r>
              <a:rPr sz="1800" spc="-10" dirty="0">
                <a:latin typeface="Times New Roman"/>
                <a:cs typeface="Times New Roman"/>
              </a:rPr>
              <a:t> </a:t>
            </a:r>
            <a:r>
              <a:rPr sz="1800" dirty="0">
                <a:latin typeface="Times New Roman"/>
                <a:cs typeface="Times New Roman"/>
              </a:rPr>
              <a:t>on</a:t>
            </a:r>
            <a:r>
              <a:rPr sz="1800" spc="-55" dirty="0">
                <a:latin typeface="Times New Roman"/>
                <a:cs typeface="Times New Roman"/>
              </a:rPr>
              <a:t> </a:t>
            </a:r>
            <a:r>
              <a:rPr sz="1800" spc="-50" dirty="0">
                <a:latin typeface="Times New Roman"/>
                <a:cs typeface="Times New Roman"/>
              </a:rPr>
              <a:t>Two-</a:t>
            </a:r>
            <a:r>
              <a:rPr sz="1800" dirty="0">
                <a:latin typeface="Times New Roman"/>
                <a:cs typeface="Times New Roman"/>
              </a:rPr>
              <a:t>Stage</a:t>
            </a:r>
            <a:r>
              <a:rPr sz="1800" spc="-35" dirty="0">
                <a:latin typeface="Times New Roman"/>
                <a:cs typeface="Times New Roman"/>
              </a:rPr>
              <a:t> </a:t>
            </a:r>
            <a:r>
              <a:rPr sz="1800" dirty="0">
                <a:latin typeface="Times New Roman"/>
                <a:cs typeface="Times New Roman"/>
              </a:rPr>
              <a:t>Transfer</a:t>
            </a:r>
            <a:r>
              <a:rPr sz="1800" spc="30" dirty="0">
                <a:latin typeface="Times New Roman"/>
                <a:cs typeface="Times New Roman"/>
              </a:rPr>
              <a:t> </a:t>
            </a:r>
            <a:r>
              <a:rPr sz="1800" dirty="0">
                <a:latin typeface="Times New Roman"/>
                <a:cs typeface="Times New Roman"/>
              </a:rPr>
              <a:t>Learning,"</a:t>
            </a:r>
            <a:r>
              <a:rPr sz="1800" spc="-35" dirty="0">
                <a:latin typeface="Times New Roman"/>
                <a:cs typeface="Times New Roman"/>
              </a:rPr>
              <a:t> </a:t>
            </a:r>
            <a:r>
              <a:rPr sz="1800" spc="-30" dirty="0">
                <a:latin typeface="Times New Roman"/>
                <a:cs typeface="Times New Roman"/>
              </a:rPr>
              <a:t>Water,</a:t>
            </a:r>
            <a:r>
              <a:rPr sz="1800" spc="10" dirty="0">
                <a:latin typeface="Times New Roman"/>
                <a:cs typeface="Times New Roman"/>
              </a:rPr>
              <a:t> </a:t>
            </a:r>
            <a:r>
              <a:rPr sz="1800" dirty="0">
                <a:latin typeface="Times New Roman"/>
                <a:cs typeface="Times New Roman"/>
              </a:rPr>
              <a:t>vol.</a:t>
            </a:r>
            <a:r>
              <a:rPr sz="1800" spc="-35" dirty="0">
                <a:latin typeface="Times New Roman"/>
                <a:cs typeface="Times New Roman"/>
              </a:rPr>
              <a:t> </a:t>
            </a:r>
            <a:r>
              <a:rPr sz="1800" dirty="0">
                <a:latin typeface="Times New Roman"/>
                <a:cs typeface="Times New Roman"/>
              </a:rPr>
              <a:t>15,</a:t>
            </a:r>
            <a:r>
              <a:rPr sz="1800" spc="-30" dirty="0">
                <a:latin typeface="Times New Roman"/>
                <a:cs typeface="Times New Roman"/>
              </a:rPr>
              <a:t> </a:t>
            </a:r>
            <a:r>
              <a:rPr sz="1800" dirty="0">
                <a:latin typeface="Times New Roman"/>
                <a:cs typeface="Times New Roman"/>
              </a:rPr>
              <a:t>no.</a:t>
            </a:r>
            <a:r>
              <a:rPr sz="1800" spc="-60" dirty="0">
                <a:latin typeface="Times New Roman"/>
                <a:cs typeface="Times New Roman"/>
              </a:rPr>
              <a:t> </a:t>
            </a:r>
            <a:r>
              <a:rPr sz="1800" dirty="0">
                <a:latin typeface="Times New Roman"/>
                <a:cs typeface="Times New Roman"/>
              </a:rPr>
              <a:t>2082,</a:t>
            </a:r>
            <a:r>
              <a:rPr sz="1800" spc="-55" dirty="0">
                <a:latin typeface="Times New Roman"/>
                <a:cs typeface="Times New Roman"/>
              </a:rPr>
              <a:t> </a:t>
            </a:r>
            <a:r>
              <a:rPr sz="1800" dirty="0">
                <a:latin typeface="Times New Roman"/>
                <a:cs typeface="Times New Roman"/>
              </a:rPr>
              <a:t>pp.</a:t>
            </a:r>
            <a:r>
              <a:rPr sz="1800" spc="-60" dirty="0">
                <a:latin typeface="Times New Roman"/>
                <a:cs typeface="Times New Roman"/>
              </a:rPr>
              <a:t> </a:t>
            </a:r>
            <a:r>
              <a:rPr sz="1800" dirty="0">
                <a:latin typeface="Times New Roman"/>
                <a:cs typeface="Times New Roman"/>
              </a:rPr>
              <a:t>1-21,</a:t>
            </a:r>
            <a:r>
              <a:rPr sz="1800" spc="-55" dirty="0">
                <a:latin typeface="Times New Roman"/>
                <a:cs typeface="Times New Roman"/>
              </a:rPr>
              <a:t> </a:t>
            </a:r>
            <a:r>
              <a:rPr sz="1800" spc="-25" dirty="0">
                <a:latin typeface="Times New Roman"/>
                <a:cs typeface="Times New Roman"/>
              </a:rPr>
              <a:t>May </a:t>
            </a:r>
            <a:r>
              <a:rPr sz="1800" spc="-10" dirty="0">
                <a:latin typeface="Times New Roman"/>
                <a:cs typeface="Times New Roman"/>
              </a:rPr>
              <a:t>2023.</a:t>
            </a:r>
            <a:endParaRPr sz="1800">
              <a:latin typeface="Times New Roman"/>
              <a:cs typeface="Times New Roman"/>
            </a:endParaRPr>
          </a:p>
          <a:p>
            <a:pPr marL="240029" indent="-227329">
              <a:lnSpc>
                <a:spcPts val="1945"/>
              </a:lnSpc>
              <a:spcBef>
                <a:spcPts val="1310"/>
              </a:spcBef>
              <a:buAutoNum type="arabicPeriod"/>
              <a:tabLst>
                <a:tab pos="240029" algn="l"/>
              </a:tabLst>
            </a:pPr>
            <a:r>
              <a:rPr sz="1800" dirty="0">
                <a:latin typeface="Times New Roman"/>
                <a:cs typeface="Times New Roman"/>
              </a:rPr>
              <a:t>D.</a:t>
            </a:r>
            <a:r>
              <a:rPr sz="1800" spc="-45" dirty="0">
                <a:latin typeface="Times New Roman"/>
                <a:cs typeface="Times New Roman"/>
              </a:rPr>
              <a:t> </a:t>
            </a:r>
            <a:r>
              <a:rPr sz="1800" dirty="0">
                <a:latin typeface="Times New Roman"/>
                <a:cs typeface="Times New Roman"/>
              </a:rPr>
              <a:t>Park</a:t>
            </a:r>
            <a:r>
              <a:rPr sz="1800" spc="-70" dirty="0">
                <a:latin typeface="Times New Roman"/>
                <a:cs typeface="Times New Roman"/>
              </a:rPr>
              <a:t> </a:t>
            </a:r>
            <a:r>
              <a:rPr sz="1800" dirty="0">
                <a:latin typeface="Times New Roman"/>
                <a:cs typeface="Times New Roman"/>
              </a:rPr>
              <a:t>and</a:t>
            </a:r>
            <a:r>
              <a:rPr sz="1800" spc="-50" dirty="0">
                <a:latin typeface="Times New Roman"/>
                <a:cs typeface="Times New Roman"/>
              </a:rPr>
              <a:t> </a:t>
            </a:r>
            <a:r>
              <a:rPr sz="1800" dirty="0">
                <a:latin typeface="Times New Roman"/>
                <a:cs typeface="Times New Roman"/>
              </a:rPr>
              <a:t>H.</a:t>
            </a:r>
            <a:r>
              <a:rPr sz="1800" spc="-105" dirty="0">
                <a:latin typeface="Times New Roman"/>
                <a:cs typeface="Times New Roman"/>
              </a:rPr>
              <a:t> </a:t>
            </a:r>
            <a:r>
              <a:rPr sz="1800" spc="-40" dirty="0">
                <a:latin typeface="Times New Roman"/>
                <a:cs typeface="Times New Roman"/>
              </a:rPr>
              <a:t>You,</a:t>
            </a:r>
            <a:r>
              <a:rPr sz="1800" spc="-60" dirty="0">
                <a:latin typeface="Times New Roman"/>
                <a:cs typeface="Times New Roman"/>
              </a:rPr>
              <a:t> </a:t>
            </a:r>
            <a:r>
              <a:rPr sz="1800" dirty="0">
                <a:latin typeface="Times New Roman"/>
                <a:cs typeface="Times New Roman"/>
              </a:rPr>
              <a:t>"A</a:t>
            </a:r>
            <a:r>
              <a:rPr sz="1800" spc="-110" dirty="0">
                <a:latin typeface="Times New Roman"/>
                <a:cs typeface="Times New Roman"/>
              </a:rPr>
              <a:t> </a:t>
            </a:r>
            <a:r>
              <a:rPr sz="1800" dirty="0">
                <a:latin typeface="Times New Roman"/>
                <a:cs typeface="Times New Roman"/>
              </a:rPr>
              <a:t>Digital</a:t>
            </a:r>
            <a:r>
              <a:rPr sz="1800" spc="-75" dirty="0">
                <a:latin typeface="Times New Roman"/>
                <a:cs typeface="Times New Roman"/>
              </a:rPr>
              <a:t> </a:t>
            </a:r>
            <a:r>
              <a:rPr sz="1800" spc="-10" dirty="0">
                <a:latin typeface="Times New Roman"/>
                <a:cs typeface="Times New Roman"/>
              </a:rPr>
              <a:t>Twin </a:t>
            </a:r>
            <a:r>
              <a:rPr sz="1800" dirty="0">
                <a:latin typeface="Times New Roman"/>
                <a:cs typeface="Times New Roman"/>
              </a:rPr>
              <a:t>Dam</a:t>
            </a:r>
            <a:r>
              <a:rPr sz="1800" spc="-25" dirty="0">
                <a:latin typeface="Times New Roman"/>
                <a:cs typeface="Times New Roman"/>
              </a:rPr>
              <a:t> </a:t>
            </a:r>
            <a:r>
              <a:rPr sz="1800" dirty="0">
                <a:latin typeface="Times New Roman"/>
                <a:cs typeface="Times New Roman"/>
              </a:rPr>
              <a:t>and</a:t>
            </a:r>
            <a:r>
              <a:rPr sz="1800" spc="-100" dirty="0">
                <a:latin typeface="Times New Roman"/>
                <a:cs typeface="Times New Roman"/>
              </a:rPr>
              <a:t> </a:t>
            </a:r>
            <a:r>
              <a:rPr sz="1800" spc="-10" dirty="0">
                <a:latin typeface="Times New Roman"/>
                <a:cs typeface="Times New Roman"/>
              </a:rPr>
              <a:t>Watershed </a:t>
            </a:r>
            <a:r>
              <a:rPr sz="1800" dirty="0">
                <a:latin typeface="Times New Roman"/>
                <a:cs typeface="Times New Roman"/>
              </a:rPr>
              <a:t>Management</a:t>
            </a:r>
            <a:r>
              <a:rPr sz="1800" spc="-15" dirty="0">
                <a:latin typeface="Times New Roman"/>
                <a:cs typeface="Times New Roman"/>
              </a:rPr>
              <a:t> </a:t>
            </a:r>
            <a:r>
              <a:rPr sz="1800" dirty="0">
                <a:latin typeface="Times New Roman"/>
                <a:cs typeface="Times New Roman"/>
              </a:rPr>
              <a:t>Platform,"</a:t>
            </a:r>
            <a:r>
              <a:rPr sz="1800" spc="-55" dirty="0">
                <a:latin typeface="Times New Roman"/>
                <a:cs typeface="Times New Roman"/>
              </a:rPr>
              <a:t> </a:t>
            </a:r>
            <a:r>
              <a:rPr sz="1800" spc="-10" dirty="0">
                <a:latin typeface="Times New Roman"/>
                <a:cs typeface="Times New Roman"/>
              </a:rPr>
              <a:t>Water,</a:t>
            </a:r>
            <a:endParaRPr sz="1800">
              <a:latin typeface="Times New Roman"/>
              <a:cs typeface="Times New Roman"/>
            </a:endParaRPr>
          </a:p>
          <a:p>
            <a:pPr marL="182880">
              <a:lnSpc>
                <a:spcPts val="1945"/>
              </a:lnSpc>
            </a:pPr>
            <a:r>
              <a:rPr sz="1800" dirty="0">
                <a:latin typeface="Times New Roman"/>
                <a:cs typeface="Times New Roman"/>
              </a:rPr>
              <a:t>vol.</a:t>
            </a:r>
            <a:r>
              <a:rPr sz="1800" spc="10" dirty="0">
                <a:latin typeface="Times New Roman"/>
                <a:cs typeface="Times New Roman"/>
              </a:rPr>
              <a:t> </a:t>
            </a:r>
            <a:r>
              <a:rPr sz="1800" dirty="0">
                <a:latin typeface="Times New Roman"/>
                <a:cs typeface="Times New Roman"/>
              </a:rPr>
              <a:t>15,</a:t>
            </a:r>
            <a:r>
              <a:rPr sz="1800" spc="10" dirty="0">
                <a:latin typeface="Times New Roman"/>
                <a:cs typeface="Times New Roman"/>
              </a:rPr>
              <a:t> </a:t>
            </a:r>
            <a:r>
              <a:rPr sz="1800" dirty="0">
                <a:latin typeface="Times New Roman"/>
                <a:cs typeface="Times New Roman"/>
              </a:rPr>
              <a:t>no.</a:t>
            </a:r>
            <a:r>
              <a:rPr sz="1800" spc="-15" dirty="0">
                <a:latin typeface="Times New Roman"/>
                <a:cs typeface="Times New Roman"/>
              </a:rPr>
              <a:t> </a:t>
            </a:r>
            <a:r>
              <a:rPr sz="1800" dirty="0">
                <a:latin typeface="Times New Roman"/>
                <a:cs typeface="Times New Roman"/>
              </a:rPr>
              <a:t>2106,</a:t>
            </a:r>
            <a:r>
              <a:rPr sz="1800" spc="-15" dirty="0">
                <a:latin typeface="Times New Roman"/>
                <a:cs typeface="Times New Roman"/>
              </a:rPr>
              <a:t> </a:t>
            </a:r>
            <a:r>
              <a:rPr sz="1800" dirty="0">
                <a:latin typeface="Times New Roman"/>
                <a:cs typeface="Times New Roman"/>
              </a:rPr>
              <a:t>pp.</a:t>
            </a:r>
            <a:r>
              <a:rPr sz="1800" spc="-15" dirty="0">
                <a:latin typeface="Times New Roman"/>
                <a:cs typeface="Times New Roman"/>
              </a:rPr>
              <a:t> </a:t>
            </a:r>
            <a:r>
              <a:rPr sz="1800" dirty="0">
                <a:latin typeface="Times New Roman"/>
                <a:cs typeface="Times New Roman"/>
              </a:rPr>
              <a:t>1–19,</a:t>
            </a:r>
            <a:r>
              <a:rPr sz="1800" spc="-15" dirty="0">
                <a:latin typeface="Times New Roman"/>
                <a:cs typeface="Times New Roman"/>
              </a:rPr>
              <a:t> </a:t>
            </a:r>
            <a:r>
              <a:rPr sz="1800" dirty="0">
                <a:latin typeface="Times New Roman"/>
                <a:cs typeface="Times New Roman"/>
              </a:rPr>
              <a:t>Jun.</a:t>
            </a:r>
            <a:r>
              <a:rPr sz="1800" spc="15" dirty="0">
                <a:latin typeface="Times New Roman"/>
                <a:cs typeface="Times New Roman"/>
              </a:rPr>
              <a:t> </a:t>
            </a:r>
            <a:r>
              <a:rPr sz="1800" spc="-20" dirty="0">
                <a:latin typeface="Times New Roman"/>
                <a:cs typeface="Times New Roman"/>
              </a:rPr>
              <a:t>2023</a:t>
            </a:r>
            <a:endParaRPr sz="1800">
              <a:latin typeface="Times New Roman"/>
              <a:cs typeface="Times New Roman"/>
            </a:endParaRPr>
          </a:p>
          <a:p>
            <a:pPr marL="240029" indent="-227329">
              <a:lnSpc>
                <a:spcPts val="1945"/>
              </a:lnSpc>
              <a:spcBef>
                <a:spcPts val="1295"/>
              </a:spcBef>
              <a:buAutoNum type="arabicPeriod" startAt="6"/>
              <a:tabLst>
                <a:tab pos="240029" algn="l"/>
              </a:tabLst>
            </a:pPr>
            <a:r>
              <a:rPr sz="1800" dirty="0">
                <a:latin typeface="Times New Roman"/>
                <a:cs typeface="Times New Roman"/>
              </a:rPr>
              <a:t>S.</a:t>
            </a:r>
            <a:r>
              <a:rPr sz="1800" spc="-70" dirty="0">
                <a:latin typeface="Times New Roman"/>
                <a:cs typeface="Times New Roman"/>
              </a:rPr>
              <a:t> </a:t>
            </a:r>
            <a:r>
              <a:rPr sz="1800" dirty="0">
                <a:latin typeface="Times New Roman"/>
                <a:cs typeface="Times New Roman"/>
              </a:rPr>
              <a:t>Song,</a:t>
            </a:r>
            <a:r>
              <a:rPr sz="1800" spc="-40" dirty="0">
                <a:latin typeface="Times New Roman"/>
                <a:cs typeface="Times New Roman"/>
              </a:rPr>
              <a:t> </a:t>
            </a:r>
            <a:r>
              <a:rPr sz="1800" dirty="0">
                <a:latin typeface="Times New Roman"/>
                <a:cs typeface="Times New Roman"/>
              </a:rPr>
              <a:t>Q.</a:t>
            </a:r>
            <a:r>
              <a:rPr sz="1800" spc="-25" dirty="0">
                <a:latin typeface="Times New Roman"/>
                <a:cs typeface="Times New Roman"/>
              </a:rPr>
              <a:t> </a:t>
            </a:r>
            <a:r>
              <a:rPr sz="1800" dirty="0">
                <a:latin typeface="Times New Roman"/>
                <a:cs typeface="Times New Roman"/>
              </a:rPr>
              <a:t>Zhou,</a:t>
            </a:r>
            <a:r>
              <a:rPr sz="1800" spc="-105" dirty="0">
                <a:latin typeface="Times New Roman"/>
                <a:cs typeface="Times New Roman"/>
              </a:rPr>
              <a:t> </a:t>
            </a:r>
            <a:r>
              <a:rPr sz="1800" spc="-30" dirty="0">
                <a:latin typeface="Times New Roman"/>
                <a:cs typeface="Times New Roman"/>
              </a:rPr>
              <a:t>T.</a:t>
            </a:r>
            <a:r>
              <a:rPr sz="1800" spc="5" dirty="0">
                <a:latin typeface="Times New Roman"/>
                <a:cs typeface="Times New Roman"/>
              </a:rPr>
              <a:t> </a:t>
            </a:r>
            <a:r>
              <a:rPr sz="1800" dirty="0">
                <a:latin typeface="Times New Roman"/>
                <a:cs typeface="Times New Roman"/>
              </a:rPr>
              <a:t>Zhang,</a:t>
            </a:r>
            <a:r>
              <a:rPr sz="1800" spc="-40" dirty="0">
                <a:latin typeface="Times New Roman"/>
                <a:cs typeface="Times New Roman"/>
              </a:rPr>
              <a:t> </a:t>
            </a:r>
            <a:r>
              <a:rPr sz="1800" dirty="0">
                <a:latin typeface="Times New Roman"/>
                <a:cs typeface="Times New Roman"/>
              </a:rPr>
              <a:t>and</a:t>
            </a:r>
            <a:r>
              <a:rPr sz="1800" spc="-105" dirty="0">
                <a:latin typeface="Times New Roman"/>
                <a:cs typeface="Times New Roman"/>
              </a:rPr>
              <a:t> </a:t>
            </a:r>
            <a:r>
              <a:rPr sz="1800" spc="-130" dirty="0">
                <a:latin typeface="Times New Roman"/>
                <a:cs typeface="Times New Roman"/>
              </a:rPr>
              <a:t>Y.</a:t>
            </a:r>
            <a:r>
              <a:rPr sz="1800" spc="5" dirty="0">
                <a:latin typeface="Times New Roman"/>
                <a:cs typeface="Times New Roman"/>
              </a:rPr>
              <a:t> </a:t>
            </a:r>
            <a:r>
              <a:rPr sz="1800" dirty="0">
                <a:latin typeface="Times New Roman"/>
                <a:cs typeface="Times New Roman"/>
              </a:rPr>
              <a:t>Hu,</a:t>
            </a:r>
            <a:r>
              <a:rPr sz="1800" spc="-40" dirty="0">
                <a:latin typeface="Times New Roman"/>
                <a:cs typeface="Times New Roman"/>
              </a:rPr>
              <a:t> </a:t>
            </a:r>
            <a:r>
              <a:rPr sz="1800" dirty="0">
                <a:latin typeface="Times New Roman"/>
                <a:cs typeface="Times New Roman"/>
              </a:rPr>
              <a:t>"Automatic</a:t>
            </a:r>
            <a:r>
              <a:rPr sz="1800" spc="30" dirty="0">
                <a:latin typeface="Times New Roman"/>
                <a:cs typeface="Times New Roman"/>
              </a:rPr>
              <a:t> </a:t>
            </a:r>
            <a:r>
              <a:rPr sz="1800" dirty="0">
                <a:latin typeface="Times New Roman"/>
                <a:cs typeface="Times New Roman"/>
              </a:rPr>
              <a:t>Concrete</a:t>
            </a:r>
            <a:r>
              <a:rPr sz="1800" spc="-50" dirty="0">
                <a:latin typeface="Times New Roman"/>
                <a:cs typeface="Times New Roman"/>
              </a:rPr>
              <a:t> </a:t>
            </a:r>
            <a:r>
              <a:rPr sz="1800" dirty="0">
                <a:latin typeface="Times New Roman"/>
                <a:cs typeface="Times New Roman"/>
              </a:rPr>
              <a:t>Dam</a:t>
            </a:r>
            <a:r>
              <a:rPr sz="1800" spc="-10" dirty="0">
                <a:latin typeface="Times New Roman"/>
                <a:cs typeface="Times New Roman"/>
              </a:rPr>
              <a:t> </a:t>
            </a:r>
            <a:r>
              <a:rPr sz="1800" dirty="0">
                <a:latin typeface="Times New Roman"/>
                <a:cs typeface="Times New Roman"/>
              </a:rPr>
              <a:t>Deformation</a:t>
            </a:r>
            <a:r>
              <a:rPr sz="1800" spc="5" dirty="0">
                <a:latin typeface="Times New Roman"/>
                <a:cs typeface="Times New Roman"/>
              </a:rPr>
              <a:t> </a:t>
            </a:r>
            <a:r>
              <a:rPr sz="1800" spc="-10" dirty="0">
                <a:latin typeface="Times New Roman"/>
                <a:cs typeface="Times New Roman"/>
              </a:rPr>
              <a:t>Prediction</a:t>
            </a:r>
            <a:endParaRPr sz="1800">
              <a:latin typeface="Times New Roman"/>
              <a:cs typeface="Times New Roman"/>
            </a:endParaRPr>
          </a:p>
          <a:p>
            <a:pPr marL="182880">
              <a:lnSpc>
                <a:spcPts val="1945"/>
              </a:lnSpc>
            </a:pPr>
            <a:r>
              <a:rPr sz="1800" dirty="0">
                <a:latin typeface="Times New Roman"/>
                <a:cs typeface="Times New Roman"/>
              </a:rPr>
              <a:t>Model</a:t>
            </a:r>
            <a:r>
              <a:rPr sz="1800" spc="-10" dirty="0">
                <a:latin typeface="Times New Roman"/>
                <a:cs typeface="Times New Roman"/>
              </a:rPr>
              <a:t> </a:t>
            </a:r>
            <a:r>
              <a:rPr sz="1800" dirty="0">
                <a:latin typeface="Times New Roman"/>
                <a:cs typeface="Times New Roman"/>
              </a:rPr>
              <a:t>Based</a:t>
            </a:r>
            <a:r>
              <a:rPr sz="1800" spc="15" dirty="0">
                <a:latin typeface="Times New Roman"/>
                <a:cs typeface="Times New Roman"/>
              </a:rPr>
              <a:t> </a:t>
            </a:r>
            <a:r>
              <a:rPr sz="1800" dirty="0">
                <a:latin typeface="Times New Roman"/>
                <a:cs typeface="Times New Roman"/>
              </a:rPr>
              <a:t>on</a:t>
            </a:r>
            <a:r>
              <a:rPr sz="1800" spc="-50" dirty="0">
                <a:latin typeface="Times New Roman"/>
                <a:cs typeface="Times New Roman"/>
              </a:rPr>
              <a:t> </a:t>
            </a:r>
            <a:r>
              <a:rPr sz="1800" spc="-10" dirty="0">
                <a:latin typeface="Times New Roman"/>
                <a:cs typeface="Times New Roman"/>
              </a:rPr>
              <a:t>TPE-</a:t>
            </a:r>
            <a:r>
              <a:rPr sz="1800" spc="-25" dirty="0">
                <a:latin typeface="Times New Roman"/>
                <a:cs typeface="Times New Roman"/>
              </a:rPr>
              <a:t>STL-</a:t>
            </a:r>
            <a:r>
              <a:rPr sz="1800" dirty="0">
                <a:latin typeface="Times New Roman"/>
                <a:cs typeface="Times New Roman"/>
              </a:rPr>
              <a:t>LSTM,"</a:t>
            </a:r>
            <a:r>
              <a:rPr sz="1800" spc="15" dirty="0">
                <a:latin typeface="Times New Roman"/>
                <a:cs typeface="Times New Roman"/>
              </a:rPr>
              <a:t> </a:t>
            </a:r>
            <a:r>
              <a:rPr sz="1800" spc="-40" dirty="0">
                <a:latin typeface="Times New Roman"/>
                <a:cs typeface="Times New Roman"/>
              </a:rPr>
              <a:t>Water,</a:t>
            </a:r>
            <a:r>
              <a:rPr sz="1800" spc="10" dirty="0">
                <a:latin typeface="Times New Roman"/>
                <a:cs typeface="Times New Roman"/>
              </a:rPr>
              <a:t> </a:t>
            </a:r>
            <a:r>
              <a:rPr sz="1800" dirty="0">
                <a:latin typeface="Times New Roman"/>
                <a:cs typeface="Times New Roman"/>
              </a:rPr>
              <a:t>vol.</a:t>
            </a:r>
            <a:r>
              <a:rPr sz="1800" spc="20" dirty="0">
                <a:latin typeface="Times New Roman"/>
                <a:cs typeface="Times New Roman"/>
              </a:rPr>
              <a:t> </a:t>
            </a:r>
            <a:r>
              <a:rPr sz="1800" dirty="0">
                <a:latin typeface="Times New Roman"/>
                <a:cs typeface="Times New Roman"/>
              </a:rPr>
              <a:t>15,</a:t>
            </a:r>
            <a:r>
              <a:rPr sz="1800" spc="-35" dirty="0">
                <a:latin typeface="Times New Roman"/>
                <a:cs typeface="Times New Roman"/>
              </a:rPr>
              <a:t> </a:t>
            </a:r>
            <a:r>
              <a:rPr sz="1800" dirty="0">
                <a:latin typeface="Times New Roman"/>
                <a:cs typeface="Times New Roman"/>
              </a:rPr>
              <a:t>no.</a:t>
            </a:r>
            <a:r>
              <a:rPr sz="1800" spc="-10" dirty="0">
                <a:latin typeface="Times New Roman"/>
                <a:cs typeface="Times New Roman"/>
              </a:rPr>
              <a:t> </a:t>
            </a:r>
            <a:r>
              <a:rPr sz="1800" dirty="0">
                <a:latin typeface="Times New Roman"/>
                <a:cs typeface="Times New Roman"/>
              </a:rPr>
              <a:t>2090,</a:t>
            </a:r>
            <a:r>
              <a:rPr sz="1800" spc="-55" dirty="0">
                <a:latin typeface="Times New Roman"/>
                <a:cs typeface="Times New Roman"/>
              </a:rPr>
              <a:t> </a:t>
            </a:r>
            <a:r>
              <a:rPr sz="1800" dirty="0">
                <a:latin typeface="Times New Roman"/>
                <a:cs typeface="Times New Roman"/>
              </a:rPr>
              <a:t>pp.</a:t>
            </a:r>
            <a:r>
              <a:rPr sz="1800" spc="-10" dirty="0">
                <a:latin typeface="Times New Roman"/>
                <a:cs typeface="Times New Roman"/>
              </a:rPr>
              <a:t> </a:t>
            </a:r>
            <a:r>
              <a:rPr sz="1800" dirty="0">
                <a:latin typeface="Times New Roman"/>
                <a:cs typeface="Times New Roman"/>
              </a:rPr>
              <a:t>1–18,</a:t>
            </a:r>
            <a:r>
              <a:rPr sz="1800" spc="-60" dirty="0">
                <a:latin typeface="Times New Roman"/>
                <a:cs typeface="Times New Roman"/>
              </a:rPr>
              <a:t> </a:t>
            </a:r>
            <a:r>
              <a:rPr sz="1800" dirty="0">
                <a:latin typeface="Times New Roman"/>
                <a:cs typeface="Times New Roman"/>
              </a:rPr>
              <a:t>May</a:t>
            </a:r>
            <a:r>
              <a:rPr sz="1800" spc="20" dirty="0">
                <a:latin typeface="Times New Roman"/>
                <a:cs typeface="Times New Roman"/>
              </a:rPr>
              <a:t> </a:t>
            </a:r>
            <a:r>
              <a:rPr sz="1800" spc="-10" dirty="0">
                <a:latin typeface="Times New Roman"/>
                <a:cs typeface="Times New Roman"/>
              </a:rPr>
              <a:t>2023.</a:t>
            </a:r>
            <a:endParaRPr sz="1800">
              <a:latin typeface="Times New Roman"/>
              <a:cs typeface="Times New Roman"/>
            </a:endParaRPr>
          </a:p>
        </p:txBody>
      </p:sp>
      <p:sp>
        <p:nvSpPr>
          <p:cNvPr id="4" name="object 4"/>
          <p:cNvSpPr txBox="1"/>
          <p:nvPr/>
        </p:nvSpPr>
        <p:spPr>
          <a:xfrm>
            <a:off x="3853434" y="6431686"/>
            <a:ext cx="1440180" cy="208279"/>
          </a:xfrm>
          <a:prstGeom prst="rect">
            <a:avLst/>
          </a:prstGeom>
        </p:spPr>
        <p:txBody>
          <a:bodyPr vert="horz" wrap="square" lIns="0" tIns="12700" rIns="0" bIns="0" rtlCol="0">
            <a:spAutoFit/>
          </a:bodyPr>
          <a:lstStyle/>
          <a:p>
            <a:pPr marL="12700">
              <a:lnSpc>
                <a:spcPct val="100000"/>
              </a:lnSpc>
              <a:spcBef>
                <a:spcPts val="100"/>
              </a:spcBef>
            </a:pPr>
            <a:r>
              <a:rPr sz="1200" b="1" dirty="0">
                <a:latin typeface="Times New Roman"/>
                <a:cs typeface="Times New Roman"/>
              </a:rPr>
              <a:t>Dept.</a:t>
            </a:r>
            <a:r>
              <a:rPr sz="1200" b="1" spc="-20" dirty="0">
                <a:latin typeface="Times New Roman"/>
                <a:cs typeface="Times New Roman"/>
              </a:rPr>
              <a:t> </a:t>
            </a:r>
            <a:r>
              <a:rPr sz="1200" b="1" dirty="0">
                <a:latin typeface="Times New Roman"/>
                <a:cs typeface="Times New Roman"/>
              </a:rPr>
              <a:t>of</a:t>
            </a:r>
            <a:r>
              <a:rPr sz="1200" b="1" spc="-15" dirty="0">
                <a:latin typeface="Times New Roman"/>
                <a:cs typeface="Times New Roman"/>
              </a:rPr>
              <a:t> </a:t>
            </a:r>
            <a:r>
              <a:rPr sz="1200" b="1" dirty="0">
                <a:latin typeface="Times New Roman"/>
                <a:cs typeface="Times New Roman"/>
              </a:rPr>
              <a:t>ECE</a:t>
            </a:r>
            <a:r>
              <a:rPr sz="1200" b="1" spc="-15" dirty="0">
                <a:latin typeface="Times New Roman"/>
                <a:cs typeface="Times New Roman"/>
              </a:rPr>
              <a:t> </a:t>
            </a:r>
            <a:r>
              <a:rPr sz="1200" b="1" dirty="0">
                <a:latin typeface="Times New Roman"/>
                <a:cs typeface="Times New Roman"/>
              </a:rPr>
              <a:t>2025-</a:t>
            </a:r>
            <a:r>
              <a:rPr sz="1200" b="1" spc="-25" dirty="0">
                <a:latin typeface="Times New Roman"/>
                <a:cs typeface="Times New Roman"/>
              </a:rPr>
              <a:t>26</a:t>
            </a:r>
            <a:endParaRPr sz="1200">
              <a:latin typeface="Times New Roman"/>
              <a:cs typeface="Times New Roman"/>
            </a:endParaRPr>
          </a:p>
        </p:txBody>
      </p:sp>
      <p:sp>
        <p:nvSpPr>
          <p:cNvPr id="5" name="object 5"/>
          <p:cNvSpPr txBox="1"/>
          <p:nvPr/>
        </p:nvSpPr>
        <p:spPr>
          <a:xfrm>
            <a:off x="8261731" y="6431686"/>
            <a:ext cx="177800" cy="208279"/>
          </a:xfrm>
          <a:prstGeom prst="rect">
            <a:avLst/>
          </a:prstGeom>
        </p:spPr>
        <p:txBody>
          <a:bodyPr vert="horz" wrap="square" lIns="0" tIns="12700" rIns="0" bIns="0" rtlCol="0">
            <a:spAutoFit/>
          </a:bodyPr>
          <a:lstStyle/>
          <a:p>
            <a:pPr marL="12700">
              <a:lnSpc>
                <a:spcPct val="100000"/>
              </a:lnSpc>
              <a:spcBef>
                <a:spcPts val="100"/>
              </a:spcBef>
            </a:pPr>
            <a:r>
              <a:rPr sz="1200" b="1" spc="-25" dirty="0">
                <a:latin typeface="Times New Roman"/>
                <a:cs typeface="Times New Roman"/>
              </a:rPr>
              <a:t>33</a:t>
            </a:r>
            <a:endParaRPr sz="1200">
              <a:latin typeface="Times New Roman"/>
              <a:cs typeface="Times New Roman"/>
            </a:endParaRPr>
          </a:p>
        </p:txBody>
      </p:sp>
      <p:pic>
        <p:nvPicPr>
          <p:cNvPr id="6" name="object 6"/>
          <p:cNvPicPr/>
          <p:nvPr/>
        </p:nvPicPr>
        <p:blipFill>
          <a:blip r:embed="rId2" cstate="print"/>
          <a:stretch>
            <a:fillRect/>
          </a:stretch>
        </p:blipFill>
        <p:spPr>
          <a:xfrm>
            <a:off x="137160" y="158495"/>
            <a:ext cx="981456" cy="1100327"/>
          </a:xfrm>
          <a:prstGeom prst="rect">
            <a:avLst/>
          </a:prstGeom>
        </p:spPr>
      </p:pic>
      <p:pic>
        <p:nvPicPr>
          <p:cNvPr id="7" name="object 7"/>
          <p:cNvPicPr/>
          <p:nvPr/>
        </p:nvPicPr>
        <p:blipFill>
          <a:blip r:embed="rId3" cstate="print"/>
          <a:stretch>
            <a:fillRect/>
          </a:stretch>
        </p:blipFill>
        <p:spPr>
          <a:xfrm>
            <a:off x="7955280" y="137160"/>
            <a:ext cx="1051560" cy="1100328"/>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93697" y="722503"/>
            <a:ext cx="4511675" cy="530225"/>
          </a:xfrm>
          <a:prstGeom prst="rect">
            <a:avLst/>
          </a:prstGeom>
        </p:spPr>
        <p:txBody>
          <a:bodyPr vert="horz" wrap="square" lIns="0" tIns="13970" rIns="0" bIns="0" rtlCol="0">
            <a:spAutoFit/>
          </a:bodyPr>
          <a:lstStyle/>
          <a:p>
            <a:pPr marL="12700">
              <a:lnSpc>
                <a:spcPct val="100000"/>
              </a:lnSpc>
              <a:spcBef>
                <a:spcPts val="110"/>
              </a:spcBef>
            </a:pPr>
            <a:r>
              <a:rPr b="0" dirty="0">
                <a:latin typeface="Times New Roman"/>
                <a:cs typeface="Times New Roman"/>
              </a:rPr>
              <a:t>GANTT</a:t>
            </a:r>
            <a:r>
              <a:rPr b="0" spc="-145" dirty="0">
                <a:latin typeface="Times New Roman"/>
                <a:cs typeface="Times New Roman"/>
              </a:rPr>
              <a:t> </a:t>
            </a:r>
            <a:r>
              <a:rPr b="0" spc="-10" dirty="0">
                <a:latin typeface="Times New Roman"/>
                <a:cs typeface="Times New Roman"/>
              </a:rPr>
              <a:t>CHART(Phase</a:t>
            </a:r>
            <a:r>
              <a:rPr b="0" spc="-120" dirty="0">
                <a:latin typeface="Times New Roman"/>
                <a:cs typeface="Times New Roman"/>
              </a:rPr>
              <a:t> </a:t>
            </a:r>
            <a:r>
              <a:rPr b="0" spc="-25" dirty="0">
                <a:latin typeface="Times New Roman"/>
                <a:cs typeface="Times New Roman"/>
              </a:rPr>
              <a:t>1)</a:t>
            </a:r>
          </a:p>
        </p:txBody>
      </p:sp>
      <p:sp>
        <p:nvSpPr>
          <p:cNvPr id="3" name="object 3"/>
          <p:cNvSpPr txBox="1"/>
          <p:nvPr/>
        </p:nvSpPr>
        <p:spPr>
          <a:xfrm>
            <a:off x="8298815" y="6478218"/>
            <a:ext cx="128270" cy="129539"/>
          </a:xfrm>
          <a:prstGeom prst="rect">
            <a:avLst/>
          </a:prstGeom>
        </p:spPr>
        <p:txBody>
          <a:bodyPr vert="horz" wrap="square" lIns="0" tIns="0" rIns="0" bIns="0" rtlCol="0">
            <a:spAutoFit/>
          </a:bodyPr>
          <a:lstStyle/>
          <a:p>
            <a:pPr>
              <a:lnSpc>
                <a:spcPts val="1005"/>
              </a:lnSpc>
            </a:pPr>
            <a:r>
              <a:rPr sz="900" spc="-25" dirty="0">
                <a:solidFill>
                  <a:srgbClr val="888888"/>
                </a:solidFill>
                <a:latin typeface="Arial MT"/>
                <a:cs typeface="Arial MT"/>
              </a:rPr>
              <a:t>34</a:t>
            </a:r>
            <a:endParaRPr sz="900">
              <a:latin typeface="Arial MT"/>
              <a:cs typeface="Arial MT"/>
            </a:endParaRPr>
          </a:p>
        </p:txBody>
      </p:sp>
      <p:pic>
        <p:nvPicPr>
          <p:cNvPr id="4" name="object 4"/>
          <p:cNvPicPr/>
          <p:nvPr/>
        </p:nvPicPr>
        <p:blipFill>
          <a:blip r:embed="rId2" cstate="print"/>
          <a:stretch>
            <a:fillRect/>
          </a:stretch>
        </p:blipFill>
        <p:spPr>
          <a:xfrm>
            <a:off x="451751" y="1352435"/>
            <a:ext cx="8464296" cy="5297424"/>
          </a:xfrm>
          <a:prstGeom prst="rect">
            <a:avLst/>
          </a:prstGeom>
        </p:spPr>
      </p:pic>
      <p:graphicFrame>
        <p:nvGraphicFramePr>
          <p:cNvPr id="5" name="object 5"/>
          <p:cNvGraphicFramePr>
            <a:graphicFrameLocks noGrp="1"/>
          </p:cNvGraphicFramePr>
          <p:nvPr/>
        </p:nvGraphicFramePr>
        <p:xfrm>
          <a:off x="445401" y="1346072"/>
          <a:ext cx="8462008" cy="5295900"/>
        </p:xfrm>
        <a:graphic>
          <a:graphicData uri="http://schemas.openxmlformats.org/drawingml/2006/table">
            <a:tbl>
              <a:tblPr firstRow="1" bandRow="1">
                <a:tableStyleId>{2D5ABB26-0587-4C30-8999-92F81FD0307C}</a:tableStyleId>
              </a:tblPr>
              <a:tblGrid>
                <a:gridCol w="1496695">
                  <a:extLst>
                    <a:ext uri="{9D8B030D-6E8A-4147-A177-3AD203B41FA5}">
                      <a16:colId xmlns:a16="http://schemas.microsoft.com/office/drawing/2014/main" val="20000"/>
                    </a:ext>
                  </a:extLst>
                </a:gridCol>
                <a:gridCol w="1323975">
                  <a:extLst>
                    <a:ext uri="{9D8B030D-6E8A-4147-A177-3AD203B41FA5}">
                      <a16:colId xmlns:a16="http://schemas.microsoft.com/office/drawing/2014/main" val="20001"/>
                    </a:ext>
                  </a:extLst>
                </a:gridCol>
                <a:gridCol w="1410334">
                  <a:extLst>
                    <a:ext uri="{9D8B030D-6E8A-4147-A177-3AD203B41FA5}">
                      <a16:colId xmlns:a16="http://schemas.microsoft.com/office/drawing/2014/main" val="20002"/>
                    </a:ext>
                  </a:extLst>
                </a:gridCol>
                <a:gridCol w="1410335">
                  <a:extLst>
                    <a:ext uri="{9D8B030D-6E8A-4147-A177-3AD203B41FA5}">
                      <a16:colId xmlns:a16="http://schemas.microsoft.com/office/drawing/2014/main" val="20003"/>
                    </a:ext>
                  </a:extLst>
                </a:gridCol>
                <a:gridCol w="1410335">
                  <a:extLst>
                    <a:ext uri="{9D8B030D-6E8A-4147-A177-3AD203B41FA5}">
                      <a16:colId xmlns:a16="http://schemas.microsoft.com/office/drawing/2014/main" val="20004"/>
                    </a:ext>
                  </a:extLst>
                </a:gridCol>
                <a:gridCol w="1410334">
                  <a:extLst>
                    <a:ext uri="{9D8B030D-6E8A-4147-A177-3AD203B41FA5}">
                      <a16:colId xmlns:a16="http://schemas.microsoft.com/office/drawing/2014/main" val="20005"/>
                    </a:ext>
                  </a:extLst>
                </a:gridCol>
              </a:tblGrid>
              <a:tr h="1059180">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5B9BD4"/>
                    </a:solidFill>
                  </a:tcPr>
                </a:tc>
                <a:tc>
                  <a:txBody>
                    <a:bodyPr/>
                    <a:lstStyle/>
                    <a:p>
                      <a:pPr marL="92075">
                        <a:lnSpc>
                          <a:spcPct val="100000"/>
                        </a:lnSpc>
                        <a:spcBef>
                          <a:spcPts val="275"/>
                        </a:spcBef>
                      </a:pPr>
                      <a:r>
                        <a:rPr sz="1600" b="1" spc="-10" dirty="0">
                          <a:solidFill>
                            <a:srgbClr val="FFFFFF"/>
                          </a:solidFill>
                          <a:latin typeface="Calibri"/>
                          <a:cs typeface="Calibri"/>
                        </a:rPr>
                        <a:t>February</a:t>
                      </a:r>
                      <a:endParaRPr sz="1600">
                        <a:latin typeface="Calibri"/>
                        <a:cs typeface="Calibri"/>
                      </a:endParaRPr>
                    </a:p>
                  </a:txBody>
                  <a:tcPr marL="0" marR="0" marT="349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5B9BD4"/>
                    </a:solidFill>
                  </a:tcPr>
                </a:tc>
                <a:tc>
                  <a:txBody>
                    <a:bodyPr/>
                    <a:lstStyle/>
                    <a:p>
                      <a:pPr marL="92710">
                        <a:lnSpc>
                          <a:spcPct val="100000"/>
                        </a:lnSpc>
                        <a:spcBef>
                          <a:spcPts val="275"/>
                        </a:spcBef>
                      </a:pPr>
                      <a:r>
                        <a:rPr sz="1600" b="1" spc="-10" dirty="0">
                          <a:solidFill>
                            <a:srgbClr val="FFFFFF"/>
                          </a:solidFill>
                          <a:latin typeface="Calibri"/>
                          <a:cs typeface="Calibri"/>
                        </a:rPr>
                        <a:t>March</a:t>
                      </a:r>
                      <a:endParaRPr sz="1600">
                        <a:latin typeface="Calibri"/>
                        <a:cs typeface="Calibri"/>
                      </a:endParaRPr>
                    </a:p>
                  </a:txBody>
                  <a:tcPr marL="0" marR="0" marT="349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5B9BD4"/>
                    </a:solidFill>
                  </a:tcPr>
                </a:tc>
                <a:tc>
                  <a:txBody>
                    <a:bodyPr/>
                    <a:lstStyle/>
                    <a:p>
                      <a:pPr marL="92710">
                        <a:lnSpc>
                          <a:spcPct val="100000"/>
                        </a:lnSpc>
                        <a:spcBef>
                          <a:spcPts val="275"/>
                        </a:spcBef>
                      </a:pPr>
                      <a:r>
                        <a:rPr sz="1600" b="1" spc="-10" dirty="0">
                          <a:solidFill>
                            <a:srgbClr val="FFFFFF"/>
                          </a:solidFill>
                          <a:latin typeface="Calibri"/>
                          <a:cs typeface="Calibri"/>
                        </a:rPr>
                        <a:t>April</a:t>
                      </a:r>
                      <a:endParaRPr sz="1600">
                        <a:latin typeface="Calibri"/>
                        <a:cs typeface="Calibri"/>
                      </a:endParaRPr>
                    </a:p>
                  </a:txBody>
                  <a:tcPr marL="0" marR="0" marT="349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5B9BD4"/>
                    </a:solidFill>
                  </a:tcPr>
                </a:tc>
                <a:tc>
                  <a:txBody>
                    <a:bodyPr/>
                    <a:lstStyle/>
                    <a:p>
                      <a:pPr marL="93345">
                        <a:lnSpc>
                          <a:spcPct val="100000"/>
                        </a:lnSpc>
                        <a:spcBef>
                          <a:spcPts val="275"/>
                        </a:spcBef>
                      </a:pPr>
                      <a:r>
                        <a:rPr sz="1600" b="1" spc="-25" dirty="0">
                          <a:solidFill>
                            <a:srgbClr val="FFFFFF"/>
                          </a:solidFill>
                          <a:latin typeface="Calibri"/>
                          <a:cs typeface="Calibri"/>
                        </a:rPr>
                        <a:t>May</a:t>
                      </a:r>
                      <a:endParaRPr sz="1600">
                        <a:latin typeface="Calibri"/>
                        <a:cs typeface="Calibri"/>
                      </a:endParaRPr>
                    </a:p>
                  </a:txBody>
                  <a:tcPr marL="0" marR="0" marT="349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5B9BD4"/>
                    </a:solidFill>
                  </a:tcPr>
                </a:tc>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5B9BD4"/>
                    </a:solidFill>
                  </a:tcPr>
                </a:tc>
                <a:extLst>
                  <a:ext uri="{0D108BD9-81ED-4DB2-BD59-A6C34878D82A}">
                    <a16:rowId xmlns:a16="http://schemas.microsoft.com/office/drawing/2014/main" val="10000"/>
                  </a:ext>
                </a:extLst>
              </a:tr>
              <a:tr h="1059180">
                <a:tc>
                  <a:txBody>
                    <a:bodyPr/>
                    <a:lstStyle/>
                    <a:p>
                      <a:pPr marL="91440">
                        <a:lnSpc>
                          <a:spcPct val="100000"/>
                        </a:lnSpc>
                        <a:spcBef>
                          <a:spcPts val="305"/>
                        </a:spcBef>
                      </a:pPr>
                      <a:r>
                        <a:rPr sz="1600" dirty="0">
                          <a:latin typeface="Times New Roman"/>
                          <a:cs typeface="Times New Roman"/>
                        </a:rPr>
                        <a:t>Selection</a:t>
                      </a:r>
                      <a:r>
                        <a:rPr sz="1600" spc="-55" dirty="0">
                          <a:latin typeface="Times New Roman"/>
                          <a:cs typeface="Times New Roman"/>
                        </a:rPr>
                        <a:t> </a:t>
                      </a:r>
                      <a:r>
                        <a:rPr sz="1600" spc="-25" dirty="0">
                          <a:latin typeface="Times New Roman"/>
                          <a:cs typeface="Times New Roman"/>
                        </a:rPr>
                        <a:t>of</a:t>
                      </a:r>
                      <a:endParaRPr sz="1600">
                        <a:latin typeface="Times New Roman"/>
                        <a:cs typeface="Times New Roman"/>
                      </a:endParaRPr>
                    </a:p>
                    <a:p>
                      <a:pPr marL="91440">
                        <a:lnSpc>
                          <a:spcPct val="100000"/>
                        </a:lnSpc>
                      </a:pPr>
                      <a:r>
                        <a:rPr sz="1600" spc="-10" dirty="0">
                          <a:latin typeface="Times New Roman"/>
                          <a:cs typeface="Times New Roman"/>
                        </a:rPr>
                        <a:t>Topic</a:t>
                      </a:r>
                      <a:endParaRPr sz="160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5B9BD4"/>
                    </a:solidFill>
                  </a:tcPr>
                </a:tc>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1F5F"/>
                    </a:solidFill>
                  </a:tcPr>
                </a:tc>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5F5F5"/>
                    </a:solidFill>
                  </a:tcPr>
                </a:tc>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5F5F5"/>
                    </a:solidFill>
                  </a:tcPr>
                </a:tc>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5F5F5"/>
                    </a:solidFill>
                  </a:tcPr>
                </a:tc>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5F5F5"/>
                    </a:solidFill>
                  </a:tcPr>
                </a:tc>
                <a:extLst>
                  <a:ext uri="{0D108BD9-81ED-4DB2-BD59-A6C34878D82A}">
                    <a16:rowId xmlns:a16="http://schemas.microsoft.com/office/drawing/2014/main" val="10001"/>
                  </a:ext>
                </a:extLst>
              </a:tr>
              <a:tr h="1059180">
                <a:tc>
                  <a:txBody>
                    <a:bodyPr/>
                    <a:lstStyle/>
                    <a:p>
                      <a:pPr marL="91440">
                        <a:lnSpc>
                          <a:spcPct val="100000"/>
                        </a:lnSpc>
                        <a:spcBef>
                          <a:spcPts val="260"/>
                        </a:spcBef>
                      </a:pPr>
                      <a:r>
                        <a:rPr sz="1600" spc="-10" dirty="0">
                          <a:latin typeface="Calibri"/>
                          <a:cs typeface="Calibri"/>
                        </a:rPr>
                        <a:t>Literature</a:t>
                      </a:r>
                      <a:endParaRPr sz="1600">
                        <a:latin typeface="Calibri"/>
                        <a:cs typeface="Calibri"/>
                      </a:endParaRPr>
                    </a:p>
                    <a:p>
                      <a:pPr marL="91440">
                        <a:lnSpc>
                          <a:spcPct val="100000"/>
                        </a:lnSpc>
                        <a:spcBef>
                          <a:spcPts val="25"/>
                        </a:spcBef>
                      </a:pPr>
                      <a:r>
                        <a:rPr sz="1600" spc="-10" dirty="0">
                          <a:latin typeface="Calibri"/>
                          <a:cs typeface="Calibri"/>
                        </a:rPr>
                        <a:t>Survey</a:t>
                      </a:r>
                      <a:endParaRPr sz="1600">
                        <a:latin typeface="Calibri"/>
                        <a:cs typeface="Calibri"/>
                      </a:endParaRPr>
                    </a:p>
                  </a:txBody>
                  <a:tcPr marL="0" marR="0" marT="330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5B9BD4"/>
                    </a:solidFill>
                  </a:tcPr>
                </a:tc>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5F5F5"/>
                    </a:solidFill>
                  </a:tcPr>
                </a:tc>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1F5F"/>
                    </a:solidFill>
                  </a:tcPr>
                </a:tc>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5F5F5"/>
                    </a:solidFill>
                  </a:tcPr>
                </a:tc>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5F5F5"/>
                    </a:solidFill>
                  </a:tcPr>
                </a:tc>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5F5F5"/>
                    </a:solidFill>
                  </a:tcPr>
                </a:tc>
                <a:extLst>
                  <a:ext uri="{0D108BD9-81ED-4DB2-BD59-A6C34878D82A}">
                    <a16:rowId xmlns:a16="http://schemas.microsoft.com/office/drawing/2014/main" val="10002"/>
                  </a:ext>
                </a:extLst>
              </a:tr>
              <a:tr h="1059180">
                <a:tc>
                  <a:txBody>
                    <a:bodyPr/>
                    <a:lstStyle/>
                    <a:p>
                      <a:pPr marR="99060" algn="ctr">
                        <a:lnSpc>
                          <a:spcPct val="100000"/>
                        </a:lnSpc>
                        <a:spcBef>
                          <a:spcPts val="310"/>
                        </a:spcBef>
                      </a:pPr>
                      <a:r>
                        <a:rPr sz="1600" dirty="0">
                          <a:latin typeface="Times New Roman"/>
                          <a:cs typeface="Times New Roman"/>
                        </a:rPr>
                        <a:t>Block</a:t>
                      </a:r>
                      <a:r>
                        <a:rPr sz="1600" spc="-40" dirty="0">
                          <a:latin typeface="Times New Roman"/>
                          <a:cs typeface="Times New Roman"/>
                        </a:rPr>
                        <a:t> </a:t>
                      </a:r>
                      <a:r>
                        <a:rPr sz="1600" spc="-10" dirty="0">
                          <a:latin typeface="Times New Roman"/>
                          <a:cs typeface="Times New Roman"/>
                        </a:rPr>
                        <a:t>diagram</a:t>
                      </a:r>
                      <a:endParaRPr sz="1600">
                        <a:latin typeface="Times New Roman"/>
                        <a:cs typeface="Times New Roman"/>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5B9BD4"/>
                    </a:solidFill>
                  </a:tcPr>
                </a:tc>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5F5F5"/>
                    </a:solidFill>
                  </a:tcPr>
                </a:tc>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1F5F"/>
                    </a:solidFill>
                  </a:tcPr>
                </a:tc>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5F5F5"/>
                    </a:solidFill>
                  </a:tcPr>
                </a:tc>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5F5F5"/>
                    </a:solidFill>
                  </a:tcPr>
                </a:tc>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5F5F5"/>
                    </a:solidFill>
                  </a:tcPr>
                </a:tc>
                <a:extLst>
                  <a:ext uri="{0D108BD9-81ED-4DB2-BD59-A6C34878D82A}">
                    <a16:rowId xmlns:a16="http://schemas.microsoft.com/office/drawing/2014/main" val="10003"/>
                  </a:ext>
                </a:extLst>
              </a:tr>
              <a:tr h="1059180">
                <a:tc>
                  <a:txBody>
                    <a:bodyPr/>
                    <a:lstStyle/>
                    <a:p>
                      <a:pPr marR="12700" algn="ctr">
                        <a:lnSpc>
                          <a:spcPct val="100000"/>
                        </a:lnSpc>
                        <a:spcBef>
                          <a:spcPts val="315"/>
                        </a:spcBef>
                      </a:pPr>
                      <a:r>
                        <a:rPr sz="1600" dirty="0">
                          <a:latin typeface="Times New Roman"/>
                          <a:cs typeface="Times New Roman"/>
                        </a:rPr>
                        <a:t>PPT</a:t>
                      </a:r>
                      <a:r>
                        <a:rPr sz="1600" spc="-50" dirty="0">
                          <a:latin typeface="Times New Roman"/>
                          <a:cs typeface="Times New Roman"/>
                        </a:rPr>
                        <a:t> </a:t>
                      </a:r>
                      <a:r>
                        <a:rPr sz="1600" dirty="0">
                          <a:latin typeface="Times New Roman"/>
                          <a:cs typeface="Times New Roman"/>
                        </a:rPr>
                        <a:t>and</a:t>
                      </a:r>
                      <a:r>
                        <a:rPr sz="1600" spc="-40" dirty="0">
                          <a:latin typeface="Times New Roman"/>
                          <a:cs typeface="Times New Roman"/>
                        </a:rPr>
                        <a:t> </a:t>
                      </a:r>
                      <a:r>
                        <a:rPr sz="1600" spc="-10" dirty="0">
                          <a:latin typeface="Times New Roman"/>
                          <a:cs typeface="Times New Roman"/>
                        </a:rPr>
                        <a:t>Report</a:t>
                      </a:r>
                      <a:endParaRPr sz="16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5B9BD4"/>
                    </a:solidFill>
                  </a:tcPr>
                </a:tc>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5F5F5"/>
                    </a:solidFill>
                  </a:tcPr>
                </a:tc>
                <a:tc>
                  <a:txBody>
                    <a:bodyPr/>
                    <a:lstStyle/>
                    <a:p>
                      <a:pPr>
                        <a:lnSpc>
                          <a:spcPct val="100000"/>
                        </a:lnSpc>
                      </a:pPr>
                      <a:endParaRPr sz="900">
                        <a:latin typeface="Times New Roman"/>
                        <a:cs typeface="Times New Roman"/>
                      </a:endParaRPr>
                    </a:p>
                    <a:p>
                      <a:pPr>
                        <a:lnSpc>
                          <a:spcPct val="100000"/>
                        </a:lnSpc>
                      </a:pPr>
                      <a:endParaRPr sz="900">
                        <a:latin typeface="Times New Roman"/>
                        <a:cs typeface="Times New Roman"/>
                      </a:endParaRPr>
                    </a:p>
                    <a:p>
                      <a:pPr>
                        <a:lnSpc>
                          <a:spcPct val="100000"/>
                        </a:lnSpc>
                      </a:pPr>
                      <a:endParaRPr sz="900">
                        <a:latin typeface="Times New Roman"/>
                        <a:cs typeface="Times New Roman"/>
                      </a:endParaRPr>
                    </a:p>
                    <a:p>
                      <a:pPr>
                        <a:lnSpc>
                          <a:spcPct val="100000"/>
                        </a:lnSpc>
                      </a:pPr>
                      <a:endParaRPr sz="900">
                        <a:latin typeface="Times New Roman"/>
                        <a:cs typeface="Times New Roman"/>
                      </a:endParaRPr>
                    </a:p>
                    <a:p>
                      <a:pPr>
                        <a:lnSpc>
                          <a:spcPct val="100000"/>
                        </a:lnSpc>
                      </a:pPr>
                      <a:endParaRPr sz="900">
                        <a:latin typeface="Times New Roman"/>
                        <a:cs typeface="Times New Roman"/>
                      </a:endParaRPr>
                    </a:p>
                    <a:p>
                      <a:pPr>
                        <a:lnSpc>
                          <a:spcPct val="100000"/>
                        </a:lnSpc>
                        <a:spcBef>
                          <a:spcPts val="705"/>
                        </a:spcBef>
                      </a:pPr>
                      <a:endParaRPr sz="900">
                        <a:latin typeface="Times New Roman"/>
                        <a:cs typeface="Times New Roman"/>
                      </a:endParaRPr>
                    </a:p>
                    <a:p>
                      <a:pPr marL="739140">
                        <a:lnSpc>
                          <a:spcPct val="100000"/>
                        </a:lnSpc>
                      </a:pPr>
                      <a:r>
                        <a:rPr sz="900" dirty="0">
                          <a:solidFill>
                            <a:srgbClr val="888888"/>
                          </a:solidFill>
                          <a:latin typeface="Arial MT"/>
                          <a:cs typeface="Arial MT"/>
                        </a:rPr>
                        <a:t>Dept.</a:t>
                      </a:r>
                      <a:r>
                        <a:rPr sz="900" spc="-15" dirty="0">
                          <a:solidFill>
                            <a:srgbClr val="888888"/>
                          </a:solidFill>
                          <a:latin typeface="Arial MT"/>
                          <a:cs typeface="Arial MT"/>
                        </a:rPr>
                        <a:t> </a:t>
                      </a:r>
                      <a:r>
                        <a:rPr sz="900" dirty="0">
                          <a:solidFill>
                            <a:srgbClr val="888888"/>
                          </a:solidFill>
                          <a:latin typeface="Arial MT"/>
                          <a:cs typeface="Arial MT"/>
                        </a:rPr>
                        <a:t>of</a:t>
                      </a:r>
                      <a:r>
                        <a:rPr sz="900" spc="-15" dirty="0">
                          <a:solidFill>
                            <a:srgbClr val="888888"/>
                          </a:solidFill>
                          <a:latin typeface="Arial MT"/>
                          <a:cs typeface="Arial MT"/>
                        </a:rPr>
                        <a:t> </a:t>
                      </a:r>
                      <a:r>
                        <a:rPr sz="900" spc="-25" dirty="0">
                          <a:solidFill>
                            <a:srgbClr val="888888"/>
                          </a:solidFill>
                          <a:latin typeface="Arial MT"/>
                          <a:cs typeface="Arial MT"/>
                        </a:rPr>
                        <a:t>ECE</a:t>
                      </a:r>
                      <a:endParaRPr sz="90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5F5F5"/>
                    </a:solidFill>
                  </a:tcPr>
                </a:tc>
                <a:tc>
                  <a:txBody>
                    <a:bodyPr/>
                    <a:lstStyle/>
                    <a:p>
                      <a:pPr>
                        <a:lnSpc>
                          <a:spcPct val="100000"/>
                        </a:lnSpc>
                      </a:pPr>
                      <a:endParaRPr sz="900">
                        <a:latin typeface="Times New Roman"/>
                        <a:cs typeface="Times New Roman"/>
                      </a:endParaRPr>
                    </a:p>
                    <a:p>
                      <a:pPr>
                        <a:lnSpc>
                          <a:spcPct val="100000"/>
                        </a:lnSpc>
                      </a:pPr>
                      <a:endParaRPr sz="900">
                        <a:latin typeface="Times New Roman"/>
                        <a:cs typeface="Times New Roman"/>
                      </a:endParaRPr>
                    </a:p>
                    <a:p>
                      <a:pPr>
                        <a:lnSpc>
                          <a:spcPct val="100000"/>
                        </a:lnSpc>
                      </a:pPr>
                      <a:endParaRPr sz="900">
                        <a:latin typeface="Times New Roman"/>
                        <a:cs typeface="Times New Roman"/>
                      </a:endParaRPr>
                    </a:p>
                    <a:p>
                      <a:pPr>
                        <a:lnSpc>
                          <a:spcPct val="100000"/>
                        </a:lnSpc>
                      </a:pPr>
                      <a:endParaRPr sz="900">
                        <a:latin typeface="Times New Roman"/>
                        <a:cs typeface="Times New Roman"/>
                      </a:endParaRPr>
                    </a:p>
                    <a:p>
                      <a:pPr>
                        <a:lnSpc>
                          <a:spcPct val="100000"/>
                        </a:lnSpc>
                      </a:pPr>
                      <a:endParaRPr sz="900">
                        <a:latin typeface="Times New Roman"/>
                        <a:cs typeface="Times New Roman"/>
                      </a:endParaRPr>
                    </a:p>
                    <a:p>
                      <a:pPr>
                        <a:lnSpc>
                          <a:spcPct val="100000"/>
                        </a:lnSpc>
                        <a:spcBef>
                          <a:spcPts val="705"/>
                        </a:spcBef>
                      </a:pPr>
                      <a:endParaRPr sz="900">
                        <a:latin typeface="Times New Roman"/>
                        <a:cs typeface="Times New Roman"/>
                      </a:endParaRPr>
                    </a:p>
                    <a:p>
                      <a:pPr marL="26034">
                        <a:lnSpc>
                          <a:spcPct val="100000"/>
                        </a:lnSpc>
                      </a:pPr>
                      <a:r>
                        <a:rPr sz="900" dirty="0">
                          <a:solidFill>
                            <a:srgbClr val="888888"/>
                          </a:solidFill>
                          <a:latin typeface="Arial MT"/>
                          <a:cs typeface="Arial MT"/>
                        </a:rPr>
                        <a:t>2025-</a:t>
                      </a:r>
                      <a:r>
                        <a:rPr sz="900" spc="-25" dirty="0">
                          <a:solidFill>
                            <a:srgbClr val="888888"/>
                          </a:solidFill>
                          <a:latin typeface="Arial MT"/>
                          <a:cs typeface="Arial MT"/>
                        </a:rPr>
                        <a:t>26</a:t>
                      </a:r>
                      <a:endParaRPr sz="90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1F5F"/>
                    </a:solidFill>
                  </a:tcPr>
                </a:tc>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5F5F5"/>
                    </a:solidFill>
                  </a:tcPr>
                </a:tc>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5F5F5"/>
                    </a:solidFill>
                  </a:tcPr>
                </a:tc>
                <a:extLst>
                  <a:ext uri="{0D108BD9-81ED-4DB2-BD59-A6C34878D82A}">
                    <a16:rowId xmlns:a16="http://schemas.microsoft.com/office/drawing/2014/main" val="10004"/>
                  </a:ext>
                </a:extLst>
              </a:tr>
            </a:tbl>
          </a:graphicData>
        </a:graphic>
      </p:graphicFrame>
      <p:pic>
        <p:nvPicPr>
          <p:cNvPr id="6" name="object 6"/>
          <p:cNvPicPr/>
          <p:nvPr/>
        </p:nvPicPr>
        <p:blipFill>
          <a:blip r:embed="rId3" cstate="print"/>
          <a:stretch>
            <a:fillRect/>
          </a:stretch>
        </p:blipFill>
        <p:spPr>
          <a:xfrm>
            <a:off x="274320" y="103631"/>
            <a:ext cx="981456" cy="1100328"/>
          </a:xfrm>
          <a:prstGeom prst="rect">
            <a:avLst/>
          </a:prstGeom>
        </p:spPr>
      </p:pic>
      <p:pic>
        <p:nvPicPr>
          <p:cNvPr id="7" name="object 7"/>
          <p:cNvPicPr/>
          <p:nvPr/>
        </p:nvPicPr>
        <p:blipFill>
          <a:blip r:embed="rId4" cstate="print"/>
          <a:stretch>
            <a:fillRect/>
          </a:stretch>
        </p:blipFill>
        <p:spPr>
          <a:xfrm>
            <a:off x="7818119" y="103631"/>
            <a:ext cx="1051559" cy="1100328"/>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93697" y="471881"/>
            <a:ext cx="4916805" cy="574675"/>
          </a:xfrm>
          <a:prstGeom prst="rect">
            <a:avLst/>
          </a:prstGeom>
        </p:spPr>
        <p:txBody>
          <a:bodyPr vert="horz" wrap="square" lIns="0" tIns="12700" rIns="0" bIns="0" rtlCol="0">
            <a:spAutoFit/>
          </a:bodyPr>
          <a:lstStyle/>
          <a:p>
            <a:pPr marL="12700">
              <a:lnSpc>
                <a:spcPct val="100000"/>
              </a:lnSpc>
              <a:spcBef>
                <a:spcPts val="100"/>
              </a:spcBef>
            </a:pPr>
            <a:r>
              <a:rPr sz="3600" b="0" dirty="0">
                <a:latin typeface="Times New Roman"/>
                <a:cs typeface="Times New Roman"/>
              </a:rPr>
              <a:t>GANTT</a:t>
            </a:r>
            <a:r>
              <a:rPr sz="3600" b="0" spc="-140" dirty="0">
                <a:latin typeface="Times New Roman"/>
                <a:cs typeface="Times New Roman"/>
              </a:rPr>
              <a:t> </a:t>
            </a:r>
            <a:r>
              <a:rPr sz="3600" b="0" spc="-10" dirty="0">
                <a:latin typeface="Times New Roman"/>
                <a:cs typeface="Times New Roman"/>
              </a:rPr>
              <a:t>CHART(Phase</a:t>
            </a:r>
            <a:r>
              <a:rPr sz="3600" b="0" spc="-70" dirty="0">
                <a:latin typeface="Times New Roman"/>
                <a:cs typeface="Times New Roman"/>
              </a:rPr>
              <a:t> </a:t>
            </a:r>
            <a:r>
              <a:rPr sz="3600" b="0" spc="-25" dirty="0">
                <a:latin typeface="Times New Roman"/>
                <a:cs typeface="Times New Roman"/>
              </a:rPr>
              <a:t>2)</a:t>
            </a:r>
            <a:endParaRPr sz="3600">
              <a:latin typeface="Times New Roman"/>
              <a:cs typeface="Times New Roman"/>
            </a:endParaRPr>
          </a:p>
        </p:txBody>
      </p:sp>
      <p:pic>
        <p:nvPicPr>
          <p:cNvPr id="3" name="object 3"/>
          <p:cNvPicPr/>
          <p:nvPr/>
        </p:nvPicPr>
        <p:blipFill>
          <a:blip r:embed="rId2" cstate="print"/>
          <a:stretch>
            <a:fillRect/>
          </a:stretch>
        </p:blipFill>
        <p:spPr>
          <a:xfrm>
            <a:off x="713231" y="1825751"/>
            <a:ext cx="7717535" cy="4352544"/>
          </a:xfrm>
          <a:prstGeom prst="rect">
            <a:avLst/>
          </a:prstGeom>
        </p:spPr>
      </p:pic>
      <p:sp>
        <p:nvSpPr>
          <p:cNvPr id="4" name="object 4"/>
          <p:cNvSpPr txBox="1"/>
          <p:nvPr/>
        </p:nvSpPr>
        <p:spPr>
          <a:xfrm>
            <a:off x="8298815" y="6478218"/>
            <a:ext cx="128270" cy="129539"/>
          </a:xfrm>
          <a:prstGeom prst="rect">
            <a:avLst/>
          </a:prstGeom>
        </p:spPr>
        <p:txBody>
          <a:bodyPr vert="horz" wrap="square" lIns="0" tIns="0" rIns="0" bIns="0" rtlCol="0">
            <a:spAutoFit/>
          </a:bodyPr>
          <a:lstStyle/>
          <a:p>
            <a:pPr>
              <a:lnSpc>
                <a:spcPts val="1005"/>
              </a:lnSpc>
            </a:pPr>
            <a:r>
              <a:rPr sz="900" spc="-25" dirty="0">
                <a:solidFill>
                  <a:srgbClr val="888888"/>
                </a:solidFill>
                <a:latin typeface="Arial MT"/>
                <a:cs typeface="Arial MT"/>
              </a:rPr>
              <a:t>35</a:t>
            </a:r>
            <a:endParaRPr sz="900">
              <a:latin typeface="Arial MT"/>
              <a:cs typeface="Arial MT"/>
            </a:endParaRPr>
          </a:p>
        </p:txBody>
      </p:sp>
      <p:pic>
        <p:nvPicPr>
          <p:cNvPr id="5" name="object 5"/>
          <p:cNvPicPr/>
          <p:nvPr/>
        </p:nvPicPr>
        <p:blipFill>
          <a:blip r:embed="rId3" cstate="print"/>
          <a:stretch>
            <a:fillRect/>
          </a:stretch>
        </p:blipFill>
        <p:spPr>
          <a:xfrm>
            <a:off x="451751" y="1352435"/>
            <a:ext cx="8464296" cy="5312664"/>
          </a:xfrm>
          <a:prstGeom prst="rect">
            <a:avLst/>
          </a:prstGeom>
        </p:spPr>
      </p:pic>
      <p:graphicFrame>
        <p:nvGraphicFramePr>
          <p:cNvPr id="6" name="object 6"/>
          <p:cNvGraphicFramePr>
            <a:graphicFrameLocks noGrp="1"/>
          </p:cNvGraphicFramePr>
          <p:nvPr/>
        </p:nvGraphicFramePr>
        <p:xfrm>
          <a:off x="445401" y="1346072"/>
          <a:ext cx="8462008" cy="5310505"/>
        </p:xfrm>
        <a:graphic>
          <a:graphicData uri="http://schemas.openxmlformats.org/drawingml/2006/table">
            <a:tbl>
              <a:tblPr firstRow="1" bandRow="1">
                <a:tableStyleId>{2D5ABB26-0587-4C30-8999-92F81FD0307C}</a:tableStyleId>
              </a:tblPr>
              <a:tblGrid>
                <a:gridCol w="1496695">
                  <a:extLst>
                    <a:ext uri="{9D8B030D-6E8A-4147-A177-3AD203B41FA5}">
                      <a16:colId xmlns:a16="http://schemas.microsoft.com/office/drawing/2014/main" val="20000"/>
                    </a:ext>
                  </a:extLst>
                </a:gridCol>
                <a:gridCol w="1323975">
                  <a:extLst>
                    <a:ext uri="{9D8B030D-6E8A-4147-A177-3AD203B41FA5}">
                      <a16:colId xmlns:a16="http://schemas.microsoft.com/office/drawing/2014/main" val="20001"/>
                    </a:ext>
                  </a:extLst>
                </a:gridCol>
                <a:gridCol w="1410334">
                  <a:extLst>
                    <a:ext uri="{9D8B030D-6E8A-4147-A177-3AD203B41FA5}">
                      <a16:colId xmlns:a16="http://schemas.microsoft.com/office/drawing/2014/main" val="20002"/>
                    </a:ext>
                  </a:extLst>
                </a:gridCol>
                <a:gridCol w="1410335">
                  <a:extLst>
                    <a:ext uri="{9D8B030D-6E8A-4147-A177-3AD203B41FA5}">
                      <a16:colId xmlns:a16="http://schemas.microsoft.com/office/drawing/2014/main" val="20003"/>
                    </a:ext>
                  </a:extLst>
                </a:gridCol>
                <a:gridCol w="1410335">
                  <a:extLst>
                    <a:ext uri="{9D8B030D-6E8A-4147-A177-3AD203B41FA5}">
                      <a16:colId xmlns:a16="http://schemas.microsoft.com/office/drawing/2014/main" val="20004"/>
                    </a:ext>
                  </a:extLst>
                </a:gridCol>
                <a:gridCol w="1410334">
                  <a:extLst>
                    <a:ext uri="{9D8B030D-6E8A-4147-A177-3AD203B41FA5}">
                      <a16:colId xmlns:a16="http://schemas.microsoft.com/office/drawing/2014/main" val="20005"/>
                    </a:ext>
                  </a:extLst>
                </a:gridCol>
              </a:tblGrid>
              <a:tr h="1059180">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5B9BD4"/>
                    </a:solidFill>
                  </a:tcPr>
                </a:tc>
                <a:tc>
                  <a:txBody>
                    <a:bodyPr/>
                    <a:lstStyle/>
                    <a:p>
                      <a:pPr marL="92075">
                        <a:lnSpc>
                          <a:spcPct val="100000"/>
                        </a:lnSpc>
                        <a:spcBef>
                          <a:spcPts val="300"/>
                        </a:spcBef>
                      </a:pPr>
                      <a:r>
                        <a:rPr sz="1600" b="1" spc="-10" dirty="0">
                          <a:solidFill>
                            <a:srgbClr val="FFFFFF"/>
                          </a:solidFill>
                          <a:latin typeface="Times New Roman"/>
                          <a:cs typeface="Times New Roman"/>
                        </a:rPr>
                        <a:t>August</a:t>
                      </a:r>
                      <a:endParaRPr sz="1600">
                        <a:latin typeface="Times New Roman"/>
                        <a:cs typeface="Times New Roman"/>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5B9BD4"/>
                    </a:solidFill>
                  </a:tcPr>
                </a:tc>
                <a:tc>
                  <a:txBody>
                    <a:bodyPr/>
                    <a:lstStyle/>
                    <a:p>
                      <a:pPr marL="92710">
                        <a:lnSpc>
                          <a:spcPct val="100000"/>
                        </a:lnSpc>
                        <a:spcBef>
                          <a:spcPts val="300"/>
                        </a:spcBef>
                      </a:pPr>
                      <a:r>
                        <a:rPr sz="1600" b="1" spc="-10" dirty="0">
                          <a:solidFill>
                            <a:srgbClr val="FFFFFF"/>
                          </a:solidFill>
                          <a:latin typeface="Times New Roman"/>
                          <a:cs typeface="Times New Roman"/>
                        </a:rPr>
                        <a:t>September</a:t>
                      </a:r>
                      <a:endParaRPr sz="1600">
                        <a:latin typeface="Times New Roman"/>
                        <a:cs typeface="Times New Roman"/>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5B9BD4"/>
                    </a:solidFill>
                  </a:tcPr>
                </a:tc>
                <a:tc>
                  <a:txBody>
                    <a:bodyPr/>
                    <a:lstStyle/>
                    <a:p>
                      <a:pPr marL="92710">
                        <a:lnSpc>
                          <a:spcPct val="100000"/>
                        </a:lnSpc>
                        <a:spcBef>
                          <a:spcPts val="300"/>
                        </a:spcBef>
                      </a:pPr>
                      <a:r>
                        <a:rPr sz="1600" b="1" spc="-10" dirty="0">
                          <a:solidFill>
                            <a:srgbClr val="FFFFFF"/>
                          </a:solidFill>
                          <a:latin typeface="Times New Roman"/>
                          <a:cs typeface="Times New Roman"/>
                        </a:rPr>
                        <a:t>October</a:t>
                      </a:r>
                      <a:endParaRPr sz="1600">
                        <a:latin typeface="Times New Roman"/>
                        <a:cs typeface="Times New Roman"/>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5B9BD4"/>
                    </a:solidFill>
                  </a:tcPr>
                </a:tc>
                <a:tc>
                  <a:txBody>
                    <a:bodyPr/>
                    <a:lstStyle/>
                    <a:p>
                      <a:pPr marL="93345">
                        <a:lnSpc>
                          <a:spcPct val="100000"/>
                        </a:lnSpc>
                        <a:spcBef>
                          <a:spcPts val="300"/>
                        </a:spcBef>
                      </a:pPr>
                      <a:r>
                        <a:rPr sz="1600" b="1" spc="-10" dirty="0">
                          <a:solidFill>
                            <a:srgbClr val="FFFFFF"/>
                          </a:solidFill>
                          <a:latin typeface="Times New Roman"/>
                          <a:cs typeface="Times New Roman"/>
                        </a:rPr>
                        <a:t>November</a:t>
                      </a:r>
                      <a:endParaRPr sz="1600">
                        <a:latin typeface="Times New Roman"/>
                        <a:cs typeface="Times New Roman"/>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5B9BD4"/>
                    </a:solidFill>
                  </a:tcPr>
                </a:tc>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5B9BD4"/>
                    </a:solidFill>
                  </a:tcPr>
                </a:tc>
                <a:extLst>
                  <a:ext uri="{0D108BD9-81ED-4DB2-BD59-A6C34878D82A}">
                    <a16:rowId xmlns:a16="http://schemas.microsoft.com/office/drawing/2014/main" val="10000"/>
                  </a:ext>
                </a:extLst>
              </a:tr>
              <a:tr h="1066800">
                <a:tc>
                  <a:txBody>
                    <a:bodyPr/>
                    <a:lstStyle/>
                    <a:p>
                      <a:pPr marL="91440" marR="113664">
                        <a:lnSpc>
                          <a:spcPct val="100000"/>
                        </a:lnSpc>
                        <a:spcBef>
                          <a:spcPts val="305"/>
                        </a:spcBef>
                      </a:pPr>
                      <a:r>
                        <a:rPr sz="1600" dirty="0">
                          <a:latin typeface="Times New Roman"/>
                          <a:cs typeface="Times New Roman"/>
                        </a:rPr>
                        <a:t>60%</a:t>
                      </a:r>
                      <a:r>
                        <a:rPr sz="1600" spc="-30" dirty="0">
                          <a:latin typeface="Times New Roman"/>
                          <a:cs typeface="Times New Roman"/>
                        </a:rPr>
                        <a:t> </a:t>
                      </a:r>
                      <a:r>
                        <a:rPr sz="1600" spc="-25" dirty="0">
                          <a:latin typeface="Times New Roman"/>
                          <a:cs typeface="Times New Roman"/>
                        </a:rPr>
                        <a:t>of </a:t>
                      </a:r>
                      <a:r>
                        <a:rPr sz="1600" spc="-10" dirty="0">
                          <a:latin typeface="Times New Roman"/>
                          <a:cs typeface="Times New Roman"/>
                        </a:rPr>
                        <a:t>Implementation </a:t>
                      </a:r>
                      <a:r>
                        <a:rPr sz="1600" dirty="0">
                          <a:latin typeface="Times New Roman"/>
                          <a:cs typeface="Times New Roman"/>
                        </a:rPr>
                        <a:t>result</a:t>
                      </a:r>
                      <a:r>
                        <a:rPr sz="1600" spc="-20" dirty="0">
                          <a:latin typeface="Times New Roman"/>
                          <a:cs typeface="Times New Roman"/>
                        </a:rPr>
                        <a:t> </a:t>
                      </a:r>
                      <a:r>
                        <a:rPr sz="1600" spc="-25" dirty="0">
                          <a:latin typeface="Times New Roman"/>
                          <a:cs typeface="Times New Roman"/>
                        </a:rPr>
                        <a:t>and </a:t>
                      </a:r>
                      <a:r>
                        <a:rPr sz="1600" spc="-10" dirty="0">
                          <a:latin typeface="Times New Roman"/>
                          <a:cs typeface="Times New Roman"/>
                        </a:rPr>
                        <a:t>report</a:t>
                      </a:r>
                      <a:endParaRPr sz="160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5B9BD4"/>
                    </a:solidFill>
                  </a:tcPr>
                </a:tc>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1F5F"/>
                    </a:solidFill>
                  </a:tcPr>
                </a:tc>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5F5F5"/>
                    </a:solidFill>
                  </a:tcPr>
                </a:tc>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5F5F5"/>
                    </a:solidFill>
                  </a:tcPr>
                </a:tc>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5F5F5"/>
                    </a:solidFill>
                  </a:tcPr>
                </a:tc>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5F5F5"/>
                    </a:solidFill>
                  </a:tcPr>
                </a:tc>
                <a:extLst>
                  <a:ext uri="{0D108BD9-81ED-4DB2-BD59-A6C34878D82A}">
                    <a16:rowId xmlns:a16="http://schemas.microsoft.com/office/drawing/2014/main" val="10001"/>
                  </a:ext>
                </a:extLst>
              </a:tr>
              <a:tr h="1066165">
                <a:tc>
                  <a:txBody>
                    <a:bodyPr/>
                    <a:lstStyle/>
                    <a:p>
                      <a:pPr marL="91440" marR="180340">
                        <a:lnSpc>
                          <a:spcPct val="100000"/>
                        </a:lnSpc>
                        <a:spcBef>
                          <a:spcPts val="260"/>
                        </a:spcBef>
                      </a:pPr>
                      <a:r>
                        <a:rPr sz="1600" dirty="0">
                          <a:latin typeface="Calibri"/>
                          <a:cs typeface="Calibri"/>
                        </a:rPr>
                        <a:t>80% </a:t>
                      </a:r>
                      <a:r>
                        <a:rPr sz="1600" spc="-25" dirty="0">
                          <a:latin typeface="Calibri"/>
                          <a:cs typeface="Calibri"/>
                        </a:rPr>
                        <a:t>of </a:t>
                      </a:r>
                      <a:r>
                        <a:rPr sz="1600" spc="-10" dirty="0">
                          <a:latin typeface="Calibri"/>
                          <a:cs typeface="Calibri"/>
                        </a:rPr>
                        <a:t>Implementatin </a:t>
                      </a:r>
                      <a:r>
                        <a:rPr sz="1600" dirty="0">
                          <a:latin typeface="Calibri"/>
                          <a:cs typeface="Calibri"/>
                        </a:rPr>
                        <a:t>result</a:t>
                      </a:r>
                      <a:r>
                        <a:rPr sz="1600" spc="-75" dirty="0">
                          <a:latin typeface="Calibri"/>
                          <a:cs typeface="Calibri"/>
                        </a:rPr>
                        <a:t> </a:t>
                      </a:r>
                      <a:r>
                        <a:rPr sz="1600" spc="-25" dirty="0">
                          <a:latin typeface="Calibri"/>
                          <a:cs typeface="Calibri"/>
                        </a:rPr>
                        <a:t>and </a:t>
                      </a:r>
                      <a:r>
                        <a:rPr sz="1600" spc="-10" dirty="0">
                          <a:latin typeface="Calibri"/>
                          <a:cs typeface="Calibri"/>
                        </a:rPr>
                        <a:t>report</a:t>
                      </a:r>
                      <a:endParaRPr sz="1600">
                        <a:latin typeface="Calibri"/>
                        <a:cs typeface="Calibri"/>
                      </a:endParaRPr>
                    </a:p>
                  </a:txBody>
                  <a:tcPr marL="0" marR="0" marT="330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5B9BD4"/>
                    </a:solidFill>
                  </a:tcPr>
                </a:tc>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5F5F5"/>
                    </a:solidFill>
                  </a:tcPr>
                </a:tc>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1F5F"/>
                    </a:solidFill>
                  </a:tcPr>
                </a:tc>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5F5F5"/>
                    </a:solidFill>
                  </a:tcPr>
                </a:tc>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5F5F5"/>
                    </a:solidFill>
                  </a:tcPr>
                </a:tc>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5F5F5"/>
                    </a:solidFill>
                  </a:tcPr>
                </a:tc>
                <a:extLst>
                  <a:ext uri="{0D108BD9-81ED-4DB2-BD59-A6C34878D82A}">
                    <a16:rowId xmlns:a16="http://schemas.microsoft.com/office/drawing/2014/main" val="10002"/>
                  </a:ext>
                </a:extLst>
              </a:tr>
              <a:tr h="1059180">
                <a:tc>
                  <a:txBody>
                    <a:bodyPr/>
                    <a:lstStyle/>
                    <a:p>
                      <a:pPr marL="91440" marR="113664">
                        <a:lnSpc>
                          <a:spcPct val="100000"/>
                        </a:lnSpc>
                        <a:spcBef>
                          <a:spcPts val="310"/>
                        </a:spcBef>
                      </a:pPr>
                      <a:r>
                        <a:rPr sz="1600" dirty="0">
                          <a:latin typeface="Times New Roman"/>
                          <a:cs typeface="Times New Roman"/>
                        </a:rPr>
                        <a:t>100%</a:t>
                      </a:r>
                      <a:r>
                        <a:rPr sz="1600" spc="-45" dirty="0">
                          <a:latin typeface="Times New Roman"/>
                          <a:cs typeface="Times New Roman"/>
                        </a:rPr>
                        <a:t> </a:t>
                      </a:r>
                      <a:r>
                        <a:rPr sz="1600" spc="-25" dirty="0">
                          <a:latin typeface="Times New Roman"/>
                          <a:cs typeface="Times New Roman"/>
                        </a:rPr>
                        <a:t>of </a:t>
                      </a:r>
                      <a:r>
                        <a:rPr sz="1600" spc="-10" dirty="0">
                          <a:latin typeface="Times New Roman"/>
                          <a:cs typeface="Times New Roman"/>
                        </a:rPr>
                        <a:t>Implementation </a:t>
                      </a:r>
                      <a:r>
                        <a:rPr sz="1600" dirty="0">
                          <a:latin typeface="Times New Roman"/>
                          <a:cs typeface="Times New Roman"/>
                        </a:rPr>
                        <a:t>and</a:t>
                      </a:r>
                      <a:r>
                        <a:rPr sz="1600" spc="-35" dirty="0">
                          <a:latin typeface="Times New Roman"/>
                          <a:cs typeface="Times New Roman"/>
                        </a:rPr>
                        <a:t> </a:t>
                      </a:r>
                      <a:r>
                        <a:rPr sz="1600" spc="-10" dirty="0">
                          <a:latin typeface="Times New Roman"/>
                          <a:cs typeface="Times New Roman"/>
                        </a:rPr>
                        <a:t>result</a:t>
                      </a:r>
                      <a:endParaRPr sz="1600">
                        <a:latin typeface="Times New Roman"/>
                        <a:cs typeface="Times New Roman"/>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5B9BD4"/>
                    </a:solidFill>
                  </a:tcPr>
                </a:tc>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5F5F5"/>
                    </a:solidFill>
                  </a:tcPr>
                </a:tc>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F1F1"/>
                    </a:solidFill>
                  </a:tcPr>
                </a:tc>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5F5F5"/>
                    </a:solidFill>
                  </a:tcPr>
                </a:tc>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1F5F"/>
                    </a:solidFill>
                  </a:tcPr>
                </a:tc>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5F5F5"/>
                    </a:solidFill>
                  </a:tcPr>
                </a:tc>
                <a:extLst>
                  <a:ext uri="{0D108BD9-81ED-4DB2-BD59-A6C34878D82A}">
                    <a16:rowId xmlns:a16="http://schemas.microsoft.com/office/drawing/2014/main" val="10003"/>
                  </a:ext>
                </a:extLst>
              </a:tr>
              <a:tr h="1059180">
                <a:tc>
                  <a:txBody>
                    <a:bodyPr/>
                    <a:lstStyle/>
                    <a:p>
                      <a:pPr marL="91440">
                        <a:lnSpc>
                          <a:spcPct val="100000"/>
                        </a:lnSpc>
                        <a:spcBef>
                          <a:spcPts val="315"/>
                        </a:spcBef>
                      </a:pPr>
                      <a:r>
                        <a:rPr sz="1600" dirty="0">
                          <a:latin typeface="Times New Roman"/>
                          <a:cs typeface="Times New Roman"/>
                        </a:rPr>
                        <a:t>PPT</a:t>
                      </a:r>
                      <a:r>
                        <a:rPr sz="1600" spc="-55" dirty="0">
                          <a:latin typeface="Times New Roman"/>
                          <a:cs typeface="Times New Roman"/>
                        </a:rPr>
                        <a:t> </a:t>
                      </a:r>
                      <a:r>
                        <a:rPr sz="1600" dirty="0">
                          <a:latin typeface="Times New Roman"/>
                          <a:cs typeface="Times New Roman"/>
                        </a:rPr>
                        <a:t>and</a:t>
                      </a:r>
                      <a:r>
                        <a:rPr sz="1600" spc="-35" dirty="0">
                          <a:latin typeface="Times New Roman"/>
                          <a:cs typeface="Times New Roman"/>
                        </a:rPr>
                        <a:t> </a:t>
                      </a:r>
                      <a:r>
                        <a:rPr sz="1600" spc="-10" dirty="0">
                          <a:latin typeface="Times New Roman"/>
                          <a:cs typeface="Times New Roman"/>
                        </a:rPr>
                        <a:t>Report</a:t>
                      </a:r>
                      <a:endParaRPr sz="16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5B9BD4"/>
                    </a:solidFill>
                  </a:tcPr>
                </a:tc>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5F5F5"/>
                    </a:solidFill>
                  </a:tcPr>
                </a:tc>
                <a:tc>
                  <a:txBody>
                    <a:bodyPr/>
                    <a:lstStyle/>
                    <a:p>
                      <a:pPr>
                        <a:lnSpc>
                          <a:spcPct val="100000"/>
                        </a:lnSpc>
                      </a:pPr>
                      <a:endParaRPr sz="900">
                        <a:latin typeface="Times New Roman"/>
                        <a:cs typeface="Times New Roman"/>
                      </a:endParaRPr>
                    </a:p>
                    <a:p>
                      <a:pPr>
                        <a:lnSpc>
                          <a:spcPct val="100000"/>
                        </a:lnSpc>
                      </a:pPr>
                      <a:endParaRPr sz="900">
                        <a:latin typeface="Times New Roman"/>
                        <a:cs typeface="Times New Roman"/>
                      </a:endParaRPr>
                    </a:p>
                    <a:p>
                      <a:pPr>
                        <a:lnSpc>
                          <a:spcPct val="100000"/>
                        </a:lnSpc>
                      </a:pPr>
                      <a:endParaRPr sz="900">
                        <a:latin typeface="Times New Roman"/>
                        <a:cs typeface="Times New Roman"/>
                      </a:endParaRPr>
                    </a:p>
                    <a:p>
                      <a:pPr>
                        <a:lnSpc>
                          <a:spcPct val="100000"/>
                        </a:lnSpc>
                      </a:pPr>
                      <a:endParaRPr sz="900">
                        <a:latin typeface="Times New Roman"/>
                        <a:cs typeface="Times New Roman"/>
                      </a:endParaRPr>
                    </a:p>
                    <a:p>
                      <a:pPr>
                        <a:lnSpc>
                          <a:spcPct val="100000"/>
                        </a:lnSpc>
                      </a:pPr>
                      <a:endParaRPr sz="900">
                        <a:latin typeface="Times New Roman"/>
                        <a:cs typeface="Times New Roman"/>
                      </a:endParaRPr>
                    </a:p>
                    <a:p>
                      <a:pPr>
                        <a:lnSpc>
                          <a:spcPct val="100000"/>
                        </a:lnSpc>
                        <a:spcBef>
                          <a:spcPts val="590"/>
                        </a:spcBef>
                      </a:pPr>
                      <a:endParaRPr sz="900">
                        <a:latin typeface="Times New Roman"/>
                        <a:cs typeface="Times New Roman"/>
                      </a:endParaRPr>
                    </a:p>
                    <a:p>
                      <a:pPr marL="739140">
                        <a:lnSpc>
                          <a:spcPct val="100000"/>
                        </a:lnSpc>
                      </a:pPr>
                      <a:r>
                        <a:rPr sz="900" dirty="0">
                          <a:solidFill>
                            <a:srgbClr val="888888"/>
                          </a:solidFill>
                          <a:latin typeface="Arial MT"/>
                          <a:cs typeface="Arial MT"/>
                        </a:rPr>
                        <a:t>Dept.</a:t>
                      </a:r>
                      <a:r>
                        <a:rPr sz="900" spc="-15" dirty="0">
                          <a:solidFill>
                            <a:srgbClr val="888888"/>
                          </a:solidFill>
                          <a:latin typeface="Arial MT"/>
                          <a:cs typeface="Arial MT"/>
                        </a:rPr>
                        <a:t> </a:t>
                      </a:r>
                      <a:r>
                        <a:rPr sz="900" dirty="0">
                          <a:solidFill>
                            <a:srgbClr val="888888"/>
                          </a:solidFill>
                          <a:latin typeface="Arial MT"/>
                          <a:cs typeface="Arial MT"/>
                        </a:rPr>
                        <a:t>of</a:t>
                      </a:r>
                      <a:r>
                        <a:rPr sz="900" spc="-15" dirty="0">
                          <a:solidFill>
                            <a:srgbClr val="888888"/>
                          </a:solidFill>
                          <a:latin typeface="Arial MT"/>
                          <a:cs typeface="Arial MT"/>
                        </a:rPr>
                        <a:t> </a:t>
                      </a:r>
                      <a:r>
                        <a:rPr sz="900" spc="-25" dirty="0">
                          <a:solidFill>
                            <a:srgbClr val="888888"/>
                          </a:solidFill>
                          <a:latin typeface="Arial MT"/>
                          <a:cs typeface="Arial MT"/>
                        </a:rPr>
                        <a:t>ECE</a:t>
                      </a:r>
                      <a:endParaRPr sz="90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5F5F5"/>
                    </a:solidFill>
                  </a:tcPr>
                </a:tc>
                <a:tc>
                  <a:txBody>
                    <a:bodyPr/>
                    <a:lstStyle/>
                    <a:p>
                      <a:pPr>
                        <a:lnSpc>
                          <a:spcPct val="100000"/>
                        </a:lnSpc>
                      </a:pPr>
                      <a:endParaRPr sz="900">
                        <a:latin typeface="Times New Roman"/>
                        <a:cs typeface="Times New Roman"/>
                      </a:endParaRPr>
                    </a:p>
                    <a:p>
                      <a:pPr>
                        <a:lnSpc>
                          <a:spcPct val="100000"/>
                        </a:lnSpc>
                      </a:pPr>
                      <a:endParaRPr sz="900">
                        <a:latin typeface="Times New Roman"/>
                        <a:cs typeface="Times New Roman"/>
                      </a:endParaRPr>
                    </a:p>
                    <a:p>
                      <a:pPr>
                        <a:lnSpc>
                          <a:spcPct val="100000"/>
                        </a:lnSpc>
                      </a:pPr>
                      <a:endParaRPr sz="900">
                        <a:latin typeface="Times New Roman"/>
                        <a:cs typeface="Times New Roman"/>
                      </a:endParaRPr>
                    </a:p>
                    <a:p>
                      <a:pPr>
                        <a:lnSpc>
                          <a:spcPct val="100000"/>
                        </a:lnSpc>
                      </a:pPr>
                      <a:endParaRPr sz="900">
                        <a:latin typeface="Times New Roman"/>
                        <a:cs typeface="Times New Roman"/>
                      </a:endParaRPr>
                    </a:p>
                    <a:p>
                      <a:pPr>
                        <a:lnSpc>
                          <a:spcPct val="100000"/>
                        </a:lnSpc>
                      </a:pPr>
                      <a:endParaRPr sz="900">
                        <a:latin typeface="Times New Roman"/>
                        <a:cs typeface="Times New Roman"/>
                      </a:endParaRPr>
                    </a:p>
                    <a:p>
                      <a:pPr>
                        <a:lnSpc>
                          <a:spcPct val="100000"/>
                        </a:lnSpc>
                        <a:spcBef>
                          <a:spcPts val="590"/>
                        </a:spcBef>
                      </a:pPr>
                      <a:endParaRPr sz="900">
                        <a:latin typeface="Times New Roman"/>
                        <a:cs typeface="Times New Roman"/>
                      </a:endParaRPr>
                    </a:p>
                    <a:p>
                      <a:pPr marL="26034">
                        <a:lnSpc>
                          <a:spcPct val="100000"/>
                        </a:lnSpc>
                      </a:pPr>
                      <a:r>
                        <a:rPr sz="900" dirty="0">
                          <a:solidFill>
                            <a:srgbClr val="888888"/>
                          </a:solidFill>
                          <a:latin typeface="Arial MT"/>
                          <a:cs typeface="Arial MT"/>
                        </a:rPr>
                        <a:t>2025-</a:t>
                      </a:r>
                      <a:r>
                        <a:rPr sz="900" spc="-25" dirty="0">
                          <a:solidFill>
                            <a:srgbClr val="888888"/>
                          </a:solidFill>
                          <a:latin typeface="Arial MT"/>
                          <a:cs typeface="Arial MT"/>
                        </a:rPr>
                        <a:t>26</a:t>
                      </a:r>
                      <a:endParaRPr sz="90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5F5F5"/>
                    </a:solidFill>
                  </a:tcPr>
                </a:tc>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1F5F"/>
                    </a:solidFill>
                  </a:tcPr>
                </a:tc>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5F5F5"/>
                    </a:solidFill>
                  </a:tcPr>
                </a:tc>
                <a:extLst>
                  <a:ext uri="{0D108BD9-81ED-4DB2-BD59-A6C34878D82A}">
                    <a16:rowId xmlns:a16="http://schemas.microsoft.com/office/drawing/2014/main" val="10004"/>
                  </a:ext>
                </a:extLst>
              </a:tr>
            </a:tbl>
          </a:graphicData>
        </a:graphic>
      </p:graphicFrame>
      <p:pic>
        <p:nvPicPr>
          <p:cNvPr id="7" name="object 7"/>
          <p:cNvPicPr/>
          <p:nvPr/>
        </p:nvPicPr>
        <p:blipFill>
          <a:blip r:embed="rId4" cstate="print"/>
          <a:stretch>
            <a:fillRect/>
          </a:stretch>
        </p:blipFill>
        <p:spPr>
          <a:xfrm>
            <a:off x="274320" y="103631"/>
            <a:ext cx="981456" cy="1100328"/>
          </a:xfrm>
          <a:prstGeom prst="rect">
            <a:avLst/>
          </a:prstGeom>
        </p:spPr>
      </p:pic>
      <p:pic>
        <p:nvPicPr>
          <p:cNvPr id="8" name="object 8"/>
          <p:cNvPicPr/>
          <p:nvPr/>
        </p:nvPicPr>
        <p:blipFill>
          <a:blip r:embed="rId5" cstate="print"/>
          <a:stretch>
            <a:fillRect/>
          </a:stretch>
        </p:blipFill>
        <p:spPr>
          <a:xfrm>
            <a:off x="7818119" y="103631"/>
            <a:ext cx="1051559" cy="1100328"/>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19960" y="768553"/>
            <a:ext cx="1002665" cy="454025"/>
          </a:xfrm>
          <a:prstGeom prst="rect">
            <a:avLst/>
          </a:prstGeom>
        </p:spPr>
        <p:txBody>
          <a:bodyPr vert="horz" wrap="square" lIns="0" tIns="13970" rIns="0" bIns="0" rtlCol="0">
            <a:spAutoFit/>
          </a:bodyPr>
          <a:lstStyle/>
          <a:p>
            <a:pPr marL="12700">
              <a:lnSpc>
                <a:spcPct val="100000"/>
              </a:lnSpc>
              <a:spcBef>
                <a:spcPts val="110"/>
              </a:spcBef>
            </a:pPr>
            <a:r>
              <a:rPr sz="2800" spc="-10" dirty="0"/>
              <a:t>SDG’s</a:t>
            </a:r>
            <a:endParaRPr sz="2800"/>
          </a:p>
        </p:txBody>
      </p:sp>
      <p:sp>
        <p:nvSpPr>
          <p:cNvPr id="3" name="object 3"/>
          <p:cNvSpPr txBox="1"/>
          <p:nvPr/>
        </p:nvSpPr>
        <p:spPr>
          <a:xfrm>
            <a:off x="707542" y="1448561"/>
            <a:ext cx="7696200" cy="4220130"/>
          </a:xfrm>
          <a:prstGeom prst="rect">
            <a:avLst/>
          </a:prstGeom>
        </p:spPr>
        <p:txBody>
          <a:bodyPr vert="horz" wrap="square" lIns="0" tIns="12700" rIns="0" bIns="0" rtlCol="0">
            <a:spAutoFit/>
          </a:bodyPr>
          <a:lstStyle/>
          <a:p>
            <a:pPr marL="170815" marR="546735" indent="-170815" algn="r">
              <a:lnSpc>
                <a:spcPts val="2050"/>
              </a:lnSpc>
              <a:spcBef>
                <a:spcPts val="100"/>
              </a:spcBef>
              <a:buFont typeface="Arial MT"/>
              <a:buChar char="•"/>
              <a:tabLst>
                <a:tab pos="170815" algn="l"/>
              </a:tabLst>
            </a:pPr>
            <a:r>
              <a:rPr dirty="0">
                <a:latin typeface="Times New Roman" panose="02020603050405020304" pitchFamily="18" charset="0"/>
                <a:cs typeface="Times New Roman" panose="02020603050405020304" pitchFamily="18" charset="0"/>
              </a:rPr>
              <a:t>Based</a:t>
            </a:r>
            <a:r>
              <a:rPr spc="-2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on</a:t>
            </a:r>
            <a:r>
              <a:rPr spc="-4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the</a:t>
            </a:r>
            <a:r>
              <a:rPr spc="-5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project's</a:t>
            </a:r>
            <a:r>
              <a:rPr spc="-3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focus</a:t>
            </a:r>
            <a:r>
              <a:rPr spc="-3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on</a:t>
            </a:r>
            <a:r>
              <a:rPr spc="-3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crack</a:t>
            </a:r>
            <a:r>
              <a:rPr spc="-1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detection</a:t>
            </a:r>
            <a:r>
              <a:rPr spc="-4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and</a:t>
            </a:r>
            <a:r>
              <a:rPr spc="-3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water</a:t>
            </a:r>
            <a:r>
              <a:rPr spc="1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level</a:t>
            </a:r>
            <a:r>
              <a:rPr spc="-2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indication</a:t>
            </a:r>
            <a:r>
              <a:rPr spc="-65" dirty="0">
                <a:latin typeface="Times New Roman" panose="02020603050405020304" pitchFamily="18" charset="0"/>
                <a:cs typeface="Times New Roman" panose="02020603050405020304" pitchFamily="18" charset="0"/>
              </a:rPr>
              <a:t> </a:t>
            </a:r>
            <a:r>
              <a:rPr spc="-25" dirty="0">
                <a:latin typeface="Times New Roman" panose="02020603050405020304" pitchFamily="18" charset="0"/>
                <a:cs typeface="Times New Roman" panose="02020603050405020304" pitchFamily="18" charset="0"/>
              </a:rPr>
              <a:t>in</a:t>
            </a:r>
            <a:endParaRPr dirty="0">
              <a:latin typeface="Times New Roman" panose="02020603050405020304" pitchFamily="18" charset="0"/>
              <a:cs typeface="Times New Roman" panose="02020603050405020304" pitchFamily="18" charset="0"/>
            </a:endParaRPr>
          </a:p>
          <a:p>
            <a:pPr marR="559435" algn="r">
              <a:lnSpc>
                <a:spcPts val="2050"/>
              </a:lnSpc>
            </a:pPr>
            <a:r>
              <a:rPr dirty="0">
                <a:latin typeface="Times New Roman" panose="02020603050405020304" pitchFamily="18" charset="0"/>
                <a:cs typeface="Times New Roman" panose="02020603050405020304" pitchFamily="18" charset="0"/>
              </a:rPr>
              <a:t>dams,</a:t>
            </a:r>
            <a:r>
              <a:rPr spc="-1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here</a:t>
            </a:r>
            <a:r>
              <a:rPr spc="-3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are</a:t>
            </a:r>
            <a:r>
              <a:rPr spc="-4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the</a:t>
            </a:r>
            <a:r>
              <a:rPr spc="-4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most</a:t>
            </a:r>
            <a:r>
              <a:rPr spc="-2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relevant</a:t>
            </a:r>
            <a:r>
              <a:rPr spc="-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Sustainable</a:t>
            </a:r>
            <a:r>
              <a:rPr spc="-7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Development Goals</a:t>
            </a:r>
            <a:r>
              <a:rPr spc="-5"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(SDGs)</a:t>
            </a:r>
            <a:endParaRPr dirty="0">
              <a:latin typeface="Times New Roman" panose="02020603050405020304" pitchFamily="18" charset="0"/>
              <a:cs typeface="Times New Roman" panose="02020603050405020304" pitchFamily="18" charset="0"/>
            </a:endParaRPr>
          </a:p>
          <a:p>
            <a:pPr marL="183515" marR="5080" indent="-171450" algn="just">
              <a:lnSpc>
                <a:spcPts val="1939"/>
              </a:lnSpc>
              <a:spcBef>
                <a:spcPts val="850"/>
              </a:spcBef>
              <a:buFont typeface="Arial MT"/>
              <a:buChar char="•"/>
              <a:tabLst>
                <a:tab pos="183515" algn="l"/>
              </a:tabLst>
            </a:pPr>
            <a:r>
              <a:rPr dirty="0">
                <a:latin typeface="Times New Roman" panose="02020603050405020304" pitchFamily="18" charset="0"/>
                <a:cs typeface="Times New Roman" panose="02020603050405020304" pitchFamily="18" charset="0"/>
              </a:rPr>
              <a:t>SDG</a:t>
            </a:r>
            <a:r>
              <a:rPr spc="-6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6:</a:t>
            </a:r>
            <a:r>
              <a:rPr spc="-3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Clean</a:t>
            </a:r>
            <a:r>
              <a:rPr spc="-55" dirty="0">
                <a:latin typeface="Times New Roman" panose="02020603050405020304" pitchFamily="18" charset="0"/>
                <a:cs typeface="Times New Roman" panose="02020603050405020304" pitchFamily="18" charset="0"/>
              </a:rPr>
              <a:t> </a:t>
            </a:r>
            <a:r>
              <a:rPr spc="-20" dirty="0">
                <a:latin typeface="Times New Roman" panose="02020603050405020304" pitchFamily="18" charset="0"/>
                <a:cs typeface="Times New Roman" panose="02020603050405020304" pitchFamily="18" charset="0"/>
              </a:rPr>
              <a:t>Water</a:t>
            </a:r>
            <a:r>
              <a:rPr spc="2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and</a:t>
            </a:r>
            <a:r>
              <a:rPr spc="-3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Sanitation</a:t>
            </a:r>
            <a:r>
              <a:rPr spc="-2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t>
            </a:r>
            <a:r>
              <a:rPr spc="-6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This</a:t>
            </a:r>
            <a:r>
              <a:rPr spc="-2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goal</a:t>
            </a:r>
            <a:r>
              <a:rPr spc="-1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is</a:t>
            </a:r>
            <a:r>
              <a:rPr spc="-2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directly</a:t>
            </a:r>
            <a:r>
              <a:rPr spc="-3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related</a:t>
            </a:r>
            <a:r>
              <a:rPr spc="-1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to</a:t>
            </a:r>
            <a:r>
              <a:rPr spc="-2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the</a:t>
            </a:r>
            <a:r>
              <a:rPr spc="-55"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project's </a:t>
            </a:r>
            <a:r>
              <a:rPr dirty="0">
                <a:latin typeface="Times New Roman" panose="02020603050405020304" pitchFamily="18" charset="0"/>
                <a:cs typeface="Times New Roman" panose="02020603050405020304" pitchFamily="18" charset="0"/>
              </a:rPr>
              <a:t>focus</a:t>
            </a:r>
            <a:r>
              <a:rPr spc="-2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on</a:t>
            </a:r>
            <a:r>
              <a:rPr spc="-3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water</a:t>
            </a:r>
            <a:r>
              <a:rPr spc="-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level monitoring</a:t>
            </a:r>
            <a:r>
              <a:rPr spc="-5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in</a:t>
            </a:r>
            <a:r>
              <a:rPr spc="-3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dams, which</a:t>
            </a:r>
            <a:r>
              <a:rPr spc="-2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is</a:t>
            </a:r>
            <a:r>
              <a:rPr spc="-2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crucial</a:t>
            </a:r>
            <a:r>
              <a:rPr spc="-2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for</a:t>
            </a:r>
            <a:r>
              <a:rPr spc="-2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managing</a:t>
            </a:r>
            <a:r>
              <a:rPr spc="10"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water </a:t>
            </a:r>
            <a:r>
              <a:rPr dirty="0">
                <a:latin typeface="Times New Roman" panose="02020603050405020304" pitchFamily="18" charset="0"/>
                <a:cs typeface="Times New Roman" panose="02020603050405020304" pitchFamily="18" charset="0"/>
              </a:rPr>
              <a:t>resources</a:t>
            </a:r>
            <a:r>
              <a:rPr spc="-3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and</a:t>
            </a:r>
            <a:r>
              <a:rPr spc="-4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ensuring</a:t>
            </a:r>
            <a:r>
              <a:rPr spc="-6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access</a:t>
            </a:r>
            <a:r>
              <a:rPr spc="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to</a:t>
            </a:r>
            <a:r>
              <a:rPr spc="-3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clean</a:t>
            </a:r>
            <a:r>
              <a:rPr spc="-25"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water.</a:t>
            </a:r>
            <a:endParaRPr dirty="0">
              <a:latin typeface="Times New Roman" panose="02020603050405020304" pitchFamily="18" charset="0"/>
              <a:cs typeface="Times New Roman" panose="02020603050405020304" pitchFamily="18" charset="0"/>
            </a:endParaRPr>
          </a:p>
          <a:p>
            <a:pPr marL="183515" marR="149860" indent="-171450" algn="just">
              <a:lnSpc>
                <a:spcPct val="90100"/>
              </a:lnSpc>
              <a:spcBef>
                <a:spcPts val="770"/>
              </a:spcBef>
              <a:buChar char="•"/>
              <a:tabLst>
                <a:tab pos="183515" algn="l"/>
                <a:tab pos="241300" algn="l"/>
              </a:tabLst>
            </a:pPr>
            <a:r>
              <a:rPr dirty="0">
                <a:latin typeface="Times New Roman" panose="02020603050405020304" pitchFamily="18" charset="0"/>
                <a:cs typeface="Times New Roman" panose="02020603050405020304" pitchFamily="18" charset="0"/>
              </a:rPr>
              <a:t>	SDG</a:t>
            </a:r>
            <a:r>
              <a:rPr spc="-5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9:</a:t>
            </a:r>
            <a:r>
              <a:rPr spc="-30"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Industry,</a:t>
            </a:r>
            <a:r>
              <a:rPr spc="-3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Innovation,</a:t>
            </a:r>
            <a:r>
              <a:rPr spc="-5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and</a:t>
            </a:r>
            <a:r>
              <a:rPr spc="-2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Infrastructure</a:t>
            </a:r>
            <a:r>
              <a:rPr spc="2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t>
            </a:r>
            <a:r>
              <a:rPr spc="-3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The</a:t>
            </a:r>
            <a:r>
              <a:rPr spc="-3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project</a:t>
            </a:r>
            <a:r>
              <a:rPr spc="-30"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involves </a:t>
            </a:r>
            <a:r>
              <a:rPr dirty="0">
                <a:latin typeface="Times New Roman" panose="02020603050405020304" pitchFamily="18" charset="0"/>
                <a:cs typeface="Times New Roman" panose="02020603050405020304" pitchFamily="18" charset="0"/>
              </a:rPr>
              <a:t>developing</a:t>
            </a:r>
            <a:r>
              <a:rPr spc="-7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and</a:t>
            </a:r>
            <a:r>
              <a:rPr spc="-5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implementing</a:t>
            </a:r>
            <a:r>
              <a:rPr spc="-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technology</a:t>
            </a:r>
            <a:r>
              <a:rPr spc="-7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for</a:t>
            </a:r>
            <a:r>
              <a:rPr spc="-3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monitoring</a:t>
            </a:r>
            <a:r>
              <a:rPr spc="-7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dam</a:t>
            </a:r>
            <a:r>
              <a:rPr spc="-45"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safety,</a:t>
            </a:r>
            <a:r>
              <a:rPr spc="3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which</a:t>
            </a:r>
            <a:r>
              <a:rPr spc="-35"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falls </a:t>
            </a:r>
            <a:r>
              <a:rPr dirty="0">
                <a:latin typeface="Times New Roman" panose="02020603050405020304" pitchFamily="18" charset="0"/>
                <a:cs typeface="Times New Roman" panose="02020603050405020304" pitchFamily="18" charset="0"/>
              </a:rPr>
              <a:t>under</a:t>
            </a:r>
            <a:r>
              <a:rPr spc="-4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the</a:t>
            </a:r>
            <a:r>
              <a:rPr spc="-4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development</a:t>
            </a:r>
            <a:r>
              <a:rPr spc="-1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of</a:t>
            </a:r>
            <a:r>
              <a:rPr spc="-1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resilient</a:t>
            </a:r>
            <a:r>
              <a:rPr spc="-30"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infrastructure</a:t>
            </a:r>
            <a:endParaRPr dirty="0">
              <a:latin typeface="Times New Roman" panose="02020603050405020304" pitchFamily="18" charset="0"/>
              <a:cs typeface="Times New Roman" panose="02020603050405020304" pitchFamily="18" charset="0"/>
            </a:endParaRPr>
          </a:p>
          <a:p>
            <a:pPr marL="183515" marR="86360" indent="-171450" algn="just">
              <a:lnSpc>
                <a:spcPct val="90100"/>
              </a:lnSpc>
              <a:spcBef>
                <a:spcPts val="790"/>
              </a:spcBef>
              <a:buChar char="•"/>
              <a:tabLst>
                <a:tab pos="183515" algn="l"/>
                <a:tab pos="241300" algn="l"/>
              </a:tabLst>
            </a:pPr>
            <a:r>
              <a:rPr dirty="0">
                <a:latin typeface="Times New Roman" panose="02020603050405020304" pitchFamily="18" charset="0"/>
                <a:cs typeface="Times New Roman" panose="02020603050405020304" pitchFamily="18" charset="0"/>
              </a:rPr>
              <a:t>	SDG</a:t>
            </a:r>
            <a:r>
              <a:rPr spc="-5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11:</a:t>
            </a:r>
            <a:r>
              <a:rPr spc="-3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Sustainable</a:t>
            </a:r>
            <a:r>
              <a:rPr spc="-6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Cities</a:t>
            </a:r>
            <a:r>
              <a:rPr spc="-1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and</a:t>
            </a:r>
            <a:r>
              <a:rPr spc="-2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Communities</a:t>
            </a:r>
            <a:r>
              <a:rPr spc="4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t>
            </a:r>
            <a:r>
              <a:rPr spc="-1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Dams</a:t>
            </a:r>
            <a:r>
              <a:rPr spc="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play</a:t>
            </a:r>
            <a:r>
              <a:rPr spc="-3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a:t>
            </a:r>
            <a:r>
              <a:rPr spc="-3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vital</a:t>
            </a:r>
            <a:r>
              <a:rPr spc="-1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role</a:t>
            </a:r>
            <a:r>
              <a:rPr spc="-15" dirty="0">
                <a:latin typeface="Times New Roman" panose="02020603050405020304" pitchFamily="18" charset="0"/>
                <a:cs typeface="Times New Roman" panose="02020603050405020304" pitchFamily="18" charset="0"/>
              </a:rPr>
              <a:t> </a:t>
            </a:r>
            <a:r>
              <a:rPr spc="-25" dirty="0">
                <a:latin typeface="Times New Roman" panose="02020603050405020304" pitchFamily="18" charset="0"/>
                <a:cs typeface="Times New Roman" panose="02020603050405020304" pitchFamily="18" charset="0"/>
              </a:rPr>
              <a:t>in </a:t>
            </a:r>
            <a:r>
              <a:rPr dirty="0">
                <a:latin typeface="Times New Roman" panose="02020603050405020304" pitchFamily="18" charset="0"/>
                <a:cs typeface="Times New Roman" panose="02020603050405020304" pitchFamily="18" charset="0"/>
              </a:rPr>
              <a:t>community</a:t>
            </a:r>
            <a:r>
              <a:rPr spc="-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safety</a:t>
            </a:r>
            <a:r>
              <a:rPr spc="2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and</a:t>
            </a:r>
            <a:r>
              <a:rPr spc="-30"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well-</a:t>
            </a:r>
            <a:r>
              <a:rPr dirty="0">
                <a:latin typeface="Times New Roman" panose="02020603050405020304" pitchFamily="18" charset="0"/>
                <a:cs typeface="Times New Roman" panose="02020603050405020304" pitchFamily="18" charset="0"/>
              </a:rPr>
              <a:t>being by</a:t>
            </a:r>
            <a:r>
              <a:rPr spc="-2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preventing</a:t>
            </a:r>
            <a:r>
              <a:rPr spc="-4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floods</a:t>
            </a:r>
            <a:r>
              <a:rPr spc="-1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and</a:t>
            </a:r>
            <a:r>
              <a:rPr spc="-3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ensuring</a:t>
            </a:r>
            <a:r>
              <a:rPr spc="-45"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water availability.</a:t>
            </a:r>
            <a:r>
              <a:rPr spc="-2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The</a:t>
            </a:r>
            <a:r>
              <a:rPr spc="-3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project</a:t>
            </a:r>
            <a:r>
              <a:rPr spc="-4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contributes</a:t>
            </a:r>
            <a:r>
              <a:rPr spc="-7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to</a:t>
            </a:r>
            <a:r>
              <a:rPr spc="-2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this</a:t>
            </a:r>
            <a:r>
              <a:rPr spc="-2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goal</a:t>
            </a:r>
            <a:r>
              <a:rPr spc="-4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by</a:t>
            </a:r>
            <a:r>
              <a:rPr spc="-3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enhancing</a:t>
            </a:r>
            <a:r>
              <a:rPr spc="-4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dam</a:t>
            </a:r>
            <a:r>
              <a:rPr spc="-3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safety</a:t>
            </a:r>
            <a:r>
              <a:rPr spc="15"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through </a:t>
            </a:r>
            <a:r>
              <a:rPr dirty="0">
                <a:latin typeface="Times New Roman" panose="02020603050405020304" pitchFamily="18" charset="0"/>
                <a:cs typeface="Times New Roman" panose="02020603050405020304" pitchFamily="18" charset="0"/>
              </a:rPr>
              <a:t>crack</a:t>
            </a:r>
            <a:r>
              <a:rPr spc="-3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detection</a:t>
            </a:r>
            <a:r>
              <a:rPr spc="-5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and</a:t>
            </a:r>
            <a:r>
              <a:rPr spc="-5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water level</a:t>
            </a:r>
            <a:r>
              <a:rPr spc="-40"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monitoring.</a:t>
            </a:r>
            <a:endParaRPr dirty="0">
              <a:latin typeface="Times New Roman" panose="02020603050405020304" pitchFamily="18" charset="0"/>
              <a:cs typeface="Times New Roman" panose="02020603050405020304" pitchFamily="18" charset="0"/>
            </a:endParaRPr>
          </a:p>
          <a:p>
            <a:pPr marL="183515" marR="96520" indent="-171450" algn="just">
              <a:lnSpc>
                <a:spcPts val="1950"/>
              </a:lnSpc>
              <a:spcBef>
                <a:spcPts val="840"/>
              </a:spcBef>
              <a:buChar char="•"/>
              <a:tabLst>
                <a:tab pos="183515" algn="l"/>
                <a:tab pos="241300" algn="l"/>
              </a:tabLst>
            </a:pPr>
            <a:r>
              <a:rPr dirty="0">
                <a:latin typeface="Times New Roman" panose="02020603050405020304" pitchFamily="18" charset="0"/>
                <a:cs typeface="Times New Roman" panose="02020603050405020304" pitchFamily="18" charset="0"/>
              </a:rPr>
              <a:t>	SDG</a:t>
            </a:r>
            <a:r>
              <a:rPr spc="-6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13:</a:t>
            </a:r>
            <a:r>
              <a:rPr spc="-65"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Climate</a:t>
            </a:r>
            <a:r>
              <a:rPr spc="-9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Action-</a:t>
            </a:r>
            <a:r>
              <a:rPr spc="-2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Dams</a:t>
            </a:r>
            <a:r>
              <a:rPr spc="1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are</a:t>
            </a:r>
            <a:r>
              <a:rPr spc="-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important</a:t>
            </a:r>
            <a:r>
              <a:rPr spc="-4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for</a:t>
            </a:r>
            <a:r>
              <a:rPr spc="-2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water</a:t>
            </a:r>
            <a:r>
              <a:rPr spc="1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storage</a:t>
            </a:r>
            <a:r>
              <a:rPr spc="-3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and</a:t>
            </a:r>
            <a:r>
              <a:rPr spc="-3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can</a:t>
            </a:r>
            <a:r>
              <a:rPr spc="-2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play</a:t>
            </a:r>
            <a:r>
              <a:rPr spc="-40" dirty="0">
                <a:latin typeface="Times New Roman" panose="02020603050405020304" pitchFamily="18" charset="0"/>
                <a:cs typeface="Times New Roman" panose="02020603050405020304" pitchFamily="18" charset="0"/>
              </a:rPr>
              <a:t> </a:t>
            </a:r>
            <a:r>
              <a:rPr spc="-50" dirty="0">
                <a:latin typeface="Times New Roman" panose="02020603050405020304" pitchFamily="18" charset="0"/>
                <a:cs typeface="Times New Roman" panose="02020603050405020304" pitchFamily="18" charset="0"/>
              </a:rPr>
              <a:t>a </a:t>
            </a:r>
            <a:r>
              <a:rPr dirty="0">
                <a:latin typeface="Times New Roman" panose="02020603050405020304" pitchFamily="18" charset="0"/>
                <a:cs typeface="Times New Roman" panose="02020603050405020304" pitchFamily="18" charset="0"/>
              </a:rPr>
              <a:t>role</a:t>
            </a:r>
            <a:r>
              <a:rPr spc="-5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in</a:t>
            </a:r>
            <a:r>
              <a:rPr spc="-1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climate</a:t>
            </a:r>
            <a:r>
              <a:rPr spc="-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change</a:t>
            </a:r>
            <a:r>
              <a:rPr spc="-4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adaptation.</a:t>
            </a:r>
            <a:r>
              <a:rPr spc="-6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Monitoring</a:t>
            </a:r>
            <a:r>
              <a:rPr spc="-8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their</a:t>
            </a:r>
            <a:r>
              <a:rPr spc="-4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safety</a:t>
            </a:r>
            <a:r>
              <a:rPr spc="1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and</a:t>
            </a:r>
            <a:r>
              <a:rPr spc="-3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efficiency</a:t>
            </a:r>
            <a:r>
              <a:rPr spc="5" dirty="0">
                <a:latin typeface="Times New Roman" panose="02020603050405020304" pitchFamily="18" charset="0"/>
                <a:cs typeface="Times New Roman" panose="02020603050405020304" pitchFamily="18" charset="0"/>
              </a:rPr>
              <a:t> </a:t>
            </a:r>
            <a:r>
              <a:rPr spc="-25" dirty="0">
                <a:latin typeface="Times New Roman" panose="02020603050405020304" pitchFamily="18" charset="0"/>
                <a:cs typeface="Times New Roman" panose="02020603050405020304" pitchFamily="18" charset="0"/>
              </a:rPr>
              <a:t>is </a:t>
            </a:r>
            <a:r>
              <a:rPr dirty="0">
                <a:latin typeface="Times New Roman" panose="02020603050405020304" pitchFamily="18" charset="0"/>
                <a:cs typeface="Times New Roman" panose="02020603050405020304" pitchFamily="18" charset="0"/>
              </a:rPr>
              <a:t>essential</a:t>
            </a:r>
            <a:r>
              <a:rPr spc="-2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in</a:t>
            </a:r>
            <a:r>
              <a:rPr spc="-3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the</a:t>
            </a:r>
            <a:r>
              <a:rPr spc="-3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context</a:t>
            </a:r>
            <a:r>
              <a:rPr spc="-4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of</a:t>
            </a:r>
            <a:r>
              <a:rPr spc="-4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climate</a:t>
            </a:r>
            <a:r>
              <a:rPr spc="1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change</a:t>
            </a:r>
            <a:r>
              <a:rPr spc="-3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and</a:t>
            </a:r>
            <a:r>
              <a:rPr spc="-3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its</a:t>
            </a:r>
            <a:r>
              <a:rPr spc="-3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impacts on</a:t>
            </a:r>
            <a:r>
              <a:rPr spc="-3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water</a:t>
            </a:r>
            <a:r>
              <a:rPr spc="-5"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resources</a:t>
            </a:r>
            <a:r>
              <a:rPr sz="1800" spc="-10" dirty="0">
                <a:latin typeface="Times New Roman"/>
                <a:cs typeface="Times New Roman"/>
              </a:rPr>
              <a:t>.</a:t>
            </a:r>
            <a:endParaRPr sz="1800" dirty="0">
              <a:latin typeface="Times New Roman"/>
              <a:cs typeface="Times New Roman"/>
            </a:endParaRPr>
          </a:p>
        </p:txBody>
      </p:sp>
      <p:sp>
        <p:nvSpPr>
          <p:cNvPr id="4" name="object 4"/>
          <p:cNvSpPr txBox="1"/>
          <p:nvPr/>
        </p:nvSpPr>
        <p:spPr>
          <a:xfrm>
            <a:off x="8286115" y="6454546"/>
            <a:ext cx="153670" cy="164465"/>
          </a:xfrm>
          <a:prstGeom prst="rect">
            <a:avLst/>
          </a:prstGeom>
        </p:spPr>
        <p:txBody>
          <a:bodyPr vert="horz" wrap="square" lIns="0" tIns="13970" rIns="0" bIns="0" rtlCol="0">
            <a:spAutoFit/>
          </a:bodyPr>
          <a:lstStyle/>
          <a:p>
            <a:pPr marL="12700">
              <a:lnSpc>
                <a:spcPct val="100000"/>
              </a:lnSpc>
              <a:spcBef>
                <a:spcPts val="110"/>
              </a:spcBef>
            </a:pPr>
            <a:r>
              <a:rPr sz="900" spc="-25" dirty="0">
                <a:solidFill>
                  <a:srgbClr val="888888"/>
                </a:solidFill>
                <a:latin typeface="Arial MT"/>
                <a:cs typeface="Arial MT"/>
              </a:rPr>
              <a:t>36</a:t>
            </a:r>
            <a:endParaRPr sz="900">
              <a:latin typeface="Arial MT"/>
              <a:cs typeface="Arial MT"/>
            </a:endParaRPr>
          </a:p>
        </p:txBody>
      </p:sp>
      <p:pic>
        <p:nvPicPr>
          <p:cNvPr id="5" name="object 5"/>
          <p:cNvPicPr/>
          <p:nvPr/>
        </p:nvPicPr>
        <p:blipFill>
          <a:blip r:embed="rId2" cstate="print"/>
          <a:stretch>
            <a:fillRect/>
          </a:stretch>
        </p:blipFill>
        <p:spPr>
          <a:xfrm>
            <a:off x="304800" y="301752"/>
            <a:ext cx="981456" cy="1100327"/>
          </a:xfrm>
          <a:prstGeom prst="rect">
            <a:avLst/>
          </a:prstGeom>
        </p:spPr>
      </p:pic>
      <p:pic>
        <p:nvPicPr>
          <p:cNvPr id="6" name="object 6"/>
          <p:cNvPicPr/>
          <p:nvPr/>
        </p:nvPicPr>
        <p:blipFill>
          <a:blip r:embed="rId3" cstate="print"/>
          <a:stretch>
            <a:fillRect/>
          </a:stretch>
        </p:blipFill>
        <p:spPr>
          <a:xfrm>
            <a:off x="7805928" y="301752"/>
            <a:ext cx="1051559" cy="1100327"/>
          </a:xfrm>
          <a:prstGeom prst="rect">
            <a:avLst/>
          </a:prstGeom>
        </p:spPr>
      </p:pic>
      <p:sp>
        <p:nvSpPr>
          <p:cNvPr id="7" name="object 7"/>
          <p:cNvSpPr txBox="1"/>
          <p:nvPr/>
        </p:nvSpPr>
        <p:spPr>
          <a:xfrm>
            <a:off x="3999738" y="6454546"/>
            <a:ext cx="1147445" cy="164465"/>
          </a:xfrm>
          <a:prstGeom prst="rect">
            <a:avLst/>
          </a:prstGeom>
        </p:spPr>
        <p:txBody>
          <a:bodyPr vert="horz" wrap="square" lIns="0" tIns="13970" rIns="0" bIns="0" rtlCol="0">
            <a:spAutoFit/>
          </a:bodyPr>
          <a:lstStyle/>
          <a:p>
            <a:pPr marL="12700">
              <a:lnSpc>
                <a:spcPct val="100000"/>
              </a:lnSpc>
              <a:spcBef>
                <a:spcPts val="110"/>
              </a:spcBef>
            </a:pPr>
            <a:r>
              <a:rPr sz="900" dirty="0">
                <a:solidFill>
                  <a:srgbClr val="888888"/>
                </a:solidFill>
                <a:latin typeface="Arial MT"/>
                <a:cs typeface="Arial MT"/>
              </a:rPr>
              <a:t>Dept.</a:t>
            </a:r>
            <a:r>
              <a:rPr sz="900" spc="-10" dirty="0">
                <a:solidFill>
                  <a:srgbClr val="888888"/>
                </a:solidFill>
                <a:latin typeface="Arial MT"/>
                <a:cs typeface="Arial MT"/>
              </a:rPr>
              <a:t> </a:t>
            </a:r>
            <a:r>
              <a:rPr sz="900" dirty="0">
                <a:solidFill>
                  <a:srgbClr val="888888"/>
                </a:solidFill>
                <a:latin typeface="Arial MT"/>
                <a:cs typeface="Arial MT"/>
              </a:rPr>
              <a:t>of</a:t>
            </a:r>
            <a:r>
              <a:rPr sz="900" spc="-5" dirty="0">
                <a:solidFill>
                  <a:srgbClr val="888888"/>
                </a:solidFill>
                <a:latin typeface="Arial MT"/>
                <a:cs typeface="Arial MT"/>
              </a:rPr>
              <a:t> </a:t>
            </a:r>
            <a:r>
              <a:rPr sz="900" dirty="0">
                <a:solidFill>
                  <a:srgbClr val="888888"/>
                </a:solidFill>
                <a:latin typeface="Arial MT"/>
                <a:cs typeface="Arial MT"/>
              </a:rPr>
              <a:t>ECE</a:t>
            </a:r>
            <a:r>
              <a:rPr sz="900" spc="-20" dirty="0">
                <a:solidFill>
                  <a:srgbClr val="888888"/>
                </a:solidFill>
                <a:latin typeface="Arial MT"/>
                <a:cs typeface="Arial MT"/>
              </a:rPr>
              <a:t> </a:t>
            </a:r>
            <a:r>
              <a:rPr sz="900" dirty="0">
                <a:solidFill>
                  <a:srgbClr val="888888"/>
                </a:solidFill>
                <a:latin typeface="Arial MT"/>
                <a:cs typeface="Arial MT"/>
              </a:rPr>
              <a:t>2025-</a:t>
            </a:r>
            <a:r>
              <a:rPr sz="900" spc="-25" dirty="0">
                <a:solidFill>
                  <a:srgbClr val="888888"/>
                </a:solidFill>
                <a:latin typeface="Arial MT"/>
                <a:cs typeface="Arial MT"/>
              </a:rPr>
              <a:t>26</a:t>
            </a:r>
            <a:endParaRPr sz="900">
              <a:latin typeface="Arial MT"/>
              <a:cs typeface="Arial MT"/>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close-up of a document&#10;&#10;AI-generated content may be incorrect.">
            <a:extLst>
              <a:ext uri="{FF2B5EF4-FFF2-40B4-BE49-F238E27FC236}">
                <a16:creationId xmlns:a16="http://schemas.microsoft.com/office/drawing/2014/main" id="{8F1AB5F2-4F1C-F814-5911-0ACD72E9CA08}"/>
              </a:ext>
            </a:extLst>
          </p:cNvPr>
          <p:cNvPicPr>
            <a:picLocks noChangeAspect="1"/>
          </p:cNvPicPr>
          <p:nvPr/>
        </p:nvPicPr>
        <p:blipFill>
          <a:blip r:embed="rId2"/>
          <a:stretch>
            <a:fillRect/>
          </a:stretch>
        </p:blipFill>
        <p:spPr>
          <a:xfrm>
            <a:off x="417718" y="990600"/>
            <a:ext cx="8010907" cy="5715000"/>
          </a:xfrm>
          <a:prstGeom prst="rect">
            <a:avLst/>
          </a:prstGeom>
        </p:spPr>
      </p:pic>
      <p:pic>
        <p:nvPicPr>
          <p:cNvPr id="3" name="object 5">
            <a:extLst>
              <a:ext uri="{FF2B5EF4-FFF2-40B4-BE49-F238E27FC236}">
                <a16:creationId xmlns:a16="http://schemas.microsoft.com/office/drawing/2014/main" id="{9925F48F-0B34-1F12-3FC1-48FE9D52A567}"/>
              </a:ext>
            </a:extLst>
          </p:cNvPr>
          <p:cNvPicPr/>
          <p:nvPr/>
        </p:nvPicPr>
        <p:blipFill>
          <a:blip r:embed="rId3" cstate="print"/>
          <a:stretch>
            <a:fillRect/>
          </a:stretch>
        </p:blipFill>
        <p:spPr>
          <a:xfrm>
            <a:off x="447698" y="152401"/>
            <a:ext cx="981456" cy="838200"/>
          </a:xfrm>
          <a:prstGeom prst="rect">
            <a:avLst/>
          </a:prstGeom>
        </p:spPr>
      </p:pic>
      <p:pic>
        <p:nvPicPr>
          <p:cNvPr id="4" name="object 4">
            <a:extLst>
              <a:ext uri="{FF2B5EF4-FFF2-40B4-BE49-F238E27FC236}">
                <a16:creationId xmlns:a16="http://schemas.microsoft.com/office/drawing/2014/main" id="{5DEC2C7F-AF60-AF56-DA24-61992E1B0AE6}"/>
              </a:ext>
            </a:extLst>
          </p:cNvPr>
          <p:cNvPicPr/>
          <p:nvPr/>
        </p:nvPicPr>
        <p:blipFill>
          <a:blip r:embed="rId4" cstate="print"/>
          <a:stretch>
            <a:fillRect/>
          </a:stretch>
        </p:blipFill>
        <p:spPr>
          <a:xfrm>
            <a:off x="7239000" y="0"/>
            <a:ext cx="1051559" cy="1100327"/>
          </a:xfrm>
          <a:prstGeom prst="rect">
            <a:avLst/>
          </a:prstGeom>
        </p:spPr>
      </p:pic>
    </p:spTree>
    <p:extLst>
      <p:ext uri="{BB962C8B-B14F-4D97-AF65-F5344CB8AC3E}">
        <p14:creationId xmlns:p14="http://schemas.microsoft.com/office/powerpoint/2010/main" val="28748825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close-up of a document&#10;&#10;AI-generated content may be incorrect.">
            <a:extLst>
              <a:ext uri="{FF2B5EF4-FFF2-40B4-BE49-F238E27FC236}">
                <a16:creationId xmlns:a16="http://schemas.microsoft.com/office/drawing/2014/main" id="{D1909DE4-D70F-5FD2-D781-AB1E9A2A3DDE}"/>
              </a:ext>
            </a:extLst>
          </p:cNvPr>
          <p:cNvPicPr>
            <a:picLocks noChangeAspect="1"/>
          </p:cNvPicPr>
          <p:nvPr/>
        </p:nvPicPr>
        <p:blipFill>
          <a:blip r:embed="rId2"/>
          <a:stretch>
            <a:fillRect/>
          </a:stretch>
        </p:blipFill>
        <p:spPr>
          <a:xfrm>
            <a:off x="625149" y="1143000"/>
            <a:ext cx="7762732" cy="5867400"/>
          </a:xfrm>
          <a:prstGeom prst="rect">
            <a:avLst/>
          </a:prstGeom>
        </p:spPr>
      </p:pic>
      <p:pic>
        <p:nvPicPr>
          <p:cNvPr id="3" name="object 5">
            <a:extLst>
              <a:ext uri="{FF2B5EF4-FFF2-40B4-BE49-F238E27FC236}">
                <a16:creationId xmlns:a16="http://schemas.microsoft.com/office/drawing/2014/main" id="{13FEF057-4107-535E-A66D-0CD426CEFE3C}"/>
              </a:ext>
            </a:extLst>
          </p:cNvPr>
          <p:cNvPicPr/>
          <p:nvPr/>
        </p:nvPicPr>
        <p:blipFill>
          <a:blip r:embed="rId3" cstate="print"/>
          <a:stretch>
            <a:fillRect/>
          </a:stretch>
        </p:blipFill>
        <p:spPr>
          <a:xfrm>
            <a:off x="625149" y="304800"/>
            <a:ext cx="981456" cy="688848"/>
          </a:xfrm>
          <a:prstGeom prst="rect">
            <a:avLst/>
          </a:prstGeom>
        </p:spPr>
      </p:pic>
      <p:pic>
        <p:nvPicPr>
          <p:cNvPr id="4" name="object 4">
            <a:extLst>
              <a:ext uri="{FF2B5EF4-FFF2-40B4-BE49-F238E27FC236}">
                <a16:creationId xmlns:a16="http://schemas.microsoft.com/office/drawing/2014/main" id="{E3D4DAFD-5317-0D32-E88F-15F227A74BC3}"/>
              </a:ext>
            </a:extLst>
          </p:cNvPr>
          <p:cNvPicPr/>
          <p:nvPr/>
        </p:nvPicPr>
        <p:blipFill>
          <a:blip r:embed="rId4" cstate="print"/>
          <a:stretch>
            <a:fillRect/>
          </a:stretch>
        </p:blipFill>
        <p:spPr>
          <a:xfrm>
            <a:off x="7162800" y="-33728"/>
            <a:ext cx="1051559" cy="1100327"/>
          </a:xfrm>
          <a:prstGeom prst="rect">
            <a:avLst/>
          </a:prstGeom>
        </p:spPr>
      </p:pic>
    </p:spTree>
    <p:extLst>
      <p:ext uri="{BB962C8B-B14F-4D97-AF65-F5344CB8AC3E}">
        <p14:creationId xmlns:p14="http://schemas.microsoft.com/office/powerpoint/2010/main" val="52498362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ertificate of participation&#10;&#10;AI-generated content may be incorrect.">
            <a:extLst>
              <a:ext uri="{FF2B5EF4-FFF2-40B4-BE49-F238E27FC236}">
                <a16:creationId xmlns:a16="http://schemas.microsoft.com/office/drawing/2014/main" id="{6DFB0805-7A59-17DD-5FD5-47098FF229D6}"/>
              </a:ext>
            </a:extLst>
          </p:cNvPr>
          <p:cNvPicPr>
            <a:picLocks noChangeAspect="1"/>
          </p:cNvPicPr>
          <p:nvPr/>
        </p:nvPicPr>
        <p:blipFill>
          <a:blip r:embed="rId2"/>
          <a:stretch>
            <a:fillRect/>
          </a:stretch>
        </p:blipFill>
        <p:spPr>
          <a:xfrm>
            <a:off x="747712" y="1295400"/>
            <a:ext cx="7648575" cy="5105400"/>
          </a:xfrm>
          <a:prstGeom prst="rect">
            <a:avLst/>
          </a:prstGeom>
        </p:spPr>
      </p:pic>
      <p:pic>
        <p:nvPicPr>
          <p:cNvPr id="2" name="object 5">
            <a:extLst>
              <a:ext uri="{FF2B5EF4-FFF2-40B4-BE49-F238E27FC236}">
                <a16:creationId xmlns:a16="http://schemas.microsoft.com/office/drawing/2014/main" id="{6166964E-61C0-180A-8B4D-70C66C140D20}"/>
              </a:ext>
            </a:extLst>
          </p:cNvPr>
          <p:cNvPicPr/>
          <p:nvPr/>
        </p:nvPicPr>
        <p:blipFill>
          <a:blip r:embed="rId3" cstate="print"/>
          <a:stretch>
            <a:fillRect/>
          </a:stretch>
        </p:blipFill>
        <p:spPr>
          <a:xfrm>
            <a:off x="609600" y="152400"/>
            <a:ext cx="981456" cy="947927"/>
          </a:xfrm>
          <a:prstGeom prst="rect">
            <a:avLst/>
          </a:prstGeom>
        </p:spPr>
      </p:pic>
      <p:pic>
        <p:nvPicPr>
          <p:cNvPr id="4" name="object 4">
            <a:extLst>
              <a:ext uri="{FF2B5EF4-FFF2-40B4-BE49-F238E27FC236}">
                <a16:creationId xmlns:a16="http://schemas.microsoft.com/office/drawing/2014/main" id="{486A3436-DD6A-19E6-FE28-3D75F9288683}"/>
              </a:ext>
            </a:extLst>
          </p:cNvPr>
          <p:cNvPicPr/>
          <p:nvPr/>
        </p:nvPicPr>
        <p:blipFill>
          <a:blip r:embed="rId4" cstate="print"/>
          <a:stretch>
            <a:fillRect/>
          </a:stretch>
        </p:blipFill>
        <p:spPr>
          <a:xfrm>
            <a:off x="7239000" y="0"/>
            <a:ext cx="1051559" cy="1100327"/>
          </a:xfrm>
          <a:prstGeom prst="rect">
            <a:avLst/>
          </a:prstGeom>
        </p:spPr>
      </p:pic>
    </p:spTree>
    <p:extLst>
      <p:ext uri="{BB962C8B-B14F-4D97-AF65-F5344CB8AC3E}">
        <p14:creationId xmlns:p14="http://schemas.microsoft.com/office/powerpoint/2010/main" val="266598356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certificate of participation for an application&#10;&#10;AI-generated content may be incorrect.">
            <a:extLst>
              <a:ext uri="{FF2B5EF4-FFF2-40B4-BE49-F238E27FC236}">
                <a16:creationId xmlns:a16="http://schemas.microsoft.com/office/drawing/2014/main" id="{71C56800-CB47-E343-FEB1-08CA73C8B369}"/>
              </a:ext>
            </a:extLst>
          </p:cNvPr>
          <p:cNvPicPr>
            <a:picLocks noChangeAspect="1"/>
          </p:cNvPicPr>
          <p:nvPr/>
        </p:nvPicPr>
        <p:blipFill>
          <a:blip r:embed="rId2"/>
          <a:stretch>
            <a:fillRect/>
          </a:stretch>
        </p:blipFill>
        <p:spPr>
          <a:xfrm>
            <a:off x="533400" y="1295400"/>
            <a:ext cx="7848600" cy="5105400"/>
          </a:xfrm>
          <a:prstGeom prst="rect">
            <a:avLst/>
          </a:prstGeom>
        </p:spPr>
      </p:pic>
      <p:pic>
        <p:nvPicPr>
          <p:cNvPr id="3" name="object 5">
            <a:extLst>
              <a:ext uri="{FF2B5EF4-FFF2-40B4-BE49-F238E27FC236}">
                <a16:creationId xmlns:a16="http://schemas.microsoft.com/office/drawing/2014/main" id="{6CAB5974-A5AE-467E-ED26-4E97B533C923}"/>
              </a:ext>
            </a:extLst>
          </p:cNvPr>
          <p:cNvPicPr/>
          <p:nvPr/>
        </p:nvPicPr>
        <p:blipFill>
          <a:blip r:embed="rId3" cstate="print"/>
          <a:stretch>
            <a:fillRect/>
          </a:stretch>
        </p:blipFill>
        <p:spPr>
          <a:xfrm>
            <a:off x="564630" y="8744"/>
            <a:ext cx="981456" cy="1100327"/>
          </a:xfrm>
          <a:prstGeom prst="rect">
            <a:avLst/>
          </a:prstGeom>
        </p:spPr>
      </p:pic>
      <p:pic>
        <p:nvPicPr>
          <p:cNvPr id="4" name="object 4">
            <a:extLst>
              <a:ext uri="{FF2B5EF4-FFF2-40B4-BE49-F238E27FC236}">
                <a16:creationId xmlns:a16="http://schemas.microsoft.com/office/drawing/2014/main" id="{CA178F8E-0D12-1651-2BC2-50DE8DB9A80A}"/>
              </a:ext>
            </a:extLst>
          </p:cNvPr>
          <p:cNvPicPr/>
          <p:nvPr/>
        </p:nvPicPr>
        <p:blipFill>
          <a:blip r:embed="rId4" cstate="print"/>
          <a:stretch>
            <a:fillRect/>
          </a:stretch>
        </p:blipFill>
        <p:spPr>
          <a:xfrm>
            <a:off x="7162800" y="34977"/>
            <a:ext cx="1051559" cy="1100327"/>
          </a:xfrm>
          <a:prstGeom prst="rect">
            <a:avLst/>
          </a:prstGeom>
        </p:spPr>
      </p:pic>
    </p:spTree>
    <p:extLst>
      <p:ext uri="{BB962C8B-B14F-4D97-AF65-F5344CB8AC3E}">
        <p14:creationId xmlns:p14="http://schemas.microsoft.com/office/powerpoint/2010/main" val="13088731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certificate of participation&#10;&#10;AI-generated content may be incorrect.">
            <a:extLst>
              <a:ext uri="{FF2B5EF4-FFF2-40B4-BE49-F238E27FC236}">
                <a16:creationId xmlns:a16="http://schemas.microsoft.com/office/drawing/2014/main" id="{6D815133-2602-FDFE-94C4-BA24B45D0008}"/>
              </a:ext>
            </a:extLst>
          </p:cNvPr>
          <p:cNvPicPr>
            <a:picLocks noChangeAspect="1"/>
          </p:cNvPicPr>
          <p:nvPr/>
        </p:nvPicPr>
        <p:blipFill>
          <a:blip r:embed="rId2"/>
          <a:stretch>
            <a:fillRect/>
          </a:stretch>
        </p:blipFill>
        <p:spPr>
          <a:xfrm>
            <a:off x="838200" y="1219200"/>
            <a:ext cx="7696200" cy="5190066"/>
          </a:xfrm>
          <a:prstGeom prst="rect">
            <a:avLst/>
          </a:prstGeom>
        </p:spPr>
      </p:pic>
      <p:pic>
        <p:nvPicPr>
          <p:cNvPr id="3" name="object 5">
            <a:extLst>
              <a:ext uri="{FF2B5EF4-FFF2-40B4-BE49-F238E27FC236}">
                <a16:creationId xmlns:a16="http://schemas.microsoft.com/office/drawing/2014/main" id="{0CD9342A-B897-2638-EF69-5019A2C02F5B}"/>
              </a:ext>
            </a:extLst>
          </p:cNvPr>
          <p:cNvPicPr/>
          <p:nvPr/>
        </p:nvPicPr>
        <p:blipFill>
          <a:blip r:embed="rId3" cstate="print"/>
          <a:stretch>
            <a:fillRect/>
          </a:stretch>
        </p:blipFill>
        <p:spPr>
          <a:xfrm>
            <a:off x="870679" y="118873"/>
            <a:ext cx="981456" cy="1100327"/>
          </a:xfrm>
          <a:prstGeom prst="rect">
            <a:avLst/>
          </a:prstGeom>
        </p:spPr>
      </p:pic>
      <p:pic>
        <p:nvPicPr>
          <p:cNvPr id="4" name="object 4">
            <a:extLst>
              <a:ext uri="{FF2B5EF4-FFF2-40B4-BE49-F238E27FC236}">
                <a16:creationId xmlns:a16="http://schemas.microsoft.com/office/drawing/2014/main" id="{D4E6AB60-60BE-CB29-7087-1B499F4DD099}"/>
              </a:ext>
            </a:extLst>
          </p:cNvPr>
          <p:cNvPicPr/>
          <p:nvPr/>
        </p:nvPicPr>
        <p:blipFill>
          <a:blip r:embed="rId4" cstate="print"/>
          <a:stretch>
            <a:fillRect/>
          </a:stretch>
        </p:blipFill>
        <p:spPr>
          <a:xfrm>
            <a:off x="7285471" y="118873"/>
            <a:ext cx="1051559" cy="1100327"/>
          </a:xfrm>
          <a:prstGeom prst="rect">
            <a:avLst/>
          </a:prstGeom>
        </p:spPr>
      </p:pic>
    </p:spTree>
    <p:extLst>
      <p:ext uri="{BB962C8B-B14F-4D97-AF65-F5344CB8AC3E}">
        <p14:creationId xmlns:p14="http://schemas.microsoft.com/office/powerpoint/2010/main" val="402212426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certificate of engineering and technology&#10;&#10;AI-generated content may be incorrect.">
            <a:extLst>
              <a:ext uri="{FF2B5EF4-FFF2-40B4-BE49-F238E27FC236}">
                <a16:creationId xmlns:a16="http://schemas.microsoft.com/office/drawing/2014/main" id="{07474EBE-47AC-BE6E-A57B-79FDA53152EC}"/>
              </a:ext>
            </a:extLst>
          </p:cNvPr>
          <p:cNvPicPr>
            <a:picLocks noChangeAspect="1"/>
          </p:cNvPicPr>
          <p:nvPr/>
        </p:nvPicPr>
        <p:blipFill>
          <a:blip r:embed="rId2"/>
          <a:stretch>
            <a:fillRect/>
          </a:stretch>
        </p:blipFill>
        <p:spPr>
          <a:xfrm>
            <a:off x="990600" y="1143000"/>
            <a:ext cx="7467600" cy="5482166"/>
          </a:xfrm>
          <a:prstGeom prst="rect">
            <a:avLst/>
          </a:prstGeom>
        </p:spPr>
      </p:pic>
      <p:pic>
        <p:nvPicPr>
          <p:cNvPr id="3" name="object 5">
            <a:extLst>
              <a:ext uri="{FF2B5EF4-FFF2-40B4-BE49-F238E27FC236}">
                <a16:creationId xmlns:a16="http://schemas.microsoft.com/office/drawing/2014/main" id="{E5D03E76-B27B-DDB9-1144-60CD15D76D16}"/>
              </a:ext>
            </a:extLst>
          </p:cNvPr>
          <p:cNvPicPr/>
          <p:nvPr/>
        </p:nvPicPr>
        <p:blipFill>
          <a:blip r:embed="rId3" cstate="print"/>
          <a:stretch>
            <a:fillRect/>
          </a:stretch>
        </p:blipFill>
        <p:spPr>
          <a:xfrm>
            <a:off x="990600" y="0"/>
            <a:ext cx="981456" cy="1100327"/>
          </a:xfrm>
          <a:prstGeom prst="rect">
            <a:avLst/>
          </a:prstGeom>
        </p:spPr>
      </p:pic>
      <p:pic>
        <p:nvPicPr>
          <p:cNvPr id="4" name="object 4">
            <a:extLst>
              <a:ext uri="{FF2B5EF4-FFF2-40B4-BE49-F238E27FC236}">
                <a16:creationId xmlns:a16="http://schemas.microsoft.com/office/drawing/2014/main" id="{61B459C3-EA04-FB0C-5992-1BC5CD6FF2AB}"/>
              </a:ext>
            </a:extLst>
          </p:cNvPr>
          <p:cNvPicPr/>
          <p:nvPr/>
        </p:nvPicPr>
        <p:blipFill>
          <a:blip r:embed="rId4" cstate="print"/>
          <a:stretch>
            <a:fillRect/>
          </a:stretch>
        </p:blipFill>
        <p:spPr>
          <a:xfrm>
            <a:off x="7138067" y="0"/>
            <a:ext cx="1051559" cy="1100327"/>
          </a:xfrm>
          <a:prstGeom prst="rect">
            <a:avLst/>
          </a:prstGeom>
        </p:spPr>
      </p:pic>
    </p:spTree>
    <p:extLst>
      <p:ext uri="{BB962C8B-B14F-4D97-AF65-F5344CB8AC3E}">
        <p14:creationId xmlns:p14="http://schemas.microsoft.com/office/powerpoint/2010/main" val="49689018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certificate of participation for a college&#10;&#10;AI-generated content may be incorrect.">
            <a:extLst>
              <a:ext uri="{FF2B5EF4-FFF2-40B4-BE49-F238E27FC236}">
                <a16:creationId xmlns:a16="http://schemas.microsoft.com/office/drawing/2014/main" id="{414BAE82-38C8-2D7A-453F-7B359CDA1F72}"/>
              </a:ext>
            </a:extLst>
          </p:cNvPr>
          <p:cNvPicPr>
            <a:picLocks noChangeAspect="1"/>
          </p:cNvPicPr>
          <p:nvPr/>
        </p:nvPicPr>
        <p:blipFill>
          <a:blip r:embed="rId2"/>
          <a:stretch>
            <a:fillRect/>
          </a:stretch>
        </p:blipFill>
        <p:spPr>
          <a:xfrm>
            <a:off x="914400" y="1295400"/>
            <a:ext cx="7543800" cy="5329766"/>
          </a:xfrm>
          <a:prstGeom prst="rect">
            <a:avLst/>
          </a:prstGeom>
        </p:spPr>
      </p:pic>
      <p:pic>
        <p:nvPicPr>
          <p:cNvPr id="3" name="object 5">
            <a:extLst>
              <a:ext uri="{FF2B5EF4-FFF2-40B4-BE49-F238E27FC236}">
                <a16:creationId xmlns:a16="http://schemas.microsoft.com/office/drawing/2014/main" id="{6F5DDCD2-5F90-C0BB-883E-B972B7B26BA9}"/>
              </a:ext>
            </a:extLst>
          </p:cNvPr>
          <p:cNvPicPr/>
          <p:nvPr/>
        </p:nvPicPr>
        <p:blipFill>
          <a:blip r:embed="rId3" cstate="print"/>
          <a:stretch>
            <a:fillRect/>
          </a:stretch>
        </p:blipFill>
        <p:spPr>
          <a:xfrm>
            <a:off x="914400" y="157598"/>
            <a:ext cx="981456" cy="1100327"/>
          </a:xfrm>
          <a:prstGeom prst="rect">
            <a:avLst/>
          </a:prstGeom>
        </p:spPr>
      </p:pic>
      <p:pic>
        <p:nvPicPr>
          <p:cNvPr id="4" name="object 4">
            <a:extLst>
              <a:ext uri="{FF2B5EF4-FFF2-40B4-BE49-F238E27FC236}">
                <a16:creationId xmlns:a16="http://schemas.microsoft.com/office/drawing/2014/main" id="{F493F379-2C81-3B01-4BD9-EDF8D33CE403}"/>
              </a:ext>
            </a:extLst>
          </p:cNvPr>
          <p:cNvPicPr/>
          <p:nvPr/>
        </p:nvPicPr>
        <p:blipFill>
          <a:blip r:embed="rId4" cstate="print"/>
          <a:stretch>
            <a:fillRect/>
          </a:stretch>
        </p:blipFill>
        <p:spPr>
          <a:xfrm>
            <a:off x="7210520" y="9993"/>
            <a:ext cx="1051559" cy="1100327"/>
          </a:xfrm>
          <a:prstGeom prst="rect">
            <a:avLst/>
          </a:prstGeom>
        </p:spPr>
      </p:pic>
    </p:spTree>
    <p:extLst>
      <p:ext uri="{BB962C8B-B14F-4D97-AF65-F5344CB8AC3E}">
        <p14:creationId xmlns:p14="http://schemas.microsoft.com/office/powerpoint/2010/main" val="13880533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certificate of appreciation&#10;&#10;AI-generated content may be incorrect.">
            <a:extLst>
              <a:ext uri="{FF2B5EF4-FFF2-40B4-BE49-F238E27FC236}">
                <a16:creationId xmlns:a16="http://schemas.microsoft.com/office/drawing/2014/main" id="{B9CBC9E9-ACC9-BC06-5F2A-B0238AB8B427}"/>
              </a:ext>
            </a:extLst>
          </p:cNvPr>
          <p:cNvPicPr>
            <a:picLocks noChangeAspect="1"/>
          </p:cNvPicPr>
          <p:nvPr/>
        </p:nvPicPr>
        <p:blipFill>
          <a:blip r:embed="rId2"/>
          <a:stretch>
            <a:fillRect/>
          </a:stretch>
        </p:blipFill>
        <p:spPr>
          <a:xfrm>
            <a:off x="533400" y="1295400"/>
            <a:ext cx="7848600" cy="5105400"/>
          </a:xfrm>
          <a:prstGeom prst="rect">
            <a:avLst/>
          </a:prstGeom>
        </p:spPr>
      </p:pic>
      <p:pic>
        <p:nvPicPr>
          <p:cNvPr id="3" name="object 5">
            <a:extLst>
              <a:ext uri="{FF2B5EF4-FFF2-40B4-BE49-F238E27FC236}">
                <a16:creationId xmlns:a16="http://schemas.microsoft.com/office/drawing/2014/main" id="{4E33AE4A-7B8A-6865-983B-F9380C19BDB6}"/>
              </a:ext>
            </a:extLst>
          </p:cNvPr>
          <p:cNvPicPr/>
          <p:nvPr/>
        </p:nvPicPr>
        <p:blipFill>
          <a:blip r:embed="rId3" cstate="print"/>
          <a:stretch>
            <a:fillRect/>
          </a:stretch>
        </p:blipFill>
        <p:spPr>
          <a:xfrm>
            <a:off x="533400" y="12492"/>
            <a:ext cx="981456" cy="1100327"/>
          </a:xfrm>
          <a:prstGeom prst="rect">
            <a:avLst/>
          </a:prstGeom>
        </p:spPr>
      </p:pic>
      <p:pic>
        <p:nvPicPr>
          <p:cNvPr id="4" name="object 4">
            <a:extLst>
              <a:ext uri="{FF2B5EF4-FFF2-40B4-BE49-F238E27FC236}">
                <a16:creationId xmlns:a16="http://schemas.microsoft.com/office/drawing/2014/main" id="{A87AA0F4-1750-C773-A8F4-63C0C47495C2}"/>
              </a:ext>
            </a:extLst>
          </p:cNvPr>
          <p:cNvPicPr/>
          <p:nvPr/>
        </p:nvPicPr>
        <p:blipFill>
          <a:blip r:embed="rId4" cstate="print"/>
          <a:stretch>
            <a:fillRect/>
          </a:stretch>
        </p:blipFill>
        <p:spPr>
          <a:xfrm>
            <a:off x="7086600" y="0"/>
            <a:ext cx="1051559" cy="1100327"/>
          </a:xfrm>
          <a:prstGeom prst="rect">
            <a:avLst/>
          </a:prstGeom>
        </p:spPr>
      </p:pic>
    </p:spTree>
    <p:extLst>
      <p:ext uri="{BB962C8B-B14F-4D97-AF65-F5344CB8AC3E}">
        <p14:creationId xmlns:p14="http://schemas.microsoft.com/office/powerpoint/2010/main" val="20813334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certificate of appreciation&#10;&#10;AI-generated content may be incorrect.">
            <a:extLst>
              <a:ext uri="{FF2B5EF4-FFF2-40B4-BE49-F238E27FC236}">
                <a16:creationId xmlns:a16="http://schemas.microsoft.com/office/drawing/2014/main" id="{7E44B5C8-2D4A-0F27-47EA-91D6C35454A9}"/>
              </a:ext>
            </a:extLst>
          </p:cNvPr>
          <p:cNvPicPr>
            <a:picLocks noChangeAspect="1"/>
          </p:cNvPicPr>
          <p:nvPr/>
        </p:nvPicPr>
        <p:blipFill>
          <a:blip r:embed="rId2"/>
          <a:stretch>
            <a:fillRect/>
          </a:stretch>
        </p:blipFill>
        <p:spPr>
          <a:xfrm>
            <a:off x="533400" y="1219200"/>
            <a:ext cx="7848600" cy="5410200"/>
          </a:xfrm>
          <a:prstGeom prst="rect">
            <a:avLst/>
          </a:prstGeom>
        </p:spPr>
      </p:pic>
      <p:pic>
        <p:nvPicPr>
          <p:cNvPr id="3" name="object 5">
            <a:extLst>
              <a:ext uri="{FF2B5EF4-FFF2-40B4-BE49-F238E27FC236}">
                <a16:creationId xmlns:a16="http://schemas.microsoft.com/office/drawing/2014/main" id="{F6A1987F-F119-02D0-BBBF-CD62E3AB448F}"/>
              </a:ext>
            </a:extLst>
          </p:cNvPr>
          <p:cNvPicPr/>
          <p:nvPr/>
        </p:nvPicPr>
        <p:blipFill>
          <a:blip r:embed="rId3" cstate="print"/>
          <a:stretch>
            <a:fillRect/>
          </a:stretch>
        </p:blipFill>
        <p:spPr>
          <a:xfrm>
            <a:off x="514662" y="103883"/>
            <a:ext cx="981456" cy="1100327"/>
          </a:xfrm>
          <a:prstGeom prst="rect">
            <a:avLst/>
          </a:prstGeom>
        </p:spPr>
      </p:pic>
      <p:pic>
        <p:nvPicPr>
          <p:cNvPr id="4" name="object 4">
            <a:extLst>
              <a:ext uri="{FF2B5EF4-FFF2-40B4-BE49-F238E27FC236}">
                <a16:creationId xmlns:a16="http://schemas.microsoft.com/office/drawing/2014/main" id="{5E0A27DD-697F-69DB-17F7-4E95693CD32B}"/>
              </a:ext>
            </a:extLst>
          </p:cNvPr>
          <p:cNvPicPr/>
          <p:nvPr/>
        </p:nvPicPr>
        <p:blipFill>
          <a:blip r:embed="rId4" cstate="print"/>
          <a:stretch>
            <a:fillRect/>
          </a:stretch>
        </p:blipFill>
        <p:spPr>
          <a:xfrm>
            <a:off x="7162800" y="0"/>
            <a:ext cx="1051559" cy="1100327"/>
          </a:xfrm>
          <a:prstGeom prst="rect">
            <a:avLst/>
          </a:prstGeom>
        </p:spPr>
      </p:pic>
    </p:spTree>
    <p:extLst>
      <p:ext uri="{BB962C8B-B14F-4D97-AF65-F5344CB8AC3E}">
        <p14:creationId xmlns:p14="http://schemas.microsoft.com/office/powerpoint/2010/main" val="216676407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certificate of appreciation&#10;&#10;AI-generated content may be incorrect.">
            <a:extLst>
              <a:ext uri="{FF2B5EF4-FFF2-40B4-BE49-F238E27FC236}">
                <a16:creationId xmlns:a16="http://schemas.microsoft.com/office/drawing/2014/main" id="{5AED2D76-35E7-8D4A-AA65-2EF15EF1FD03}"/>
              </a:ext>
            </a:extLst>
          </p:cNvPr>
          <p:cNvPicPr>
            <a:picLocks noChangeAspect="1"/>
          </p:cNvPicPr>
          <p:nvPr/>
        </p:nvPicPr>
        <p:blipFill>
          <a:blip r:embed="rId2"/>
          <a:stretch>
            <a:fillRect/>
          </a:stretch>
        </p:blipFill>
        <p:spPr>
          <a:xfrm>
            <a:off x="685800" y="1371599"/>
            <a:ext cx="7467600" cy="4953001"/>
          </a:xfrm>
          <a:prstGeom prst="rect">
            <a:avLst/>
          </a:prstGeom>
        </p:spPr>
      </p:pic>
      <p:pic>
        <p:nvPicPr>
          <p:cNvPr id="3" name="object 5">
            <a:extLst>
              <a:ext uri="{FF2B5EF4-FFF2-40B4-BE49-F238E27FC236}">
                <a16:creationId xmlns:a16="http://schemas.microsoft.com/office/drawing/2014/main" id="{B8F382AD-17A6-FC40-F4EC-2C64C92D4FC2}"/>
              </a:ext>
            </a:extLst>
          </p:cNvPr>
          <p:cNvPicPr/>
          <p:nvPr/>
        </p:nvPicPr>
        <p:blipFill>
          <a:blip r:embed="rId3" cstate="print"/>
          <a:stretch>
            <a:fillRect/>
          </a:stretch>
        </p:blipFill>
        <p:spPr>
          <a:xfrm>
            <a:off x="685800" y="152400"/>
            <a:ext cx="981456" cy="1100327"/>
          </a:xfrm>
          <a:prstGeom prst="rect">
            <a:avLst/>
          </a:prstGeom>
        </p:spPr>
      </p:pic>
      <p:pic>
        <p:nvPicPr>
          <p:cNvPr id="4" name="object 4">
            <a:extLst>
              <a:ext uri="{FF2B5EF4-FFF2-40B4-BE49-F238E27FC236}">
                <a16:creationId xmlns:a16="http://schemas.microsoft.com/office/drawing/2014/main" id="{4ECC9329-0522-C62C-0BC1-A5E08C795C31}"/>
              </a:ext>
            </a:extLst>
          </p:cNvPr>
          <p:cNvPicPr/>
          <p:nvPr/>
        </p:nvPicPr>
        <p:blipFill>
          <a:blip r:embed="rId4" cstate="print"/>
          <a:stretch>
            <a:fillRect/>
          </a:stretch>
        </p:blipFill>
        <p:spPr>
          <a:xfrm>
            <a:off x="7101841" y="142407"/>
            <a:ext cx="1051559" cy="1100327"/>
          </a:xfrm>
          <a:prstGeom prst="rect">
            <a:avLst/>
          </a:prstGeom>
        </p:spPr>
      </p:pic>
    </p:spTree>
    <p:extLst>
      <p:ext uri="{BB962C8B-B14F-4D97-AF65-F5344CB8AC3E}">
        <p14:creationId xmlns:p14="http://schemas.microsoft.com/office/powerpoint/2010/main" val="43123735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certificate of appreciation&#10;&#10;AI-generated content may be incorrect.">
            <a:extLst>
              <a:ext uri="{FF2B5EF4-FFF2-40B4-BE49-F238E27FC236}">
                <a16:creationId xmlns:a16="http://schemas.microsoft.com/office/drawing/2014/main" id="{933F97D7-7733-E9A0-CE1E-329F7B5ABFF7}"/>
              </a:ext>
            </a:extLst>
          </p:cNvPr>
          <p:cNvPicPr>
            <a:picLocks noChangeAspect="1"/>
          </p:cNvPicPr>
          <p:nvPr/>
        </p:nvPicPr>
        <p:blipFill>
          <a:blip r:embed="rId2"/>
          <a:stretch>
            <a:fillRect/>
          </a:stretch>
        </p:blipFill>
        <p:spPr>
          <a:xfrm>
            <a:off x="533400" y="1447800"/>
            <a:ext cx="7924800" cy="5205760"/>
          </a:xfrm>
          <a:prstGeom prst="rect">
            <a:avLst/>
          </a:prstGeom>
        </p:spPr>
      </p:pic>
      <p:pic>
        <p:nvPicPr>
          <p:cNvPr id="3" name="object 5">
            <a:extLst>
              <a:ext uri="{FF2B5EF4-FFF2-40B4-BE49-F238E27FC236}">
                <a16:creationId xmlns:a16="http://schemas.microsoft.com/office/drawing/2014/main" id="{DDD6B652-3AB9-6B2E-96F2-A9AF7CE5AB0C}"/>
              </a:ext>
            </a:extLst>
          </p:cNvPr>
          <p:cNvPicPr/>
          <p:nvPr/>
        </p:nvPicPr>
        <p:blipFill>
          <a:blip r:embed="rId3" cstate="print"/>
          <a:stretch>
            <a:fillRect/>
          </a:stretch>
        </p:blipFill>
        <p:spPr>
          <a:xfrm>
            <a:off x="533400" y="204440"/>
            <a:ext cx="981456" cy="1100327"/>
          </a:xfrm>
          <a:prstGeom prst="rect">
            <a:avLst/>
          </a:prstGeom>
        </p:spPr>
      </p:pic>
      <p:pic>
        <p:nvPicPr>
          <p:cNvPr id="4" name="object 4">
            <a:extLst>
              <a:ext uri="{FF2B5EF4-FFF2-40B4-BE49-F238E27FC236}">
                <a16:creationId xmlns:a16="http://schemas.microsoft.com/office/drawing/2014/main" id="{FFE66DE3-E2F4-E08D-8D13-2ABD2E6D490C}"/>
              </a:ext>
            </a:extLst>
          </p:cNvPr>
          <p:cNvPicPr/>
          <p:nvPr/>
        </p:nvPicPr>
        <p:blipFill>
          <a:blip r:embed="rId4" cstate="print"/>
          <a:stretch>
            <a:fillRect/>
          </a:stretch>
        </p:blipFill>
        <p:spPr>
          <a:xfrm>
            <a:off x="7406641" y="204439"/>
            <a:ext cx="1051559" cy="1100327"/>
          </a:xfrm>
          <a:prstGeom prst="rect">
            <a:avLst/>
          </a:prstGeom>
        </p:spPr>
      </p:pic>
    </p:spTree>
    <p:extLst>
      <p:ext uri="{BB962C8B-B14F-4D97-AF65-F5344CB8AC3E}">
        <p14:creationId xmlns:p14="http://schemas.microsoft.com/office/powerpoint/2010/main" val="361139615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27451" y="2542997"/>
            <a:ext cx="3455035" cy="695325"/>
          </a:xfrm>
          <a:prstGeom prst="rect">
            <a:avLst/>
          </a:prstGeom>
        </p:spPr>
        <p:txBody>
          <a:bodyPr vert="horz" wrap="square" lIns="0" tIns="12065" rIns="0" bIns="0" rtlCol="0">
            <a:spAutoFit/>
          </a:bodyPr>
          <a:lstStyle/>
          <a:p>
            <a:pPr marL="12700">
              <a:lnSpc>
                <a:spcPct val="100000"/>
              </a:lnSpc>
              <a:spcBef>
                <a:spcPts val="95"/>
              </a:spcBef>
            </a:pPr>
            <a:r>
              <a:rPr sz="4400" dirty="0"/>
              <a:t>THANK</a:t>
            </a:r>
            <a:r>
              <a:rPr sz="4400" spc="-145" dirty="0"/>
              <a:t> </a:t>
            </a:r>
            <a:r>
              <a:rPr sz="4400" spc="-25" dirty="0"/>
              <a:t>YOU</a:t>
            </a:r>
            <a:endParaRPr sz="4400"/>
          </a:p>
        </p:txBody>
      </p:sp>
      <p:pic>
        <p:nvPicPr>
          <p:cNvPr id="3" name="object 3"/>
          <p:cNvPicPr/>
          <p:nvPr/>
        </p:nvPicPr>
        <p:blipFill>
          <a:blip r:embed="rId2" cstate="print"/>
          <a:stretch>
            <a:fillRect/>
          </a:stretch>
        </p:blipFill>
        <p:spPr>
          <a:xfrm>
            <a:off x="304800" y="301752"/>
            <a:ext cx="981456" cy="1100327"/>
          </a:xfrm>
          <a:prstGeom prst="rect">
            <a:avLst/>
          </a:prstGeom>
        </p:spPr>
      </p:pic>
      <p:pic>
        <p:nvPicPr>
          <p:cNvPr id="4" name="object 4"/>
          <p:cNvPicPr/>
          <p:nvPr/>
        </p:nvPicPr>
        <p:blipFill>
          <a:blip r:embed="rId3" cstate="print"/>
          <a:stretch>
            <a:fillRect/>
          </a:stretch>
        </p:blipFill>
        <p:spPr>
          <a:xfrm>
            <a:off x="7805928" y="301752"/>
            <a:ext cx="1051559" cy="1100327"/>
          </a:xfrm>
          <a:prstGeom prst="rect">
            <a:avLst/>
          </a:prstGeom>
        </p:spPr>
      </p:pic>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55244">
              <a:lnSpc>
                <a:spcPts val="1410"/>
              </a:lnSpc>
            </a:pPr>
            <a:r>
              <a:rPr dirty="0"/>
              <a:t>Dept.</a:t>
            </a:r>
            <a:r>
              <a:rPr spc="-20" dirty="0"/>
              <a:t> </a:t>
            </a:r>
            <a:r>
              <a:rPr dirty="0"/>
              <a:t>of</a:t>
            </a:r>
            <a:r>
              <a:rPr spc="-15" dirty="0"/>
              <a:t> </a:t>
            </a:r>
            <a:r>
              <a:rPr dirty="0"/>
              <a:t>ECE</a:t>
            </a:r>
            <a:r>
              <a:rPr spc="-15" dirty="0"/>
              <a:t> </a:t>
            </a:r>
            <a:r>
              <a:rPr dirty="0"/>
              <a:t>2025-</a:t>
            </a:r>
            <a:r>
              <a:rPr spc="-25" dirty="0"/>
              <a:t>26</a:t>
            </a:r>
          </a:p>
        </p:txBody>
      </p:sp>
      <p:sp>
        <p:nvSpPr>
          <p:cNvPr id="6" name="object 6"/>
          <p:cNvSpPr txBox="1"/>
          <p:nvPr/>
        </p:nvSpPr>
        <p:spPr>
          <a:xfrm>
            <a:off x="8261731" y="6448280"/>
            <a:ext cx="177800" cy="194310"/>
          </a:xfrm>
          <a:prstGeom prst="rect">
            <a:avLst/>
          </a:prstGeom>
        </p:spPr>
        <p:txBody>
          <a:bodyPr vert="horz" wrap="square" lIns="0" tIns="0" rIns="0" bIns="0" rtlCol="0">
            <a:spAutoFit/>
          </a:bodyPr>
          <a:lstStyle/>
          <a:p>
            <a:pPr marL="12700">
              <a:lnSpc>
                <a:spcPts val="1410"/>
              </a:lnSpc>
            </a:pPr>
            <a:r>
              <a:rPr sz="1200" b="1" spc="-25" dirty="0">
                <a:latin typeface="Times New Roman"/>
                <a:cs typeface="Times New Roman"/>
              </a:rPr>
              <a:t>37</a:t>
            </a:r>
            <a:endParaRPr sz="1200">
              <a:latin typeface="Times New Roman"/>
              <a:cs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53</TotalTime>
  <Words>2733</Words>
  <Application>Microsoft Office PowerPoint</Application>
  <PresentationFormat>On-screen Show (4:3)</PresentationFormat>
  <Paragraphs>454</Paragraphs>
  <Slides>48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48</vt:i4>
      </vt:variant>
    </vt:vector>
  </HeadingPairs>
  <TitlesOfParts>
    <vt:vector size="53" baseType="lpstr">
      <vt:lpstr>Arial</vt:lpstr>
      <vt:lpstr>Arial MT</vt:lpstr>
      <vt:lpstr>Calibri</vt:lpstr>
      <vt:lpstr>Times New Roman</vt:lpstr>
      <vt:lpstr>Office Theme</vt:lpstr>
      <vt:lpstr>PowerPoint Presentation</vt:lpstr>
      <vt:lpstr>CONTENT</vt:lpstr>
      <vt:lpstr>ABSTRACT</vt:lpstr>
      <vt:lpstr>OBJECTIVE</vt:lpstr>
      <vt:lpstr>PROBLEM STATEMENT</vt:lpstr>
      <vt:lpstr>INTRODUCTION</vt:lpstr>
      <vt:lpstr>LITERATURE SURVEY</vt:lpstr>
      <vt:lpstr>LITERATURE SURVEY</vt:lpstr>
      <vt:lpstr>LITERATURE SURVEY</vt:lpstr>
      <vt:lpstr>LITERATURE SURVEY</vt:lpstr>
      <vt:lpstr>LITERATURE SURVEY</vt:lpstr>
      <vt:lpstr>LITERATURE SURVEY</vt:lpstr>
      <vt:lpstr>LITERATURE SURVEY COMPARISON TABLE</vt:lpstr>
      <vt:lpstr>LITERATURE SURVEY COMPARISON TABLE</vt:lpstr>
      <vt:lpstr>PROPOSED METHODOLOGY – Block Diagram input</vt:lpstr>
      <vt:lpstr>Flow chart</vt:lpstr>
      <vt:lpstr>Flow chart</vt:lpstr>
      <vt:lpstr>IMPLEMENTATION</vt:lpstr>
      <vt:lpstr>CIRCUIT DIAGRAM (water level)</vt:lpstr>
      <vt:lpstr>RESULTS</vt:lpstr>
      <vt:lpstr>PARAMETERS(WATER LEVEL)</vt:lpstr>
      <vt:lpstr>PowerPoint Presentation</vt:lpstr>
      <vt:lpstr>PowerPoint Presentation</vt:lpstr>
      <vt:lpstr>PowerPoint Presentation</vt:lpstr>
      <vt:lpstr>PowerPoint Presentation</vt:lpstr>
      <vt:lpstr>CRACK DETECTION</vt:lpstr>
      <vt:lpstr>PowerPoint Presentation</vt:lpstr>
      <vt:lpstr>PowerPoint Presentation</vt:lpstr>
      <vt:lpstr>FUTURE SCOPE</vt:lpstr>
      <vt:lpstr>Advantages</vt:lpstr>
      <vt:lpstr>Disadvantages</vt:lpstr>
      <vt:lpstr>Conclusion</vt:lpstr>
      <vt:lpstr>REFERENCES</vt:lpstr>
      <vt:lpstr>GANTT CHART(Phase 1)</vt:lpstr>
      <vt:lpstr>GANTT CHART(Phase 2)</vt:lpstr>
      <vt:lpstr>SDG’s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Ramesh HG</dc:creator>
  <cp:lastModifiedBy>prathibhah07@gmail.com</cp:lastModifiedBy>
  <cp:revision>73</cp:revision>
  <dcterms:created xsi:type="dcterms:W3CDTF">2026-01-09T10:41:17Z</dcterms:created>
  <dcterms:modified xsi:type="dcterms:W3CDTF">2026-01-12T04:43:26Z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2026-01-09T00:00:00Z</vt:filetime>
  </property>
  <property fmtid="{D5CDD505-2E9C-101B-9397-08002B2CF9AE}" pid="3" name="LastSaved">
    <vt:filetime>2026-01-09T00:00:00Z</vt:filetime>
  </property>
  <property fmtid="{D5CDD505-2E9C-101B-9397-08002B2CF9AE}" pid="4" name="Producer">
    <vt:lpwstr>iLovePDF</vt:lpwstr>
  </property>
</Properties>
</file>